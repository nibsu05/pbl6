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75afef63a410e" /><Relationship Type="http://schemas.openxmlformats.org/officeDocument/2006/relationships/extended-properties" Target="/docProps/app.xml" Id="R3c9229eb01ec45a7" /><Relationship Type="http://schemas.openxmlformats.org/officeDocument/2006/relationships/officeDocument" Target="/ppt/presentation.xml" Id="R89387f71ab45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035dd7369d4d0e"/>
  </p:sldMasterIdLst>
  <p:notesMasterIdLst>
    <p:notesMasterId xmlns:r="http://schemas.openxmlformats.org/officeDocument/2006/relationships" r:id="Rbd6dfa2136e34ab4"/>
  </p:notesMasterIdLst>
  <p:sldIdLst>
    <p:sldId xmlns:r="http://schemas.openxmlformats.org/officeDocument/2006/relationships" id="256" r:id="R90c4e0405b614a31"/>
    <p:sldId xmlns:r="http://schemas.openxmlformats.org/officeDocument/2006/relationships" id="257" r:id="R4463813b6d6742f5"/>
    <p:sldId xmlns:r="http://schemas.openxmlformats.org/officeDocument/2006/relationships" id="258" r:id="Rfb8e67258cdc4d13"/>
    <p:sldId xmlns:r="http://schemas.openxmlformats.org/officeDocument/2006/relationships" id="259" r:id="R4740ad6b5e37474c"/>
    <p:sldId xmlns:r="http://schemas.openxmlformats.org/officeDocument/2006/relationships" id="260" r:id="R189a19bc2baa4144"/>
    <p:sldId xmlns:r="http://schemas.openxmlformats.org/officeDocument/2006/relationships" id="261" r:id="R087121704cf24dc8"/>
    <p:sldId xmlns:r="http://schemas.openxmlformats.org/officeDocument/2006/relationships" id="262" r:id="R33f91d775a0a491f"/>
    <p:sldId xmlns:r="http://schemas.openxmlformats.org/officeDocument/2006/relationships" id="263" r:id="Rd19e9362978e473d"/>
    <p:sldId xmlns:r="http://schemas.openxmlformats.org/officeDocument/2006/relationships" id="264" r:id="R200d3d58907f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0efe2ed2ec4742" /><Relationship Type="http://schemas.openxmlformats.org/officeDocument/2006/relationships/slideMaster" Target="/ppt/slideMasters/slideMaster1.xml" Id="R67035dd7369d4d0e" /><Relationship Type="http://schemas.openxmlformats.org/officeDocument/2006/relationships/notesMaster" Target="/ppt/notesMasters/notesMaster1.xml" Id="Rbd6dfa2136e34ab4" /><Relationship Type="http://schemas.openxmlformats.org/officeDocument/2006/relationships/presProps" Target="/ppt/presProps.xml" Id="R578680a585fa43fa" /><Relationship Type="http://schemas.openxmlformats.org/officeDocument/2006/relationships/tableStyles" Target="/ppt/tableStyles.xml" Id="Rc345f61d5ba7495e" /><Relationship Type="http://schemas.openxmlformats.org/officeDocument/2006/relationships/slide" Target="/ppt/slides/slide1.xml" Id="R90c4e0405b614a31" /><Relationship Type="http://schemas.openxmlformats.org/officeDocument/2006/relationships/slide" Target="/ppt/slides/slide2.xml" Id="R4463813b6d6742f5" /><Relationship Type="http://schemas.openxmlformats.org/officeDocument/2006/relationships/slide" Target="/ppt/slides/slide3.xml" Id="Rfb8e67258cdc4d13" /><Relationship Type="http://schemas.openxmlformats.org/officeDocument/2006/relationships/slide" Target="/ppt/slides/slide4.xml" Id="R4740ad6b5e37474c" /><Relationship Type="http://schemas.openxmlformats.org/officeDocument/2006/relationships/slide" Target="/ppt/slides/slide5.xml" Id="R189a19bc2baa4144" /><Relationship Type="http://schemas.openxmlformats.org/officeDocument/2006/relationships/slide" Target="/ppt/slides/slide6.xml" Id="R087121704cf24dc8" /><Relationship Type="http://schemas.openxmlformats.org/officeDocument/2006/relationships/slide" Target="/ppt/slides/slide7.xml" Id="R33f91d775a0a491f" /><Relationship Type="http://schemas.openxmlformats.org/officeDocument/2006/relationships/slide" Target="/ppt/slides/slide8.xml" Id="Rd19e9362978e473d" /><Relationship Type="http://schemas.openxmlformats.org/officeDocument/2006/relationships/slide" Target="/ppt/slides/slide9.xml" Id="R200d3d58907f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bc1e1560ff46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1551d5f4048e0" /><Relationship Type="http://schemas.openxmlformats.org/officeDocument/2006/relationships/notesMaster" Target="/ppt/notesMasters/notesMaster1.xml" Id="R867a4c1854b7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87d00cc8bc4df5" /><Relationship Type="http://schemas.openxmlformats.org/officeDocument/2006/relationships/notesMaster" Target="/ppt/notesMasters/notesMaster1.xml" Id="R5d0a9167c53044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e69169869e4dc3" /><Relationship Type="http://schemas.openxmlformats.org/officeDocument/2006/relationships/notesMaster" Target="/ppt/notesMasters/notesMaster1.xml" Id="R3211e4d3161e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eabe0be39642eb" /><Relationship Type="http://schemas.openxmlformats.org/officeDocument/2006/relationships/notesMaster" Target="/ppt/notesMasters/notesMaster1.xml" Id="R95ea5ec550874f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e0b42f5be46a9" /><Relationship Type="http://schemas.openxmlformats.org/officeDocument/2006/relationships/notesMaster" Target="/ppt/notesMasters/notesMaster1.xml" Id="Rb08001bebc894e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6e2904f4864281" /><Relationship Type="http://schemas.openxmlformats.org/officeDocument/2006/relationships/notesMaster" Target="/ppt/notesMasters/notesMaster1.xml" Id="R6a122da35cb943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9af605c3945f9" /><Relationship Type="http://schemas.openxmlformats.org/officeDocument/2006/relationships/notesMaster" Target="/ppt/notesMasters/notesMaster1.xml" Id="R160da3291544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d6fa3c16414299" /><Relationship Type="http://schemas.openxmlformats.org/officeDocument/2006/relationships/notesMaster" Target="/ppt/notesMasters/notesMaster1.xml" Id="R556dd6af53b443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0b812e75a74323" /><Relationship Type="http://schemas.openxmlformats.org/officeDocument/2006/relationships/notesMaster" Target="/ppt/notesMasters/notesMaster1.xml" Id="Rb8eee8568f9b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báo cáo này kiểm tra lại các kết quả Informer bằng tệp dự báo test đã lưu. Phần web demo đang hiển thị ECMWF IFS qua Open-Meteo, không phải đầu ra Informer.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hai luồng: website phục vụ dữ liệu ECMWF IFS từ Open-Meteo; Informer EXP-0 là thí nghiệm hồi cứu. Không dùng ảnh website làm bằng chứng hiệu năng của Informer. Nguồn: demo/app.py; run_informer_experiment.py; reports/realtime_readiness/READINESS.md.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Dữ liệu từ 2021 đến 2026, chia theo thứ tự thời gian 70/15/15; test target từ 25/10/2025 tới 01/09/2026. Có 7.426 cửa sổ test chồng lấp, nhưng chỉ 7.449 giờ hiệu lực khác nhau. Các số này được dựng lại từ data/processed/danang_full_features_2021_2026.csv và khớp y_true trong predictions.npz. 6 biến EXP-0 không có giá trị thiếu; ffill/bfill không tác động tới lần chạy này. Nguồn: experiments/informer_ablation_config.py; src/informer_dataset.py; .cache/presentations_audit/summary.json.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thích: cả ba đối chứng được tính trên chính y_true của Informer. Informer RMSE 0,920 so với zero 0,966, cải thiện khoảng 4,8%; nhưng MAE 0,309 cao hơn zero 0,230. Tập test có 70,4% cặp giờ mưa bằng 0 nên MAE của zero thấp. Persistence = lặp lại mưa giờ cuối encoder cho 24 giờ, được dựng lại từ cửa sổ test và khớp y_true. Nguồn: experiments/results/EXP-0_surface/predictions.npz; .cache/presentations_audit/summary.json.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Ở +1 giờ, persistence đạt RMSE 0,792, tốt hơn Informer 0,841. Ở +24 giờ Informer đạt RMSE 0,940 so với zero 0,964, nhưng R² riêng horizon là -0,007. +24 giờ là cuối ngày thứ nhất, không phải ngày thứ hai. Nguồn: .cache/presentations_audit/summary.json; experiments/results/EXP-0_surface/metrics.json.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Thống kê theo cặp cửa sổ-horizon, không phải 966 sự kiện độc lập. 966 cặp có mưa thật từ 41 giờ hiệu lực khác nhau; Informer không dự báo cặp nào ≥5 mm/giờ vì cực đại dự báo 4,94 mm/giờ. Có mưa thật cực đại 30,8 mm/giờ. Không diễn giải FAR=0 là an toàn vì mô hình không phát cảnh báo nào. Nguồn: predictions.npz; .cache/presentations_audit/summary.json; src/informer_evaluate.py.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 loss 1,645 ở epoch 1 là thấp nhất; 10 epoch tiếp theo không cải thiện nên dừng ở epoch 11. Train loss giảm xuống khoảng 0,597 trong khi val loss dao động trên 1,64. Điều này không chứng minh mô hình hội tụ rất nhanh; có thể là độ khó tập validation, khác biệt phân bố, hoặc overfit. Không kết luận nguyên nhân khi chưa kiểm tra thêm. Nguồn: experiments/results/EXP-0_surface/training_log.json; src/train_informer.py.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phép thử áp lực, không đại diện cho trung bình test. Tiêu chí chọn được cố định trước khi xem dự báo: lấy cửa sổ test có tổng mưa thật 24 giờ cao nhất; cửa sổ đầu tiên nếu có hòa. Từ 28/10/2025 12:00 tới 29/10/2025 11:00 UTC+7, tổng thật 162,5 mm và tổng dự báo 12,74 mm. Đỉnh thật 30,8 mm/giờ và đỉnh dự báo trong cửa sổ 1,04 mm/giờ. Nguồn: experiments/results/EXP-0_surface/predictions.npz và .cache/presentations_audit/summary.json.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cân bằng: Informer có giảm RMSE khoảng 4,8% so với dự báo luôn 0 trên cùng test, nhưng MAE cao hơn, R² thấp và không bắt mưa lớn. Chưa đủ điều kiện đưa checkpoint lên app. Đề xuất: (1) đối chiếu với ECMWF trực tiếp trên cùng mốc giờ; (2) kiểm định as-of và nhãn độc lập; (3) thử lại mục tiêu +48/+72, loss/đầu ra mưa lớn nếu cần. Nguồn: predictions.npz; audit summary; 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76d71186841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a1f06a84d4444" /><Relationship Type="http://schemas.openxmlformats.org/officeDocument/2006/relationships/slideLayout" Target="/ppt/slideLayouts/slideLayout1.xml" Id="Re377cf9c04fd4e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7cf9c04fd4e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389391d724cb4" /><Relationship Type="http://schemas.openxmlformats.org/officeDocument/2006/relationships/notesSlide" Target="/ppt/notesSlides/notesSlide1.xml" Id="R4a492995487246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0d72c953b4ca0" /><Relationship Type="http://schemas.openxmlformats.org/officeDocument/2006/relationships/notesSlide" Target="/ppt/notesSlides/notesSlide2.xml" Id="R5654f0c234564a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33cc574ad4bd2" /><Relationship Type="http://schemas.openxmlformats.org/officeDocument/2006/relationships/notesSlide" Target="/ppt/notesSlides/notesSlide3.xml" Id="R93895b8938d3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8566c27d46f8" /><Relationship Type="http://schemas.openxmlformats.org/officeDocument/2006/relationships/notesSlide" Target="/ppt/notesSlides/notesSlide4.xml" Id="Ra6ef281067874e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233fe84d84237" /><Relationship Type="http://schemas.openxmlformats.org/officeDocument/2006/relationships/chart" Target="/ppt/slides/charts/chart1.xml" Id="R3354142228684128" /><Relationship Type="http://schemas.openxmlformats.org/officeDocument/2006/relationships/notesSlide" Target="/ppt/notesSlides/notesSlide5.xml" Id="R5adaa032127b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56b2e34a14444" /><Relationship Type="http://schemas.openxmlformats.org/officeDocument/2006/relationships/notesSlide" Target="/ppt/notesSlides/notesSlide6.xml" Id="R1fc38e89b49c4d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ca26eea234297" /><Relationship Type="http://schemas.openxmlformats.org/officeDocument/2006/relationships/chart" Target="/ppt/slides/charts/chart2.xml" Id="R2708cd07dbd74afb" /><Relationship Type="http://schemas.openxmlformats.org/officeDocument/2006/relationships/notesSlide" Target="/ppt/notesSlides/notesSlide7.xml" Id="R3b7c84bdca6748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b79fc0864305" /><Relationship Type="http://schemas.openxmlformats.org/officeDocument/2006/relationships/chart" Target="/ppt/slides/charts/chart3.xml" Id="Rfcfd4ce8afb64cb6" /><Relationship Type="http://schemas.openxmlformats.org/officeDocument/2006/relationships/notesSlide" Target="/ppt/notesSlides/notesSlide8.xml" Id="R0888a4736ce54d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dec8648a64e4a" /><Relationship Type="http://schemas.openxmlformats.org/officeDocument/2006/relationships/notesSlide" Target="/ppt/notesSlides/notesSlide9.xml" Id="R00e10f534f76448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Informer</c:v>
          </c:tx>
          <c:spPr>
            <a:ln xmlns:a="http://schemas.openxmlformats.org/drawingml/2006/main" w="30480">
              <a:solidFill>
                <a:srgbClr val="1673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673A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+1</c:v>
                </c:pt>
                <c:pt idx="1">
                  <c:v>+3</c:v>
                </c:pt>
                <c:pt idx="2">
                  <c:v>+6</c:v>
                </c:pt>
                <c:pt idx="3">
                  <c:v>+12</c:v>
                </c:pt>
                <c:pt idx="4">
                  <c:v>+24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0.841</c:v>
                </c:pt>
                <c:pt idx="1">
                  <c:v>0.903</c:v>
                </c:pt>
                <c:pt idx="2">
                  <c:v>0.913</c:v>
                </c:pt>
                <c:pt idx="3">
                  <c:v>0.93</c:v>
                </c:pt>
                <c:pt idx="4">
                  <c:v>0.94</c:v>
                </c:pt>
              </c:numCache>
            </c:numRef>
          </c:val>
        </c:ser>
        <c:ser>
          <c:idx val="1"/>
          <c:order val="1"/>
          <c:tx>
            <c:v>Luôn 0</c:v>
          </c:tx>
          <c:spPr>
            <a:ln xmlns:a="http://schemas.openxmlformats.org/drawingml/2006/main" w="30480">
              <a:solidFill>
                <a:srgbClr val="BE6B3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BE6B3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+1</c:v>
                </c:pt>
                <c:pt idx="1">
                  <c:v>+3</c:v>
                </c:pt>
                <c:pt idx="2">
                  <c:v>+6</c:v>
                </c:pt>
                <c:pt idx="3">
                  <c:v>+12</c:v>
                </c:pt>
                <c:pt idx="4">
                  <c:v>+24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0.968</c:v>
                </c:pt>
                <c:pt idx="1">
                  <c:v>0.972</c:v>
                </c:pt>
                <c:pt idx="2">
                  <c:v>0.972</c:v>
                </c:pt>
                <c:pt idx="3">
                  <c:v>0.965</c:v>
                </c:pt>
                <c:pt idx="4">
                  <c:v>0.964</c:v>
                </c:pt>
              </c:numCache>
            </c:numRef>
          </c:val>
        </c:ser>
        <c:ser>
          <c:idx val="2"/>
          <c:order val="2"/>
          <c:tx>
            <c:v>Giữ mưa giờ cuối</c:v>
          </c:tx>
          <c:spPr>
            <a:ln xmlns:a="http://schemas.openxmlformats.org/drawingml/2006/main" w="30480">
              <a:solidFill>
                <a:srgbClr val="197E8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97E86"/>
              </a:solidFill>
            </c:spPr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+1</c:v>
                </c:pt>
                <c:pt idx="1">
                  <c:v>+3</c:v>
                </c:pt>
                <c:pt idx="2">
                  <c:v>+6</c:v>
                </c:pt>
                <c:pt idx="3">
                  <c:v>+12</c:v>
                </c:pt>
                <c:pt idx="4">
                  <c:v>+24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0.792</c:v>
                </c:pt>
                <c:pt idx="1">
                  <c:v>1.054</c:v>
                </c:pt>
                <c:pt idx="2">
                  <c:v>1.081</c:v>
                </c:pt>
                <c:pt idx="3">
                  <c:v>1.097</c:v>
                </c:pt>
                <c:pt idx="4">
                  <c:v>1.18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Giờ dự báo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.25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RMSE (mm/giờ)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A2F41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Train MSE</c:v>
          </c:tx>
          <c:spPr>
            <a:ln xmlns:a="http://schemas.openxmlformats.org/drawingml/2006/main" w="30480">
              <a:solidFill>
                <a:srgbClr val="1673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673A6"/>
              </a:solidFill>
            </c:spPr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0.857</c:v>
                </c:pt>
                <c:pt idx="1">
                  <c:v>0.742</c:v>
                </c:pt>
                <c:pt idx="2">
                  <c:v>0.696</c:v>
                </c:pt>
                <c:pt idx="3">
                  <c:v>0.665</c:v>
                </c:pt>
                <c:pt idx="4">
                  <c:v>0.635</c:v>
                </c:pt>
                <c:pt idx="5">
                  <c:v>0.614</c:v>
                </c:pt>
                <c:pt idx="6">
                  <c:v>0.605</c:v>
                </c:pt>
                <c:pt idx="7">
                  <c:v>0.59</c:v>
                </c:pt>
                <c:pt idx="8">
                  <c:v>0.582</c:v>
                </c:pt>
                <c:pt idx="9">
                  <c:v>0.58</c:v>
                </c:pt>
                <c:pt idx="10">
                  <c:v>0.597</c:v>
                </c:pt>
              </c:numCache>
            </c:numRef>
          </c:val>
        </c:ser>
        <c:ser>
          <c:idx val="1"/>
          <c:order val="1"/>
          <c:tx>
            <c:v>Validation MSE</c:v>
          </c:tx>
          <c:spPr>
            <a:ln xmlns:a="http://schemas.openxmlformats.org/drawingml/2006/main" w="30480">
              <a:solidFill>
                <a:srgbClr val="BE6B3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BE6B3D"/>
              </a:solidFill>
            </c:spPr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1.645</c:v>
                </c:pt>
                <c:pt idx="1">
                  <c:v>1.735</c:v>
                </c:pt>
                <c:pt idx="2">
                  <c:v>1.662</c:v>
                </c:pt>
                <c:pt idx="3">
                  <c:v>1.686</c:v>
                </c:pt>
                <c:pt idx="4">
                  <c:v>1.652</c:v>
                </c:pt>
                <c:pt idx="5">
                  <c:v>1.653</c:v>
                </c:pt>
                <c:pt idx="6">
                  <c:v>1.648</c:v>
                </c:pt>
                <c:pt idx="7">
                  <c:v>1.721</c:v>
                </c:pt>
                <c:pt idx="8">
                  <c:v>1.705</c:v>
                </c:pt>
                <c:pt idx="9">
                  <c:v>1.673</c:v>
                </c:pt>
                <c:pt idx="10">
                  <c:v>1.669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MSE (mm²/giờ²)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A2F41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Mưa trong dữ liệu lịch sử</c:v>
          </c:tx>
          <c:spPr>
            <a:ln xmlns:a="http://schemas.openxmlformats.org/drawingml/2006/main" w="30480">
              <a:solidFill>
                <a:srgbClr val="1A2F4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A2F41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cat>
          <c:val>
            <c:numRef>
              <c:f>'Chart Data'!$B$2:$B$25</c:f>
              <c:numCache>
                <c:formatCode>0.0</c:formatCode>
                <c:ptCount val="24"/>
                <c:pt idx="0">
                  <c:v>7.3</c:v>
                </c:pt>
                <c:pt idx="1">
                  <c:v>20.6</c:v>
                </c:pt>
                <c:pt idx="2">
                  <c:v>3</c:v>
                </c:pt>
                <c:pt idx="3">
                  <c:v>3</c:v>
                </c:pt>
                <c:pt idx="4">
                  <c:v>2.2</c:v>
                </c:pt>
                <c:pt idx="5">
                  <c:v>3</c:v>
                </c:pt>
                <c:pt idx="6">
                  <c:v>2</c:v>
                </c:pt>
                <c:pt idx="7">
                  <c:v>1.9</c:v>
                </c:pt>
                <c:pt idx="8">
                  <c:v>2.6</c:v>
                </c:pt>
                <c:pt idx="9">
                  <c:v>3.2</c:v>
                </c:pt>
                <c:pt idx="10">
                  <c:v>2.9</c:v>
                </c:pt>
                <c:pt idx="11">
                  <c:v>3.6</c:v>
                </c:pt>
                <c:pt idx="12">
                  <c:v>4.1</c:v>
                </c:pt>
                <c:pt idx="13">
                  <c:v>7.4</c:v>
                </c:pt>
                <c:pt idx="14">
                  <c:v>2.2</c:v>
                </c:pt>
                <c:pt idx="15">
                  <c:v>1.9</c:v>
                </c:pt>
                <c:pt idx="16">
                  <c:v>2.3</c:v>
                </c:pt>
                <c:pt idx="17">
                  <c:v>3.5</c:v>
                </c:pt>
                <c:pt idx="18">
                  <c:v>2.3</c:v>
                </c:pt>
                <c:pt idx="19">
                  <c:v>15.3</c:v>
                </c:pt>
                <c:pt idx="20">
                  <c:v>8.8</c:v>
                </c:pt>
                <c:pt idx="21">
                  <c:v>30.8</c:v>
                </c:pt>
                <c:pt idx="22">
                  <c:v>23.9</c:v>
                </c:pt>
                <c:pt idx="23">
                  <c:v>4.7</c:v>
                </c:pt>
              </c:numCache>
            </c:numRef>
          </c:val>
        </c:ser>
        <c:ser>
          <c:idx val="1"/>
          <c:order val="1"/>
          <c:tx>
            <c:v>Informer</c:v>
          </c:tx>
          <c:spPr>
            <a:ln xmlns:a="http://schemas.openxmlformats.org/drawingml/2006/main" w="30480">
              <a:solidFill>
                <a:srgbClr val="1673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673A6"/>
              </a:solidFill>
            </c:spPr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cat>
          <c:val>
            <c:numRef>
              <c:f>'Chart Data'!$D$2:$D$25</c:f>
              <c:numCache>
                <c:formatCode>0.0</c:formatCode>
                <c:ptCount val="24"/>
                <c:pt idx="0">
                  <c:v>1.04</c:v>
                </c:pt>
                <c:pt idx="1">
                  <c:v>0.76</c:v>
                </c:pt>
                <c:pt idx="2">
                  <c:v>0.73</c:v>
                </c:pt>
                <c:pt idx="3">
                  <c:v>0.7</c:v>
                </c:pt>
                <c:pt idx="4">
                  <c:v>0.68</c:v>
                </c:pt>
                <c:pt idx="5">
                  <c:v>0.67</c:v>
                </c:pt>
                <c:pt idx="6">
                  <c:v>0.65</c:v>
                </c:pt>
                <c:pt idx="7">
                  <c:v>0.62</c:v>
                </c:pt>
                <c:pt idx="8">
                  <c:v>0.59</c:v>
                </c:pt>
                <c:pt idx="9">
                  <c:v>0.57</c:v>
                </c:pt>
                <c:pt idx="10">
                  <c:v>0.56</c:v>
                </c:pt>
                <c:pt idx="11">
                  <c:v>0.54</c:v>
                </c:pt>
                <c:pt idx="12">
                  <c:v>0.51</c:v>
                </c:pt>
                <c:pt idx="13">
                  <c:v>0.47</c:v>
                </c:pt>
                <c:pt idx="14">
                  <c:v>0.44</c:v>
                </c:pt>
                <c:pt idx="15">
                  <c:v>0.41</c:v>
                </c:pt>
                <c:pt idx="16">
                  <c:v>0.39</c:v>
                </c:pt>
                <c:pt idx="17">
                  <c:v>0.37</c:v>
                </c:pt>
                <c:pt idx="18">
                  <c:v>0.35</c:v>
                </c:pt>
                <c:pt idx="19">
                  <c:v>0.34</c:v>
                </c:pt>
                <c:pt idx="20">
                  <c:v>0.34</c:v>
                </c:pt>
                <c:pt idx="21">
                  <c:v>0.35</c:v>
                </c:pt>
                <c:pt idx="22">
                  <c:v>0.35</c:v>
                </c:pt>
                <c:pt idx="23">
                  <c:v>0.28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Giờ trong cửa sổ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B7183"/>
                    </a:solidFill>
                    <a:latin typeface="Segoe UI"/>
                    <a:ea typeface="Segoe UI"/>
                    <a:cs typeface="Segoe UI"/>
                  </a:rPr>
                  <a:t>Mưa (mm/giờ)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B7183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A2F41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11FCE-86B7-4A66-BCB2-C225F543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Dự báo mưa Đà Nẵng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BDB96-1244-4C1E-BB62-ADC6565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DE4F1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DE4F1"/>
                </a:solidFill>
                <a:latin typeface="Segoe UI"/>
                <a:ea typeface="Segoe UI"/>
                <a:cs typeface="Segoe UI"/>
              </a:rPr>
              <a:t>Kiểm định Informer 24 giờ và trạng thái web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2888-9369-4A8E-B2E3-A13C5BE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C2D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9C2D0"/>
                </a:solidFill>
                <a:latin typeface="Segoe UI"/>
                <a:ea typeface="Segoe UI"/>
                <a:cs typeface="Segoe UI"/>
              </a:rPr>
              <a:t>Báo cáo tiến độ PBL6  |  30/09/2026</a:t>
            </a:r>
          </a:p>
        </p:txBody>
      </p:sp>
    </p:spTree>
    <p:extLst>
      <p:ext uri="{BB962C8B-B14F-4D97-AF65-F5344CB8AC3E}">
        <p14:creationId xmlns:p14="http://schemas.microsoft.com/office/powerpoint/2010/main" val="645989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D9E6F-7C7B-4381-9E21-7754AFA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Phạm vi hệ thống hiện tại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5E2E-8AF0-4FF6-8ABB-99A5A671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Website đang chạy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CDC58-8D39-4DE1-B8E1-2F13C3B6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429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Dự báo ECMWF IFS qua Open-Meteo</a:t>
            </a:r>
          </a:p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Backend kiểm tra nguồn mỗi 30 phút</a:t>
            </a:r>
          </a:p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Dữ liệu lịch sử hiển thị riêng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41BF9-656D-4C0E-B29D-A24D773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7E8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7E86"/>
                </a:solidFill>
                <a:latin typeface="Segoe UI"/>
                <a:ea typeface="Segoe UI"/>
                <a:cs typeface="Segoe UI"/>
              </a:rPr>
              <a:t>Informer EXP-0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966ED-BB23-4DEE-9756-46AB51F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Nhìn lại 168 giờ, dự báo 24 giờ</a:t>
            </a:r>
          </a:p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6 biến bề mặt từ dữ liệu lịch sử</a:t>
            </a:r>
          </a:p>
          <a:p xmlns:a="http://schemas.openxmlformats.org/drawingml/2006/main">
            <a:pPr algn="l">
              <a:defRPr sz="18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Chưa có đánh giá phát hành thời gian thực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5BF4C-BF69-4B0D-9889-C6BFD8FF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Điểm cần nhớ: web demo và kết quả Informer sử dụng hai luồng dự báo khác nhau.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9D178-8944-412A-A1E5-0EAFE1E2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Nguồn: mã demo/app.py, run_informer_experiment.py và kiểm toán as-of trong repo</a:t>
            </a:r>
          </a:p>
        </p:txBody>
      </p:sp>
    </p:spTree>
    <p:extLst>
      <p:ext uri="{BB962C8B-B14F-4D97-AF65-F5344CB8AC3E}">
        <p14:creationId xmlns:p14="http://schemas.microsoft.com/office/powerpoint/2010/main" val="482075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626B8-5866-4314-B4E5-564EC5C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Thí nghiệm Informer EXP-0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E8E-CC7D-4C70-B535-2767625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7712F-2FF8-4CC0-B3A4-1FD0DCE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168 giờ quá khứ</a:t>
            </a:r>
          </a:p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6 biến bề mặt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CB8F-CF0A-4F96-8AF3-0C046C7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Đầu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0AB2-4D16-4DD4-8639-48EF2DCB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24 giờ lượng mưa</a:t>
            </a:r>
          </a:p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mm cho mỗi giờ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F6708-DE3F-46A2-BAD5-2D8BEF73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Kiểm định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23EA6-80E8-45DA-B724-9FB9144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70/15/15 theo thời gian</a:t>
            </a:r>
          </a:p>
          <a:p xmlns:a="http://schemas.openxmlformats.org/drawingml/2006/main">
            <a:pPr algn="l">
              <a:defRPr sz="20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7.426 cửa sổ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23286-5AFB-4B85-8123-339B64D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Test: 25/10/2025 đến 01/09/2026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6F12-8C03-4119-8AA2-33CFDAF1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7.449 giờ đích khác nhau; các cửa sổ dự báo chồng lấp mạnh.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3963B-290A-4138-B70E-31B6F8D9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Nhãn mưa là Open-Meteo Historical, chưa phải chuỗi đo trạm độc lập</a:t>
            </a:r>
          </a:p>
        </p:txBody>
      </p:sp>
    </p:spTree>
    <p:extLst>
      <p:ext uri="{BB962C8B-B14F-4D97-AF65-F5344CB8AC3E}">
        <p14:creationId xmlns:p14="http://schemas.microsoft.com/office/powerpoint/2010/main" val="37628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4D101-DE72-4329-AB8D-5C46E81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RMSE giảm nhẹ; MAE kém dự báo luôn 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04850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200025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</a:t>
                      </a:r>
                    </a:p>
                  </a:txBody>
                  <a:tcPr marL="91440" marR="91440" marT="45720" marB="45720">
                    <a:solidFill>
                      <a:srgbClr val="11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11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1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112B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Informer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0,309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0,039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Luôn dự báo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0,230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0,966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−0,060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Giữ mưa giờ cuối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0,291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1,094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−0,357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Trung bình 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0,369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0,939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A2F41"/>
                          </a:solidFill>
                          <a:latin typeface="Segoe UI"/>
                          <a:ea typeface="Segoe UI"/>
                          <a:cs typeface="Segoe UI"/>
                        </a:rPr>
                        <a:t>−0,001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709E9-3847-4B47-A5F4-1E538B7A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Đơn vị MAE, RMSE: mm/giờ. 70,4% cặp giờ trong test không mưa.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7AD3-F071-4EAD-B235-C5468AC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Đối chứng tính lại trên đúng 7.426 cửa sổ test của Informer</a:t>
            </a:r>
          </a:p>
        </p:txBody>
      </p:sp>
    </p:spTree>
    <p:extLst>
      <p:ext uri="{BB962C8B-B14F-4D97-AF65-F5344CB8AC3E}">
        <p14:creationId xmlns:p14="http://schemas.microsoft.com/office/powerpoint/2010/main" val="1987761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3769F-0765-421E-8F12-828D803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Lợi thế RMSE so với dự báo 0 thu hẹp ở +24 giờ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10572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5414222868412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B7283-36D8-4797-84EF-07F0A379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Ở +24 giờ, R² của Informer ≈ −0,007; chưa kiểm định +48 hoặc +72 giờ.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D04F1-2EFA-4E2B-8269-EC6FF0B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Cùng tập test và cùng mốc giờ cho ba phương pháp</a:t>
            </a:r>
          </a:p>
        </p:txBody>
      </p:sp>
    </p:spTree>
    <p:extLst>
      <p:ext uri="{BB962C8B-B14F-4D97-AF65-F5344CB8AC3E}">
        <p14:creationId xmlns:p14="http://schemas.microsoft.com/office/powerpoint/2010/main" val="1275416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B4BB-EABB-4B6D-9FE4-0E3F819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Mưa lớn ≥5 mm/giờ: 0 lần phát hiện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AD475-4280-4749-80E4-E6A4C15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33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BE6B3D"/>
                </a:solidFill>
                <a:latin typeface="Segoe UI"/>
                <a:ea typeface="Segoe UI"/>
                <a:cs typeface="Segoe UI"/>
              </a:defRPr>
            </a:pPr>
            <a:r>
              <a:rPr sz="7650" b="1">
                <a:solidFill>
                  <a:srgbClr val="BE6B3D"/>
                </a:solidFill>
                <a:latin typeface="Segoe UI"/>
                <a:ea typeface="Segoe UI"/>
                <a:cs typeface="Segoe UI"/>
              </a:rPr>
              <a:t>0 / 966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20C24-F3E2-4C96-A648-A9532D90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cặp mưa lớn được bắt đúng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B3185-925F-4954-8464-E5C7CE8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TP = 0, FP = 0, FN = 966 cặp; tương ứng 41 giờ mưa lớn duy nhất.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BEB99-E2CA-41B2-B0D6-57A8F26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Đỉnh mưa thật 30,8 mm/giờ; đỉnh dự báo 4,94 mm/giờ.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FBABB-999F-4922-8D28-E876640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Ngưỡng: ≥5 mm/giờ. Không có dự báo dương nên FAR=0 không có ý nghĩa cảnh báo.</a:t>
            </a:r>
          </a:p>
        </p:txBody>
      </p:sp>
    </p:spTree>
    <p:extLst>
      <p:ext uri="{BB962C8B-B14F-4D97-AF65-F5344CB8AC3E}">
        <p14:creationId xmlns:p14="http://schemas.microsoft.com/office/powerpoint/2010/main" val="519656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06C1F-9DFE-4911-9234-3B98D28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Validation tốt nhất ngay ở epoch 1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10572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08cd07dbd74af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ED849-9210-4B39-B281-3AB65B3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Checkpoint tốt nhất: epoch 1. Early stopping: epoch 11.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3A97A-7C5F-412C-B341-722E958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Đường loss từ training_log.json; không suy ra chất lượng triển khai từ loss train</a:t>
            </a:r>
          </a:p>
        </p:txBody>
      </p:sp>
    </p:spTree>
    <p:extLst>
      <p:ext uri="{BB962C8B-B14F-4D97-AF65-F5344CB8AC3E}">
        <p14:creationId xmlns:p14="http://schemas.microsoft.com/office/powerpoint/2010/main" val="1177497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776C-CA8E-4700-9D0B-44E6DB4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Cửa sổ mưa 24 giờ lớn nhất: Informer san thấp cả đợt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2D2B-D6AE-4D17-9189-5182475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Cửa sổ test 28/10 12h đến 29/10 11h, chọn theo tổng mưa thật 24h lớn nhất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62000" y="1800225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fd4ce8afb64cb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57316-FBBE-4218-B9EC-2825D67E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Tổng 24h: 162,5 mm trong nhãn; Informer dự báo 12,7 mm.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BF30C-1E98-47F9-8266-4E405958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Đợt được chọn theo lượng mưa thật lớn nhất; dùng để kiểm tra giới hạn, không đại diện mọi ngày</a:t>
            </a:r>
          </a:p>
        </p:txBody>
      </p:sp>
    </p:spTree>
    <p:extLst>
      <p:ext uri="{BB962C8B-B14F-4D97-AF65-F5344CB8AC3E}">
        <p14:creationId xmlns:p14="http://schemas.microsoft.com/office/powerpoint/2010/main" val="614456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6B037-ADC2-4681-AA9C-6C1B261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B4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12B43"/>
                </a:solidFill>
                <a:latin typeface="Segoe UI"/>
                <a:ea typeface="Segoe UI"/>
                <a:cs typeface="Segoe UI"/>
              </a:rPr>
              <a:t>Kết luận và phép thử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33C5D-1459-4B02-BBC2-DC55092C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Đánh giá hiện tại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2861-BAC6-4952-B6FD-1128F4C6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Informer giảm RMSE so với đối chứng 0 nhưng chưa đạt yêu cầu cảnh báo mưa lớn hoặc xác nhận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C6CA2-DB84-4C84-8F33-F6B7B6E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3A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673A6"/>
                </a:solidFill>
                <a:latin typeface="Segoe UI"/>
                <a:ea typeface="Segoe UI"/>
                <a:cs typeface="Segoe UI"/>
              </a:rPr>
              <a:t>Kiểm định cần làm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F6DC2-4A97-4C88-8CE3-9A94F3D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Đối chiếu ECMWF trực tiếp trên cùng giờ hiệu lực</a:t>
            </a:r>
          </a:p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Nhãn mưa độc lập, lưu thời điểm dữ liệu sẵn có</a:t>
            </a:r>
          </a:p>
          <a:p xmlns:a="http://schemas.openxmlformats.org/drawingml/2006/main">
            <a:pPr algn="l">
              <a:defRPr sz="1875" b="0">
                <a:solidFill>
                  <a:srgbClr val="1A2F4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A2F41"/>
                </a:solidFill>
                <a:latin typeface="Segoe UI"/>
                <a:ea typeface="Segoe UI"/>
                <a:cs typeface="Segoe UI"/>
              </a:rPr>
              <a:t>Huấn luyện riêng +48 và +72 giờ nếu đó là mục tiêu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CC5EC-D4C0-41DA-A1A6-F0005F41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18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B7183"/>
                </a:solidFill>
                <a:latin typeface="Segoe UI"/>
                <a:ea typeface="Segoe UI"/>
                <a:cs typeface="Segoe UI"/>
              </a:rPr>
              <a:t>Website tiếp tục dùng ECMWF IFS; chưa gắn checkpoint Informer vào dự báo cho người dùng</a:t>
            </a:r>
          </a:p>
        </p:txBody>
      </p:sp>
    </p:spTree>
    <p:extLst>
      <p:ext uri="{BB962C8B-B14F-4D97-AF65-F5344CB8AC3E}">
        <p14:creationId xmlns:p14="http://schemas.microsoft.com/office/powerpoint/2010/main" val="1389055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2026-09-30T01:35:25.0920000Z</dcterms:created>
  <dcterms:modified xsi:type="dcterms:W3CDTF">2026-09-30T01:35:25.0920000Z</dcterms:modified>
</coreProperties>
</file>