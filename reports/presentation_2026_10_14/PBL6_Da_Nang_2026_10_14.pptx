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C206F-E916-48AE-9A70-01DBF1CA6AA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86FC0-9A80-4463-9BD5-8E9210C83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47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Đây là tiến độ nghiên cứu và demo hồi cứu, chưa phải dự báo AI trực tiếp hay sản phẩm cảnh báo ngập.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86FC0-9A80-4463-9BD5-8E9210C83E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73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 https://tralien.danang.gov.vn/chuyen-doi-so/cac-tinh-nang-ho-tro-ung-pho-thien-tai-tren-ung-dung-danang-smart-city-324820 ; https://hdnd.danang.gov.vn/chi-tiet-tin/group/157/nid/23678/som-cong-khai-ban-do-ngap-lut-cua-thanh-pho-da-nang ; https://public.wmo.int/resources/wmo-bulletin/wmo-bulletin-vol-71-1-2022/communicating-life-saving-action-enhancing-messaging-early-warnings-systems ; reports/research_rainfall/user_needs_desk_review_2026_10_14.md. Nhu cầu sản phẩm là giả thuyết từ tài liệu, không phải kết quả khảo sát.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86FC0-9A80-4463-9BD5-8E9210C83E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86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 nội bộ: reports/station_benchmark/README.md ; reports/domain_screen_danang/README.md ; reports/research_rainfall/slide_content_2026_10_14.md. CSI là Critical Success Index. Đối chiếu GC với GSOD có rủi ro trùng nguồn hiệu chỉnh gauge.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86FC0-9A80-4463-9BD5-8E9210C83E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88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 reports/followup_danang/amount/paired_bootstrap.json ; reports/followup_danang/bilstm_tweedie/paired_bootstrap.json ; reports/research_rainfall/slide_content_2026_10_14.md. So cùng sample/fold trong từng họ mô hình. Không suy ra xác suất cải thiện đồng đều.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86FC0-9A80-4463-9BD5-8E9210C83E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203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Nguồn: reports/domain_screen_danang/README.md ; reports/domain_screen_danang/domain_effect_ci.png ; reports/domain_screen_danang/regime_event_rates.png. Tỷ lệ gió chỉ mô tả dữ liệu; không là quan hệ nhân quả. DOMAIN CSI tăng mô tả nhưng CI bootstrap từng năm chứa 0.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86FC0-9A80-4463-9BD5-8E9210C83E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04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 reports/followup_danang/jaxa_live_first_detection.json ; reports/followup_danang/bilstm_tweedie_lag5/README.md ; reports/research_rainfall/slide_content_2026_10_14.md. Một file watcher không đại diện latency điển hình. Demo archive không đồng nghĩa AI live. Lag5 retrain trên cùng 30 cell/3 fold/3 seed; không phải đánh giá app trực tiếp.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86FC0-9A80-4463-9BD5-8E9210C83E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53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Kế hoạch: reports/research_rainfall/execution_plan.md ; reports/research_rainfall/slide_content_2026_10_14.md. User interviews và T-OPS chưa hoàn tất; đây là bước tiếp theo, không phải kết quả đã có.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86FC0-9A80-4463-9BD5-8E9210C83E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345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Nguồn: reports/research_rainfall/ecmwf_pilot_14d/README.md. ECMWF IFS là forecast trước giờ đích, khác ERA5 reanalysis. Open-Meteo là bước trung gian nội suy/giải tổng, không native GRIB. Historical available_at chưa được xác minh đầy đủ. Không tuyên bố AI vượt ECMWF.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86FC0-9A80-4463-9BD5-8E9210C83E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5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28F68-116F-1654-D16B-9FFF0A592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E2B8D-C3F9-8C05-C412-1559E0B4C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06321-9AB1-5AE6-F2C3-5B4342C55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B5E9-263E-42B0-8ECB-13CDE897E43D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A4918-DEDE-7938-DC1B-DE9F8B4A8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7DEFE-B732-19E2-D28F-3C37293E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92C93-73DC-4563-B4D4-79EF6410F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2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FBA0A-620A-4398-6AA4-E9DA88D01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73B10-1054-AF8A-F925-21E2B8C5F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95339-C08A-2ED1-9C25-AE99A4341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B5E9-263E-42B0-8ECB-13CDE897E43D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FBA3E-DF3E-4217-9E86-CD3345883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7C0A6-3CA9-1D7D-4A10-B17B243F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92C93-73DC-4563-B4D4-79EF6410F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68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06304-9B7B-69C6-C908-FAB3988B8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3BBD2-0812-8029-8CF6-F8B83C33A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87567-2BF4-5E59-574F-684E3A2DF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B5E9-263E-42B0-8ECB-13CDE897E43D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AD562-6828-D778-FCF2-A83A60C47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1B1F2-33FA-4840-FF65-0B865301F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92C93-73DC-4563-B4D4-79EF6410F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61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4C103-8F2B-44E6-8DA8-A115A9374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ACA94-56AA-25FD-9D16-0C31455D9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A97F9-4C29-8BEE-4329-4F0D23189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CC351-1AAB-0A35-CFA8-479970FBB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B5E9-263E-42B0-8ECB-13CDE897E43D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14A61-C03B-6EFF-CB0B-154B92DF8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3B63EB-0769-AB27-2030-4DE94AC3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92C93-73DC-4563-B4D4-79EF6410F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812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C45CA-2942-F744-6900-0BD370C7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2CC13-D8AB-A7D4-BA92-76021725F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021E2-256C-015B-41AE-9683FEBA1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B1EAA-7910-B244-81AF-33FECF3BC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6969CF-D929-A6D4-D094-7BA6337C9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816A66-E363-D40E-013D-BBB151C53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B5E9-263E-42B0-8ECB-13CDE897E43D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BA1EFC-1D8D-EA8A-12C5-DE0F339B7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D518E6-9595-1E5F-776A-D30FA525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92C93-73DC-4563-B4D4-79EF6410F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52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77AF0-D780-631B-CD69-837E84B05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415F89-A326-B25D-DE8B-60EE15A9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B5E9-263E-42B0-8ECB-13CDE897E43D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AA8BD-D53E-6F13-EF42-0715206D8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97730-3243-B413-3ADC-1F857090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92C93-73DC-4563-B4D4-79EF6410F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87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FCEF9-E839-F485-916D-D8532B283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B5E9-263E-42B0-8ECB-13CDE897E43D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4AEAEB-D327-5FC0-A112-37F14C9F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BAC6D-3FB7-2446-644B-F0D7B2A7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92C93-73DC-4563-B4D4-79EF6410F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64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61FF-D5A6-9986-9EEA-0C3CBD6B9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69CA6-D8B9-4B5F-83D7-7BACDE4C1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0BB0F-FDCE-8D84-6196-EBFD5D4DC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F83A1-34A8-F81B-C437-83CC93AF7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B5E9-263E-42B0-8ECB-13CDE897E43D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28F75-0C9E-1E89-B59A-C8EABB05B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BF734-5D8C-0C3E-31F5-2D81874C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92C93-73DC-4563-B4D4-79EF6410F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4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914F-A749-B9A9-7EA1-7380BB9C7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5D6F80-2DC8-E66A-EBA6-6E8BA478011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B3D2D-F434-A101-6A7E-92CE3A0EB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2C0CA-1480-1F1D-D2E0-65F752E4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B5E9-263E-42B0-8ECB-13CDE897E43D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82F9B-3B1B-E7E1-B535-A98109681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7B015-6DC7-7357-850D-B2DA43D0E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92C93-73DC-4563-B4D4-79EF6410F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4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55F1A-38D4-78B7-2D2C-8AB5F0EC8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1B951-9765-7381-85AA-7E168BB3C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29578-F72A-95C7-0CA7-CD279909F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B5E9-263E-42B0-8ECB-13CDE897E43D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AB653-097D-E8B7-849C-4D37CECF8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6FCD1-8D33-5126-47F6-715BF64F7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92C93-73DC-4563-B4D4-79EF6410F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481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A0731-6BB4-43BA-3665-28E3228894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3C994A-9F9A-3490-B90E-A369C47EE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7EA9A-7AEB-4545-FD7E-50DBC934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B5E9-263E-42B0-8ECB-13CDE897E43D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76048-BAE9-3A75-9303-3508608E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C7F1A-5528-1925-7D53-BC91C6A1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92C93-73DC-4563-B4D4-79EF6410F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3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E1F83-DC3D-F967-8FD9-884DA4B5F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9E685-4224-9324-17E5-A5D8F3C0E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C89F0-CB06-2B8C-6B2F-C27699F3D5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FB5E9-263E-42B0-8ECB-13CDE897E43D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D5E1C-8A25-C3D9-94DB-B4FD2836A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C196F-33F9-418D-E701-64F652003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992C93-73DC-4563-B4D4-79EF6410F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1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054A4A-F1BC-71BE-0B38-A1C117F03D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B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B72014-4DF8-8867-2988-B7F716FF1118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07E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20068-95A3-C886-B0F1-6BA91824DB04}"/>
              </a:ext>
            </a:extLst>
          </p:cNvPr>
          <p:cNvSpPr txBox="1"/>
          <p:nvPr/>
        </p:nvSpPr>
        <p:spPr>
          <a:xfrm>
            <a:off x="762000" y="838200"/>
            <a:ext cx="889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74D8DA"/>
                </a:solidFill>
                <a:latin typeface="Arial" panose="020B0604020202020204" pitchFamily="34" charset="0"/>
              </a:rPr>
              <a:t>PBL6  /  BÁO CÁO TIẾN ĐỘ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10359B-FD43-1D79-245E-2AA964813714}"/>
              </a:ext>
            </a:extLst>
          </p:cNvPr>
          <p:cNvSpPr txBox="1"/>
          <p:nvPr/>
        </p:nvSpPr>
        <p:spPr>
          <a:xfrm>
            <a:off x="762000" y="1651000"/>
            <a:ext cx="104775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4000" b="1">
                <a:solidFill>
                  <a:srgbClr val="FFFFFF"/>
                </a:solidFill>
                <a:latin typeface="Arial" panose="020B0604020202020204" pitchFamily="34" charset="0"/>
              </a:rPr>
              <a:t>Dự báo mưa vài giờ tới
cho Đà Nẵng</a:t>
            </a:r>
            <a:endParaRPr lang="en-US" sz="4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B5D4F-261A-D894-73BA-7F73FF8BC5F5}"/>
              </a:ext>
            </a:extLst>
          </p:cNvPr>
          <p:cNvSpPr txBox="1"/>
          <p:nvPr/>
        </p:nvSpPr>
        <p:spPr>
          <a:xfrm>
            <a:off x="762000" y="4292600"/>
            <a:ext cx="10287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000">
                <a:solidFill>
                  <a:srgbClr val="FFFFFF"/>
                </a:solidFill>
                <a:latin typeface="Arial" panose="020B0604020202020204" pitchFamily="34" charset="0"/>
              </a:rPr>
              <a:t>Dữ liệu địa phương · so sánh mô hình · khả năng triển khai ứng dụng</a:t>
            </a:r>
            <a:endParaRPr 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BF4CC8-128F-A046-BA57-45AEF81EB8C9}"/>
              </a:ext>
            </a:extLst>
          </p:cNvPr>
          <p:cNvSpPr/>
          <p:nvPr/>
        </p:nvSpPr>
        <p:spPr>
          <a:xfrm>
            <a:off x="762000" y="5638800"/>
            <a:ext cx="1066800" cy="63500"/>
          </a:xfrm>
          <a:prstGeom prst="rect">
            <a:avLst/>
          </a:prstGeom>
          <a:solidFill>
            <a:srgbClr val="DC77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EFBDDF-F284-C165-7307-3624635BDD01}"/>
              </a:ext>
            </a:extLst>
          </p:cNvPr>
          <p:cNvSpPr txBox="1"/>
          <p:nvPr/>
        </p:nvSpPr>
        <p:spPr>
          <a:xfrm>
            <a:off x="762000" y="5918200"/>
            <a:ext cx="965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C2D1DB"/>
                </a:solidFill>
                <a:latin typeface="Arial" panose="020B0604020202020204" pitchFamily="34" charset="0"/>
              </a:rPr>
              <a:t>Trao đổi với giảng viên  ·  08:00, 14/10/2026</a:t>
            </a:r>
          </a:p>
        </p:txBody>
      </p:sp>
    </p:spTree>
    <p:extLst>
      <p:ext uri="{BB962C8B-B14F-4D97-AF65-F5344CB8AC3E}">
        <p14:creationId xmlns:p14="http://schemas.microsoft.com/office/powerpoint/2010/main" val="3426840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D4D2E6-3057-6FB2-F416-8FEA1F2AC6FA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007E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52CBCA-0900-706B-7682-291A72234C01}"/>
              </a:ext>
            </a:extLst>
          </p:cNvPr>
          <p:cNvSpPr txBox="1"/>
          <p:nvPr/>
        </p:nvSpPr>
        <p:spPr>
          <a:xfrm>
            <a:off x="558800" y="304800"/>
            <a:ext cx="965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100" b="1">
                <a:solidFill>
                  <a:srgbClr val="007E87"/>
                </a:solidFill>
                <a:latin typeface="Arial" panose="020B0604020202020204" pitchFamily="34" charset="0"/>
              </a:rPr>
              <a:t>BÀI TOÁN &amp; NGƯỜI DÙNG</a:t>
            </a:r>
            <a:endParaRPr lang="en-US" sz="1100" b="1">
              <a:solidFill>
                <a:srgbClr val="007E87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BCBC7D-3ED6-E860-61E8-C36F469CE72C}"/>
              </a:ext>
            </a:extLst>
          </p:cNvPr>
          <p:cNvSpPr txBox="1"/>
          <p:nvPr/>
        </p:nvSpPr>
        <p:spPr>
          <a:xfrm>
            <a:off x="558800" y="6604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900" b="1">
                <a:solidFill>
                  <a:srgbClr val="172B41"/>
                </a:solidFill>
                <a:latin typeface="Arial" panose="020B0604020202020204" pitchFamily="34" charset="0"/>
              </a:rPr>
              <a:t>Nhu cầu: biết mưa sắp tới, không chỉ mưa đang xảy ra</a:t>
            </a:r>
            <a:endParaRPr lang="en-US" sz="2900" b="1">
              <a:solidFill>
                <a:srgbClr val="172B4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6FA218-6645-E723-4A4B-5DE82CF30435}"/>
              </a:ext>
            </a:extLst>
          </p:cNvPr>
          <p:cNvSpPr/>
          <p:nvPr/>
        </p:nvSpPr>
        <p:spPr>
          <a:xfrm>
            <a:off x="558800" y="6299200"/>
            <a:ext cx="11074400" cy="12700"/>
          </a:xfrm>
          <a:prstGeom prst="rect">
            <a:avLst/>
          </a:prstGeom>
          <a:solidFill>
            <a:srgbClr val="D3DF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54A6DD-5403-786D-8457-CBC5C51DAC5F}"/>
              </a:ext>
            </a:extLst>
          </p:cNvPr>
          <p:cNvSpPr txBox="1"/>
          <p:nvPr/>
        </p:nvSpPr>
        <p:spPr>
          <a:xfrm>
            <a:off x="558800" y="6451600"/>
            <a:ext cx="825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5D6F7E"/>
                </a:solidFill>
                <a:latin typeface="Arial" panose="020B0604020202020204" pitchFamily="34" charset="0"/>
              </a:rPr>
              <a:t>PBL6  |  Đà Nẵng  |  14.10.2026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2295A-77A8-131C-0DEE-A9F23F43F946}"/>
              </a:ext>
            </a:extLst>
          </p:cNvPr>
          <p:cNvSpPr txBox="1"/>
          <p:nvPr/>
        </p:nvSpPr>
        <p:spPr>
          <a:xfrm>
            <a:off x="11049000" y="6451600"/>
            <a:ext cx="584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5D6F7E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EE2182-1E77-87B4-FE16-3FAFEE39B271}"/>
              </a:ext>
            </a:extLst>
          </p:cNvPr>
          <p:cNvSpPr/>
          <p:nvPr/>
        </p:nvSpPr>
        <p:spPr>
          <a:xfrm>
            <a:off x="558800" y="1676400"/>
            <a:ext cx="3492500" cy="3683000"/>
          </a:xfrm>
          <a:prstGeom prst="rect">
            <a:avLst/>
          </a:prstGeom>
          <a:solidFill>
            <a:srgbClr val="EEF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D2FD0F-67CB-36C0-97F8-C073FA9C88A7}"/>
              </a:ext>
            </a:extLst>
          </p:cNvPr>
          <p:cNvSpPr txBox="1"/>
          <p:nvPr/>
        </p:nvSpPr>
        <p:spPr>
          <a:xfrm>
            <a:off x="787400" y="1930400"/>
            <a:ext cx="3048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172B41"/>
                </a:solidFill>
                <a:latin typeface="Arial" panose="020B0604020202020204" pitchFamily="34" charset="0"/>
              </a:rPr>
              <a:t>Hiện có ở Đà Nẵng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724437-64B2-AF18-F45D-90C0F8357A87}"/>
              </a:ext>
            </a:extLst>
          </p:cNvPr>
          <p:cNvSpPr txBox="1"/>
          <p:nvPr/>
        </p:nvSpPr>
        <p:spPr>
          <a:xfrm>
            <a:off x="787400" y="2514600"/>
            <a:ext cx="2946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700">
                <a:solidFill>
                  <a:srgbClr val="253543"/>
                </a:solidFill>
                <a:latin typeface="Arial" panose="020B0604020202020204" pitchFamily="34" charset="0"/>
              </a:rPr>
              <a:t>Danang Smart City đã có theo dõi mưa, mực nước và điểm ngập thời gian thực.</a:t>
            </a:r>
            <a:endParaRPr lang="en-US" sz="1700">
              <a:solidFill>
                <a:srgbClr val="253543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AC103E-C402-C4E7-7969-819A98EA930B}"/>
              </a:ext>
            </a:extLst>
          </p:cNvPr>
          <p:cNvSpPr txBox="1"/>
          <p:nvPr/>
        </p:nvSpPr>
        <p:spPr>
          <a:xfrm>
            <a:off x="787400" y="4127500"/>
            <a:ext cx="2946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>
                <a:solidFill>
                  <a:srgbClr val="5D6F7E"/>
                </a:solidFill>
                <a:latin typeface="Arial" panose="020B0604020202020204" pitchFamily="34" charset="0"/>
              </a:rPr>
              <a:t>Vì vậy, đề tài không nhận là bản đồ mưa/ngập đầu tiên.</a:t>
            </a:r>
            <a:endParaRPr lang="en-US" sz="1500">
              <a:solidFill>
                <a:srgbClr val="5D6F7E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DEB18A-53E9-45AB-383A-6FC9C69EC510}"/>
              </a:ext>
            </a:extLst>
          </p:cNvPr>
          <p:cNvSpPr/>
          <p:nvPr/>
        </p:nvSpPr>
        <p:spPr>
          <a:xfrm>
            <a:off x="4343400" y="1676400"/>
            <a:ext cx="7289800" cy="3683000"/>
          </a:xfrm>
          <a:prstGeom prst="rect">
            <a:avLst/>
          </a:prstGeom>
          <a:solidFill>
            <a:srgbClr val="F5F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031A55-F730-B8D7-AA5F-F42580FB8B46}"/>
              </a:ext>
            </a:extLst>
          </p:cNvPr>
          <p:cNvSpPr txBox="1"/>
          <p:nvPr/>
        </p:nvSpPr>
        <p:spPr>
          <a:xfrm>
            <a:off x="4597400" y="1905000"/>
            <a:ext cx="6705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172B41"/>
                </a:solidFill>
                <a:latin typeface="Arial" panose="020B0604020202020204" pitchFamily="34" charset="0"/>
              </a:rPr>
              <a:t>Lớp thông tin nhóm muốn kiểm chứng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2DF4B7-2E9B-36E3-39B3-F4DD47692B41}"/>
              </a:ext>
            </a:extLst>
          </p:cNvPr>
          <p:cNvSpPr txBox="1"/>
          <p:nvPr/>
        </p:nvSpPr>
        <p:spPr>
          <a:xfrm>
            <a:off x="4597400" y="2501900"/>
            <a:ext cx="3098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07E87"/>
                </a:solidFill>
                <a:latin typeface="Arial" panose="020B0604020202020204" pitchFamily="34" charset="0"/>
              </a:rPr>
              <a:t>0–6 giờ tới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577B7A-301C-8FAC-D7B4-8A96FA6BC7F7}"/>
              </a:ext>
            </a:extLst>
          </p:cNvPr>
          <p:cNvSpPr txBox="1"/>
          <p:nvPr/>
        </p:nvSpPr>
        <p:spPr>
          <a:xfrm>
            <a:off x="4597400" y="3225800"/>
            <a:ext cx="65278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900">
                <a:solidFill>
                  <a:srgbClr val="253543"/>
                </a:solidFill>
                <a:latin typeface="Arial" panose="020B0604020202020204" pitchFamily="34" charset="0"/>
              </a:rPr>
              <a:t>Lượng mưa và xác suất vượt ngưỡng theo ô lưới; luôn hiện giờ phát hành, nguồn và độ cũ dữ liệu.</a:t>
            </a:r>
            <a:endParaRPr lang="en-US" sz="1900">
              <a:solidFill>
                <a:srgbClr val="253543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792FAA-5E9F-D753-318B-EB031ADE423E}"/>
              </a:ext>
            </a:extLst>
          </p:cNvPr>
          <p:cNvSpPr txBox="1"/>
          <p:nvPr/>
        </p:nvSpPr>
        <p:spPr>
          <a:xfrm>
            <a:off x="4597400" y="4533900"/>
            <a:ext cx="6477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>
                <a:solidFill>
                  <a:srgbClr val="5D6F7E"/>
                </a:solidFill>
                <a:latin typeface="Arial" panose="020B0604020202020204" pitchFamily="34" charset="0"/>
              </a:rPr>
              <a:t>Người dùng giả định: người đi lại; cán bộ theo dõi khu vực; người vận hành app.</a:t>
            </a:r>
            <a:endParaRPr lang="en-US" sz="1500">
              <a:solidFill>
                <a:srgbClr val="5D6F7E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8A780D-7898-9083-E9AF-3A088D380840}"/>
              </a:ext>
            </a:extLst>
          </p:cNvPr>
          <p:cNvSpPr txBox="1"/>
          <p:nvPr/>
        </p:nvSpPr>
        <p:spPr>
          <a:xfrm>
            <a:off x="558800" y="5613400"/>
            <a:ext cx="11074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DC772F"/>
                </a:solidFill>
                <a:latin typeface="Arial" panose="020B0604020202020204" pitchFamily="34" charset="0"/>
              </a:rPr>
              <a:t>Rà soát tài liệu, chưa phỏng vấn người dùng. Ô ~10–11 km không dự báo ngập cấp đường.</a:t>
            </a:r>
            <a:endParaRPr lang="en-US" sz="1400" b="1">
              <a:solidFill>
                <a:srgbClr val="DC772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032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35A327-64E8-CA9C-0787-34311B1886B4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007E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601D71-B1D5-F279-DC30-C712C2055CE1}"/>
              </a:ext>
            </a:extLst>
          </p:cNvPr>
          <p:cNvSpPr txBox="1"/>
          <p:nvPr/>
        </p:nvSpPr>
        <p:spPr>
          <a:xfrm>
            <a:off x="558800" y="304800"/>
            <a:ext cx="965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007E87"/>
                </a:solidFill>
                <a:latin typeface="Arial" panose="020B0604020202020204" pitchFamily="34" charset="0"/>
              </a:rPr>
              <a:t>DỮ LIỆU &amp; THIẾT KẾ THỬ NGHIỆM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99DF2-358D-0918-576F-3C88EA93DE7A}"/>
              </a:ext>
            </a:extLst>
          </p:cNvPr>
          <p:cNvSpPr txBox="1"/>
          <p:nvPr/>
        </p:nvSpPr>
        <p:spPr>
          <a:xfrm>
            <a:off x="558800" y="6604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72B41"/>
                </a:solidFill>
                <a:latin typeface="Arial" panose="020B0604020202020204" pitchFamily="34" charset="0"/>
              </a:rPr>
              <a:t>Chọn nhãn đúng rồi mới so mô hình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247F9E-DB01-E927-262B-9ECB450624EC}"/>
              </a:ext>
            </a:extLst>
          </p:cNvPr>
          <p:cNvSpPr/>
          <p:nvPr/>
        </p:nvSpPr>
        <p:spPr>
          <a:xfrm>
            <a:off x="558800" y="6299200"/>
            <a:ext cx="11074400" cy="12700"/>
          </a:xfrm>
          <a:prstGeom prst="rect">
            <a:avLst/>
          </a:prstGeom>
          <a:solidFill>
            <a:srgbClr val="D3DF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A17E13-7629-AB98-F650-04F1DDA0FB1A}"/>
              </a:ext>
            </a:extLst>
          </p:cNvPr>
          <p:cNvSpPr txBox="1"/>
          <p:nvPr/>
        </p:nvSpPr>
        <p:spPr>
          <a:xfrm>
            <a:off x="558800" y="6451600"/>
            <a:ext cx="825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5D6F7E"/>
                </a:solidFill>
                <a:latin typeface="Arial" panose="020B0604020202020204" pitchFamily="34" charset="0"/>
              </a:rPr>
              <a:t>PBL6  |  Đà Nẵng  |  14.10.2026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E0A0D0-C69B-2C60-EDEE-6FF8B60616E0}"/>
              </a:ext>
            </a:extLst>
          </p:cNvPr>
          <p:cNvSpPr txBox="1"/>
          <p:nvPr/>
        </p:nvSpPr>
        <p:spPr>
          <a:xfrm>
            <a:off x="11049000" y="6451600"/>
            <a:ext cx="584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5D6F7E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9727C-4A68-C817-BFDF-123D6C1BE86F}"/>
              </a:ext>
            </a:extLst>
          </p:cNvPr>
          <p:cNvSpPr txBox="1"/>
          <p:nvPr/>
        </p:nvSpPr>
        <p:spPr>
          <a:xfrm>
            <a:off x="558800" y="1676400"/>
            <a:ext cx="958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b="1">
                <a:solidFill>
                  <a:srgbClr val="253543"/>
                </a:solidFill>
                <a:latin typeface="Arial" panose="020B0604020202020204" pitchFamily="34" charset="0"/>
              </a:rPr>
              <a:t>CSI bắt ngày mưa ≥50 mm tại 10 trạm GSOD</a:t>
            </a:r>
            <a:endParaRPr lang="en-US" b="1">
              <a:solidFill>
                <a:srgbClr val="253543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DC2E36-DCDB-482B-3C65-327F85C7BEC8}"/>
              </a:ext>
            </a:extLst>
          </p:cNvPr>
          <p:cNvSpPr/>
          <p:nvPr/>
        </p:nvSpPr>
        <p:spPr>
          <a:xfrm>
            <a:off x="558800" y="2209800"/>
            <a:ext cx="3454400" cy="1308100"/>
          </a:xfrm>
          <a:prstGeom prst="rect">
            <a:avLst/>
          </a:prstGeom>
          <a:solidFill>
            <a:srgbClr val="EEF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4E9385-4CA9-493B-55D3-4BB1B9130AF3}"/>
              </a:ext>
            </a:extLst>
          </p:cNvPr>
          <p:cNvSpPr txBox="1"/>
          <p:nvPr/>
        </p:nvSpPr>
        <p:spPr>
          <a:xfrm>
            <a:off x="749300" y="2374900"/>
            <a:ext cx="304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53543"/>
                </a:solidFill>
                <a:latin typeface="Arial" panose="020B0604020202020204" pitchFamily="34" charset="0"/>
              </a:rPr>
              <a:t>GSMaP GC v8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09196-68FC-C859-7449-426A847387AA}"/>
              </a:ext>
            </a:extLst>
          </p:cNvPr>
          <p:cNvSpPr txBox="1"/>
          <p:nvPr/>
        </p:nvSpPr>
        <p:spPr>
          <a:xfrm>
            <a:off x="749300" y="2781300"/>
            <a:ext cx="3048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007E87"/>
                </a:solidFill>
                <a:latin typeface="Arial" panose="020B0604020202020204" pitchFamily="34" charset="0"/>
              </a:rPr>
              <a:t>0,33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C86246-31DC-D720-913D-441835407ECC}"/>
              </a:ext>
            </a:extLst>
          </p:cNvPr>
          <p:cNvSpPr/>
          <p:nvPr/>
        </p:nvSpPr>
        <p:spPr>
          <a:xfrm>
            <a:off x="4267200" y="2209800"/>
            <a:ext cx="3454400" cy="1308100"/>
          </a:xfrm>
          <a:prstGeom prst="rect">
            <a:avLst/>
          </a:prstGeom>
          <a:solidFill>
            <a:srgbClr val="F5F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2BB0A0-7DD1-B5B6-338B-17C54DF046B3}"/>
              </a:ext>
            </a:extLst>
          </p:cNvPr>
          <p:cNvSpPr txBox="1"/>
          <p:nvPr/>
        </p:nvSpPr>
        <p:spPr>
          <a:xfrm>
            <a:off x="4457700" y="2374900"/>
            <a:ext cx="304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53543"/>
                </a:solidFill>
                <a:latin typeface="Arial" panose="020B0604020202020204" pitchFamily="34" charset="0"/>
              </a:rPr>
              <a:t>IMERG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C1419-9881-661C-FE0A-CA6FCB65DA50}"/>
              </a:ext>
            </a:extLst>
          </p:cNvPr>
          <p:cNvSpPr txBox="1"/>
          <p:nvPr/>
        </p:nvSpPr>
        <p:spPr>
          <a:xfrm>
            <a:off x="4457700" y="2781300"/>
            <a:ext cx="3048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172B41"/>
                </a:solidFill>
                <a:latin typeface="Arial" panose="020B0604020202020204" pitchFamily="34" charset="0"/>
              </a:rPr>
              <a:t>0,22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A4A037-4968-3AED-8108-D298CE65D5CA}"/>
              </a:ext>
            </a:extLst>
          </p:cNvPr>
          <p:cNvSpPr/>
          <p:nvPr/>
        </p:nvSpPr>
        <p:spPr>
          <a:xfrm>
            <a:off x="7975600" y="2209800"/>
            <a:ext cx="3454400" cy="1308100"/>
          </a:xfrm>
          <a:prstGeom prst="rect">
            <a:avLst/>
          </a:prstGeom>
          <a:solidFill>
            <a:srgbClr val="F5F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B7AEBC-D0AB-0050-214D-F04107E019A2}"/>
              </a:ext>
            </a:extLst>
          </p:cNvPr>
          <p:cNvSpPr txBox="1"/>
          <p:nvPr/>
        </p:nvSpPr>
        <p:spPr>
          <a:xfrm>
            <a:off x="8166100" y="2374900"/>
            <a:ext cx="304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53543"/>
                </a:solidFill>
                <a:latin typeface="Arial" panose="020B0604020202020204" pitchFamily="34" charset="0"/>
              </a:rPr>
              <a:t>ERA5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C95A78-CCAB-8CBC-C977-6733DD5DDCEB}"/>
              </a:ext>
            </a:extLst>
          </p:cNvPr>
          <p:cNvSpPr txBox="1"/>
          <p:nvPr/>
        </p:nvSpPr>
        <p:spPr>
          <a:xfrm>
            <a:off x="8166100" y="2781300"/>
            <a:ext cx="3048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172B41"/>
                </a:solidFill>
                <a:latin typeface="Arial" panose="020B0604020202020204" pitchFamily="34" charset="0"/>
              </a:rPr>
              <a:t>0,17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0CBDA9-3E79-20B5-C733-070C96C3F7A5}"/>
              </a:ext>
            </a:extLst>
          </p:cNvPr>
          <p:cNvSpPr txBox="1"/>
          <p:nvPr/>
        </p:nvSpPr>
        <p:spPr>
          <a:xfrm>
            <a:off x="558800" y="3746500"/>
            <a:ext cx="11049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900">
                <a:solidFill>
                  <a:srgbClr val="253543"/>
                </a:solidFill>
                <a:latin typeface="Arial" panose="020B0604020202020204" pitchFamily="34" charset="0"/>
              </a:rPr>
              <a:t>ERA5 mưa bỏ sót nhiều ngày cực đoan ở audit cũ; dùng GSMaP GC làm nhãn nghiên cứu.</a:t>
            </a:r>
            <a:endParaRPr lang="en-US" sz="1900">
              <a:solidFill>
                <a:srgbClr val="253543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7FF81-1A7C-DFEE-C970-19E84D95B299}"/>
              </a:ext>
            </a:extLst>
          </p:cNvPr>
          <p:cNvSpPr/>
          <p:nvPr/>
        </p:nvSpPr>
        <p:spPr>
          <a:xfrm>
            <a:off x="558800" y="4699000"/>
            <a:ext cx="11074400" cy="12700"/>
          </a:xfrm>
          <a:prstGeom prst="rect">
            <a:avLst/>
          </a:prstGeom>
          <a:solidFill>
            <a:srgbClr val="D3DF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2E762D-9F86-F00D-37A0-0FB7E819BD93}"/>
              </a:ext>
            </a:extLst>
          </p:cNvPr>
          <p:cNvSpPr txBox="1"/>
          <p:nvPr/>
        </p:nvSpPr>
        <p:spPr>
          <a:xfrm>
            <a:off x="558800" y="49276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72B41"/>
                </a:solidFill>
                <a:latin typeface="Arial" panose="020B0604020202020204" pitchFamily="34" charset="0"/>
              </a:rPr>
              <a:t>93 ô Đà Nẵng  →  30 ô cố định để so sánh  →  3 năm validation (2021–23) × 3 seed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5E5774-EEFB-D95C-6E1B-52E05DAC6979}"/>
              </a:ext>
            </a:extLst>
          </p:cNvPr>
          <p:cNvSpPr txBox="1"/>
          <p:nvPr/>
        </p:nvSpPr>
        <p:spPr>
          <a:xfrm>
            <a:off x="558800" y="5715000"/>
            <a:ext cx="11074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>
                <a:solidFill>
                  <a:srgbClr val="DC772F"/>
                </a:solidFill>
                <a:latin typeface="Arial" panose="020B0604020202020204" pitchFamily="34" charset="0"/>
              </a:rPr>
              <a:t>Test 2025 giữ kín. GSMaP GC có hiệu chỉnh trạm: benchmark GSOD chưa hoàn toàn độc lập.</a:t>
            </a:r>
            <a:endParaRPr lang="en-US" sz="1400">
              <a:solidFill>
                <a:srgbClr val="DC772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427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970BC1-9DAA-2E52-627C-EACA046E4623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007E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887C9-9626-3992-7DA8-BDA6BF928228}"/>
              </a:ext>
            </a:extLst>
          </p:cNvPr>
          <p:cNvSpPr txBox="1"/>
          <p:nvPr/>
        </p:nvSpPr>
        <p:spPr>
          <a:xfrm>
            <a:off x="558800" y="304800"/>
            <a:ext cx="965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007E87"/>
                </a:solidFill>
                <a:latin typeface="Arial" panose="020B0604020202020204" pitchFamily="34" charset="0"/>
              </a:rPr>
              <a:t>THỰC NGHIỆM MÔ HÌNH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68F3F3-0DD6-1EA0-545A-BF647D0F7153}"/>
              </a:ext>
            </a:extLst>
          </p:cNvPr>
          <p:cNvSpPr txBox="1"/>
          <p:nvPr/>
        </p:nvSpPr>
        <p:spPr>
          <a:xfrm>
            <a:off x="558800" y="6604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900" b="1">
                <a:solidFill>
                  <a:srgbClr val="172B41"/>
                </a:solidFill>
                <a:latin typeface="Arial" panose="020B0604020202020204" pitchFamily="34" charset="0"/>
              </a:rPr>
              <a:t>Kết quả rõ nhất: đổi hàm học lượng mưa</a:t>
            </a:r>
            <a:endParaRPr lang="en-US" sz="2900" b="1">
              <a:solidFill>
                <a:srgbClr val="172B4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07C2B3-9A83-3F57-2347-70CEFDF2CCF7}"/>
              </a:ext>
            </a:extLst>
          </p:cNvPr>
          <p:cNvSpPr/>
          <p:nvPr/>
        </p:nvSpPr>
        <p:spPr>
          <a:xfrm>
            <a:off x="558800" y="6299200"/>
            <a:ext cx="11074400" cy="12700"/>
          </a:xfrm>
          <a:prstGeom prst="rect">
            <a:avLst/>
          </a:prstGeom>
          <a:solidFill>
            <a:srgbClr val="D3DF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366103-2667-B6A5-0498-F134CBF3B54C}"/>
              </a:ext>
            </a:extLst>
          </p:cNvPr>
          <p:cNvSpPr txBox="1"/>
          <p:nvPr/>
        </p:nvSpPr>
        <p:spPr>
          <a:xfrm>
            <a:off x="558800" y="6451600"/>
            <a:ext cx="825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5D6F7E"/>
                </a:solidFill>
                <a:latin typeface="Arial" panose="020B0604020202020204" pitchFamily="34" charset="0"/>
              </a:rPr>
              <a:t>PBL6  |  Đà Nẵng  |  14.10.2026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6A228-7FC4-EEEF-60E8-1F7B07358256}"/>
              </a:ext>
            </a:extLst>
          </p:cNvPr>
          <p:cNvSpPr txBox="1"/>
          <p:nvPr/>
        </p:nvSpPr>
        <p:spPr>
          <a:xfrm>
            <a:off x="11049000" y="6451600"/>
            <a:ext cx="584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5D6F7E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59F87-4C83-5C9C-6C66-C201A1D8E7DF}"/>
              </a:ext>
            </a:extLst>
          </p:cNvPr>
          <p:cNvSpPr txBox="1"/>
          <p:nvPr/>
        </p:nvSpPr>
        <p:spPr>
          <a:xfrm>
            <a:off x="558800" y="1524000"/>
            <a:ext cx="11074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700">
                <a:solidFill>
                  <a:srgbClr val="253543"/>
                </a:solidFill>
                <a:latin typeface="Arial" panose="020B0604020202020204" pitchFamily="34" charset="0"/>
              </a:rPr>
              <a:t>RMSE tổng mưa 0–3 giờ, tháng 5–10 (mm; thấp hơn là tốt hơn)</a:t>
            </a:r>
            <a:endParaRPr lang="en-US" sz="1700">
              <a:solidFill>
                <a:srgbClr val="253543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79D340-8FA4-0DC2-84EE-52EB39BE2C6A}"/>
              </a:ext>
            </a:extLst>
          </p:cNvPr>
          <p:cNvSpPr/>
          <p:nvPr/>
        </p:nvSpPr>
        <p:spPr>
          <a:xfrm>
            <a:off x="558800" y="2108200"/>
            <a:ext cx="1422400" cy="533400"/>
          </a:xfrm>
          <a:prstGeom prst="rect">
            <a:avLst/>
          </a:prstGeom>
          <a:solidFill>
            <a:srgbClr val="172B41"/>
          </a:solidFill>
          <a:ln>
            <a:solidFill>
              <a:srgbClr val="D3D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6CBB8C-CCC5-85B9-C0B0-C7608303BFCC}"/>
              </a:ext>
            </a:extLst>
          </p:cNvPr>
          <p:cNvSpPr txBox="1"/>
          <p:nvPr/>
        </p:nvSpPr>
        <p:spPr>
          <a:xfrm>
            <a:off x="673100" y="2209800"/>
            <a:ext cx="1193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</a:rPr>
              <a:t>Năm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FA9DC8-40F9-FF48-0F9D-E2096CCF63BC}"/>
              </a:ext>
            </a:extLst>
          </p:cNvPr>
          <p:cNvSpPr/>
          <p:nvPr/>
        </p:nvSpPr>
        <p:spPr>
          <a:xfrm>
            <a:off x="1981200" y="2108200"/>
            <a:ext cx="4826000" cy="533400"/>
          </a:xfrm>
          <a:prstGeom prst="rect">
            <a:avLst/>
          </a:prstGeom>
          <a:solidFill>
            <a:srgbClr val="172B41"/>
          </a:solidFill>
          <a:ln>
            <a:solidFill>
              <a:srgbClr val="D3D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93E978-F2BD-344E-1007-C87748BD2762}"/>
              </a:ext>
            </a:extLst>
          </p:cNvPr>
          <p:cNvSpPr txBox="1"/>
          <p:nvPr/>
        </p:nvSpPr>
        <p:spPr>
          <a:xfrm>
            <a:off x="2095500" y="2209800"/>
            <a:ext cx="459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</a:rPr>
              <a:t>LightGBM RAW: L1(log) → Tweedie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015AA6-86FC-653B-4BED-20A0E5E3EF1D}"/>
              </a:ext>
            </a:extLst>
          </p:cNvPr>
          <p:cNvSpPr/>
          <p:nvPr/>
        </p:nvSpPr>
        <p:spPr>
          <a:xfrm>
            <a:off x="6807200" y="2108200"/>
            <a:ext cx="4826000" cy="533400"/>
          </a:xfrm>
          <a:prstGeom prst="rect">
            <a:avLst/>
          </a:prstGeom>
          <a:solidFill>
            <a:srgbClr val="172B41"/>
          </a:solidFill>
          <a:ln>
            <a:solidFill>
              <a:srgbClr val="D3D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A4411D-9CF2-B9AC-AB91-2441CB5AF08A}"/>
              </a:ext>
            </a:extLst>
          </p:cNvPr>
          <p:cNvSpPr txBox="1"/>
          <p:nvPr/>
        </p:nvSpPr>
        <p:spPr>
          <a:xfrm>
            <a:off x="6921500" y="2209800"/>
            <a:ext cx="459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</a:rPr>
              <a:t>Bi-LSTM RAW: log-Huber → Tweedie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EC66A3-01CA-2D04-EDE8-8F8100C3559C}"/>
              </a:ext>
            </a:extLst>
          </p:cNvPr>
          <p:cNvSpPr/>
          <p:nvPr/>
        </p:nvSpPr>
        <p:spPr>
          <a:xfrm>
            <a:off x="558800" y="2641600"/>
            <a:ext cx="1422400" cy="698500"/>
          </a:xfrm>
          <a:prstGeom prst="rect">
            <a:avLst/>
          </a:prstGeom>
          <a:solidFill>
            <a:srgbClr val="FFFFFF"/>
          </a:solidFill>
          <a:ln>
            <a:solidFill>
              <a:srgbClr val="D3D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C5A988-9733-585C-8204-266F744219C2}"/>
              </a:ext>
            </a:extLst>
          </p:cNvPr>
          <p:cNvSpPr txBox="1"/>
          <p:nvPr/>
        </p:nvSpPr>
        <p:spPr>
          <a:xfrm>
            <a:off x="673100" y="27432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72B41"/>
                </a:solidFill>
                <a:latin typeface="Arial" panose="020B0604020202020204" pitchFamily="34" charset="0"/>
              </a:rPr>
              <a:t>2021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47EF1D-0134-5F60-CA32-3373B6FCB600}"/>
              </a:ext>
            </a:extLst>
          </p:cNvPr>
          <p:cNvSpPr/>
          <p:nvPr/>
        </p:nvSpPr>
        <p:spPr>
          <a:xfrm>
            <a:off x="1981200" y="2641600"/>
            <a:ext cx="4826000" cy="698500"/>
          </a:xfrm>
          <a:prstGeom prst="rect">
            <a:avLst/>
          </a:prstGeom>
          <a:solidFill>
            <a:srgbClr val="FFFFFF"/>
          </a:solidFill>
          <a:ln>
            <a:solidFill>
              <a:srgbClr val="D3D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CB60CF-BB70-2CA2-B10E-FE4DD9054A57}"/>
              </a:ext>
            </a:extLst>
          </p:cNvPr>
          <p:cNvSpPr txBox="1"/>
          <p:nvPr/>
        </p:nvSpPr>
        <p:spPr>
          <a:xfrm>
            <a:off x="2095500" y="2743200"/>
            <a:ext cx="4597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007E87"/>
                </a:solidFill>
                <a:latin typeface="Arial" panose="020B0604020202020204" pitchFamily="34" charset="0"/>
              </a:rPr>
              <a:t>4,607  →  3,947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525F11-55EB-C4DA-F66B-E866A8B485D6}"/>
              </a:ext>
            </a:extLst>
          </p:cNvPr>
          <p:cNvSpPr/>
          <p:nvPr/>
        </p:nvSpPr>
        <p:spPr>
          <a:xfrm>
            <a:off x="6807200" y="2641600"/>
            <a:ext cx="4826000" cy="698500"/>
          </a:xfrm>
          <a:prstGeom prst="rect">
            <a:avLst/>
          </a:prstGeom>
          <a:solidFill>
            <a:srgbClr val="FFFFFF"/>
          </a:solidFill>
          <a:ln>
            <a:solidFill>
              <a:srgbClr val="D3D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C54FC2-1312-C1A2-62BD-96286601764E}"/>
              </a:ext>
            </a:extLst>
          </p:cNvPr>
          <p:cNvSpPr txBox="1"/>
          <p:nvPr/>
        </p:nvSpPr>
        <p:spPr>
          <a:xfrm>
            <a:off x="6921500" y="2743200"/>
            <a:ext cx="4597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007E87"/>
                </a:solidFill>
                <a:latin typeface="Arial" panose="020B0604020202020204" pitchFamily="34" charset="0"/>
              </a:rPr>
              <a:t>4,046  →  3,876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EEE99E-DF88-5C51-40CE-EC4B742E288B}"/>
              </a:ext>
            </a:extLst>
          </p:cNvPr>
          <p:cNvSpPr/>
          <p:nvPr/>
        </p:nvSpPr>
        <p:spPr>
          <a:xfrm>
            <a:off x="558800" y="3340100"/>
            <a:ext cx="1422400" cy="698500"/>
          </a:xfrm>
          <a:prstGeom prst="rect">
            <a:avLst/>
          </a:prstGeom>
          <a:solidFill>
            <a:srgbClr val="F5F7F9"/>
          </a:solidFill>
          <a:ln>
            <a:solidFill>
              <a:srgbClr val="D3D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C72E09-0955-B4AE-FCAF-22BC054631ED}"/>
              </a:ext>
            </a:extLst>
          </p:cNvPr>
          <p:cNvSpPr txBox="1"/>
          <p:nvPr/>
        </p:nvSpPr>
        <p:spPr>
          <a:xfrm>
            <a:off x="673100" y="34417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72B41"/>
                </a:solidFill>
                <a:latin typeface="Arial" panose="020B0604020202020204" pitchFamily="34" charset="0"/>
              </a:rPr>
              <a:t>2022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AAB0C-081A-F835-0A7D-4ADFE3CDE21F}"/>
              </a:ext>
            </a:extLst>
          </p:cNvPr>
          <p:cNvSpPr/>
          <p:nvPr/>
        </p:nvSpPr>
        <p:spPr>
          <a:xfrm>
            <a:off x="1981200" y="3340100"/>
            <a:ext cx="4826000" cy="698500"/>
          </a:xfrm>
          <a:prstGeom prst="rect">
            <a:avLst/>
          </a:prstGeom>
          <a:solidFill>
            <a:srgbClr val="F5F7F9"/>
          </a:solidFill>
          <a:ln>
            <a:solidFill>
              <a:srgbClr val="D3D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0B4E70-3E28-A39D-7E83-1D74EF38BFCF}"/>
              </a:ext>
            </a:extLst>
          </p:cNvPr>
          <p:cNvSpPr txBox="1"/>
          <p:nvPr/>
        </p:nvSpPr>
        <p:spPr>
          <a:xfrm>
            <a:off x="2095500" y="3441700"/>
            <a:ext cx="4597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007E87"/>
                </a:solidFill>
                <a:latin typeface="Arial" panose="020B0604020202020204" pitchFamily="34" charset="0"/>
              </a:rPr>
              <a:t>4,841  →  4,534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A05061-96C9-04F8-0A19-059C0544E301}"/>
              </a:ext>
            </a:extLst>
          </p:cNvPr>
          <p:cNvSpPr/>
          <p:nvPr/>
        </p:nvSpPr>
        <p:spPr>
          <a:xfrm>
            <a:off x="6807200" y="3340100"/>
            <a:ext cx="4826000" cy="698500"/>
          </a:xfrm>
          <a:prstGeom prst="rect">
            <a:avLst/>
          </a:prstGeom>
          <a:solidFill>
            <a:srgbClr val="F5F7F9"/>
          </a:solidFill>
          <a:ln>
            <a:solidFill>
              <a:srgbClr val="D3D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C2D2E6-14F3-D6C3-DCE5-CAB3EB024C67}"/>
              </a:ext>
            </a:extLst>
          </p:cNvPr>
          <p:cNvSpPr txBox="1"/>
          <p:nvPr/>
        </p:nvSpPr>
        <p:spPr>
          <a:xfrm>
            <a:off x="6921500" y="3441700"/>
            <a:ext cx="4597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007E87"/>
                </a:solidFill>
                <a:latin typeface="Arial" panose="020B0604020202020204" pitchFamily="34" charset="0"/>
              </a:rPr>
              <a:t>4,661  →  4,581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744241-F36A-6C5E-7AA4-E5D40C9AFBEB}"/>
              </a:ext>
            </a:extLst>
          </p:cNvPr>
          <p:cNvSpPr/>
          <p:nvPr/>
        </p:nvSpPr>
        <p:spPr>
          <a:xfrm>
            <a:off x="558800" y="4038600"/>
            <a:ext cx="1422400" cy="698500"/>
          </a:xfrm>
          <a:prstGeom prst="rect">
            <a:avLst/>
          </a:prstGeom>
          <a:solidFill>
            <a:srgbClr val="FFFFFF"/>
          </a:solidFill>
          <a:ln>
            <a:solidFill>
              <a:srgbClr val="D3D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4A612B-C58D-9DE8-8BB3-CF705DA3E5A7}"/>
              </a:ext>
            </a:extLst>
          </p:cNvPr>
          <p:cNvSpPr txBox="1"/>
          <p:nvPr/>
        </p:nvSpPr>
        <p:spPr>
          <a:xfrm>
            <a:off x="673100" y="41402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72B41"/>
                </a:solidFill>
                <a:latin typeface="Arial" panose="020B0604020202020204" pitchFamily="34" charset="0"/>
              </a:rPr>
              <a:t>2023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8D86B2-2F8D-22B3-F726-32F805F717B9}"/>
              </a:ext>
            </a:extLst>
          </p:cNvPr>
          <p:cNvSpPr/>
          <p:nvPr/>
        </p:nvSpPr>
        <p:spPr>
          <a:xfrm>
            <a:off x="1981200" y="4038600"/>
            <a:ext cx="4826000" cy="698500"/>
          </a:xfrm>
          <a:prstGeom prst="rect">
            <a:avLst/>
          </a:prstGeom>
          <a:solidFill>
            <a:srgbClr val="FFFFFF"/>
          </a:solidFill>
          <a:ln>
            <a:solidFill>
              <a:srgbClr val="D3D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5ACE3F-5C46-B8BF-280A-C7054D7EE5A7}"/>
              </a:ext>
            </a:extLst>
          </p:cNvPr>
          <p:cNvSpPr txBox="1"/>
          <p:nvPr/>
        </p:nvSpPr>
        <p:spPr>
          <a:xfrm>
            <a:off x="2095500" y="4140200"/>
            <a:ext cx="4597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007E87"/>
                </a:solidFill>
                <a:latin typeface="Arial" panose="020B0604020202020204" pitchFamily="34" charset="0"/>
              </a:rPr>
              <a:t>4,205  →  3,610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561385-0A3E-18FF-F57E-60312D5D885E}"/>
              </a:ext>
            </a:extLst>
          </p:cNvPr>
          <p:cNvSpPr/>
          <p:nvPr/>
        </p:nvSpPr>
        <p:spPr>
          <a:xfrm>
            <a:off x="6807200" y="4038600"/>
            <a:ext cx="4826000" cy="698500"/>
          </a:xfrm>
          <a:prstGeom prst="rect">
            <a:avLst/>
          </a:prstGeom>
          <a:solidFill>
            <a:srgbClr val="FFFFFF"/>
          </a:solidFill>
          <a:ln>
            <a:solidFill>
              <a:srgbClr val="D3D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22D592-63AC-D257-EAAD-50617B175670}"/>
              </a:ext>
            </a:extLst>
          </p:cNvPr>
          <p:cNvSpPr txBox="1"/>
          <p:nvPr/>
        </p:nvSpPr>
        <p:spPr>
          <a:xfrm>
            <a:off x="6921500" y="4140200"/>
            <a:ext cx="4597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007E87"/>
                </a:solidFill>
                <a:latin typeface="Arial" panose="020B0604020202020204" pitchFamily="34" charset="0"/>
              </a:rPr>
              <a:t>3,963  →  3,540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46F6C1-1A61-0829-AEDA-F0C58D3F2084}"/>
              </a:ext>
            </a:extLst>
          </p:cNvPr>
          <p:cNvSpPr txBox="1"/>
          <p:nvPr/>
        </p:nvSpPr>
        <p:spPr>
          <a:xfrm>
            <a:off x="558800" y="5003800"/>
            <a:ext cx="11074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>
                <a:solidFill>
                  <a:srgbClr val="253543"/>
                </a:solidFill>
                <a:latin typeface="Arial" panose="020B0604020202020204" pitchFamily="34" charset="0"/>
              </a:rPr>
              <a:t>LightGBM: CI95% mức giảm RMSE loại 0 cả 3 năm. Bi-LSTM: 2022 chưa chắc; BSS xác suất ≥1 giảm 0,186→0,148.</a:t>
            </a:r>
            <a:endParaRPr lang="en-US" sz="1600">
              <a:solidFill>
                <a:srgbClr val="25354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353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C59866-E89D-9A0F-EFEB-D6EABF5F3ECC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007E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9991BE-C450-0123-396F-EFC076222BF7}"/>
              </a:ext>
            </a:extLst>
          </p:cNvPr>
          <p:cNvSpPr txBox="1"/>
          <p:nvPr/>
        </p:nvSpPr>
        <p:spPr>
          <a:xfrm>
            <a:off x="558800" y="304800"/>
            <a:ext cx="965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007E87"/>
                </a:solidFill>
                <a:latin typeface="Arial" panose="020B0604020202020204" pitchFamily="34" charset="0"/>
              </a:rPr>
              <a:t>ĐÓNG GÓP THEO VÙNG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E9617C-496B-62D6-D0FC-8176A9300189}"/>
              </a:ext>
            </a:extLst>
          </p:cNvPr>
          <p:cNvSpPr txBox="1"/>
          <p:nvPr/>
        </p:nvSpPr>
        <p:spPr>
          <a:xfrm>
            <a:off x="558800" y="6604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900" b="1">
                <a:solidFill>
                  <a:srgbClr val="172B41"/>
                </a:solidFill>
                <a:latin typeface="Arial" panose="020B0604020202020204" pitchFamily="34" charset="0"/>
              </a:rPr>
              <a:t>Hiểu khí tượng địa phương: tín hiệu có, thắng lợi chưa chắc</a:t>
            </a:r>
            <a:endParaRPr lang="en-US" sz="2900" b="1">
              <a:solidFill>
                <a:srgbClr val="172B4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979893-CEB3-9ADB-56A8-30020D98E59F}"/>
              </a:ext>
            </a:extLst>
          </p:cNvPr>
          <p:cNvSpPr/>
          <p:nvPr/>
        </p:nvSpPr>
        <p:spPr>
          <a:xfrm>
            <a:off x="558800" y="6299200"/>
            <a:ext cx="11074400" cy="12700"/>
          </a:xfrm>
          <a:prstGeom prst="rect">
            <a:avLst/>
          </a:prstGeom>
          <a:solidFill>
            <a:srgbClr val="D3DF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CD36EA-ABA9-84D1-EC14-42C21525DBEB}"/>
              </a:ext>
            </a:extLst>
          </p:cNvPr>
          <p:cNvSpPr txBox="1"/>
          <p:nvPr/>
        </p:nvSpPr>
        <p:spPr>
          <a:xfrm>
            <a:off x="558800" y="6451600"/>
            <a:ext cx="825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5D6F7E"/>
                </a:solidFill>
                <a:latin typeface="Arial" panose="020B0604020202020204" pitchFamily="34" charset="0"/>
              </a:rPr>
              <a:t>PBL6  |  Đà Nẵng  |  14.10.2026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32D534-6D31-66E5-77CA-52E5EBB8EB79}"/>
              </a:ext>
            </a:extLst>
          </p:cNvPr>
          <p:cNvSpPr txBox="1"/>
          <p:nvPr/>
        </p:nvSpPr>
        <p:spPr>
          <a:xfrm>
            <a:off x="11049000" y="6451600"/>
            <a:ext cx="584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5D6F7E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5EC10D-57B0-6DAA-0392-9CD242533A22}"/>
              </a:ext>
            </a:extLst>
          </p:cNvPr>
          <p:cNvSpPr/>
          <p:nvPr/>
        </p:nvSpPr>
        <p:spPr>
          <a:xfrm>
            <a:off x="558800" y="1727200"/>
            <a:ext cx="4279900" cy="3556000"/>
          </a:xfrm>
          <a:prstGeom prst="rect">
            <a:avLst/>
          </a:prstGeom>
          <a:solidFill>
            <a:srgbClr val="EEF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FDB8EC-1F96-CCE2-7015-9C5AFCC202EE}"/>
              </a:ext>
            </a:extLst>
          </p:cNvPr>
          <p:cNvSpPr txBox="1"/>
          <p:nvPr/>
        </p:nvSpPr>
        <p:spPr>
          <a:xfrm>
            <a:off x="800100" y="1981200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172B41"/>
                </a:solidFill>
                <a:latin typeface="Arial" panose="020B0604020202020204" pitchFamily="34" charset="0"/>
              </a:rPr>
              <a:t>Gió Đông Bắc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20E494-5572-5E8E-2649-CEB5A7514D69}"/>
              </a:ext>
            </a:extLst>
          </p:cNvPr>
          <p:cNvSpPr txBox="1"/>
          <p:nvPr/>
        </p:nvSpPr>
        <p:spPr>
          <a:xfrm>
            <a:off x="800100" y="2667000"/>
            <a:ext cx="34671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007E87"/>
                </a:solidFill>
                <a:latin typeface="Arial" panose="020B0604020202020204" pitchFamily="34" charset="0"/>
              </a:rPr>
              <a:t>12–18%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02F69C-58E6-FA3D-461F-7FC9DA68561B}"/>
              </a:ext>
            </a:extLst>
          </p:cNvPr>
          <p:cNvSpPr txBox="1"/>
          <p:nvPr/>
        </p:nvSpPr>
        <p:spPr>
          <a:xfrm>
            <a:off x="800100" y="32893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53543"/>
                </a:solidFill>
                <a:latin typeface="Arial" panose="020B0604020202020204" pitchFamily="34" charset="0"/>
              </a:rPr>
              <a:t>số mẫu trong audit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CFF2C8-08F1-3A17-4142-0FCD3B7F862F}"/>
              </a:ext>
            </a:extLst>
          </p:cNvPr>
          <p:cNvSpPr txBox="1"/>
          <p:nvPr/>
        </p:nvSpPr>
        <p:spPr>
          <a:xfrm>
            <a:off x="800100" y="3937000"/>
            <a:ext cx="34671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DC772F"/>
                </a:solidFill>
                <a:latin typeface="Arial" panose="020B0604020202020204" pitchFamily="34" charset="0"/>
              </a:rPr>
              <a:t>46–65%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8A7066-13A0-CB0A-40C6-833D5C7BF2C3}"/>
              </a:ext>
            </a:extLst>
          </p:cNvPr>
          <p:cNvSpPr txBox="1"/>
          <p:nvPr/>
        </p:nvSpPr>
        <p:spPr>
          <a:xfrm>
            <a:off x="800100" y="4559300"/>
            <a:ext cx="3505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>
                <a:solidFill>
                  <a:srgbClr val="253543"/>
                </a:solidFill>
                <a:latin typeface="Arial" panose="020B0604020202020204" pitchFamily="34" charset="0"/>
              </a:rPr>
              <a:t>sự kiện mưa ≥10 mm/3 giờ</a:t>
            </a:r>
            <a:endParaRPr lang="en-US" sz="1600">
              <a:solidFill>
                <a:srgbClr val="253543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C692CE-F01A-3056-E54E-DFC8ED6B9C90}"/>
              </a:ext>
            </a:extLst>
          </p:cNvPr>
          <p:cNvSpPr txBox="1"/>
          <p:nvPr/>
        </p:nvSpPr>
        <p:spPr>
          <a:xfrm>
            <a:off x="5168900" y="1905000"/>
            <a:ext cx="6350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b="1">
                <a:solidFill>
                  <a:srgbClr val="172B41"/>
                </a:solidFill>
                <a:latin typeface="Arial" panose="020B0604020202020204" pitchFamily="34" charset="0"/>
              </a:rPr>
              <a:t>Bi-LSTM DOMAIN − RAW: </a:t>
            </a:r>
            <a:r>
              <a:rPr lang="el-GR" b="1">
                <a:solidFill>
                  <a:srgbClr val="172B41"/>
                </a:solidFill>
                <a:latin typeface="Arial" panose="020B0604020202020204" pitchFamily="34" charset="0"/>
              </a:rPr>
              <a:t>Δ</a:t>
            </a:r>
            <a:r>
              <a:rPr lang="vi-VN" b="1">
                <a:solidFill>
                  <a:srgbClr val="172B41"/>
                </a:solidFill>
                <a:latin typeface="Arial" panose="020B0604020202020204" pitchFamily="34" charset="0"/>
              </a:rPr>
              <a:t>CSI xác suất mưa ≥10 mm/3 giờ</a:t>
            </a:r>
            <a:endParaRPr lang="en-US" b="1">
              <a:solidFill>
                <a:srgbClr val="172B41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390146-5D33-674A-F8F6-BCEF2302EEBB}"/>
              </a:ext>
            </a:extLst>
          </p:cNvPr>
          <p:cNvSpPr/>
          <p:nvPr/>
        </p:nvSpPr>
        <p:spPr>
          <a:xfrm>
            <a:off x="5181600" y="2819400"/>
            <a:ext cx="6299200" cy="546100"/>
          </a:xfrm>
          <a:prstGeom prst="rect">
            <a:avLst/>
          </a:prstGeom>
          <a:solidFill>
            <a:srgbClr val="F5F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33FFA7-E249-E5C9-5F8E-E49E5B9CAB4F}"/>
              </a:ext>
            </a:extLst>
          </p:cNvPr>
          <p:cNvSpPr txBox="1"/>
          <p:nvPr/>
        </p:nvSpPr>
        <p:spPr>
          <a:xfrm>
            <a:off x="5410200" y="2908300"/>
            <a:ext cx="571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007E87"/>
                </a:solidFill>
                <a:latin typeface="Arial" panose="020B0604020202020204" pitchFamily="34" charset="0"/>
              </a:rPr>
              <a:t>2021  +0,051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801AA4-C817-41D7-0BA2-0D606BC8451A}"/>
              </a:ext>
            </a:extLst>
          </p:cNvPr>
          <p:cNvSpPr/>
          <p:nvPr/>
        </p:nvSpPr>
        <p:spPr>
          <a:xfrm>
            <a:off x="5181600" y="3492500"/>
            <a:ext cx="6299200" cy="546100"/>
          </a:xfrm>
          <a:prstGeom prst="rect">
            <a:avLst/>
          </a:prstGeom>
          <a:solidFill>
            <a:srgbClr val="F5F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820565-C8AF-FB1F-9573-6675BD819291}"/>
              </a:ext>
            </a:extLst>
          </p:cNvPr>
          <p:cNvSpPr txBox="1"/>
          <p:nvPr/>
        </p:nvSpPr>
        <p:spPr>
          <a:xfrm>
            <a:off x="5410200" y="3581400"/>
            <a:ext cx="571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007E87"/>
                </a:solidFill>
                <a:latin typeface="Arial" panose="020B0604020202020204" pitchFamily="34" charset="0"/>
              </a:rPr>
              <a:t>2022  +0,007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5FE863-928A-5039-D3AC-67B7E4CD5AF1}"/>
              </a:ext>
            </a:extLst>
          </p:cNvPr>
          <p:cNvSpPr/>
          <p:nvPr/>
        </p:nvSpPr>
        <p:spPr>
          <a:xfrm>
            <a:off x="5181600" y="4165600"/>
            <a:ext cx="6299200" cy="546100"/>
          </a:xfrm>
          <a:prstGeom prst="rect">
            <a:avLst/>
          </a:prstGeom>
          <a:solidFill>
            <a:srgbClr val="F5F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820E42-7F38-B553-7840-7F2386C3B086}"/>
              </a:ext>
            </a:extLst>
          </p:cNvPr>
          <p:cNvSpPr txBox="1"/>
          <p:nvPr/>
        </p:nvSpPr>
        <p:spPr>
          <a:xfrm>
            <a:off x="5410200" y="4254500"/>
            <a:ext cx="571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007E87"/>
                </a:solidFill>
                <a:latin typeface="Arial" panose="020B0604020202020204" pitchFamily="34" charset="0"/>
              </a:rPr>
              <a:t>2023  +0,031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CCD0D4-7059-6B12-1765-B3AB59A6074B}"/>
              </a:ext>
            </a:extLst>
          </p:cNvPr>
          <p:cNvSpPr txBox="1"/>
          <p:nvPr/>
        </p:nvSpPr>
        <p:spPr>
          <a:xfrm>
            <a:off x="5168900" y="5080000"/>
            <a:ext cx="6438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DC772F"/>
                </a:solidFill>
                <a:latin typeface="Arial" panose="020B0604020202020204" pitchFamily="34" charset="0"/>
              </a:rPr>
              <a:t>CI95% từng năm đều chứa 0; LightGBM chưa xác nhận lợi ích lặp.</a:t>
            </a:r>
            <a:endParaRPr lang="en-US" sz="1600" b="1">
              <a:solidFill>
                <a:srgbClr val="DC772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83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846056-199B-6526-094E-C5EBA36D7524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007E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46FC84-D3EB-6B99-2ABB-C8FEC72846BA}"/>
              </a:ext>
            </a:extLst>
          </p:cNvPr>
          <p:cNvSpPr txBox="1"/>
          <p:nvPr/>
        </p:nvSpPr>
        <p:spPr>
          <a:xfrm>
            <a:off x="558800" y="304800"/>
            <a:ext cx="965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007E87"/>
                </a:solidFill>
                <a:latin typeface="Arial" panose="020B0604020202020204" pitchFamily="34" charset="0"/>
              </a:rPr>
              <a:t>TỪ MÔ HÌNH ĐẾN SẢN PHẨM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BEE319-9F88-816B-2967-5DAE7B8665EB}"/>
              </a:ext>
            </a:extLst>
          </p:cNvPr>
          <p:cNvSpPr txBox="1"/>
          <p:nvPr/>
        </p:nvSpPr>
        <p:spPr>
          <a:xfrm>
            <a:off x="558800" y="6604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72B41"/>
                </a:solidFill>
                <a:latin typeface="Arial" panose="020B0604020202020204" pitchFamily="34" charset="0"/>
              </a:rPr>
              <a:t>App đã có demo hồi cứu; phát hành AI live còn cổng dữ liệu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D46DFD-A400-FBAE-9E01-1DFA0F6B3CB3}"/>
              </a:ext>
            </a:extLst>
          </p:cNvPr>
          <p:cNvSpPr/>
          <p:nvPr/>
        </p:nvSpPr>
        <p:spPr>
          <a:xfrm>
            <a:off x="558800" y="6299200"/>
            <a:ext cx="11074400" cy="12700"/>
          </a:xfrm>
          <a:prstGeom prst="rect">
            <a:avLst/>
          </a:prstGeom>
          <a:solidFill>
            <a:srgbClr val="D3DF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D5156C-C7F9-1DDB-8039-6A8BCB32E549}"/>
              </a:ext>
            </a:extLst>
          </p:cNvPr>
          <p:cNvSpPr txBox="1"/>
          <p:nvPr/>
        </p:nvSpPr>
        <p:spPr>
          <a:xfrm>
            <a:off x="558800" y="6451600"/>
            <a:ext cx="825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5D6F7E"/>
                </a:solidFill>
                <a:latin typeface="Arial" panose="020B0604020202020204" pitchFamily="34" charset="0"/>
              </a:rPr>
              <a:t>PBL6  |  Đà Nẵng  |  14.10.2026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3E47C-8581-48FB-887F-8313FD06EF65}"/>
              </a:ext>
            </a:extLst>
          </p:cNvPr>
          <p:cNvSpPr txBox="1"/>
          <p:nvPr/>
        </p:nvSpPr>
        <p:spPr>
          <a:xfrm>
            <a:off x="11049000" y="6451600"/>
            <a:ext cx="584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5D6F7E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EC76C6-61F0-A6B8-70D7-72C02BCB489B}"/>
              </a:ext>
            </a:extLst>
          </p:cNvPr>
          <p:cNvSpPr/>
          <p:nvPr/>
        </p:nvSpPr>
        <p:spPr>
          <a:xfrm>
            <a:off x="558800" y="1752600"/>
            <a:ext cx="5232400" cy="3644900"/>
          </a:xfrm>
          <a:prstGeom prst="rect">
            <a:avLst/>
          </a:prstGeom>
          <a:solidFill>
            <a:srgbClr val="EEF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2CCEF-87D7-8C8E-5B3E-AAA1C12E8745}"/>
              </a:ext>
            </a:extLst>
          </p:cNvPr>
          <p:cNvSpPr txBox="1"/>
          <p:nvPr/>
        </p:nvSpPr>
        <p:spPr>
          <a:xfrm>
            <a:off x="787400" y="198120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172B41"/>
                </a:solidFill>
                <a:latin typeface="Arial" panose="020B0604020202020204" pitchFamily="34" charset="0"/>
              </a:rPr>
              <a:t>Đã kiểm tra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AEB65B-BF72-0E7A-EE13-CC30A0BC85BA}"/>
              </a:ext>
            </a:extLst>
          </p:cNvPr>
          <p:cNvSpPr txBox="1"/>
          <p:nvPr/>
        </p:nvSpPr>
        <p:spPr>
          <a:xfrm>
            <a:off x="787400" y="2641600"/>
            <a:ext cx="45339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007E87"/>
                </a:solidFill>
                <a:latin typeface="Arial" panose="020B0604020202020204" pitchFamily="34" charset="0"/>
              </a:rPr>
              <a:t>24/24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683E7A-786F-5581-3929-862A5DED7F0B}"/>
              </a:ext>
            </a:extLst>
          </p:cNvPr>
          <p:cNvSpPr txBox="1"/>
          <p:nvPr/>
        </p:nvSpPr>
        <p:spPr>
          <a:xfrm>
            <a:off x="787400" y="3276600"/>
            <a:ext cx="4521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253543"/>
                </a:solidFill>
                <a:latin typeface="Arial" panose="020B0604020202020204" pitchFamily="34" charset="0"/>
              </a:rPr>
              <a:t>tệp GSMaP NRT v8 tải, giải mã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524AB6-D3AA-B0D6-3BDE-260BFB40D2BA}"/>
              </a:ext>
            </a:extLst>
          </p:cNvPr>
          <p:cNvSpPr txBox="1"/>
          <p:nvPr/>
        </p:nvSpPr>
        <p:spPr>
          <a:xfrm>
            <a:off x="787400" y="4089400"/>
            <a:ext cx="4546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53543"/>
                </a:solidFill>
                <a:latin typeface="Arial" panose="020B0604020202020204" pitchFamily="34" charset="0"/>
              </a:rPr>
              <a:t>93/93 ô hữu hạn; demo archive dùng checkpoint thật; 36 phép đối chiếu API khớp.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76B020-CD0A-5C9F-5C7D-8AC16CFC734B}"/>
              </a:ext>
            </a:extLst>
          </p:cNvPr>
          <p:cNvSpPr/>
          <p:nvPr/>
        </p:nvSpPr>
        <p:spPr>
          <a:xfrm>
            <a:off x="6096000" y="1752600"/>
            <a:ext cx="5537200" cy="3644900"/>
          </a:xfrm>
          <a:prstGeom prst="rect">
            <a:avLst/>
          </a:prstGeom>
          <a:solidFill>
            <a:srgbClr val="F5F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CBDCDB-B4C9-2680-CF49-ACF82B8472AE}"/>
              </a:ext>
            </a:extLst>
          </p:cNvPr>
          <p:cNvSpPr txBox="1"/>
          <p:nvPr/>
        </p:nvSpPr>
        <p:spPr>
          <a:xfrm>
            <a:off x="6337300" y="1981200"/>
            <a:ext cx="5029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100" b="1">
                <a:solidFill>
                  <a:srgbClr val="172B41"/>
                </a:solidFill>
                <a:latin typeface="Arial" panose="020B0604020202020204" pitchFamily="34" charset="0"/>
              </a:rPr>
              <a:t>Cần kiểm định trước AI live</a:t>
            </a:r>
            <a:endParaRPr lang="en-US" sz="2100" b="1">
              <a:solidFill>
                <a:srgbClr val="172B41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4F5C53-6F4D-D95D-27F6-61BAA5AD4BF2}"/>
              </a:ext>
            </a:extLst>
          </p:cNvPr>
          <p:cNvSpPr txBox="1"/>
          <p:nvPr/>
        </p:nvSpPr>
        <p:spPr>
          <a:xfrm>
            <a:off x="6337300" y="2628900"/>
            <a:ext cx="49911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700">
                <a:solidFill>
                  <a:srgbClr val="253543"/>
                </a:solidFill>
                <a:latin typeface="Arial" panose="020B0604020202020204" pitchFamily="34" charset="0"/>
              </a:rPr>
              <a:t>Một tệp mới được phát hiện khi đã cũ 3,53–3,70 giờ; mới 1 quan sát.</a:t>
            </a:r>
            <a:endParaRPr lang="en-US" sz="1700">
              <a:solidFill>
                <a:srgbClr val="253543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D1FC33-7D52-7131-E929-27B783F6D92D}"/>
              </a:ext>
            </a:extLst>
          </p:cNvPr>
          <p:cNvSpPr txBox="1"/>
          <p:nvPr/>
        </p:nvSpPr>
        <p:spPr>
          <a:xfrm>
            <a:off x="6337300" y="3708400"/>
            <a:ext cx="49911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253543"/>
                </a:solidFill>
                <a:latin typeface="Arial" panose="020B0604020202020204" pitchFamily="34" charset="0"/>
              </a:rPr>
              <a:t>Train lại lag 5h: RMSE tăng 0,038–0,053 mm/3h (~1%) so lag 4h trên 3 fold.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A054BA-4308-34F9-2C32-1572C5BCE971}"/>
              </a:ext>
            </a:extLst>
          </p:cNvPr>
          <p:cNvSpPr txBox="1"/>
          <p:nvPr/>
        </p:nvSpPr>
        <p:spPr>
          <a:xfrm>
            <a:off x="558800" y="5613400"/>
            <a:ext cx="11074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DC772F"/>
                </a:solidFill>
                <a:latin typeface="Arial" panose="020B0604020202020204" pitchFamily="34" charset="0"/>
              </a:rPr>
              <a:t>Cần đo nhiều ngày và xác minh mọi biến đầu vào có sẵn đúng giờ phát hành.</a:t>
            </a:r>
          </a:p>
        </p:txBody>
      </p:sp>
    </p:spTree>
    <p:extLst>
      <p:ext uri="{BB962C8B-B14F-4D97-AF65-F5344CB8AC3E}">
        <p14:creationId xmlns:p14="http://schemas.microsoft.com/office/powerpoint/2010/main" val="1239837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CCEC7F-B4BE-6021-53D2-614B874A645B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007E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4FB60-5018-8655-8390-1E77C725D020}"/>
              </a:ext>
            </a:extLst>
          </p:cNvPr>
          <p:cNvSpPr txBox="1"/>
          <p:nvPr/>
        </p:nvSpPr>
        <p:spPr>
          <a:xfrm>
            <a:off x="558800" y="304800"/>
            <a:ext cx="965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007E87"/>
                </a:solidFill>
                <a:latin typeface="Arial" panose="020B0604020202020204" pitchFamily="34" charset="0"/>
              </a:rPr>
              <a:t>KẾ HOẠCH &amp; CÂU HỎI CHO GIẢNG VIÊN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6015C9-5DDD-BA05-9CAA-3A708B271656}"/>
              </a:ext>
            </a:extLst>
          </p:cNvPr>
          <p:cNvSpPr txBox="1"/>
          <p:nvPr/>
        </p:nvSpPr>
        <p:spPr>
          <a:xfrm>
            <a:off x="558800" y="6604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900" b="1">
                <a:solidFill>
                  <a:srgbClr val="172B41"/>
                </a:solidFill>
                <a:latin typeface="Arial" panose="020B0604020202020204" pitchFamily="34" charset="0"/>
              </a:rPr>
              <a:t>Ba bước để chọn mô hình thực sự dùng được</a:t>
            </a:r>
            <a:endParaRPr lang="en-US" sz="2900" b="1">
              <a:solidFill>
                <a:srgbClr val="172B4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7D316F-C0BA-85EA-07CF-B87FEDE82A87}"/>
              </a:ext>
            </a:extLst>
          </p:cNvPr>
          <p:cNvSpPr/>
          <p:nvPr/>
        </p:nvSpPr>
        <p:spPr>
          <a:xfrm>
            <a:off x="558800" y="6299200"/>
            <a:ext cx="11074400" cy="12700"/>
          </a:xfrm>
          <a:prstGeom prst="rect">
            <a:avLst/>
          </a:prstGeom>
          <a:solidFill>
            <a:srgbClr val="D3DF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AEC5DD-9655-87E6-FAD1-5FCC2665AD50}"/>
              </a:ext>
            </a:extLst>
          </p:cNvPr>
          <p:cNvSpPr txBox="1"/>
          <p:nvPr/>
        </p:nvSpPr>
        <p:spPr>
          <a:xfrm>
            <a:off x="558800" y="6451600"/>
            <a:ext cx="825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5D6F7E"/>
                </a:solidFill>
                <a:latin typeface="Arial" panose="020B0604020202020204" pitchFamily="34" charset="0"/>
              </a:rPr>
              <a:t>PBL6  |  Đà Nẵng  |  14.10.2026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96A938-7703-1560-CDFF-5D41F026DB4F}"/>
              </a:ext>
            </a:extLst>
          </p:cNvPr>
          <p:cNvSpPr txBox="1"/>
          <p:nvPr/>
        </p:nvSpPr>
        <p:spPr>
          <a:xfrm>
            <a:off x="11049000" y="6451600"/>
            <a:ext cx="584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5D6F7E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6E579F-32AA-0F5A-FB5A-48B49D656A70}"/>
              </a:ext>
            </a:extLst>
          </p:cNvPr>
          <p:cNvSpPr/>
          <p:nvPr/>
        </p:nvSpPr>
        <p:spPr>
          <a:xfrm>
            <a:off x="558800" y="1752600"/>
            <a:ext cx="11074400" cy="1016000"/>
          </a:xfrm>
          <a:prstGeom prst="rect">
            <a:avLst/>
          </a:prstGeom>
          <a:solidFill>
            <a:srgbClr val="EEF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AFABFB-993E-5C2B-877D-CFC6C7FE434B}"/>
              </a:ext>
            </a:extLst>
          </p:cNvPr>
          <p:cNvSpPr txBox="1"/>
          <p:nvPr/>
        </p:nvSpPr>
        <p:spPr>
          <a:xfrm>
            <a:off x="736600" y="1968500"/>
            <a:ext cx="787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007E87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E172D1-5FD2-14EF-3B2C-9E16F19B26DE}"/>
              </a:ext>
            </a:extLst>
          </p:cNvPr>
          <p:cNvSpPr txBox="1"/>
          <p:nvPr/>
        </p:nvSpPr>
        <p:spPr>
          <a:xfrm>
            <a:off x="1676400" y="1866900"/>
            <a:ext cx="2349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72B41"/>
                </a:solidFill>
                <a:latin typeface="Arial" panose="020B0604020202020204" pitchFamily="34" charset="0"/>
              </a:rPr>
              <a:t>Đo nguồn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E589B-466C-1B34-3635-F0E0C1484C2F}"/>
              </a:ext>
            </a:extLst>
          </p:cNvPr>
          <p:cNvSpPr txBox="1"/>
          <p:nvPr/>
        </p:nvSpPr>
        <p:spPr>
          <a:xfrm>
            <a:off x="4064000" y="1879600"/>
            <a:ext cx="7264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>
                <a:solidFill>
                  <a:srgbClr val="253543"/>
                </a:solidFill>
                <a:latin typeface="Arial" panose="020B0604020202020204" pitchFamily="34" charset="0"/>
              </a:rPr>
              <a:t>Ghi giờ file mới nhiều ngày; kiểm tra train–NRT và dữ liệu có trước giờ phát hành.</a:t>
            </a:r>
            <a:endParaRPr lang="en-US" sz="1600">
              <a:solidFill>
                <a:srgbClr val="253543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850E1D-2FF7-729A-D714-99AD3DB34202}"/>
              </a:ext>
            </a:extLst>
          </p:cNvPr>
          <p:cNvSpPr/>
          <p:nvPr/>
        </p:nvSpPr>
        <p:spPr>
          <a:xfrm>
            <a:off x="558800" y="2946400"/>
            <a:ext cx="11074400" cy="1016000"/>
          </a:xfrm>
          <a:prstGeom prst="rect">
            <a:avLst/>
          </a:prstGeom>
          <a:solidFill>
            <a:srgbClr val="F5F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A59DF4-20E0-D04B-A6AF-9A5D714876A3}"/>
              </a:ext>
            </a:extLst>
          </p:cNvPr>
          <p:cNvSpPr txBox="1"/>
          <p:nvPr/>
        </p:nvSpPr>
        <p:spPr>
          <a:xfrm>
            <a:off x="736600" y="3162300"/>
            <a:ext cx="787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007E87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214CDB-99A3-919C-D50C-C90EE6C58C40}"/>
              </a:ext>
            </a:extLst>
          </p:cNvPr>
          <p:cNvSpPr txBox="1"/>
          <p:nvPr/>
        </p:nvSpPr>
        <p:spPr>
          <a:xfrm>
            <a:off x="1676400" y="3060700"/>
            <a:ext cx="2349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72B41"/>
                </a:solidFill>
                <a:latin typeface="Arial" panose="020B0604020202020204" pitchFamily="34" charset="0"/>
              </a:rPr>
              <a:t>So công bằng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4F39D2-F79B-B3BF-BAA9-B5BF070767F6}"/>
              </a:ext>
            </a:extLst>
          </p:cNvPr>
          <p:cNvSpPr txBox="1"/>
          <p:nvPr/>
        </p:nvSpPr>
        <p:spPr>
          <a:xfrm>
            <a:off x="4064000" y="3073400"/>
            <a:ext cx="7264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>
                <a:solidFill>
                  <a:srgbClr val="253543"/>
                </a:solidFill>
                <a:latin typeface="Arial" panose="020B0604020202020204" pitchFamily="34" charset="0"/>
              </a:rPr>
              <a:t>AI và ECMWF trên cùng ô, giờ, hạn, nhãn; đánh giá mưa mạnh, xác suất, độ trễ.</a:t>
            </a:r>
            <a:endParaRPr lang="en-US" sz="1600">
              <a:solidFill>
                <a:srgbClr val="253543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E96E24-68A3-BB4C-0DD9-87DA1B3C83E8}"/>
              </a:ext>
            </a:extLst>
          </p:cNvPr>
          <p:cNvSpPr/>
          <p:nvPr/>
        </p:nvSpPr>
        <p:spPr>
          <a:xfrm>
            <a:off x="558800" y="4140200"/>
            <a:ext cx="11074400" cy="1016000"/>
          </a:xfrm>
          <a:prstGeom prst="rect">
            <a:avLst/>
          </a:prstGeom>
          <a:solidFill>
            <a:srgbClr val="EEF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00B9B3-15BB-DBD4-8D50-0CC5FF638DFF}"/>
              </a:ext>
            </a:extLst>
          </p:cNvPr>
          <p:cNvSpPr txBox="1"/>
          <p:nvPr/>
        </p:nvSpPr>
        <p:spPr>
          <a:xfrm>
            <a:off x="736600" y="4356100"/>
            <a:ext cx="7874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007E87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A185BA-9D20-1936-0A10-250CBFBBCA72}"/>
              </a:ext>
            </a:extLst>
          </p:cNvPr>
          <p:cNvSpPr txBox="1"/>
          <p:nvPr/>
        </p:nvSpPr>
        <p:spPr>
          <a:xfrm>
            <a:off x="1676400" y="4254500"/>
            <a:ext cx="2349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72B41"/>
                </a:solidFill>
                <a:latin typeface="Arial" panose="020B0604020202020204" pitchFamily="34" charset="0"/>
              </a:rPr>
              <a:t>Chốt app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55775C-D4AD-6F8A-DD60-9F2FD50DA82F}"/>
              </a:ext>
            </a:extLst>
          </p:cNvPr>
          <p:cNvSpPr txBox="1"/>
          <p:nvPr/>
        </p:nvSpPr>
        <p:spPr>
          <a:xfrm>
            <a:off x="4064000" y="4267200"/>
            <a:ext cx="7264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>
                <a:solidFill>
                  <a:srgbClr val="253543"/>
                </a:solidFill>
                <a:latin typeface="Arial" panose="020B0604020202020204" pitchFamily="34" charset="0"/>
              </a:rPr>
              <a:t>Chọn mô hình/fallback theo kết quả; thử với người dùng; rồi mới mở rộng 1–3 ngày.</a:t>
            </a:r>
            <a:endParaRPr lang="en-US" sz="1600">
              <a:solidFill>
                <a:srgbClr val="253543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E29E90-3CD4-F0A6-BB50-44C46226A9A7}"/>
              </a:ext>
            </a:extLst>
          </p:cNvPr>
          <p:cNvSpPr txBox="1"/>
          <p:nvPr/>
        </p:nvSpPr>
        <p:spPr>
          <a:xfrm>
            <a:off x="558800" y="5588000"/>
            <a:ext cx="11074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DC772F"/>
                </a:solidFill>
                <a:latin typeface="Arial" panose="020B0604020202020204" pitchFamily="34" charset="0"/>
              </a:rPr>
              <a:t>Xin góp ý: tập trung 0–6h một vùng? Ưu tiên RMSE hay bắt mưa mạnh? Có trạm giờ độc lập?</a:t>
            </a:r>
            <a:endParaRPr lang="en-US" sz="1600" b="1">
              <a:solidFill>
                <a:srgbClr val="DC772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803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ADB373-4DCF-936C-22E4-E62B0A8B79CE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007E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A723CF-FF54-6930-D8D6-30E48EB3719C}"/>
              </a:ext>
            </a:extLst>
          </p:cNvPr>
          <p:cNvSpPr txBox="1"/>
          <p:nvPr/>
        </p:nvSpPr>
        <p:spPr>
          <a:xfrm>
            <a:off x="558800" y="304800"/>
            <a:ext cx="965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100" b="1">
                <a:solidFill>
                  <a:srgbClr val="007E87"/>
                </a:solidFill>
                <a:latin typeface="Arial" panose="020B0604020202020204" pitchFamily="34" charset="0"/>
              </a:rPr>
              <a:t>DỰ PHÒNG NẾU ĐƯỢC HỎI</a:t>
            </a:r>
            <a:endParaRPr lang="en-US" sz="1100" b="1">
              <a:solidFill>
                <a:srgbClr val="007E87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7144B6-0DEB-2200-5492-18E2FFC0A5ED}"/>
              </a:ext>
            </a:extLst>
          </p:cNvPr>
          <p:cNvSpPr txBox="1"/>
          <p:nvPr/>
        </p:nvSpPr>
        <p:spPr>
          <a:xfrm>
            <a:off x="558800" y="6604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72B41"/>
                </a:solidFill>
                <a:latin typeface="Arial" panose="020B0604020202020204" pitchFamily="34" charset="0"/>
              </a:rPr>
              <a:t>ECMWF là đối chứng dự báo, không phải nhãn ERA5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BCDECC-9A4C-7AE5-B0DE-872887E9D8E7}"/>
              </a:ext>
            </a:extLst>
          </p:cNvPr>
          <p:cNvSpPr/>
          <p:nvPr/>
        </p:nvSpPr>
        <p:spPr>
          <a:xfrm>
            <a:off x="558800" y="6299200"/>
            <a:ext cx="11074400" cy="12700"/>
          </a:xfrm>
          <a:prstGeom prst="rect">
            <a:avLst/>
          </a:prstGeom>
          <a:solidFill>
            <a:srgbClr val="D3DF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49F8E-B7B7-A96C-1198-9DD71FC86EB0}"/>
              </a:ext>
            </a:extLst>
          </p:cNvPr>
          <p:cNvSpPr txBox="1"/>
          <p:nvPr/>
        </p:nvSpPr>
        <p:spPr>
          <a:xfrm>
            <a:off x="558800" y="6451600"/>
            <a:ext cx="825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5D6F7E"/>
                </a:solidFill>
                <a:latin typeface="Arial" panose="020B0604020202020204" pitchFamily="34" charset="0"/>
              </a:rPr>
              <a:t>PBL6  |  Đà Nẵng  |  14.10.2026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B2BA39-1DF5-9B02-CC27-EAACD2EB51F3}"/>
              </a:ext>
            </a:extLst>
          </p:cNvPr>
          <p:cNvSpPr txBox="1"/>
          <p:nvPr/>
        </p:nvSpPr>
        <p:spPr>
          <a:xfrm>
            <a:off x="11049000" y="6451600"/>
            <a:ext cx="584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5D6F7E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9E4C6F-5CED-6A75-A2FA-CB01C59053F7}"/>
              </a:ext>
            </a:extLst>
          </p:cNvPr>
          <p:cNvSpPr txBox="1"/>
          <p:nvPr/>
        </p:nvSpPr>
        <p:spPr>
          <a:xfrm>
            <a:off x="558800" y="1765300"/>
            <a:ext cx="11074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172B41"/>
                </a:solidFill>
                <a:latin typeface="Arial" panose="020B0604020202020204" pitchFamily="34" charset="0"/>
              </a:rPr>
              <a:t>Pilot: 56 run trong 14 ngày (10/2024) × 30 ô = 1.680 cặp dự báo/nhãn.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E8DE6B-8B64-2A83-0231-8ECB470F380B}"/>
              </a:ext>
            </a:extLst>
          </p:cNvPr>
          <p:cNvSpPr/>
          <p:nvPr/>
        </p:nvSpPr>
        <p:spPr>
          <a:xfrm>
            <a:off x="558800" y="2819400"/>
            <a:ext cx="5207000" cy="1943100"/>
          </a:xfrm>
          <a:prstGeom prst="rect">
            <a:avLst/>
          </a:prstGeom>
          <a:solidFill>
            <a:srgbClr val="EEF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ABAA74-43C0-766D-469A-434A84A0E14C}"/>
              </a:ext>
            </a:extLst>
          </p:cNvPr>
          <p:cNvSpPr txBox="1"/>
          <p:nvPr/>
        </p:nvSpPr>
        <p:spPr>
          <a:xfrm>
            <a:off x="787400" y="3060700"/>
            <a:ext cx="472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72B41"/>
                </a:solidFill>
                <a:latin typeface="Arial" panose="020B0604020202020204" pitchFamily="34" charset="0"/>
              </a:rPr>
              <a:t>ECMWF / Open-Meteo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4378F2-01FD-260F-C70C-C9A3ADE1C0E8}"/>
              </a:ext>
            </a:extLst>
          </p:cNvPr>
          <p:cNvSpPr txBox="1"/>
          <p:nvPr/>
        </p:nvSpPr>
        <p:spPr>
          <a:xfrm>
            <a:off x="787400" y="36830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07E87"/>
                </a:solidFill>
                <a:latin typeface="Arial" panose="020B0604020202020204" pitchFamily="34" charset="0"/>
              </a:rPr>
              <a:t>RMSE 3,950 mm/3h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48DC2B-7964-918B-3C41-E096241BFC1E}"/>
              </a:ext>
            </a:extLst>
          </p:cNvPr>
          <p:cNvSpPr txBox="1"/>
          <p:nvPr/>
        </p:nvSpPr>
        <p:spPr>
          <a:xfrm>
            <a:off x="787400" y="4254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253543"/>
                </a:solidFill>
                <a:latin typeface="Arial" panose="020B0604020202020204" pitchFamily="34" charset="0"/>
              </a:rPr>
              <a:t>CSI ≥10: 0,089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637A8B-D755-AA30-C759-3B2C23CEE1F7}"/>
              </a:ext>
            </a:extLst>
          </p:cNvPr>
          <p:cNvSpPr/>
          <p:nvPr/>
        </p:nvSpPr>
        <p:spPr>
          <a:xfrm>
            <a:off x="6019800" y="2819400"/>
            <a:ext cx="5613400" cy="1943100"/>
          </a:xfrm>
          <a:prstGeom prst="rect">
            <a:avLst/>
          </a:prstGeom>
          <a:solidFill>
            <a:srgbClr val="F5F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B1D3EF-475B-DA67-7FDC-457E7AD86DEE}"/>
              </a:ext>
            </a:extLst>
          </p:cNvPr>
          <p:cNvSpPr txBox="1"/>
          <p:nvPr/>
        </p:nvSpPr>
        <p:spPr>
          <a:xfrm>
            <a:off x="6261100" y="3060700"/>
            <a:ext cx="4953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72B41"/>
                </a:solidFill>
                <a:latin typeface="Arial" panose="020B0604020202020204" pitchFamily="34" charset="0"/>
              </a:rPr>
              <a:t>Đối chứng luôn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E37BDD-13AD-7307-E431-C0318412623D}"/>
              </a:ext>
            </a:extLst>
          </p:cNvPr>
          <p:cNvSpPr txBox="1"/>
          <p:nvPr/>
        </p:nvSpPr>
        <p:spPr>
          <a:xfrm>
            <a:off x="6261100" y="3683000"/>
            <a:ext cx="5054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772F"/>
                </a:solidFill>
                <a:latin typeface="Arial" panose="020B0604020202020204" pitchFamily="34" charset="0"/>
              </a:rPr>
              <a:t>RMSE 3,878 mm/3h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C186C0-33C0-2CFA-301B-0E4012609E20}"/>
              </a:ext>
            </a:extLst>
          </p:cNvPr>
          <p:cNvSpPr txBox="1"/>
          <p:nvPr/>
        </p:nvSpPr>
        <p:spPr>
          <a:xfrm>
            <a:off x="6261100" y="42545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>
                <a:solidFill>
                  <a:srgbClr val="253543"/>
                </a:solidFill>
                <a:latin typeface="Arial" panose="020B0604020202020204" pitchFamily="34" charset="0"/>
              </a:rPr>
              <a:t>Chỉ 4/14 ngày có mưa mạnh.</a:t>
            </a:r>
            <a:endParaRPr lang="en-US">
              <a:solidFill>
                <a:srgbClr val="253543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064E65-B891-6037-FA35-9183C7B81C92}"/>
              </a:ext>
            </a:extLst>
          </p:cNvPr>
          <p:cNvSpPr txBox="1"/>
          <p:nvPr/>
        </p:nvSpPr>
        <p:spPr>
          <a:xfrm>
            <a:off x="558800" y="5156200"/>
            <a:ext cx="11074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700">
                <a:solidFill>
                  <a:srgbClr val="253543"/>
                </a:solidFill>
                <a:latin typeface="Arial" panose="020B0604020202020204" pitchFamily="34" charset="0"/>
              </a:rPr>
              <a:t>CI hiệu RMSE chứa 0; chưa có phép so AI–ECMWF cùng mẫu vận hành. Pilot chỉ thăm dò.</a:t>
            </a:r>
            <a:endParaRPr lang="en-US" sz="1700">
              <a:solidFill>
                <a:srgbClr val="25354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003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1342</Words>
  <Application>Microsoft Office PowerPoint</Application>
  <PresentationFormat>Custom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Hoang</dc:creator>
  <cp:lastModifiedBy>Thanh Hoang</cp:lastModifiedBy>
  <cp:revision>1</cp:revision>
  <dcterms:created xsi:type="dcterms:W3CDTF">2026-10-13T17:21:27Z</dcterms:created>
  <dcterms:modified xsi:type="dcterms:W3CDTF">2026-10-13T17:21:27Z</dcterms:modified>
</cp:coreProperties>
</file>