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2803A8-88DC-4959-B600-23F1134DE969}" type="datetimeFigureOut">
              <a:rPr lang="en-US" smtClean="0"/>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481F5-DA2C-40E8-A63C-F64DFB7FDBD5}" type="slidenum">
              <a:rPr lang="en-US" smtClean="0"/>
              <a:t>‹#›</a:t>
            </a:fld>
            <a:endParaRPr lang="en-US"/>
          </a:p>
        </p:txBody>
      </p:sp>
    </p:spTree>
    <p:extLst>
      <p:ext uri="{BB962C8B-B14F-4D97-AF65-F5344CB8AC3E}">
        <p14:creationId xmlns:p14="http://schemas.microsoft.com/office/powerpoint/2010/main" val="2718771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Lời trình bày (khoảng 50 giây): Đà Nẵng đã có ứng dụng hiển thị mưa và ngập được ghi nhận. Ở nước ngoài, MyObservatory của cơ quan khí tượng Hồng Kông dự báo mưa theo vị trí 1–2 giờ, còn cơ quan khí tượng Đài Loan phát hành lượng mưa dự báo theo khoảng 3 giờ trong những đợt mưa lớn. WMO gọi khoảng 0–6 giờ là nowcasting. Vì thế nhóm nghiên cứu hạn 1–6 giờ, trước mắt kiểm chứng lượng mưa tích lũy 3 giờ và xác suất mưa mạnh trên Đà Nẵng. Đây là quyết định thiết kế, chưa có phỏng vấn hay khảo sát định lượng chứng minh 3 giờ là nhu cầu cao nhất. Đồ án bao gồm dữ liệu, mô hình, đánh giá cùng mẫu và app; hiện chỉ có demo hồi cứu, chưa có AI live.
Nguồn:
WMO OSCAR, Nowcasting / Very Short-Range Forecasting: https://space.oscar.wmo.int/applicationareas/view/2_3_nowcasting_very_short_range_forecasting
Danang Smart City, chức năng hỗ trợ thiên tai: https://tralien.danang.gov.vn/chuyen-doi-so/cac-tinh-nang-ho-tro-ung-pho-thien-tai-tren-ung-dung-danang-smart-city-324820
Hong Kong Observatory, MyObservatory: https://www.hko.gov.hk/en/myobservatory.htm
Taiwan Central Weather Administration, annual review (tr. 24, QPF 3 giờ cho 12 giờ kế tiếp khi mưa lớn): https://www.cwa.gov.tw/Data/service/notice/download/Publish_20250326113535.pdf
Dự án: CLAUDE.md; KE_HOACH_DU_AN.md; reports/research_rainfall/user_needs_desk_review_2026_10_14.md.
Lưu ý: Ví dụ CWA là lượng mưa theo khoảng 3 giờ, không phải bằng chứng họ chỉ dự báo đến giờ thứ 3. Không có khảo sát trực tiếp người dùng Đà Nẵng, không tuyên bố mốc 3h được ưa thích nhất. Lưới ~10–11 km không suy ra ngập từng tuyến đường.</a:t>
            </a:r>
            <a:endParaRPr lang="en-US"/>
          </a:p>
        </p:txBody>
      </p:sp>
      <p:sp>
        <p:nvSpPr>
          <p:cNvPr id="4" name="Slide Number Placeholder 3"/>
          <p:cNvSpPr>
            <a:spLocks noGrp="1"/>
          </p:cNvSpPr>
          <p:nvPr>
            <p:ph type="sldNum" sz="quarter" idx="5"/>
          </p:nvPr>
        </p:nvSpPr>
        <p:spPr/>
        <p:txBody>
          <a:bodyPr/>
          <a:lstStyle/>
          <a:p>
            <a:fld id="{622481F5-DA2C-40E8-A63C-F64DFB7FDBD5}" type="slidenum">
              <a:rPr lang="en-US" smtClean="0"/>
              <a:t>1</a:t>
            </a:fld>
            <a:endParaRPr lang="en-US"/>
          </a:p>
        </p:txBody>
      </p:sp>
    </p:spTree>
    <p:extLst>
      <p:ext uri="{BB962C8B-B14F-4D97-AF65-F5344CB8AC3E}">
        <p14:creationId xmlns:p14="http://schemas.microsoft.com/office/powerpoint/2010/main" val="401694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7E9EB-85D2-E65C-C6CE-C599A90D78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0F8DA94-EECB-5A11-0BE5-C7C2D38196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27D58F-B042-5749-BBC8-A40C34CD67C7}"/>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5" name="Footer Placeholder 4">
            <a:extLst>
              <a:ext uri="{FF2B5EF4-FFF2-40B4-BE49-F238E27FC236}">
                <a16:creationId xmlns:a16="http://schemas.microsoft.com/office/drawing/2014/main" id="{BEA38EEB-EBD0-3A4C-DE6C-CAB0FE7E12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FDA8B3-9E57-A2D0-65E8-4DA71C16838C}"/>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2111611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B6CA-D3ED-7875-0A9B-FD0B13A34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FF0ADD-E7A0-829E-6493-C5E390CC03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4A049E-0E11-B1B9-61C0-97653B53B9CF}"/>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5" name="Footer Placeholder 4">
            <a:extLst>
              <a:ext uri="{FF2B5EF4-FFF2-40B4-BE49-F238E27FC236}">
                <a16:creationId xmlns:a16="http://schemas.microsoft.com/office/drawing/2014/main" id="{2C9C4CD6-F271-6528-9154-6A04700E3A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9C5F2D-CE87-83CB-ECB0-D2C57E4D26E7}"/>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339093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1317D-DCD1-FCE3-57EE-BCAB639107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BCD28E-D4E4-9554-FA75-F322E4ACD4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1FCB26-CB39-DACD-987A-C2366BF29659}"/>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5" name="Footer Placeholder 4">
            <a:extLst>
              <a:ext uri="{FF2B5EF4-FFF2-40B4-BE49-F238E27FC236}">
                <a16:creationId xmlns:a16="http://schemas.microsoft.com/office/drawing/2014/main" id="{B99D6B81-EEDE-53B6-40C7-6B192AC53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D4B86A-B6B5-AF16-8D33-8062402D52D6}"/>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90259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924DF-69B6-8F28-CC47-7D2DE81054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AC3A43-CA20-5ED3-E3A8-2CAABF19AE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E00426-A206-4FE8-63BE-79A74FD285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547E82-AC5A-F28D-CC2D-3CD14BCA0F65}"/>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6" name="Footer Placeholder 5">
            <a:extLst>
              <a:ext uri="{FF2B5EF4-FFF2-40B4-BE49-F238E27FC236}">
                <a16:creationId xmlns:a16="http://schemas.microsoft.com/office/drawing/2014/main" id="{AFF31B51-4D8E-FEC8-C3F7-2EBBAB2DF6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8361FC-D749-49BD-BE57-5A7D495BB323}"/>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3909051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31A52-7122-4389-37D3-CB99F59D6C8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80F382-CC8E-BB1B-561B-458A74C96E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F44BC1-C248-59BA-7B7F-B5919E3835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D5761D-AF2E-6516-3082-C14DE0D4B8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F66D55-7B20-DFB8-C4D7-7CD48C493E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ECDBB1-D651-1B50-3EA1-D3807DC7B563}"/>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8" name="Footer Placeholder 7">
            <a:extLst>
              <a:ext uri="{FF2B5EF4-FFF2-40B4-BE49-F238E27FC236}">
                <a16:creationId xmlns:a16="http://schemas.microsoft.com/office/drawing/2014/main" id="{76E5A524-4998-784B-C8C8-259908A5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7D7F366-D854-8F6F-41D1-5AEA2966E65F}"/>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3332034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50608-EFCB-C3B6-34A9-1B3DA35F28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2E12A93-4619-EF40-DBF3-944774998872}"/>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4" name="Footer Placeholder 3">
            <a:extLst>
              <a:ext uri="{FF2B5EF4-FFF2-40B4-BE49-F238E27FC236}">
                <a16:creationId xmlns:a16="http://schemas.microsoft.com/office/drawing/2014/main" id="{D39DCEB3-40CB-D9BB-E097-EBFD5A2C8E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851BB70-8701-F9AB-8B6A-C78F1681B301}"/>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3195362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7E1EFD-1734-4CD7-9036-3CAC63EFB0CF}"/>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3" name="Footer Placeholder 2">
            <a:extLst>
              <a:ext uri="{FF2B5EF4-FFF2-40B4-BE49-F238E27FC236}">
                <a16:creationId xmlns:a16="http://schemas.microsoft.com/office/drawing/2014/main" id="{39462915-61DB-609F-FE7B-6B35123577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DD0F60-D392-D380-9908-A39E155F003E}"/>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711584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F542C-FCC8-C1A7-2974-7F7F47618A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55A003-C9DE-1131-FD11-350683CD6D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CE07AD-5BA1-4BE1-9BBD-13D6ECF2E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B411A6-9784-4038-CA23-001C4E3098F1}"/>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6" name="Footer Placeholder 5">
            <a:extLst>
              <a:ext uri="{FF2B5EF4-FFF2-40B4-BE49-F238E27FC236}">
                <a16:creationId xmlns:a16="http://schemas.microsoft.com/office/drawing/2014/main" id="{D2B30A05-A398-670D-5046-1C2C9F020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ADECB0-6044-AF74-CC96-AF66C12D853C}"/>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779828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C7AC1-0790-556A-E35D-DD4495F65A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78A9E6B-827B-FFB4-A7D5-0019DFF065B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499922-4848-BBBC-9792-247BA5BD9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34B07A-CD6D-9119-2929-CAC7B3DD7CF5}"/>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6" name="Footer Placeholder 5">
            <a:extLst>
              <a:ext uri="{FF2B5EF4-FFF2-40B4-BE49-F238E27FC236}">
                <a16:creationId xmlns:a16="http://schemas.microsoft.com/office/drawing/2014/main" id="{502037C1-0FC1-4374-2906-EF11421D9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4C93B9-A20B-3A96-F37A-8D3423EA9C34}"/>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1563507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9A524-C650-9174-BC8F-0F65372B07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43D6784-A424-E01B-4C7A-981F644159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EA96F4-23B6-36D9-6623-7834A772F7F8}"/>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5" name="Footer Placeholder 4">
            <a:extLst>
              <a:ext uri="{FF2B5EF4-FFF2-40B4-BE49-F238E27FC236}">
                <a16:creationId xmlns:a16="http://schemas.microsoft.com/office/drawing/2014/main" id="{5C2CF39E-635D-99EB-B7FA-025577CC41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353693-9128-9639-5FAF-F329831BB91D}"/>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972801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25B9D2-9961-65CA-6AE1-3E7C2ED108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180664-05A5-5F8B-EEB6-0B4B03766C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A1C182-51E8-4872-8A74-46AD71ECEE65}"/>
              </a:ext>
            </a:extLst>
          </p:cNvPr>
          <p:cNvSpPr>
            <a:spLocks noGrp="1"/>
          </p:cNvSpPr>
          <p:nvPr>
            <p:ph type="dt" sz="half" idx="10"/>
          </p:nvPr>
        </p:nvSpPr>
        <p:spPr/>
        <p:txBody>
          <a:bodyPr/>
          <a:lstStyle/>
          <a:p>
            <a:fld id="{9C31CC9F-178A-4C2C-8798-7FD3673E44B9}" type="datetimeFigureOut">
              <a:rPr lang="en-US" smtClean="0"/>
              <a:t>10/14/2026</a:t>
            </a:fld>
            <a:endParaRPr lang="en-US"/>
          </a:p>
        </p:txBody>
      </p:sp>
      <p:sp>
        <p:nvSpPr>
          <p:cNvPr id="5" name="Footer Placeholder 4">
            <a:extLst>
              <a:ext uri="{FF2B5EF4-FFF2-40B4-BE49-F238E27FC236}">
                <a16:creationId xmlns:a16="http://schemas.microsoft.com/office/drawing/2014/main" id="{8F7DAF59-3F83-33B3-5CC8-09F01BFBF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200BA-A788-E4DB-D5C4-71D15470A2B2}"/>
              </a:ext>
            </a:extLst>
          </p:cNvPr>
          <p:cNvSpPr>
            <a:spLocks noGrp="1"/>
          </p:cNvSpPr>
          <p:nvPr>
            <p:ph type="sldNum" sz="quarter" idx="12"/>
          </p:nvPr>
        </p:nvSpPr>
        <p:spPr/>
        <p:txBody>
          <a:bodyPr/>
          <a:lstStyle/>
          <a:p>
            <a:fld id="{02B234F1-CE03-49A4-AC2F-47D05CCD96C6}" type="slidenum">
              <a:rPr lang="en-US" smtClean="0"/>
              <a:t>‹#›</a:t>
            </a:fld>
            <a:endParaRPr lang="en-US"/>
          </a:p>
        </p:txBody>
      </p:sp>
    </p:spTree>
    <p:extLst>
      <p:ext uri="{BB962C8B-B14F-4D97-AF65-F5344CB8AC3E}">
        <p14:creationId xmlns:p14="http://schemas.microsoft.com/office/powerpoint/2010/main" val="187348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9046CC-660F-706C-A446-0BF62585EC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1BD503-577F-75F1-2D31-551B35A30F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4B47D1-711E-CA59-DD3A-7D1324CDE0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31CC9F-178A-4C2C-8798-7FD3673E44B9}" type="datetimeFigureOut">
              <a:rPr lang="en-US" smtClean="0"/>
              <a:t>10/14/2026</a:t>
            </a:fld>
            <a:endParaRPr lang="en-US"/>
          </a:p>
        </p:txBody>
      </p:sp>
      <p:sp>
        <p:nvSpPr>
          <p:cNvPr id="5" name="Footer Placeholder 4">
            <a:extLst>
              <a:ext uri="{FF2B5EF4-FFF2-40B4-BE49-F238E27FC236}">
                <a16:creationId xmlns:a16="http://schemas.microsoft.com/office/drawing/2014/main" id="{ADC31892-5B2F-F484-8A56-646CEBA3BB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51A6A1-926E-A578-6FAF-8515D5AB4C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B234F1-CE03-49A4-AC2F-47D05CCD96C6}" type="slidenum">
              <a:rPr lang="en-US" smtClean="0"/>
              <a:t>‹#›</a:t>
            </a:fld>
            <a:endParaRPr lang="en-US"/>
          </a:p>
        </p:txBody>
      </p:sp>
    </p:spTree>
    <p:extLst>
      <p:ext uri="{BB962C8B-B14F-4D97-AF65-F5344CB8AC3E}">
        <p14:creationId xmlns:p14="http://schemas.microsoft.com/office/powerpoint/2010/main" val="35361381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BC335E-2E14-578C-7A42-E86D84B1ED82}"/>
              </a:ext>
            </a:extLst>
          </p:cNvPr>
          <p:cNvSpPr/>
          <p:nvPr/>
        </p:nvSpPr>
        <p:spPr>
          <a:xfrm>
            <a:off x="0" y="0"/>
            <a:ext cx="12192000" cy="68580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43D999A-7B62-FC31-832B-A75A7A5BFC59}"/>
              </a:ext>
            </a:extLst>
          </p:cNvPr>
          <p:cNvSpPr/>
          <p:nvPr/>
        </p:nvSpPr>
        <p:spPr>
          <a:xfrm>
            <a:off x="0" y="0"/>
            <a:ext cx="12192000" cy="127000"/>
          </a:xfrm>
          <a:prstGeom prst="rect">
            <a:avLst/>
          </a:prstGeom>
          <a:solidFill>
            <a:srgbClr val="007E8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5170A0C-8AAA-D578-20B8-5C66CC099D87}"/>
              </a:ext>
            </a:extLst>
          </p:cNvPr>
          <p:cNvSpPr txBox="1"/>
          <p:nvPr/>
        </p:nvSpPr>
        <p:spPr>
          <a:xfrm>
            <a:off x="558800" y="317500"/>
            <a:ext cx="10287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KHẢO SÁT ĐỀ TÀI</a:t>
            </a:r>
          </a:p>
        </p:txBody>
      </p:sp>
      <p:sp>
        <p:nvSpPr>
          <p:cNvPr id="5" name="TextBox 4">
            <a:extLst>
              <a:ext uri="{FF2B5EF4-FFF2-40B4-BE49-F238E27FC236}">
                <a16:creationId xmlns:a16="http://schemas.microsoft.com/office/drawing/2014/main" id="{BC728611-8B45-0C8E-D39C-D779CA7DD549}"/>
              </a:ext>
            </a:extLst>
          </p:cNvPr>
          <p:cNvSpPr txBox="1"/>
          <p:nvPr/>
        </p:nvSpPr>
        <p:spPr>
          <a:xfrm>
            <a:off x="558800" y="685800"/>
            <a:ext cx="11049000" cy="446276"/>
          </a:xfrm>
          <a:prstGeom prst="rect">
            <a:avLst/>
          </a:prstGeom>
          <a:noFill/>
        </p:spPr>
        <p:txBody>
          <a:bodyPr vert="horz" wrap="square" lIns="0" tIns="0" rIns="0" bIns="0" rtlCol="0">
            <a:spAutoFit/>
          </a:bodyPr>
          <a:lstStyle/>
          <a:p>
            <a:r>
              <a:rPr lang="vi-VN" sz="2900" b="1">
                <a:solidFill>
                  <a:srgbClr val="172B41"/>
                </a:solidFill>
                <a:latin typeface="Arial" panose="020B0604020202020204" pitchFamily="34" charset="0"/>
              </a:rPr>
              <a:t>Dự báo mưa trước bao lâu là hữu ích?</a:t>
            </a:r>
            <a:endParaRPr lang="en-US" sz="2900" b="1">
              <a:solidFill>
                <a:srgbClr val="172B41"/>
              </a:solidFill>
              <a:latin typeface="Arial" panose="020B0604020202020204" pitchFamily="34" charset="0"/>
            </a:endParaRPr>
          </a:p>
        </p:txBody>
      </p:sp>
      <p:sp>
        <p:nvSpPr>
          <p:cNvPr id="6" name="TextBox 5">
            <a:extLst>
              <a:ext uri="{FF2B5EF4-FFF2-40B4-BE49-F238E27FC236}">
                <a16:creationId xmlns:a16="http://schemas.microsoft.com/office/drawing/2014/main" id="{D5E691A3-AC1C-4E13-7AC8-0339B00EE3FD}"/>
              </a:ext>
            </a:extLst>
          </p:cNvPr>
          <p:cNvSpPr txBox="1"/>
          <p:nvPr/>
        </p:nvSpPr>
        <p:spPr>
          <a:xfrm>
            <a:off x="558800" y="1651000"/>
            <a:ext cx="5334000" cy="307777"/>
          </a:xfrm>
          <a:prstGeom prst="rect">
            <a:avLst/>
          </a:prstGeom>
          <a:noFill/>
        </p:spPr>
        <p:txBody>
          <a:bodyPr vert="horz" wrap="square" lIns="0" tIns="0" rIns="0" bIns="0" rtlCol="0">
            <a:spAutoFit/>
          </a:bodyPr>
          <a:lstStyle/>
          <a:p>
            <a:r>
              <a:rPr lang="en-US" sz="2000" b="1">
                <a:solidFill>
                  <a:srgbClr val="172B41"/>
                </a:solidFill>
                <a:latin typeface="Arial" panose="020B0604020202020204" pitchFamily="34" charset="0"/>
              </a:rPr>
              <a:t>Tham chiếu hiện có</a:t>
            </a:r>
          </a:p>
        </p:txBody>
      </p:sp>
      <p:sp>
        <p:nvSpPr>
          <p:cNvPr id="7" name="TextBox 6">
            <a:extLst>
              <a:ext uri="{FF2B5EF4-FFF2-40B4-BE49-F238E27FC236}">
                <a16:creationId xmlns:a16="http://schemas.microsoft.com/office/drawing/2014/main" id="{3FC57700-DED4-945D-1222-A8CB58350A38}"/>
              </a:ext>
            </a:extLst>
          </p:cNvPr>
          <p:cNvSpPr txBox="1"/>
          <p:nvPr/>
        </p:nvSpPr>
        <p:spPr>
          <a:xfrm>
            <a:off x="6350000" y="1651000"/>
            <a:ext cx="5270500" cy="307777"/>
          </a:xfrm>
          <a:prstGeom prst="rect">
            <a:avLst/>
          </a:prstGeom>
          <a:noFill/>
        </p:spPr>
        <p:txBody>
          <a:bodyPr vert="horz" wrap="square" lIns="0" tIns="0" rIns="0" bIns="0" rtlCol="0">
            <a:spAutoFit/>
          </a:bodyPr>
          <a:lstStyle/>
          <a:p>
            <a:r>
              <a:rPr lang="vi-VN" sz="2000" b="1">
                <a:solidFill>
                  <a:srgbClr val="172B41"/>
                </a:solidFill>
                <a:latin typeface="Arial" panose="020B0604020202020204" pitchFamily="34" charset="0"/>
              </a:rPr>
              <a:t>Định hướng PBL tại Đà Nẵng</a:t>
            </a:r>
            <a:endParaRPr lang="en-US" sz="2000" b="1">
              <a:solidFill>
                <a:srgbClr val="172B41"/>
              </a:solidFill>
              <a:latin typeface="Arial" panose="020B0604020202020204" pitchFamily="34" charset="0"/>
            </a:endParaRPr>
          </a:p>
        </p:txBody>
      </p:sp>
      <p:sp>
        <p:nvSpPr>
          <p:cNvPr id="8" name="Rectangle 7">
            <a:extLst>
              <a:ext uri="{FF2B5EF4-FFF2-40B4-BE49-F238E27FC236}">
                <a16:creationId xmlns:a16="http://schemas.microsoft.com/office/drawing/2014/main" id="{4A07EBA0-97C5-DC1F-AFC5-209F76C2BC66}"/>
              </a:ext>
            </a:extLst>
          </p:cNvPr>
          <p:cNvSpPr/>
          <p:nvPr/>
        </p:nvSpPr>
        <p:spPr>
          <a:xfrm>
            <a:off x="6096000" y="1701800"/>
            <a:ext cx="12700" cy="31242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ACE57DE-EAE7-D69E-DF90-7A4B97618BF8}"/>
              </a:ext>
            </a:extLst>
          </p:cNvPr>
          <p:cNvSpPr txBox="1"/>
          <p:nvPr/>
        </p:nvSpPr>
        <p:spPr>
          <a:xfrm>
            <a:off x="558800" y="2159000"/>
            <a:ext cx="2057400" cy="261610"/>
          </a:xfrm>
          <a:prstGeom prst="rect">
            <a:avLst/>
          </a:prstGeom>
          <a:noFill/>
        </p:spPr>
        <p:txBody>
          <a:bodyPr vert="horz" wrap="square" lIns="0" tIns="0" rIns="0" bIns="0" rtlCol="0">
            <a:spAutoFit/>
          </a:bodyPr>
          <a:lstStyle/>
          <a:p>
            <a:r>
              <a:rPr lang="en-US" sz="1700" b="1">
                <a:solidFill>
                  <a:srgbClr val="007E87"/>
                </a:solidFill>
                <a:latin typeface="Arial" panose="020B0604020202020204" pitchFamily="34" charset="0"/>
              </a:rPr>
              <a:t>Đà Nẵng</a:t>
            </a:r>
          </a:p>
        </p:txBody>
      </p:sp>
      <p:sp>
        <p:nvSpPr>
          <p:cNvPr id="10" name="TextBox 9">
            <a:extLst>
              <a:ext uri="{FF2B5EF4-FFF2-40B4-BE49-F238E27FC236}">
                <a16:creationId xmlns:a16="http://schemas.microsoft.com/office/drawing/2014/main" id="{AB469CD3-B902-1C87-CFD7-C0CF63A84BFD}"/>
              </a:ext>
            </a:extLst>
          </p:cNvPr>
          <p:cNvSpPr txBox="1"/>
          <p:nvPr/>
        </p:nvSpPr>
        <p:spPr>
          <a:xfrm>
            <a:off x="2540000" y="2146300"/>
            <a:ext cx="3365500" cy="492443"/>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Smart City hiển thị mưa và điểm ngập đang ghi nhận.</a:t>
            </a:r>
            <a:endParaRPr lang="en-US" sz="1600">
              <a:solidFill>
                <a:srgbClr val="253543"/>
              </a:solidFill>
              <a:latin typeface="Arial" panose="020B0604020202020204" pitchFamily="34" charset="0"/>
            </a:endParaRPr>
          </a:p>
        </p:txBody>
      </p:sp>
      <p:sp>
        <p:nvSpPr>
          <p:cNvPr id="11" name="TextBox 10">
            <a:extLst>
              <a:ext uri="{FF2B5EF4-FFF2-40B4-BE49-F238E27FC236}">
                <a16:creationId xmlns:a16="http://schemas.microsoft.com/office/drawing/2014/main" id="{877E73A5-D715-BBD0-65A6-6171C730F9E5}"/>
              </a:ext>
            </a:extLst>
          </p:cNvPr>
          <p:cNvSpPr txBox="1"/>
          <p:nvPr/>
        </p:nvSpPr>
        <p:spPr>
          <a:xfrm>
            <a:off x="558800" y="2908300"/>
            <a:ext cx="2057400" cy="261610"/>
          </a:xfrm>
          <a:prstGeom prst="rect">
            <a:avLst/>
          </a:prstGeom>
          <a:noFill/>
        </p:spPr>
        <p:txBody>
          <a:bodyPr vert="horz" wrap="square" lIns="0" tIns="0" rIns="0" bIns="0" rtlCol="0">
            <a:spAutoFit/>
          </a:bodyPr>
          <a:lstStyle/>
          <a:p>
            <a:r>
              <a:rPr lang="en-US" sz="1700" b="1">
                <a:solidFill>
                  <a:srgbClr val="007E87"/>
                </a:solidFill>
                <a:latin typeface="Arial" panose="020B0604020202020204" pitchFamily="34" charset="0"/>
              </a:rPr>
              <a:t>Hồng Kông</a:t>
            </a:r>
          </a:p>
        </p:txBody>
      </p:sp>
      <p:sp>
        <p:nvSpPr>
          <p:cNvPr id="12" name="TextBox 11">
            <a:extLst>
              <a:ext uri="{FF2B5EF4-FFF2-40B4-BE49-F238E27FC236}">
                <a16:creationId xmlns:a16="http://schemas.microsoft.com/office/drawing/2014/main" id="{5AC3C555-F70B-D2CD-6893-189950F3BFC5}"/>
              </a:ext>
            </a:extLst>
          </p:cNvPr>
          <p:cNvSpPr txBox="1"/>
          <p:nvPr/>
        </p:nvSpPr>
        <p:spPr>
          <a:xfrm>
            <a:off x="2540000" y="2895600"/>
            <a:ext cx="3365500" cy="492443"/>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MyObservatory dự báo mưa theo vị trí trong 1–2 giờ.</a:t>
            </a:r>
            <a:endParaRPr lang="en-US" sz="1600">
              <a:solidFill>
                <a:srgbClr val="253543"/>
              </a:solidFill>
              <a:latin typeface="Arial" panose="020B0604020202020204" pitchFamily="34" charset="0"/>
            </a:endParaRPr>
          </a:p>
        </p:txBody>
      </p:sp>
      <p:sp>
        <p:nvSpPr>
          <p:cNvPr id="13" name="TextBox 12">
            <a:extLst>
              <a:ext uri="{FF2B5EF4-FFF2-40B4-BE49-F238E27FC236}">
                <a16:creationId xmlns:a16="http://schemas.microsoft.com/office/drawing/2014/main" id="{F29028C3-95EE-A0DA-46F1-5279DFF15088}"/>
              </a:ext>
            </a:extLst>
          </p:cNvPr>
          <p:cNvSpPr txBox="1"/>
          <p:nvPr/>
        </p:nvSpPr>
        <p:spPr>
          <a:xfrm>
            <a:off x="558800" y="3657600"/>
            <a:ext cx="2057400" cy="261610"/>
          </a:xfrm>
          <a:prstGeom prst="rect">
            <a:avLst/>
          </a:prstGeom>
          <a:noFill/>
        </p:spPr>
        <p:txBody>
          <a:bodyPr vert="horz" wrap="square" lIns="0" tIns="0" rIns="0" bIns="0" rtlCol="0">
            <a:spAutoFit/>
          </a:bodyPr>
          <a:lstStyle/>
          <a:p>
            <a:r>
              <a:rPr lang="en-US" sz="1700" b="1">
                <a:solidFill>
                  <a:srgbClr val="007E87"/>
                </a:solidFill>
                <a:latin typeface="Arial" panose="020B0604020202020204" pitchFamily="34" charset="0"/>
              </a:rPr>
              <a:t>Đài Loan</a:t>
            </a:r>
          </a:p>
        </p:txBody>
      </p:sp>
      <p:sp>
        <p:nvSpPr>
          <p:cNvPr id="14" name="TextBox 13">
            <a:extLst>
              <a:ext uri="{FF2B5EF4-FFF2-40B4-BE49-F238E27FC236}">
                <a16:creationId xmlns:a16="http://schemas.microsoft.com/office/drawing/2014/main" id="{E11D5569-6989-D0AE-E2AF-A02E6AEE79E3}"/>
              </a:ext>
            </a:extLst>
          </p:cNvPr>
          <p:cNvSpPr txBox="1"/>
          <p:nvPr/>
        </p:nvSpPr>
        <p:spPr>
          <a:xfrm>
            <a:off x="2540000" y="3644900"/>
            <a:ext cx="3365500" cy="492443"/>
          </a:xfrm>
          <a:prstGeom prst="rect">
            <a:avLst/>
          </a:prstGeom>
          <a:noFill/>
        </p:spPr>
        <p:txBody>
          <a:bodyPr vert="horz" wrap="square" lIns="0" tIns="0" rIns="0" bIns="0" rtlCol="0">
            <a:spAutoFit/>
          </a:bodyPr>
          <a:lstStyle/>
          <a:p>
            <a:r>
              <a:rPr lang="vi-VN" sz="1600">
                <a:solidFill>
                  <a:srgbClr val="253543"/>
                </a:solidFill>
                <a:latin typeface="Arial" panose="020B0604020202020204" pitchFamily="34" charset="0"/>
              </a:rPr>
              <a:t>CWA công bố lượng mưa theo khoảng 3 giờ khi mưa lớn.</a:t>
            </a:r>
            <a:endParaRPr lang="en-US" sz="1600">
              <a:solidFill>
                <a:srgbClr val="253543"/>
              </a:solidFill>
              <a:latin typeface="Arial" panose="020B0604020202020204" pitchFamily="34" charset="0"/>
            </a:endParaRPr>
          </a:p>
        </p:txBody>
      </p:sp>
      <p:sp>
        <p:nvSpPr>
          <p:cNvPr id="15" name="TextBox 14">
            <a:extLst>
              <a:ext uri="{FF2B5EF4-FFF2-40B4-BE49-F238E27FC236}">
                <a16:creationId xmlns:a16="http://schemas.microsoft.com/office/drawing/2014/main" id="{C2029DA6-F5E4-8A9F-4E47-4217E23977BB}"/>
              </a:ext>
            </a:extLst>
          </p:cNvPr>
          <p:cNvSpPr txBox="1"/>
          <p:nvPr/>
        </p:nvSpPr>
        <p:spPr>
          <a:xfrm>
            <a:off x="558800" y="4406900"/>
            <a:ext cx="2057400" cy="261610"/>
          </a:xfrm>
          <a:prstGeom prst="rect">
            <a:avLst/>
          </a:prstGeom>
          <a:noFill/>
        </p:spPr>
        <p:txBody>
          <a:bodyPr vert="horz" wrap="square" lIns="0" tIns="0" rIns="0" bIns="0" rtlCol="0">
            <a:spAutoFit/>
          </a:bodyPr>
          <a:lstStyle/>
          <a:p>
            <a:r>
              <a:rPr lang="en-US" sz="1700" b="1">
                <a:solidFill>
                  <a:srgbClr val="007E87"/>
                </a:solidFill>
                <a:latin typeface="Arial" panose="020B0604020202020204" pitchFamily="34" charset="0"/>
              </a:rPr>
              <a:t>WMO</a:t>
            </a:r>
          </a:p>
        </p:txBody>
      </p:sp>
      <p:sp>
        <p:nvSpPr>
          <p:cNvPr id="16" name="TextBox 15">
            <a:extLst>
              <a:ext uri="{FF2B5EF4-FFF2-40B4-BE49-F238E27FC236}">
                <a16:creationId xmlns:a16="http://schemas.microsoft.com/office/drawing/2014/main" id="{8EC89A72-B87C-DFB3-65D7-99B18F9AFCE2}"/>
              </a:ext>
            </a:extLst>
          </p:cNvPr>
          <p:cNvSpPr txBox="1"/>
          <p:nvPr/>
        </p:nvSpPr>
        <p:spPr>
          <a:xfrm>
            <a:off x="2540000" y="4394200"/>
            <a:ext cx="3365500" cy="492443"/>
          </a:xfrm>
          <a:prstGeom prst="rect">
            <a:avLst/>
          </a:prstGeom>
          <a:noFill/>
        </p:spPr>
        <p:txBody>
          <a:bodyPr vert="horz" wrap="square" lIns="0" tIns="0" rIns="0" bIns="0" rtlCol="0">
            <a:spAutoFit/>
          </a:bodyPr>
          <a:lstStyle/>
          <a:p>
            <a:r>
              <a:rPr lang="en-US" sz="1600">
                <a:solidFill>
                  <a:srgbClr val="253543"/>
                </a:solidFill>
                <a:latin typeface="Arial" panose="020B0604020202020204" pitchFamily="34" charset="0"/>
              </a:rPr>
              <a:t>Nowcasting thuộc khoảng 0–6 giờ tới.</a:t>
            </a:r>
          </a:p>
        </p:txBody>
      </p:sp>
      <p:sp>
        <p:nvSpPr>
          <p:cNvPr id="17" name="TextBox 16">
            <a:extLst>
              <a:ext uri="{FF2B5EF4-FFF2-40B4-BE49-F238E27FC236}">
                <a16:creationId xmlns:a16="http://schemas.microsoft.com/office/drawing/2014/main" id="{FA5BB04D-B372-E8A3-2B0C-262D4B165469}"/>
              </a:ext>
            </a:extLst>
          </p:cNvPr>
          <p:cNvSpPr txBox="1"/>
          <p:nvPr/>
        </p:nvSpPr>
        <p:spPr>
          <a:xfrm>
            <a:off x="6350000" y="2184400"/>
            <a:ext cx="4699000" cy="446276"/>
          </a:xfrm>
          <a:prstGeom prst="rect">
            <a:avLst/>
          </a:prstGeom>
          <a:noFill/>
        </p:spPr>
        <p:txBody>
          <a:bodyPr vert="horz" wrap="square" lIns="0" tIns="0" rIns="0" bIns="0" rtlCol="0">
            <a:spAutoFit/>
          </a:bodyPr>
          <a:lstStyle/>
          <a:p>
            <a:r>
              <a:rPr lang="en-US" sz="2900" b="1">
                <a:solidFill>
                  <a:srgbClr val="007E87"/>
                </a:solidFill>
                <a:latin typeface="Arial" panose="020B0604020202020204" pitchFamily="34" charset="0"/>
              </a:rPr>
              <a:t>1–6 giờ</a:t>
            </a:r>
          </a:p>
        </p:txBody>
      </p:sp>
      <p:sp>
        <p:nvSpPr>
          <p:cNvPr id="18" name="TextBox 17">
            <a:extLst>
              <a:ext uri="{FF2B5EF4-FFF2-40B4-BE49-F238E27FC236}">
                <a16:creationId xmlns:a16="http://schemas.microsoft.com/office/drawing/2014/main" id="{AA3B2B30-F110-049B-6D8E-88152C2D4EE4}"/>
              </a:ext>
            </a:extLst>
          </p:cNvPr>
          <p:cNvSpPr txBox="1"/>
          <p:nvPr/>
        </p:nvSpPr>
        <p:spPr>
          <a:xfrm>
            <a:off x="6350000" y="2794000"/>
            <a:ext cx="5143500" cy="26161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Dự báo theo ô lưới, cập nhật mỗi giờ.</a:t>
            </a:r>
            <a:endParaRPr lang="en-US" sz="1700">
              <a:solidFill>
                <a:srgbClr val="253543"/>
              </a:solidFill>
              <a:latin typeface="Arial" panose="020B0604020202020204" pitchFamily="34" charset="0"/>
            </a:endParaRPr>
          </a:p>
        </p:txBody>
      </p:sp>
      <p:sp>
        <p:nvSpPr>
          <p:cNvPr id="19" name="TextBox 18">
            <a:extLst>
              <a:ext uri="{FF2B5EF4-FFF2-40B4-BE49-F238E27FC236}">
                <a16:creationId xmlns:a16="http://schemas.microsoft.com/office/drawing/2014/main" id="{314203FC-B420-7FAC-FEC7-1AB0D9B79C67}"/>
              </a:ext>
            </a:extLst>
          </p:cNvPr>
          <p:cNvSpPr txBox="1"/>
          <p:nvPr/>
        </p:nvSpPr>
        <p:spPr>
          <a:xfrm>
            <a:off x="6350000" y="3556000"/>
            <a:ext cx="4953000" cy="400110"/>
          </a:xfrm>
          <a:prstGeom prst="rect">
            <a:avLst/>
          </a:prstGeom>
          <a:noFill/>
        </p:spPr>
        <p:txBody>
          <a:bodyPr vert="horz" wrap="square" lIns="0" tIns="0" rIns="0" bIns="0" rtlCol="0">
            <a:spAutoFit/>
          </a:bodyPr>
          <a:lstStyle/>
          <a:p>
            <a:r>
              <a:rPr lang="en-US" sz="2600" b="1">
                <a:solidFill>
                  <a:srgbClr val="172B41"/>
                </a:solidFill>
                <a:latin typeface="Arial" panose="020B0604020202020204" pitchFamily="34" charset="0"/>
              </a:rPr>
              <a:t>3 giờ đầu</a:t>
            </a:r>
          </a:p>
        </p:txBody>
      </p:sp>
      <p:sp>
        <p:nvSpPr>
          <p:cNvPr id="20" name="TextBox 19">
            <a:extLst>
              <a:ext uri="{FF2B5EF4-FFF2-40B4-BE49-F238E27FC236}">
                <a16:creationId xmlns:a16="http://schemas.microsoft.com/office/drawing/2014/main" id="{0FD94711-8B10-F330-660A-E4807C095CC9}"/>
              </a:ext>
            </a:extLst>
          </p:cNvPr>
          <p:cNvSpPr txBox="1"/>
          <p:nvPr/>
        </p:nvSpPr>
        <p:spPr>
          <a:xfrm>
            <a:off x="6350000" y="4140200"/>
            <a:ext cx="5156200" cy="523220"/>
          </a:xfrm>
          <a:prstGeom prst="rect">
            <a:avLst/>
          </a:prstGeom>
          <a:noFill/>
        </p:spPr>
        <p:txBody>
          <a:bodyPr vert="horz" wrap="square" lIns="0" tIns="0" rIns="0" bIns="0" rtlCol="0">
            <a:spAutoFit/>
          </a:bodyPr>
          <a:lstStyle/>
          <a:p>
            <a:r>
              <a:rPr lang="vi-VN" sz="1700">
                <a:solidFill>
                  <a:srgbClr val="253543"/>
                </a:solidFill>
                <a:latin typeface="Arial" panose="020B0604020202020204" pitchFamily="34" charset="0"/>
              </a:rPr>
              <a:t>Ưu tiên kiểm chứng tổng mưa 3 giờ và xác suất mưa mạnh.</a:t>
            </a:r>
            <a:endParaRPr lang="en-US" sz="1700">
              <a:solidFill>
                <a:srgbClr val="253543"/>
              </a:solidFill>
              <a:latin typeface="Arial" panose="020B0604020202020204" pitchFamily="34" charset="0"/>
            </a:endParaRPr>
          </a:p>
        </p:txBody>
      </p:sp>
      <p:sp>
        <p:nvSpPr>
          <p:cNvPr id="21" name="Rectangle 20">
            <a:extLst>
              <a:ext uri="{FF2B5EF4-FFF2-40B4-BE49-F238E27FC236}">
                <a16:creationId xmlns:a16="http://schemas.microsoft.com/office/drawing/2014/main" id="{4CD1CCCE-7985-4FE8-435F-4E8A9A35E930}"/>
              </a:ext>
            </a:extLst>
          </p:cNvPr>
          <p:cNvSpPr/>
          <p:nvPr/>
        </p:nvSpPr>
        <p:spPr>
          <a:xfrm>
            <a:off x="558800" y="50673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862883C-0556-AE81-C826-803BA5DFA78D}"/>
              </a:ext>
            </a:extLst>
          </p:cNvPr>
          <p:cNvSpPr txBox="1"/>
          <p:nvPr/>
        </p:nvSpPr>
        <p:spPr>
          <a:xfrm>
            <a:off x="558800" y="5207000"/>
            <a:ext cx="11074400" cy="246221"/>
          </a:xfrm>
          <a:prstGeom prst="rect">
            <a:avLst/>
          </a:prstGeom>
          <a:noFill/>
        </p:spPr>
        <p:txBody>
          <a:bodyPr vert="horz" wrap="square" lIns="0" tIns="0" rIns="0" bIns="0" rtlCol="0">
            <a:spAutoFit/>
          </a:bodyPr>
          <a:lstStyle/>
          <a:p>
            <a:r>
              <a:rPr lang="vi-VN" sz="1600" b="1">
                <a:solidFill>
                  <a:srgbClr val="DC772F"/>
                </a:solidFill>
                <a:latin typeface="Arial" panose="020B0604020202020204" pitchFamily="34" charset="0"/>
              </a:rPr>
              <a:t>Mốc 3 giờ là lựa chọn thử nghiệm. Nhóm chưa khảo sát để biết người dùng cần nhất mốc 1, 3 hay 6 giờ.</a:t>
            </a:r>
            <a:endParaRPr lang="en-US" sz="1600" b="1">
              <a:solidFill>
                <a:srgbClr val="DC772F"/>
              </a:solidFill>
              <a:latin typeface="Arial" panose="020B0604020202020204" pitchFamily="34" charset="0"/>
            </a:endParaRPr>
          </a:p>
        </p:txBody>
      </p:sp>
      <p:sp>
        <p:nvSpPr>
          <p:cNvPr id="23" name="Rectangle 22">
            <a:extLst>
              <a:ext uri="{FF2B5EF4-FFF2-40B4-BE49-F238E27FC236}">
                <a16:creationId xmlns:a16="http://schemas.microsoft.com/office/drawing/2014/main" id="{8D625C32-DEE1-5E01-1A2F-BB4A05E348C9}"/>
              </a:ext>
            </a:extLst>
          </p:cNvPr>
          <p:cNvSpPr/>
          <p:nvPr/>
        </p:nvSpPr>
        <p:spPr>
          <a:xfrm>
            <a:off x="558800" y="5880100"/>
            <a:ext cx="11074400" cy="12700"/>
          </a:xfrm>
          <a:prstGeom prst="rect">
            <a:avLst/>
          </a:prstGeom>
          <a:solidFill>
            <a:srgbClr val="D3D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D0833EF-8043-6441-A065-54177D8B7DD8}"/>
              </a:ext>
            </a:extLst>
          </p:cNvPr>
          <p:cNvSpPr txBox="1"/>
          <p:nvPr/>
        </p:nvSpPr>
        <p:spPr>
          <a:xfrm>
            <a:off x="558800" y="6032500"/>
            <a:ext cx="1778000" cy="169277"/>
          </a:xfrm>
          <a:prstGeom prst="rect">
            <a:avLst/>
          </a:prstGeom>
          <a:noFill/>
        </p:spPr>
        <p:txBody>
          <a:bodyPr vert="horz" wrap="square" lIns="0" tIns="0" rIns="0" bIns="0" rtlCol="0">
            <a:spAutoFit/>
          </a:bodyPr>
          <a:lstStyle/>
          <a:p>
            <a:r>
              <a:rPr lang="en-US" sz="1100" b="1">
                <a:solidFill>
                  <a:srgbClr val="007E87"/>
                </a:solidFill>
                <a:latin typeface="Arial" panose="020B0604020202020204" pitchFamily="34" charset="0"/>
              </a:rPr>
              <a:t>ĐỀ TÀI GỒM</a:t>
            </a:r>
          </a:p>
        </p:txBody>
      </p:sp>
      <p:sp>
        <p:nvSpPr>
          <p:cNvPr id="25" name="TextBox 24">
            <a:extLst>
              <a:ext uri="{FF2B5EF4-FFF2-40B4-BE49-F238E27FC236}">
                <a16:creationId xmlns:a16="http://schemas.microsoft.com/office/drawing/2014/main" id="{7155DC8F-5E2E-F5EF-507C-CB05B3F927A4}"/>
              </a:ext>
            </a:extLst>
          </p:cNvPr>
          <p:cNvSpPr txBox="1"/>
          <p:nvPr/>
        </p:nvSpPr>
        <p:spPr>
          <a:xfrm>
            <a:off x="2133600" y="6019800"/>
            <a:ext cx="2844800" cy="230832"/>
          </a:xfrm>
          <a:prstGeom prst="rect">
            <a:avLst/>
          </a:prstGeom>
          <a:noFill/>
        </p:spPr>
        <p:txBody>
          <a:bodyPr vert="horz" wrap="square" lIns="0" tIns="0" rIns="0" bIns="0" rtlCol="0">
            <a:spAutoFit/>
          </a:bodyPr>
          <a:lstStyle/>
          <a:p>
            <a:r>
              <a:rPr lang="en-US" sz="1500">
                <a:solidFill>
                  <a:srgbClr val="253543"/>
                </a:solidFill>
                <a:latin typeface="Arial" panose="020B0604020202020204" pitchFamily="34" charset="0"/>
              </a:rPr>
              <a:t>Dữ liệu GSMaP + ECMWF</a:t>
            </a:r>
          </a:p>
        </p:txBody>
      </p:sp>
      <p:sp>
        <p:nvSpPr>
          <p:cNvPr id="26" name="TextBox 25">
            <a:extLst>
              <a:ext uri="{FF2B5EF4-FFF2-40B4-BE49-F238E27FC236}">
                <a16:creationId xmlns:a16="http://schemas.microsoft.com/office/drawing/2014/main" id="{2C5864A9-C417-54E0-19E4-72E508B58D8E}"/>
              </a:ext>
            </a:extLst>
          </p:cNvPr>
          <p:cNvSpPr txBox="1"/>
          <p:nvPr/>
        </p:nvSpPr>
        <p:spPr>
          <a:xfrm>
            <a:off x="5105400" y="6019800"/>
            <a:ext cx="3594100" cy="430887"/>
          </a:xfrm>
          <a:prstGeom prst="rect">
            <a:avLst/>
          </a:prstGeom>
          <a:noFill/>
        </p:spPr>
        <p:txBody>
          <a:bodyPr vert="horz" wrap="square" lIns="0" tIns="0" rIns="0" bIns="0" rtlCol="0">
            <a:spAutoFit/>
          </a:bodyPr>
          <a:lstStyle/>
          <a:p>
            <a:r>
              <a:rPr lang="vi-VN" sz="1400">
                <a:solidFill>
                  <a:srgbClr val="253543"/>
                </a:solidFill>
                <a:latin typeface="Arial" panose="020B0604020202020204" pitchFamily="34" charset="0"/>
              </a:rPr>
              <a:t>So mô hình, đặc trưng vùng; đánh giá cùng mẫu</a:t>
            </a:r>
            <a:endParaRPr lang="en-US" sz="1400">
              <a:solidFill>
                <a:srgbClr val="253543"/>
              </a:solidFill>
              <a:latin typeface="Arial" panose="020B0604020202020204" pitchFamily="34" charset="0"/>
            </a:endParaRPr>
          </a:p>
        </p:txBody>
      </p:sp>
      <p:sp>
        <p:nvSpPr>
          <p:cNvPr id="27" name="TextBox 26">
            <a:extLst>
              <a:ext uri="{FF2B5EF4-FFF2-40B4-BE49-F238E27FC236}">
                <a16:creationId xmlns:a16="http://schemas.microsoft.com/office/drawing/2014/main" id="{B9D679C4-1C77-D940-5A86-828577D86716}"/>
              </a:ext>
            </a:extLst>
          </p:cNvPr>
          <p:cNvSpPr txBox="1"/>
          <p:nvPr/>
        </p:nvSpPr>
        <p:spPr>
          <a:xfrm>
            <a:off x="8839200" y="6019800"/>
            <a:ext cx="2794000" cy="430887"/>
          </a:xfrm>
          <a:prstGeom prst="rect">
            <a:avLst/>
          </a:prstGeom>
          <a:noFill/>
        </p:spPr>
        <p:txBody>
          <a:bodyPr vert="horz" wrap="square" lIns="0" tIns="0" rIns="0" bIns="0" rtlCol="0">
            <a:spAutoFit/>
          </a:bodyPr>
          <a:lstStyle/>
          <a:p>
            <a:r>
              <a:rPr lang="vi-VN" sz="1400">
                <a:solidFill>
                  <a:srgbClr val="253543"/>
                </a:solidFill>
                <a:latin typeface="Arial" panose="020B0604020202020204" pitchFamily="34" charset="0"/>
              </a:rPr>
              <a:t>App mưa 3h, xác suất và độ mới dữ liệu</a:t>
            </a:r>
            <a:endParaRPr lang="en-US" sz="1400">
              <a:solidFill>
                <a:srgbClr val="253543"/>
              </a:solidFill>
              <a:latin typeface="Arial" panose="020B0604020202020204" pitchFamily="34" charset="0"/>
            </a:endParaRPr>
          </a:p>
        </p:txBody>
      </p:sp>
      <p:sp>
        <p:nvSpPr>
          <p:cNvPr id="28" name="TextBox 27">
            <a:extLst>
              <a:ext uri="{FF2B5EF4-FFF2-40B4-BE49-F238E27FC236}">
                <a16:creationId xmlns:a16="http://schemas.microsoft.com/office/drawing/2014/main" id="{808C706B-6BDB-FE0A-7028-E73F328D8B59}"/>
              </a:ext>
            </a:extLst>
          </p:cNvPr>
          <p:cNvSpPr txBox="1"/>
          <p:nvPr/>
        </p:nvSpPr>
        <p:spPr>
          <a:xfrm>
            <a:off x="558800" y="6591300"/>
            <a:ext cx="11074400" cy="153888"/>
          </a:xfrm>
          <a:prstGeom prst="rect">
            <a:avLst/>
          </a:prstGeom>
          <a:noFill/>
        </p:spPr>
        <p:txBody>
          <a:bodyPr vert="horz" wrap="square" lIns="0" tIns="0" rIns="0" bIns="0" rtlCol="0">
            <a:spAutoFit/>
          </a:bodyPr>
          <a:lstStyle/>
          <a:p>
            <a:r>
              <a:rPr lang="en-US" sz="1000">
                <a:solidFill>
                  <a:srgbClr val="5D6F7E"/>
                </a:solidFill>
                <a:latin typeface="Arial" panose="020B0604020202020204" pitchFamily="34" charset="0"/>
              </a:rPr>
              <a:t>Nguồn: Danang Smart City, HKO, CWA, WMO (liên kết trong ghi chú).</a:t>
            </a:r>
          </a:p>
        </p:txBody>
      </p:sp>
    </p:spTree>
    <p:extLst>
      <p:ext uri="{BB962C8B-B14F-4D97-AF65-F5344CB8AC3E}">
        <p14:creationId xmlns:p14="http://schemas.microsoft.com/office/powerpoint/2010/main" val="3572270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571</Words>
  <Application>Microsoft Office PowerPoint</Application>
  <PresentationFormat>Custom</PresentationFormat>
  <Paragraphs>24</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Thanh Hoang</dc:creator>
  <cp:lastModifiedBy>Thanh Hoang</cp:lastModifiedBy>
  <cp:revision>1</cp:revision>
  <dcterms:created xsi:type="dcterms:W3CDTF">2026-10-14T00:17:26Z</dcterms:created>
  <dcterms:modified xsi:type="dcterms:W3CDTF">2026-10-14T00:17:26Z</dcterms:modified>
</cp:coreProperties>
</file>