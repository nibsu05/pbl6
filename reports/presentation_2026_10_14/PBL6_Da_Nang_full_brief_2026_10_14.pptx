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4" r:id="rId4"/>
    <p:sldId id="265" r:id="rId5"/>
    <p:sldId id="258" r:id="rId6"/>
    <p:sldId id="266" r:id="rId7"/>
    <p:sldId id="259" r:id="rId8"/>
    <p:sldId id="260" r:id="rId9"/>
    <p:sldId id="261" r:id="rId10"/>
    <p:sldId id="267"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C206F-E916-48AE-9A70-01DBF1CA6AA4}"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E86FC0-9A80-4463-9BD5-8E9210C83EFC}" type="slidenum">
              <a:rPr lang="en-US" smtClean="0"/>
              <a:t>‹#›</a:t>
            </a:fld>
            <a:endParaRPr lang="en-US"/>
          </a:p>
        </p:txBody>
      </p:sp>
    </p:spTree>
    <p:extLst>
      <p:ext uri="{BB962C8B-B14F-4D97-AF65-F5344CB8AC3E}">
        <p14:creationId xmlns:p14="http://schemas.microsoft.com/office/powerpoint/2010/main" val="1790247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tiến độ nghiên cứu và demo hồi cứu, chưa phải dự báo AI trực tiếp hay sản phẩm cảnh báo ngập.</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1</a:t>
            </a:fld>
            <a:endParaRPr lang="en-US"/>
          </a:p>
        </p:txBody>
      </p:sp>
    </p:spTree>
    <p:extLst>
      <p:ext uri="{BB962C8B-B14F-4D97-AF65-F5344CB8AC3E}">
        <p14:creationId xmlns:p14="http://schemas.microsoft.com/office/powerpoint/2010/main" val="1909673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Nguồn: https://tralien.danang.gov.vn/chuyen-doi-so/cac-tinh-nang-ho-tro-ung-pho-thien-tai-tren-ung-dung-danang-smart-city-324820 ; https://hdnd.danang.gov.vn/chi-tiet-tin/group/157/nid/23678/som-cong-khai-ban-do-ngap-lut-cua-thanh-pho-da-nang ; https://public.wmo.int/resources/wmo-bulletin/wmo-bulletin-vol-71-1-2022/communicating-life-saving-action-enhancing-messaging-early-warnings-systems ; reports/research_rainfall/user_needs_desk_review_2026_10_14.md. Nhu cầu sản phẩm là giả thuyết từ tài liệu, không phải kết quả khảo sát.</a:t>
            </a:r>
          </a:p>
        </p:txBody>
      </p:sp>
      <p:sp>
        <p:nvSpPr>
          <p:cNvPr id="4" name="Slide Number Placeholder 3"/>
          <p:cNvSpPr>
            <a:spLocks noGrp="1"/>
          </p:cNvSpPr>
          <p:nvPr>
            <p:ph type="sldNum" sz="quarter" idx="5"/>
          </p:nvPr>
        </p:nvSpPr>
        <p:spPr/>
        <p:txBody>
          <a:bodyPr/>
          <a:lstStyle/>
          <a:p>
            <a:fld id="{ADE86FC0-9A80-4463-9BD5-8E9210C83EFC}" type="slidenum">
              <a:rPr lang="en-US" smtClean="0"/>
              <a:t>2</a:t>
            </a:fld>
            <a:endParaRPr lang="en-US"/>
          </a:p>
        </p:txBody>
      </p:sp>
    </p:spTree>
    <p:extLst>
      <p:ext uri="{BB962C8B-B14F-4D97-AF65-F5344CB8AC3E}">
        <p14:creationId xmlns:p14="http://schemas.microsoft.com/office/powerpoint/2010/main" val="1451986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Nói: Bài toán không chỉ là tăng điểm mô hình. Nhóm dự kiến phát hành dự báo mưa mỗi giờ trong 1–6 giờ tới theo 93 ô lưới Đà Nẵng. Người dùng thấy tổng mưa 3 giờ và xác suất, nhưng lưới khoảng 10–11 km không cho biết một con đường sẽ ngập. Ba câu hỏi nghiên cứu là nhãn, lợi ích của thiết kế mô hình/đặc trưng, và khả năng chạy đúng giờ. Sản phẩm TFT 1–3 ngày làm sau. Nguồn nội bộ: CLAUDE.md, KE_HOACH_DU_AN.md mục 2, project_plan_v2.md.</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3</a:t>
            </a:fld>
            <a:endParaRPr lang="en-US"/>
          </a:p>
        </p:txBody>
      </p:sp>
    </p:spTree>
    <p:extLst>
      <p:ext uri="{BB962C8B-B14F-4D97-AF65-F5344CB8AC3E}">
        <p14:creationId xmlns:p14="http://schemas.microsoft.com/office/powerpoint/2010/main" val="33743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Nói: Cần phân biệt nhãn, đầu vào và đối chứng. GSMaP GC là mưa lịch sử làm đích học, còn GSMaP raw/NRT là quan trắc gần thời gian thực dùng lúc phát hành. ERA5 là dữ liệu hồi cứu, không thể giả vờ đã có tại thời điểm dự báo. ECMWF IFS là bản dự báo từ trước giờ đích, dùng cả đầu vào và đối chứng. Trạm GSOD giúp audit nhãn nhưng không phải tập trạm giờ độc lập. Nguồn: CLAUDE.md, project_plan_v2.md mục 0/1/4, reports/station_benchmark/README.md. Chưa hoàn tất T-OPS thay ERA5 bằng đầu vào phát hành thật.</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4</a:t>
            </a:fld>
            <a:endParaRPr lang="en-US"/>
          </a:p>
        </p:txBody>
      </p:sp>
    </p:spTree>
    <p:extLst>
      <p:ext uri="{BB962C8B-B14F-4D97-AF65-F5344CB8AC3E}">
        <p14:creationId xmlns:p14="http://schemas.microsoft.com/office/powerpoint/2010/main" val="665266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Nguồn nội bộ: reports/station_benchmark/README.md ; reports/domain_screen_danang/README.md ; reports/research_rainfall/slide_content_2026_10_14.md. CSI là Critical Success Index. Đối chiếu GC với GSOD có rủi ro trùng nguồn hiệu chỉnh gauge.</a:t>
            </a:r>
          </a:p>
        </p:txBody>
      </p:sp>
      <p:sp>
        <p:nvSpPr>
          <p:cNvPr id="4" name="Slide Number Placeholder 3"/>
          <p:cNvSpPr>
            <a:spLocks noGrp="1"/>
          </p:cNvSpPr>
          <p:nvPr>
            <p:ph type="sldNum" sz="quarter" idx="5"/>
          </p:nvPr>
        </p:nvSpPr>
        <p:spPr/>
        <p:txBody>
          <a:bodyPr/>
          <a:lstStyle/>
          <a:p>
            <a:fld id="{ADE86FC0-9A80-4463-9BD5-8E9210C83EFC}" type="slidenum">
              <a:rPr lang="en-US" smtClean="0"/>
              <a:t>5</a:t>
            </a:fld>
            <a:endParaRPr lang="en-US"/>
          </a:p>
        </p:txBody>
      </p:sp>
    </p:spTree>
    <p:extLst>
      <p:ext uri="{BB962C8B-B14F-4D97-AF65-F5344CB8AC3E}">
        <p14:creationId xmlns:p14="http://schemas.microsoft.com/office/powerpoint/2010/main" val="2146688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Nói: Để không nhầm hiệu quả mô hình với khác biệt dữ liệu, nhóm giữ 30 ô, cùng thời điểm, cùng nhãn, ba năm validation, ba seed; chọn tham số ở năm calibration trước khi chấm. LightGBM là mức sàn mạnh, Bi-LSTM đọc chuỗi; RAW so DOMAIN hỏi giá trị biểu diễn vật lý địa phương. Tweedie là hàm mất mát phù hợp hơn với mưa có nhiều số 0 và đuôi lớn. RMSE là sai số lượng mưa, CSI đo khả năng phát hiện mưa vượt ngưỡng, BSS đo xác suất so khí hậu. Test 2025 chưa mở. Nguồn: reports/domain_screen_danang/README.md, reports/followup_danang/amount/README.md, reports/followup_danang/bilstm_tweedie/README.md.</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6</a:t>
            </a:fld>
            <a:endParaRPr lang="en-US"/>
          </a:p>
        </p:txBody>
      </p:sp>
    </p:spTree>
    <p:extLst>
      <p:ext uri="{BB962C8B-B14F-4D97-AF65-F5344CB8AC3E}">
        <p14:creationId xmlns:p14="http://schemas.microsoft.com/office/powerpoint/2010/main" val="490876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Nguồn: reports/followup_danang/amount/paired_bootstrap.json ; reports/followup_danang/bilstm_tweedie/paired_bootstrap.json ; reports/research_rainfall/slide_content_2026_10_14.md. So cùng sample/fold trong từng họ mô hình. Không suy ra xác suất cải thiện đồng đều.</a:t>
            </a:r>
          </a:p>
        </p:txBody>
      </p:sp>
      <p:sp>
        <p:nvSpPr>
          <p:cNvPr id="4" name="Slide Number Placeholder 3"/>
          <p:cNvSpPr>
            <a:spLocks noGrp="1"/>
          </p:cNvSpPr>
          <p:nvPr>
            <p:ph type="sldNum" sz="quarter" idx="5"/>
          </p:nvPr>
        </p:nvSpPr>
        <p:spPr/>
        <p:txBody>
          <a:bodyPr/>
          <a:lstStyle/>
          <a:p>
            <a:fld id="{ADE86FC0-9A80-4463-9BD5-8E9210C83EFC}" type="slidenum">
              <a:rPr lang="en-US" smtClean="0"/>
              <a:t>7</a:t>
            </a:fld>
            <a:endParaRPr lang="en-US"/>
          </a:p>
        </p:txBody>
      </p:sp>
    </p:spTree>
    <p:extLst>
      <p:ext uri="{BB962C8B-B14F-4D97-AF65-F5344CB8AC3E}">
        <p14:creationId xmlns:p14="http://schemas.microsoft.com/office/powerpoint/2010/main" val="2040203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reports/domain_screen_danang/README.md ; reports/domain_screen_danang/domain_effect_ci.png ; reports/domain_screen_danang/regime_event_rates.png. Tỷ lệ gió chỉ mô tả dữ liệu; không là quan hệ nhân quả. DOMAIN CSI tăng mô tả nhưng CI bootstrap từng năm chứa 0.</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8</a:t>
            </a:fld>
            <a:endParaRPr lang="en-US"/>
          </a:p>
        </p:txBody>
      </p:sp>
    </p:spTree>
    <p:extLst>
      <p:ext uri="{BB962C8B-B14F-4D97-AF65-F5344CB8AC3E}">
        <p14:creationId xmlns:p14="http://schemas.microsoft.com/office/powerpoint/2010/main" val="2258104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Nguồn: reports/followup_danang/jaxa_live_first_detection.json ; reports/followup_danang/bilstm_tweedie_lag5/README.md ; reports/research_rainfall/slide_content_2026_10_14.md. Một file watcher không đại diện latency điển hình. Demo archive không đồng nghĩa AI live. Lag5 retrain trên cùng 30 cell/3 fold/3 seed; không phải đánh giá app trực tiếp.</a:t>
            </a:r>
          </a:p>
        </p:txBody>
      </p:sp>
      <p:sp>
        <p:nvSpPr>
          <p:cNvPr id="4" name="Slide Number Placeholder 3"/>
          <p:cNvSpPr>
            <a:spLocks noGrp="1"/>
          </p:cNvSpPr>
          <p:nvPr>
            <p:ph type="sldNum" sz="quarter" idx="5"/>
          </p:nvPr>
        </p:nvSpPr>
        <p:spPr/>
        <p:txBody>
          <a:bodyPr/>
          <a:lstStyle/>
          <a:p>
            <a:fld id="{ADE86FC0-9A80-4463-9BD5-8E9210C83EFC}" type="slidenum">
              <a:rPr lang="en-US" smtClean="0"/>
              <a:t>9</a:t>
            </a:fld>
            <a:endParaRPr lang="en-US"/>
          </a:p>
        </p:txBody>
      </p:sp>
    </p:spTree>
    <p:extLst>
      <p:ext uri="{BB962C8B-B14F-4D97-AF65-F5344CB8AC3E}">
        <p14:creationId xmlns:p14="http://schemas.microsoft.com/office/powerpoint/2010/main" val="2153153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Nói: Demo hôm nay chạy từ checkpoint thật và đã đối chiếu 36 trường hợp suy luận qua API, nhưng là dữ liệu archive. Để chạy live phải ghi giờ file JAXA đến liên tục, kiểm tra NRT có đủ cửa sổ và forecast ECMWF sẵn trước issue, chấm T-OPS cùng mẫu, rồi mới chọn checkpoint. Nếu thiếu nguồn, app cần thông báo trạng thái và dùng forecast nguồn đã kiểm chứ không bịa dự báo AI. Nguồn: reports/followup_danang/nrt_latency_sensitivity.json; reports/followup_danang/jaxa_live_first_detection.json; demo/domain_api.py; CLAUDE.md.</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10</a:t>
            </a:fld>
            <a:endParaRPr lang="en-US"/>
          </a:p>
        </p:txBody>
      </p:sp>
    </p:spTree>
    <p:extLst>
      <p:ext uri="{BB962C8B-B14F-4D97-AF65-F5344CB8AC3E}">
        <p14:creationId xmlns:p14="http://schemas.microsoft.com/office/powerpoint/2010/main" val="1675589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Kế hoạch: reports/research_rainfall/execution_plan.md ; reports/research_rainfall/slide_content_2026_10_14.md. User interviews và T-OPS chưa hoàn tất; đây là bước tiếp theo, không phải kết quả đã có.</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11</a:t>
            </a:fld>
            <a:endParaRPr lang="en-US"/>
          </a:p>
        </p:txBody>
      </p:sp>
    </p:spTree>
    <p:extLst>
      <p:ext uri="{BB962C8B-B14F-4D97-AF65-F5344CB8AC3E}">
        <p14:creationId xmlns:p14="http://schemas.microsoft.com/office/powerpoint/2010/main" val="3320345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reports/research_rainfall/ecmwf_pilot_14d/README.md. ECMWF IFS là forecast trước giờ đích, khác ERA5 reanalysis. Open-Meteo là bước trung gian nội suy/giải tổng, không native GRIB. Historical available_at chưa được xác minh đầy đủ. Không tuyên bố AI vượt ECMWF.</a:t>
            </a:r>
            <a:endParaRPr lang="en-US"/>
          </a:p>
        </p:txBody>
      </p:sp>
      <p:sp>
        <p:nvSpPr>
          <p:cNvPr id="4" name="Slide Number Placeholder 3"/>
          <p:cNvSpPr>
            <a:spLocks noGrp="1"/>
          </p:cNvSpPr>
          <p:nvPr>
            <p:ph type="sldNum" sz="quarter" idx="5"/>
          </p:nvPr>
        </p:nvSpPr>
        <p:spPr/>
        <p:txBody>
          <a:bodyPr/>
          <a:lstStyle/>
          <a:p>
            <a:fld id="{ADE86FC0-9A80-4463-9BD5-8E9210C83EFC}" type="slidenum">
              <a:rPr lang="en-US" smtClean="0"/>
              <a:t>12</a:t>
            </a:fld>
            <a:endParaRPr lang="en-US"/>
          </a:p>
        </p:txBody>
      </p:sp>
    </p:spTree>
    <p:extLst>
      <p:ext uri="{BB962C8B-B14F-4D97-AF65-F5344CB8AC3E}">
        <p14:creationId xmlns:p14="http://schemas.microsoft.com/office/powerpoint/2010/main" val="333975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28F68-116F-1654-D16B-9FFF0A5927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E2B8D-C3F9-8C05-C412-1559E0B4C2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E06321-9AB1-5AE6-F2C3-5B4342C55AF1}"/>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5" name="Footer Placeholder 4">
            <a:extLst>
              <a:ext uri="{FF2B5EF4-FFF2-40B4-BE49-F238E27FC236}">
                <a16:creationId xmlns:a16="http://schemas.microsoft.com/office/drawing/2014/main" id="{CC4A4918-DEDE-7938-DC1B-DE9F8B4A84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7DEFE-B732-19E2-D28F-3C37293E6058}"/>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292902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FBA0A-620A-4398-6AA4-E9DA88D015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73B10-1054-AF8A-F925-21E2B8C5FD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F95339-C08A-2ED1-9C25-AE99A4341EF1}"/>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5" name="Footer Placeholder 4">
            <a:extLst>
              <a:ext uri="{FF2B5EF4-FFF2-40B4-BE49-F238E27FC236}">
                <a16:creationId xmlns:a16="http://schemas.microsoft.com/office/drawing/2014/main" id="{59DFBA3E-DF3E-4217-9E86-CD3345883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7C0A6-3CA9-1D7D-4A10-B17B243F489E}"/>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139756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06304-9B7B-69C6-C908-FAB3988B8D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03BBD2-0812-8029-8CF6-F8B83C33AC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287567-2BF4-5E59-574F-684E3A2DF723}"/>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5" name="Footer Placeholder 4">
            <a:extLst>
              <a:ext uri="{FF2B5EF4-FFF2-40B4-BE49-F238E27FC236}">
                <a16:creationId xmlns:a16="http://schemas.microsoft.com/office/drawing/2014/main" id="{783AD562-6828-D778-FCF2-A83A60C47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A1B1F2-33FA-4840-FF65-0B865301F4A3}"/>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1244361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C103-8F2B-44E6-8DA8-A115A93745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EACA94-56AA-25FD-9D16-0C31455D91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0A97F9-4C29-8BEE-4329-4F0D231891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BCC351-1AAB-0A35-CFA8-479970FBBA69}"/>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6" name="Footer Placeholder 5">
            <a:extLst>
              <a:ext uri="{FF2B5EF4-FFF2-40B4-BE49-F238E27FC236}">
                <a16:creationId xmlns:a16="http://schemas.microsoft.com/office/drawing/2014/main" id="{D8C14A61-C03B-6EFF-CB0B-154B92DF8A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3B63EB-0769-AB27-2030-4DE94AC3FCBA}"/>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2496812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45CA-2942-F744-6900-0BD370C7C0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C2CC13-D8AB-A7D4-BA92-76021725FB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2021E2-256C-015B-41AE-9683FEBA12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0B1EAA-7910-B244-81AF-33FECF3BC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6969CF-D929-A6D4-D094-7BA6337C99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816A66-E363-D40E-013D-BBB151C533BE}"/>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8" name="Footer Placeholder 7">
            <a:extLst>
              <a:ext uri="{FF2B5EF4-FFF2-40B4-BE49-F238E27FC236}">
                <a16:creationId xmlns:a16="http://schemas.microsoft.com/office/drawing/2014/main" id="{51BA1EFC-1D8D-EA8A-12C5-DE0F339B7B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D518E6-9595-1E5F-776A-D30FA525FC5C}"/>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1716352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77AF0-D780-631B-CD69-837E84B050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415F89-A326-B25D-DE8B-60EE15A9AF78}"/>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4" name="Footer Placeholder 3">
            <a:extLst>
              <a:ext uri="{FF2B5EF4-FFF2-40B4-BE49-F238E27FC236}">
                <a16:creationId xmlns:a16="http://schemas.microsoft.com/office/drawing/2014/main" id="{BF1AA8BD-D53E-6F13-EF42-0715206D8C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E97730-3243-B413-3ADC-1F8570909338}"/>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1295487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7FCEF9-E839-F485-916D-D8532B283245}"/>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3" name="Footer Placeholder 2">
            <a:extLst>
              <a:ext uri="{FF2B5EF4-FFF2-40B4-BE49-F238E27FC236}">
                <a16:creationId xmlns:a16="http://schemas.microsoft.com/office/drawing/2014/main" id="{194AEAEB-D327-5FC0-A112-37F14C9F1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BAC6D-3FB7-2446-644B-F0D7B2A7F1EF}"/>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1499864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661FF-D5A6-9986-9EEA-0C3CBD6B9D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669CA6-D8B9-4B5F-83D7-7BACDE4C14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A0BB0F-FDCE-8D84-6196-EBFD5D4DC2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F83A1-34A8-F81B-C437-83CC93AF7E09}"/>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6" name="Footer Placeholder 5">
            <a:extLst>
              <a:ext uri="{FF2B5EF4-FFF2-40B4-BE49-F238E27FC236}">
                <a16:creationId xmlns:a16="http://schemas.microsoft.com/office/drawing/2014/main" id="{BDB28F75-0C9E-1E89-B59A-C8EABB05B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BF734-5D8C-0C3E-31F5-2D81874CA1A6}"/>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2615340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C914F-A749-B9A9-7EA1-7380BB9C7B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5D6F80-2DC8-E66A-EBA6-6E8BA478011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AB3D2D-F434-A101-6A7E-92CE3A0EBB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A2C0CA-1480-1F1D-D2E0-65F752E46288}"/>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6" name="Footer Placeholder 5">
            <a:extLst>
              <a:ext uri="{FF2B5EF4-FFF2-40B4-BE49-F238E27FC236}">
                <a16:creationId xmlns:a16="http://schemas.microsoft.com/office/drawing/2014/main" id="{07982F9B-3B1B-E7E1-B535-A981096811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57B015-6DC7-7357-850D-B2DA43D0E276}"/>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473546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5F1A-38D4-78B7-2D2C-8AB5F0EC88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C1B951-9765-7381-85AA-7E168BB3C4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29578-F72A-95C7-0CA7-CD279909FB8A}"/>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5" name="Footer Placeholder 4">
            <a:extLst>
              <a:ext uri="{FF2B5EF4-FFF2-40B4-BE49-F238E27FC236}">
                <a16:creationId xmlns:a16="http://schemas.microsoft.com/office/drawing/2014/main" id="{F56AB653-097D-E8B7-849C-4D37CECF8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D6FCD1-8D33-5126-47F6-715BF64F7006}"/>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1306481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5A0731-6BB4-43BA-3665-28E3228894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3C994A-9F9A-3490-B90E-A369C47EE1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7EA9A-7AEB-4545-FD7E-50DBC934BD85}"/>
              </a:ext>
            </a:extLst>
          </p:cNvPr>
          <p:cNvSpPr>
            <a:spLocks noGrp="1"/>
          </p:cNvSpPr>
          <p:nvPr>
            <p:ph type="dt" sz="half" idx="10"/>
          </p:nvPr>
        </p:nvSpPr>
        <p:spPr/>
        <p:txBody>
          <a:bodyPr/>
          <a:lstStyle/>
          <a:p>
            <a:fld id="{611FB5E9-263E-42B0-8ECB-13CDE897E43D}" type="datetimeFigureOut">
              <a:rPr lang="en-US" smtClean="0"/>
              <a:t>10/14/2026</a:t>
            </a:fld>
            <a:endParaRPr lang="en-US"/>
          </a:p>
        </p:txBody>
      </p:sp>
      <p:sp>
        <p:nvSpPr>
          <p:cNvPr id="5" name="Footer Placeholder 4">
            <a:extLst>
              <a:ext uri="{FF2B5EF4-FFF2-40B4-BE49-F238E27FC236}">
                <a16:creationId xmlns:a16="http://schemas.microsoft.com/office/drawing/2014/main" id="{83376048-BAE9-3A75-9303-3508608E3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1C7F1A-5528-1925-7D53-BC91C6A150C1}"/>
              </a:ext>
            </a:extLst>
          </p:cNvPr>
          <p:cNvSpPr>
            <a:spLocks noGrp="1"/>
          </p:cNvSpPr>
          <p:nvPr>
            <p:ph type="sldNum" sz="quarter" idx="12"/>
          </p:nvPr>
        </p:nvSpPr>
        <p:spPr/>
        <p:txBody>
          <a:bodyPr/>
          <a:lstStyle/>
          <a:p>
            <a:fld id="{74992C93-73DC-4563-B4D4-79EF6410FEDF}" type="slidenum">
              <a:rPr lang="en-US" smtClean="0"/>
              <a:t>‹#›</a:t>
            </a:fld>
            <a:endParaRPr lang="en-US"/>
          </a:p>
        </p:txBody>
      </p:sp>
    </p:spTree>
    <p:extLst>
      <p:ext uri="{BB962C8B-B14F-4D97-AF65-F5344CB8AC3E}">
        <p14:creationId xmlns:p14="http://schemas.microsoft.com/office/powerpoint/2010/main" val="58143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E1F83-DC3D-F967-8FD9-884DA4B5FE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79E685-4224-9324-17E5-A5D8F3C0EE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5C89F0-CB06-2B8C-6B2F-C27699F3D5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1FB5E9-263E-42B0-8ECB-13CDE897E43D}" type="datetimeFigureOut">
              <a:rPr lang="en-US" smtClean="0"/>
              <a:t>10/14/2026</a:t>
            </a:fld>
            <a:endParaRPr lang="en-US"/>
          </a:p>
        </p:txBody>
      </p:sp>
      <p:sp>
        <p:nvSpPr>
          <p:cNvPr id="5" name="Footer Placeholder 4">
            <a:extLst>
              <a:ext uri="{FF2B5EF4-FFF2-40B4-BE49-F238E27FC236}">
                <a16:creationId xmlns:a16="http://schemas.microsoft.com/office/drawing/2014/main" id="{E83D5E1C-8A25-C3D9-94DB-B4FD2836AB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0C196F-33F9-418D-E701-64F652003B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992C93-73DC-4563-B4D4-79EF6410FEDF}" type="slidenum">
              <a:rPr lang="en-US" smtClean="0"/>
              <a:t>‹#›</a:t>
            </a:fld>
            <a:endParaRPr lang="en-US"/>
          </a:p>
        </p:txBody>
      </p:sp>
    </p:spTree>
    <p:extLst>
      <p:ext uri="{BB962C8B-B14F-4D97-AF65-F5344CB8AC3E}">
        <p14:creationId xmlns:p14="http://schemas.microsoft.com/office/powerpoint/2010/main" val="3859916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054A4A-F1BC-71BE-0B38-A1C117F03D90}"/>
              </a:ext>
            </a:extLst>
          </p:cNvPr>
          <p:cNvSpPr/>
          <p:nvPr/>
        </p:nvSpPr>
        <p:spPr>
          <a:xfrm>
            <a:off x="0" y="0"/>
            <a:ext cx="12192000" cy="6858000"/>
          </a:xfrm>
          <a:prstGeom prst="rect">
            <a:avLst/>
          </a:prstGeom>
          <a:solidFill>
            <a:srgbClr val="172B4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0B72014-4DF8-8867-2988-B7F716FF1118}"/>
              </a:ext>
            </a:extLst>
          </p:cNvPr>
          <p:cNvSpPr/>
          <p:nvPr/>
        </p:nvSpPr>
        <p:spPr>
          <a:xfrm>
            <a:off x="0" y="0"/>
            <a:ext cx="203200" cy="6858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4520068-95A3-C886-B0F1-6BA91824DB04}"/>
              </a:ext>
            </a:extLst>
          </p:cNvPr>
          <p:cNvSpPr txBox="1"/>
          <p:nvPr/>
        </p:nvSpPr>
        <p:spPr>
          <a:xfrm>
            <a:off x="762000" y="838200"/>
            <a:ext cx="8890000" cy="230832"/>
          </a:xfrm>
          <a:prstGeom prst="rect">
            <a:avLst/>
          </a:prstGeom>
          <a:noFill/>
        </p:spPr>
        <p:txBody>
          <a:bodyPr vert="horz" wrap="square" lIns="0" tIns="0" rIns="0" bIns="0" rtlCol="0">
            <a:spAutoFit/>
          </a:bodyPr>
          <a:lstStyle/>
          <a:p>
            <a:r>
              <a:rPr lang="en-US" sz="1500" b="1">
                <a:solidFill>
                  <a:srgbClr val="74D8DA"/>
                </a:solidFill>
                <a:latin typeface="Arial" panose="020B0604020202020204" pitchFamily="34" charset="0"/>
              </a:rPr>
              <a:t>PBL6  /  BÁO CÁO TIẾN ĐỘ</a:t>
            </a:r>
          </a:p>
        </p:txBody>
      </p:sp>
      <p:sp>
        <p:nvSpPr>
          <p:cNvPr id="5" name="TextBox 4">
            <a:extLst>
              <a:ext uri="{FF2B5EF4-FFF2-40B4-BE49-F238E27FC236}">
                <a16:creationId xmlns:a16="http://schemas.microsoft.com/office/drawing/2014/main" id="{A310359B-FD43-1D79-245E-2AA964813714}"/>
              </a:ext>
            </a:extLst>
          </p:cNvPr>
          <p:cNvSpPr txBox="1"/>
          <p:nvPr/>
        </p:nvSpPr>
        <p:spPr>
          <a:xfrm>
            <a:off x="762000" y="1651000"/>
            <a:ext cx="10477500" cy="1231106"/>
          </a:xfrm>
          <a:prstGeom prst="rect">
            <a:avLst/>
          </a:prstGeom>
          <a:noFill/>
        </p:spPr>
        <p:txBody>
          <a:bodyPr vert="horz" wrap="square" lIns="0" tIns="0" rIns="0" bIns="0" rtlCol="0">
            <a:spAutoFit/>
          </a:bodyPr>
          <a:lstStyle/>
          <a:p>
            <a:r>
              <a:rPr lang="vi-VN" sz="4000" b="1">
                <a:solidFill>
                  <a:srgbClr val="FFFFFF"/>
                </a:solidFill>
                <a:latin typeface="Arial" panose="020B0604020202020204" pitchFamily="34" charset="0"/>
              </a:rPr>
              <a:t>Dự báo mưa vài giờ tới
cho Đà Nẵng</a:t>
            </a:r>
            <a:endParaRPr lang="en-US" sz="4000" b="1">
              <a:solidFill>
                <a:srgbClr val="FFFFFF"/>
              </a:solidFill>
              <a:latin typeface="Arial" panose="020B0604020202020204" pitchFamily="34" charset="0"/>
            </a:endParaRPr>
          </a:p>
        </p:txBody>
      </p:sp>
      <p:sp>
        <p:nvSpPr>
          <p:cNvPr id="6" name="TextBox 5">
            <a:extLst>
              <a:ext uri="{FF2B5EF4-FFF2-40B4-BE49-F238E27FC236}">
                <a16:creationId xmlns:a16="http://schemas.microsoft.com/office/drawing/2014/main" id="{228B5D4F-261A-D894-73BA-7F73FF8BC5F5}"/>
              </a:ext>
            </a:extLst>
          </p:cNvPr>
          <p:cNvSpPr txBox="1"/>
          <p:nvPr/>
        </p:nvSpPr>
        <p:spPr>
          <a:xfrm>
            <a:off x="762000" y="4292600"/>
            <a:ext cx="10287000" cy="307777"/>
          </a:xfrm>
          <a:prstGeom prst="rect">
            <a:avLst/>
          </a:prstGeom>
          <a:noFill/>
        </p:spPr>
        <p:txBody>
          <a:bodyPr vert="horz" wrap="square" lIns="0" tIns="0" rIns="0" bIns="0" rtlCol="0">
            <a:spAutoFit/>
          </a:bodyPr>
          <a:lstStyle/>
          <a:p>
            <a:r>
              <a:rPr lang="vi-VN" sz="2000">
                <a:solidFill>
                  <a:srgbClr val="FFFFFF"/>
                </a:solidFill>
                <a:latin typeface="Arial" panose="020B0604020202020204" pitchFamily="34" charset="0"/>
              </a:rPr>
              <a:t>Dữ liệu địa phương · so sánh mô hình · khả năng triển khai ứng dụng</a:t>
            </a:r>
            <a:endParaRPr lang="en-US" sz="2000">
              <a:solidFill>
                <a:srgbClr val="FFFFFF"/>
              </a:solidFill>
              <a:latin typeface="Arial" panose="020B0604020202020204" pitchFamily="34" charset="0"/>
            </a:endParaRPr>
          </a:p>
        </p:txBody>
      </p:sp>
      <p:sp>
        <p:nvSpPr>
          <p:cNvPr id="7" name="Rectangle 6">
            <a:extLst>
              <a:ext uri="{FF2B5EF4-FFF2-40B4-BE49-F238E27FC236}">
                <a16:creationId xmlns:a16="http://schemas.microsoft.com/office/drawing/2014/main" id="{BEBF4CC8-128F-A046-BA57-45AEF81EB8C9}"/>
              </a:ext>
            </a:extLst>
          </p:cNvPr>
          <p:cNvSpPr/>
          <p:nvPr/>
        </p:nvSpPr>
        <p:spPr>
          <a:xfrm>
            <a:off x="762000" y="5638800"/>
            <a:ext cx="1066800" cy="63500"/>
          </a:xfrm>
          <a:prstGeom prst="rect">
            <a:avLst/>
          </a:prstGeom>
          <a:solidFill>
            <a:srgbClr val="DC77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EEFBDDF-F284-C165-7307-3624635BDD01}"/>
              </a:ext>
            </a:extLst>
          </p:cNvPr>
          <p:cNvSpPr txBox="1"/>
          <p:nvPr/>
        </p:nvSpPr>
        <p:spPr>
          <a:xfrm>
            <a:off x="762000" y="5918200"/>
            <a:ext cx="9652000" cy="215444"/>
          </a:xfrm>
          <a:prstGeom prst="rect">
            <a:avLst/>
          </a:prstGeom>
          <a:noFill/>
        </p:spPr>
        <p:txBody>
          <a:bodyPr vert="horz" wrap="square" lIns="0" tIns="0" rIns="0" bIns="0" rtlCol="0">
            <a:spAutoFit/>
          </a:bodyPr>
          <a:lstStyle/>
          <a:p>
            <a:r>
              <a:rPr lang="en-US" sz="1400">
                <a:solidFill>
                  <a:srgbClr val="C2D1DB"/>
                </a:solidFill>
                <a:latin typeface="Arial" panose="020B0604020202020204" pitchFamily="34" charset="0"/>
              </a:rPr>
              <a:t>Trao đổi với giảng viên  ·  08:00, 14/10/2026</a:t>
            </a:r>
          </a:p>
        </p:txBody>
      </p:sp>
    </p:spTree>
    <p:extLst>
      <p:ext uri="{BB962C8B-B14F-4D97-AF65-F5344CB8AC3E}">
        <p14:creationId xmlns:p14="http://schemas.microsoft.com/office/powerpoint/2010/main" val="3426840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D4D2E6-3057-6FB2-F416-8FEA1F2AC6FA}"/>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052CBCA-0900-706B-7682-291A72234C01}"/>
              </a:ext>
            </a:extLst>
          </p:cNvPr>
          <p:cNvSpPr txBox="1"/>
          <p:nvPr/>
        </p:nvSpPr>
        <p:spPr>
          <a:xfrm>
            <a:off x="558800" y="304800"/>
            <a:ext cx="9652000" cy="169277"/>
          </a:xfrm>
          <a:prstGeom prst="rect">
            <a:avLst/>
          </a:prstGeom>
          <a:noFill/>
        </p:spPr>
        <p:txBody>
          <a:bodyPr vert="horz" wrap="square" lIns="0" tIns="0" rIns="0" bIns="0" rtlCol="0">
            <a:spAutoFit/>
          </a:bodyPr>
          <a:lstStyle/>
          <a:p>
            <a:r>
              <a:rPr lang="vi-VN" sz="1100" b="1">
                <a:solidFill>
                  <a:srgbClr val="007E87"/>
                </a:solidFill>
                <a:latin typeface="Arial" panose="020B0604020202020204" pitchFamily="34" charset="0"/>
              </a:rPr>
              <a:t>BÀI TOÁN &amp; NGƯỜI DÙNG</a:t>
            </a:r>
            <a:endParaRPr lang="en-US" sz="1100" b="1">
              <a:solidFill>
                <a:srgbClr val="007E87"/>
              </a:solidFill>
              <a:latin typeface="Arial" panose="020B0604020202020204" pitchFamily="34" charset="0"/>
            </a:endParaRPr>
          </a:p>
        </p:txBody>
      </p:sp>
      <p:sp>
        <p:nvSpPr>
          <p:cNvPr id="4" name="TextBox 3">
            <a:extLst>
              <a:ext uri="{FF2B5EF4-FFF2-40B4-BE49-F238E27FC236}">
                <a16:creationId xmlns:a16="http://schemas.microsoft.com/office/drawing/2014/main" id="{F3BCBC7D-3ED6-E860-61E8-C36F469CE72C}"/>
              </a:ext>
            </a:extLst>
          </p:cNvPr>
          <p:cNvSpPr txBox="1"/>
          <p:nvPr/>
        </p:nvSpPr>
        <p:spPr>
          <a:xfrm>
            <a:off x="558800" y="660400"/>
            <a:ext cx="11049000" cy="446276"/>
          </a:xfrm>
          <a:prstGeom prst="rect">
            <a:avLst/>
          </a:prstGeom>
          <a:noFill/>
        </p:spPr>
        <p:txBody>
          <a:bodyPr vert="horz" wrap="square" lIns="0" tIns="0" rIns="0" bIns="0" rtlCol="0">
            <a:spAutoFit/>
          </a:bodyPr>
          <a:lstStyle/>
          <a:p>
            <a:r>
              <a:rPr lang="vi-VN" sz="2900" b="1">
                <a:solidFill>
                  <a:srgbClr val="172B41"/>
                </a:solidFill>
                <a:latin typeface="Arial" panose="020B0604020202020204" pitchFamily="34" charset="0"/>
              </a:rPr>
              <a:t>Nhu cầu: biết mưa sắp tới, không chỉ mưa đang xảy ra</a:t>
            </a:r>
            <a:endParaRPr lang="en-US" sz="2900" b="1">
              <a:solidFill>
                <a:srgbClr val="172B41"/>
              </a:solidFill>
              <a:latin typeface="Arial" panose="020B0604020202020204" pitchFamily="34" charset="0"/>
            </a:endParaRPr>
          </a:p>
        </p:txBody>
      </p:sp>
      <p:sp>
        <p:nvSpPr>
          <p:cNvPr id="5" name="Rectangle 4">
            <a:extLst>
              <a:ext uri="{FF2B5EF4-FFF2-40B4-BE49-F238E27FC236}">
                <a16:creationId xmlns:a16="http://schemas.microsoft.com/office/drawing/2014/main" id="{356FA218-6645-E723-4A4B-5DE82CF30435}"/>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E54A6DD-5403-786D-8457-CBC5C51DAC5F}"/>
              </a:ext>
            </a:extLst>
          </p:cNvPr>
          <p:cNvSpPr txBox="1"/>
          <p:nvPr/>
        </p:nvSpPr>
        <p:spPr>
          <a:xfrm>
            <a:off x="558800" y="6451600"/>
            <a:ext cx="8255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7" name="TextBox 6">
            <a:extLst>
              <a:ext uri="{FF2B5EF4-FFF2-40B4-BE49-F238E27FC236}">
                <a16:creationId xmlns:a16="http://schemas.microsoft.com/office/drawing/2014/main" id="{9742295A-77A8-131C-0DEE-A9F23F43F946}"/>
              </a:ext>
            </a:extLst>
          </p:cNvPr>
          <p:cNvSpPr txBox="1"/>
          <p:nvPr/>
        </p:nvSpPr>
        <p:spPr>
          <a:xfrm>
            <a:off x="11049000" y="6451600"/>
            <a:ext cx="584200" cy="153888"/>
          </a:xfrm>
          <a:prstGeom prst="rect">
            <a:avLst/>
          </a:prstGeom>
          <a:noFill/>
        </p:spPr>
        <p:txBody>
          <a:bodyPr vert="horz" wrap="square" lIns="0" tIns="0" rIns="0" bIns="0" rtlCol="0">
            <a:spAutoFit/>
          </a:bodyPr>
          <a:lstStyle/>
          <a:p>
            <a:pPr algn="r"/>
            <a:r>
              <a:rPr lang="en-US" sz="1000">
                <a:solidFill>
                  <a:srgbClr val="5D6F7E"/>
                </a:solidFill>
                <a:latin typeface="Arial" panose="020B0604020202020204" pitchFamily="34" charset="0"/>
              </a:rPr>
              <a:t>2</a:t>
            </a:r>
          </a:p>
        </p:txBody>
      </p:sp>
      <p:sp>
        <p:nvSpPr>
          <p:cNvPr id="8" name="Rectangle 7">
            <a:extLst>
              <a:ext uri="{FF2B5EF4-FFF2-40B4-BE49-F238E27FC236}">
                <a16:creationId xmlns:a16="http://schemas.microsoft.com/office/drawing/2014/main" id="{0CEE2182-1E77-87B4-FE16-3FAFEE39B271}"/>
              </a:ext>
            </a:extLst>
          </p:cNvPr>
          <p:cNvSpPr/>
          <p:nvPr/>
        </p:nvSpPr>
        <p:spPr>
          <a:xfrm>
            <a:off x="558800" y="1676400"/>
            <a:ext cx="3492500" cy="36830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D2FD0F-67CB-36C0-97F8-C073FA9C88A7}"/>
              </a:ext>
            </a:extLst>
          </p:cNvPr>
          <p:cNvSpPr txBox="1"/>
          <p:nvPr/>
        </p:nvSpPr>
        <p:spPr>
          <a:xfrm>
            <a:off x="787400" y="1930400"/>
            <a:ext cx="3048000" cy="307777"/>
          </a:xfrm>
          <a:prstGeom prst="rect">
            <a:avLst/>
          </a:prstGeom>
          <a:noFill/>
        </p:spPr>
        <p:txBody>
          <a:bodyPr vert="horz" wrap="square" lIns="0" tIns="0" rIns="0" bIns="0" rtlCol="0">
            <a:spAutoFit/>
          </a:bodyPr>
          <a:lstStyle/>
          <a:p>
            <a:r>
              <a:rPr lang="en-US" sz="2000" b="1">
                <a:solidFill>
                  <a:srgbClr val="172B41"/>
                </a:solidFill>
                <a:latin typeface="Arial" panose="020B0604020202020204" pitchFamily="34" charset="0"/>
              </a:rPr>
              <a:t>Hiện có ở Đà Nẵng</a:t>
            </a:r>
          </a:p>
        </p:txBody>
      </p:sp>
      <p:sp>
        <p:nvSpPr>
          <p:cNvPr id="10" name="TextBox 9">
            <a:extLst>
              <a:ext uri="{FF2B5EF4-FFF2-40B4-BE49-F238E27FC236}">
                <a16:creationId xmlns:a16="http://schemas.microsoft.com/office/drawing/2014/main" id="{0B724437-64B2-AF18-F45D-90C0F8357A87}"/>
              </a:ext>
            </a:extLst>
          </p:cNvPr>
          <p:cNvSpPr txBox="1"/>
          <p:nvPr/>
        </p:nvSpPr>
        <p:spPr>
          <a:xfrm>
            <a:off x="787400" y="2514600"/>
            <a:ext cx="2946400" cy="784830"/>
          </a:xfrm>
          <a:prstGeom prst="rect">
            <a:avLst/>
          </a:prstGeom>
          <a:noFill/>
        </p:spPr>
        <p:txBody>
          <a:bodyPr vert="horz" wrap="square" lIns="0" tIns="0" rIns="0" bIns="0" rtlCol="0">
            <a:spAutoFit/>
          </a:bodyPr>
          <a:lstStyle/>
          <a:p>
            <a:r>
              <a:rPr lang="vi-VN" sz="1700">
                <a:solidFill>
                  <a:srgbClr val="253543"/>
                </a:solidFill>
                <a:latin typeface="Arial" panose="020B0604020202020204" pitchFamily="34" charset="0"/>
              </a:rPr>
              <a:t>Danang Smart City đã có theo dõi mưa, mực nước và điểm ngập thời gian thực.</a:t>
            </a:r>
            <a:endParaRPr lang="en-US" sz="1700">
              <a:solidFill>
                <a:srgbClr val="253543"/>
              </a:solidFill>
              <a:latin typeface="Arial" panose="020B0604020202020204" pitchFamily="34" charset="0"/>
            </a:endParaRPr>
          </a:p>
        </p:txBody>
      </p:sp>
      <p:sp>
        <p:nvSpPr>
          <p:cNvPr id="11" name="TextBox 10">
            <a:extLst>
              <a:ext uri="{FF2B5EF4-FFF2-40B4-BE49-F238E27FC236}">
                <a16:creationId xmlns:a16="http://schemas.microsoft.com/office/drawing/2014/main" id="{BDAC103E-C402-C4E7-7969-819A98EA930B}"/>
              </a:ext>
            </a:extLst>
          </p:cNvPr>
          <p:cNvSpPr txBox="1"/>
          <p:nvPr/>
        </p:nvSpPr>
        <p:spPr>
          <a:xfrm>
            <a:off x="787400" y="4127500"/>
            <a:ext cx="2946400" cy="461665"/>
          </a:xfrm>
          <a:prstGeom prst="rect">
            <a:avLst/>
          </a:prstGeom>
          <a:noFill/>
        </p:spPr>
        <p:txBody>
          <a:bodyPr vert="horz" wrap="square" lIns="0" tIns="0" rIns="0" bIns="0" rtlCol="0">
            <a:spAutoFit/>
          </a:bodyPr>
          <a:lstStyle/>
          <a:p>
            <a:r>
              <a:rPr lang="vi-VN" sz="1500">
                <a:solidFill>
                  <a:srgbClr val="5D6F7E"/>
                </a:solidFill>
                <a:latin typeface="Arial" panose="020B0604020202020204" pitchFamily="34" charset="0"/>
              </a:rPr>
              <a:t>Vì vậy, đề tài không nhận là bản đồ mưa/ngập đầu tiên.</a:t>
            </a:r>
            <a:endParaRPr lang="en-US" sz="1500">
              <a:solidFill>
                <a:srgbClr val="5D6F7E"/>
              </a:solidFill>
              <a:latin typeface="Arial" panose="020B0604020202020204" pitchFamily="34" charset="0"/>
            </a:endParaRPr>
          </a:p>
        </p:txBody>
      </p:sp>
      <p:sp>
        <p:nvSpPr>
          <p:cNvPr id="12" name="Rectangle 11">
            <a:extLst>
              <a:ext uri="{FF2B5EF4-FFF2-40B4-BE49-F238E27FC236}">
                <a16:creationId xmlns:a16="http://schemas.microsoft.com/office/drawing/2014/main" id="{B1DEB18A-53E9-45AB-383A-6FC9C69EC510}"/>
              </a:ext>
            </a:extLst>
          </p:cNvPr>
          <p:cNvSpPr/>
          <p:nvPr/>
        </p:nvSpPr>
        <p:spPr>
          <a:xfrm>
            <a:off x="4343400" y="1676400"/>
            <a:ext cx="7289800" cy="36830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E031A55-F730-B8D7-AA5F-F42580FB8B46}"/>
              </a:ext>
            </a:extLst>
          </p:cNvPr>
          <p:cNvSpPr txBox="1"/>
          <p:nvPr/>
        </p:nvSpPr>
        <p:spPr>
          <a:xfrm>
            <a:off x="4597400" y="1905000"/>
            <a:ext cx="6705600" cy="323165"/>
          </a:xfrm>
          <a:prstGeom prst="rect">
            <a:avLst/>
          </a:prstGeom>
          <a:noFill/>
        </p:spPr>
        <p:txBody>
          <a:bodyPr vert="horz" wrap="square" lIns="0" tIns="0" rIns="0" bIns="0" rtlCol="0">
            <a:spAutoFit/>
          </a:bodyPr>
          <a:lstStyle/>
          <a:p>
            <a:r>
              <a:rPr lang="en-US" sz="2100" b="1">
                <a:solidFill>
                  <a:srgbClr val="172B41"/>
                </a:solidFill>
                <a:latin typeface="Arial" panose="020B0604020202020204" pitchFamily="34" charset="0"/>
              </a:rPr>
              <a:t>Lớp thông tin nhóm muốn kiểm chứng</a:t>
            </a:r>
          </a:p>
        </p:txBody>
      </p:sp>
      <p:sp>
        <p:nvSpPr>
          <p:cNvPr id="14" name="TextBox 13">
            <a:extLst>
              <a:ext uri="{FF2B5EF4-FFF2-40B4-BE49-F238E27FC236}">
                <a16:creationId xmlns:a16="http://schemas.microsoft.com/office/drawing/2014/main" id="{AF2DF4B7-2E9B-36E3-39B3-F4DD47692B41}"/>
              </a:ext>
            </a:extLst>
          </p:cNvPr>
          <p:cNvSpPr txBox="1"/>
          <p:nvPr/>
        </p:nvSpPr>
        <p:spPr>
          <a:xfrm>
            <a:off x="4597400" y="2501900"/>
            <a:ext cx="3098800" cy="461665"/>
          </a:xfrm>
          <a:prstGeom prst="rect">
            <a:avLst/>
          </a:prstGeom>
          <a:noFill/>
        </p:spPr>
        <p:txBody>
          <a:bodyPr vert="horz" wrap="square" lIns="0" tIns="0" rIns="0" bIns="0" rtlCol="0">
            <a:spAutoFit/>
          </a:bodyPr>
          <a:lstStyle/>
          <a:p>
            <a:r>
              <a:rPr lang="en-US" sz="3000" b="1">
                <a:solidFill>
                  <a:srgbClr val="007E87"/>
                </a:solidFill>
                <a:latin typeface="Arial" panose="020B0604020202020204" pitchFamily="34" charset="0"/>
              </a:rPr>
              <a:t>0–6 giờ tới</a:t>
            </a:r>
          </a:p>
        </p:txBody>
      </p:sp>
      <p:sp>
        <p:nvSpPr>
          <p:cNvPr id="15" name="TextBox 14">
            <a:extLst>
              <a:ext uri="{FF2B5EF4-FFF2-40B4-BE49-F238E27FC236}">
                <a16:creationId xmlns:a16="http://schemas.microsoft.com/office/drawing/2014/main" id="{95577B7A-301C-8FAC-D7B4-8A96FA6BC7F7}"/>
              </a:ext>
            </a:extLst>
          </p:cNvPr>
          <p:cNvSpPr txBox="1"/>
          <p:nvPr/>
        </p:nvSpPr>
        <p:spPr>
          <a:xfrm>
            <a:off x="4597400" y="3225800"/>
            <a:ext cx="6527800" cy="584775"/>
          </a:xfrm>
          <a:prstGeom prst="rect">
            <a:avLst/>
          </a:prstGeom>
          <a:noFill/>
        </p:spPr>
        <p:txBody>
          <a:bodyPr vert="horz" wrap="square" lIns="0" tIns="0" rIns="0" bIns="0" rtlCol="0">
            <a:spAutoFit/>
          </a:bodyPr>
          <a:lstStyle/>
          <a:p>
            <a:r>
              <a:rPr lang="vi-VN" sz="1900">
                <a:solidFill>
                  <a:srgbClr val="253543"/>
                </a:solidFill>
                <a:latin typeface="Arial" panose="020B0604020202020204" pitchFamily="34" charset="0"/>
              </a:rPr>
              <a:t>Lượng mưa và xác suất vượt ngưỡng theo ô lưới; luôn hiện giờ phát hành, nguồn và độ cũ dữ liệu.</a:t>
            </a:r>
            <a:endParaRPr lang="en-US" sz="1900">
              <a:solidFill>
                <a:srgbClr val="253543"/>
              </a:solidFill>
              <a:latin typeface="Arial" panose="020B0604020202020204" pitchFamily="34" charset="0"/>
            </a:endParaRPr>
          </a:p>
        </p:txBody>
      </p:sp>
      <p:sp>
        <p:nvSpPr>
          <p:cNvPr id="16" name="TextBox 15">
            <a:extLst>
              <a:ext uri="{FF2B5EF4-FFF2-40B4-BE49-F238E27FC236}">
                <a16:creationId xmlns:a16="http://schemas.microsoft.com/office/drawing/2014/main" id="{5D792FAA-5E9F-D753-318B-EB031ADE423E}"/>
              </a:ext>
            </a:extLst>
          </p:cNvPr>
          <p:cNvSpPr txBox="1"/>
          <p:nvPr/>
        </p:nvSpPr>
        <p:spPr>
          <a:xfrm>
            <a:off x="4597400" y="4533900"/>
            <a:ext cx="6477000" cy="461665"/>
          </a:xfrm>
          <a:prstGeom prst="rect">
            <a:avLst/>
          </a:prstGeom>
          <a:noFill/>
        </p:spPr>
        <p:txBody>
          <a:bodyPr vert="horz" wrap="square" lIns="0" tIns="0" rIns="0" bIns="0" rtlCol="0">
            <a:spAutoFit/>
          </a:bodyPr>
          <a:lstStyle/>
          <a:p>
            <a:r>
              <a:rPr lang="vi-VN" sz="1500">
                <a:solidFill>
                  <a:srgbClr val="5D6F7E"/>
                </a:solidFill>
                <a:latin typeface="Arial" panose="020B0604020202020204" pitchFamily="34" charset="0"/>
              </a:rPr>
              <a:t>Người dùng giả định: người đi lại; cán bộ theo dõi khu vực; người vận hành app.</a:t>
            </a:r>
            <a:endParaRPr lang="en-US" sz="1500">
              <a:solidFill>
                <a:srgbClr val="5D6F7E"/>
              </a:solidFill>
              <a:latin typeface="Arial" panose="020B0604020202020204" pitchFamily="34" charset="0"/>
            </a:endParaRPr>
          </a:p>
        </p:txBody>
      </p:sp>
      <p:sp>
        <p:nvSpPr>
          <p:cNvPr id="17" name="TextBox 16">
            <a:extLst>
              <a:ext uri="{FF2B5EF4-FFF2-40B4-BE49-F238E27FC236}">
                <a16:creationId xmlns:a16="http://schemas.microsoft.com/office/drawing/2014/main" id="{5D8A780D-7898-9083-E9AF-3A088D380840}"/>
              </a:ext>
            </a:extLst>
          </p:cNvPr>
          <p:cNvSpPr txBox="1"/>
          <p:nvPr/>
        </p:nvSpPr>
        <p:spPr>
          <a:xfrm>
            <a:off x="558800" y="5613400"/>
            <a:ext cx="11074400" cy="215444"/>
          </a:xfrm>
          <a:prstGeom prst="rect">
            <a:avLst/>
          </a:prstGeom>
          <a:noFill/>
        </p:spPr>
        <p:txBody>
          <a:bodyPr vert="horz" wrap="square" lIns="0" tIns="0" rIns="0" bIns="0" rtlCol="0">
            <a:spAutoFit/>
          </a:bodyPr>
          <a:lstStyle/>
          <a:p>
            <a:r>
              <a:rPr lang="vi-VN" sz="1400" b="1">
                <a:solidFill>
                  <a:srgbClr val="DC772F"/>
                </a:solidFill>
                <a:latin typeface="Arial" panose="020B0604020202020204" pitchFamily="34" charset="0"/>
              </a:rPr>
              <a:t>Rà soát tài liệu, chưa phỏng vấn người dùng. Ô ~10–11 km không dự báo ngập cấp đường.</a:t>
            </a:r>
            <a:endParaRPr lang="en-US" sz="1400" b="1">
              <a:solidFill>
                <a:srgbClr val="DC772F"/>
              </a:solidFill>
              <a:latin typeface="Arial" panose="020B0604020202020204" pitchFamily="34" charset="0"/>
            </a:endParaRPr>
          </a:p>
        </p:txBody>
      </p:sp>
    </p:spTree>
    <p:extLst>
      <p:ext uri="{BB962C8B-B14F-4D97-AF65-F5344CB8AC3E}">
        <p14:creationId xmlns:p14="http://schemas.microsoft.com/office/powerpoint/2010/main" val="1379032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46F720-F7C0-1AB4-1399-CC292FB1F0DD}"/>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579D980-1CB7-DB2E-B454-D62705E66EA1}"/>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D8D6E9-6B4B-4F0D-3DEF-54649AE01CE7}"/>
              </a:ext>
            </a:extLst>
          </p:cNvPr>
          <p:cNvSpPr txBox="1"/>
          <p:nvPr/>
        </p:nvSpPr>
        <p:spPr>
          <a:xfrm>
            <a:off x="558800" y="304800"/>
            <a:ext cx="10795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CÂU HỎI NGHIÊN CỨU</a:t>
            </a:r>
          </a:p>
        </p:txBody>
      </p:sp>
      <p:sp>
        <p:nvSpPr>
          <p:cNvPr id="5" name="TextBox 4">
            <a:extLst>
              <a:ext uri="{FF2B5EF4-FFF2-40B4-BE49-F238E27FC236}">
                <a16:creationId xmlns:a16="http://schemas.microsoft.com/office/drawing/2014/main" id="{D0B70D14-DA64-BDF5-B3EA-FA751A1F437B}"/>
              </a:ext>
            </a:extLst>
          </p:cNvPr>
          <p:cNvSpPr txBox="1"/>
          <p:nvPr/>
        </p:nvSpPr>
        <p:spPr>
          <a:xfrm>
            <a:off x="558800" y="660400"/>
            <a:ext cx="11074400" cy="446276"/>
          </a:xfrm>
          <a:prstGeom prst="rect">
            <a:avLst/>
          </a:prstGeom>
          <a:noFill/>
        </p:spPr>
        <p:txBody>
          <a:bodyPr vert="horz" wrap="square" lIns="0" tIns="0" rIns="0" bIns="0" rtlCol="0">
            <a:spAutoFit/>
          </a:bodyPr>
          <a:lstStyle/>
          <a:p>
            <a:r>
              <a:rPr lang="vi-VN" sz="2900" b="1">
                <a:solidFill>
                  <a:srgbClr val="172B41"/>
                </a:solidFill>
                <a:latin typeface="Arial" panose="020B0604020202020204" pitchFamily="34" charset="0"/>
              </a:rPr>
              <a:t>Nhóm dự báo điều gì cho người dùng?</a:t>
            </a:r>
            <a:endParaRPr lang="en-US" sz="2900" b="1">
              <a:solidFill>
                <a:srgbClr val="172B41"/>
              </a:solidFill>
              <a:latin typeface="Arial" panose="020B0604020202020204" pitchFamily="34" charset="0"/>
            </a:endParaRPr>
          </a:p>
        </p:txBody>
      </p:sp>
      <p:sp>
        <p:nvSpPr>
          <p:cNvPr id="6" name="Rectangle 5">
            <a:extLst>
              <a:ext uri="{FF2B5EF4-FFF2-40B4-BE49-F238E27FC236}">
                <a16:creationId xmlns:a16="http://schemas.microsoft.com/office/drawing/2014/main" id="{4077FAE7-C141-0192-34E9-7C8FE61AA286}"/>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1A45A7F-BD3C-A8CD-F81C-C57639397419}"/>
              </a:ext>
            </a:extLst>
          </p:cNvPr>
          <p:cNvSpPr txBox="1"/>
          <p:nvPr/>
        </p:nvSpPr>
        <p:spPr>
          <a:xfrm>
            <a:off x="558800" y="6451600"/>
            <a:ext cx="8382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8" name="TextBox 7">
            <a:extLst>
              <a:ext uri="{FF2B5EF4-FFF2-40B4-BE49-F238E27FC236}">
                <a16:creationId xmlns:a16="http://schemas.microsoft.com/office/drawing/2014/main" id="{5E7AAFF4-8321-66F0-49B6-11105A368533}"/>
              </a:ext>
            </a:extLst>
          </p:cNvPr>
          <p:cNvSpPr txBox="1"/>
          <p:nvPr/>
        </p:nvSpPr>
        <p:spPr>
          <a:xfrm>
            <a:off x="558800" y="1714500"/>
            <a:ext cx="5283200" cy="307777"/>
          </a:xfrm>
          <a:prstGeom prst="rect">
            <a:avLst/>
          </a:prstGeom>
          <a:noFill/>
        </p:spPr>
        <p:txBody>
          <a:bodyPr vert="horz" wrap="square" lIns="0" tIns="0" rIns="0" bIns="0" rtlCol="0">
            <a:spAutoFit/>
          </a:bodyPr>
          <a:lstStyle/>
          <a:p>
            <a:r>
              <a:rPr lang="en-US" sz="2000" b="1">
                <a:solidFill>
                  <a:srgbClr val="172B41"/>
                </a:solidFill>
                <a:latin typeface="Arial" panose="020B0604020202020204" pitchFamily="34" charset="0"/>
              </a:rPr>
              <a:t>Sản phẩm đang làm sâu</a:t>
            </a:r>
          </a:p>
        </p:txBody>
      </p:sp>
      <p:sp>
        <p:nvSpPr>
          <p:cNvPr id="9" name="TextBox 8">
            <a:extLst>
              <a:ext uri="{FF2B5EF4-FFF2-40B4-BE49-F238E27FC236}">
                <a16:creationId xmlns:a16="http://schemas.microsoft.com/office/drawing/2014/main" id="{E3AAC444-64CA-4D96-6C49-8AAD478BAE6C}"/>
              </a:ext>
            </a:extLst>
          </p:cNvPr>
          <p:cNvSpPr txBox="1"/>
          <p:nvPr/>
        </p:nvSpPr>
        <p:spPr>
          <a:xfrm>
            <a:off x="558800" y="2273300"/>
            <a:ext cx="5334000" cy="477054"/>
          </a:xfrm>
          <a:prstGeom prst="rect">
            <a:avLst/>
          </a:prstGeom>
          <a:noFill/>
        </p:spPr>
        <p:txBody>
          <a:bodyPr vert="horz" wrap="square" lIns="0" tIns="0" rIns="0" bIns="0" rtlCol="0">
            <a:spAutoFit/>
          </a:bodyPr>
          <a:lstStyle/>
          <a:p>
            <a:r>
              <a:rPr lang="en-US" sz="3100" b="1">
                <a:solidFill>
                  <a:srgbClr val="007E87"/>
                </a:solidFill>
                <a:latin typeface="Arial" panose="020B0604020202020204" pitchFamily="34" charset="0"/>
              </a:rPr>
              <a:t>1–6 giờ tới</a:t>
            </a:r>
          </a:p>
        </p:txBody>
      </p:sp>
      <p:sp>
        <p:nvSpPr>
          <p:cNvPr id="10" name="TextBox 9">
            <a:extLst>
              <a:ext uri="{FF2B5EF4-FFF2-40B4-BE49-F238E27FC236}">
                <a16:creationId xmlns:a16="http://schemas.microsoft.com/office/drawing/2014/main" id="{A77CB781-2F4D-CB66-EBAF-85DBCF45B2D1}"/>
              </a:ext>
            </a:extLst>
          </p:cNvPr>
          <p:cNvSpPr txBox="1"/>
          <p:nvPr/>
        </p:nvSpPr>
        <p:spPr>
          <a:xfrm>
            <a:off x="558800" y="3035300"/>
            <a:ext cx="5270500" cy="553998"/>
          </a:xfrm>
          <a:prstGeom prst="rect">
            <a:avLst/>
          </a:prstGeom>
          <a:noFill/>
        </p:spPr>
        <p:txBody>
          <a:bodyPr vert="horz" wrap="square" lIns="0" tIns="0" rIns="0" bIns="0" rtlCol="0">
            <a:spAutoFit/>
          </a:bodyPr>
          <a:lstStyle/>
          <a:p>
            <a:r>
              <a:rPr lang="en-US">
                <a:solidFill>
                  <a:srgbClr val="253543"/>
                </a:solidFill>
                <a:latin typeface="Arial" panose="020B0604020202020204" pitchFamily="34" charset="0"/>
              </a:rPr>
              <a:t>Mỗi giờ phát hành một bản mới cho 93 ô Đà Nẵng, mỗi ô rộng khoảng 10–11 km.</a:t>
            </a:r>
          </a:p>
        </p:txBody>
      </p:sp>
      <p:sp>
        <p:nvSpPr>
          <p:cNvPr id="11" name="TextBox 10">
            <a:extLst>
              <a:ext uri="{FF2B5EF4-FFF2-40B4-BE49-F238E27FC236}">
                <a16:creationId xmlns:a16="http://schemas.microsoft.com/office/drawing/2014/main" id="{704709F2-27D9-8BA6-C007-8F5F6C346EA8}"/>
              </a:ext>
            </a:extLst>
          </p:cNvPr>
          <p:cNvSpPr txBox="1"/>
          <p:nvPr/>
        </p:nvSpPr>
        <p:spPr>
          <a:xfrm>
            <a:off x="558800" y="4356100"/>
            <a:ext cx="5283200" cy="553998"/>
          </a:xfrm>
          <a:prstGeom prst="rect">
            <a:avLst/>
          </a:prstGeom>
          <a:noFill/>
        </p:spPr>
        <p:txBody>
          <a:bodyPr vert="horz" wrap="square" lIns="0" tIns="0" rIns="0" bIns="0" rtlCol="0">
            <a:spAutoFit/>
          </a:bodyPr>
          <a:lstStyle/>
          <a:p>
            <a:r>
              <a:rPr lang="vi-VN">
                <a:solidFill>
                  <a:srgbClr val="253543"/>
                </a:solidFill>
                <a:latin typeface="Arial" panose="020B0604020202020204" pitchFamily="34" charset="0"/>
              </a:rPr>
              <a:t>App ưu tiên tổng mưa 3 giờ và xác suất mưa mạnh, kèm thời điểm dữ liệu.</a:t>
            </a:r>
            <a:endParaRPr lang="en-US">
              <a:solidFill>
                <a:srgbClr val="253543"/>
              </a:solidFill>
              <a:latin typeface="Arial" panose="020B0604020202020204" pitchFamily="34" charset="0"/>
            </a:endParaRPr>
          </a:p>
        </p:txBody>
      </p:sp>
      <p:sp>
        <p:nvSpPr>
          <p:cNvPr id="12" name="Rectangle 11">
            <a:extLst>
              <a:ext uri="{FF2B5EF4-FFF2-40B4-BE49-F238E27FC236}">
                <a16:creationId xmlns:a16="http://schemas.microsoft.com/office/drawing/2014/main" id="{44018B36-91A3-20E9-7139-CC8FA76F5A60}"/>
              </a:ext>
            </a:extLst>
          </p:cNvPr>
          <p:cNvSpPr/>
          <p:nvPr/>
        </p:nvSpPr>
        <p:spPr>
          <a:xfrm>
            <a:off x="6096000" y="1765300"/>
            <a:ext cx="12700" cy="37465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71D0D75-FAA4-9B34-5F94-A5B7251914F7}"/>
              </a:ext>
            </a:extLst>
          </p:cNvPr>
          <p:cNvSpPr txBox="1"/>
          <p:nvPr/>
        </p:nvSpPr>
        <p:spPr>
          <a:xfrm>
            <a:off x="6451600" y="1714500"/>
            <a:ext cx="5181600" cy="307777"/>
          </a:xfrm>
          <a:prstGeom prst="rect">
            <a:avLst/>
          </a:prstGeom>
          <a:noFill/>
        </p:spPr>
        <p:txBody>
          <a:bodyPr vert="horz" wrap="square" lIns="0" tIns="0" rIns="0" bIns="0" rtlCol="0">
            <a:spAutoFit/>
          </a:bodyPr>
          <a:lstStyle/>
          <a:p>
            <a:r>
              <a:rPr lang="en-US" sz="2000" b="1">
                <a:solidFill>
                  <a:srgbClr val="172B41"/>
                </a:solidFill>
                <a:latin typeface="Arial" panose="020B0604020202020204" pitchFamily="34" charset="0"/>
              </a:rPr>
              <a:t>Ba câu hỏi phải trả lời</a:t>
            </a:r>
          </a:p>
        </p:txBody>
      </p:sp>
      <p:sp>
        <p:nvSpPr>
          <p:cNvPr id="14" name="TextBox 13">
            <a:extLst>
              <a:ext uri="{FF2B5EF4-FFF2-40B4-BE49-F238E27FC236}">
                <a16:creationId xmlns:a16="http://schemas.microsoft.com/office/drawing/2014/main" id="{095AD218-8421-BAB2-41E2-7B68A1EA8626}"/>
              </a:ext>
            </a:extLst>
          </p:cNvPr>
          <p:cNvSpPr txBox="1"/>
          <p:nvPr/>
        </p:nvSpPr>
        <p:spPr>
          <a:xfrm>
            <a:off x="6451600" y="2387600"/>
            <a:ext cx="5080000" cy="276999"/>
          </a:xfrm>
          <a:prstGeom prst="rect">
            <a:avLst/>
          </a:prstGeom>
          <a:noFill/>
        </p:spPr>
        <p:txBody>
          <a:bodyPr vert="horz" wrap="square" lIns="0" tIns="0" rIns="0" bIns="0" rtlCol="0">
            <a:spAutoFit/>
          </a:bodyPr>
          <a:lstStyle/>
          <a:p>
            <a:r>
              <a:rPr lang="vi-VN">
                <a:solidFill>
                  <a:srgbClr val="253543"/>
                </a:solidFill>
                <a:latin typeface="Arial" panose="020B0604020202020204" pitchFamily="34" charset="0"/>
              </a:rPr>
              <a:t>1. Dữ liệu mưa nào đủ tin để học?</a:t>
            </a:r>
            <a:endParaRPr lang="en-US">
              <a:solidFill>
                <a:srgbClr val="253543"/>
              </a:solidFill>
              <a:latin typeface="Arial" panose="020B0604020202020204" pitchFamily="34" charset="0"/>
            </a:endParaRPr>
          </a:p>
        </p:txBody>
      </p:sp>
      <p:sp>
        <p:nvSpPr>
          <p:cNvPr id="15" name="TextBox 14">
            <a:extLst>
              <a:ext uri="{FF2B5EF4-FFF2-40B4-BE49-F238E27FC236}">
                <a16:creationId xmlns:a16="http://schemas.microsoft.com/office/drawing/2014/main" id="{F6314E48-C95A-C35D-B583-95C1E5344C1D}"/>
              </a:ext>
            </a:extLst>
          </p:cNvPr>
          <p:cNvSpPr txBox="1"/>
          <p:nvPr/>
        </p:nvSpPr>
        <p:spPr>
          <a:xfrm>
            <a:off x="6451600" y="3162300"/>
            <a:ext cx="5080000" cy="553998"/>
          </a:xfrm>
          <a:prstGeom prst="rect">
            <a:avLst/>
          </a:prstGeom>
          <a:noFill/>
        </p:spPr>
        <p:txBody>
          <a:bodyPr vert="horz" wrap="square" lIns="0" tIns="0" rIns="0" bIns="0" rtlCol="0">
            <a:spAutoFit/>
          </a:bodyPr>
          <a:lstStyle/>
          <a:p>
            <a:r>
              <a:rPr lang="vi-VN">
                <a:solidFill>
                  <a:srgbClr val="253543"/>
                </a:solidFill>
                <a:latin typeface="Arial" panose="020B0604020202020204" pitchFamily="34" charset="0"/>
              </a:rPr>
              <a:t>2. Đổi mô hình hoặc đặc trưng địa phương có giúp trên cùng mẫu?</a:t>
            </a:r>
            <a:endParaRPr lang="en-US">
              <a:solidFill>
                <a:srgbClr val="253543"/>
              </a:solidFill>
              <a:latin typeface="Arial" panose="020B0604020202020204" pitchFamily="34" charset="0"/>
            </a:endParaRPr>
          </a:p>
        </p:txBody>
      </p:sp>
      <p:sp>
        <p:nvSpPr>
          <p:cNvPr id="16" name="TextBox 15">
            <a:extLst>
              <a:ext uri="{FF2B5EF4-FFF2-40B4-BE49-F238E27FC236}">
                <a16:creationId xmlns:a16="http://schemas.microsoft.com/office/drawing/2014/main" id="{403256D6-02ED-BDF4-7372-EB4A30F80C20}"/>
              </a:ext>
            </a:extLst>
          </p:cNvPr>
          <p:cNvSpPr txBox="1"/>
          <p:nvPr/>
        </p:nvSpPr>
        <p:spPr>
          <a:xfrm>
            <a:off x="6451600" y="4368800"/>
            <a:ext cx="5080000" cy="553998"/>
          </a:xfrm>
          <a:prstGeom prst="rect">
            <a:avLst/>
          </a:prstGeom>
          <a:noFill/>
        </p:spPr>
        <p:txBody>
          <a:bodyPr vert="horz" wrap="square" lIns="0" tIns="0" rIns="0" bIns="0" rtlCol="0">
            <a:spAutoFit/>
          </a:bodyPr>
          <a:lstStyle/>
          <a:p>
            <a:r>
              <a:rPr lang="vi-VN">
                <a:solidFill>
                  <a:srgbClr val="253543"/>
                </a:solidFill>
                <a:latin typeface="Arial" panose="020B0604020202020204" pitchFamily="34" charset="0"/>
              </a:rPr>
              <a:t>3. Dữ liệu có đến kịp để app dự báo thật và vượt đối chứng ECMWF?</a:t>
            </a:r>
            <a:endParaRPr lang="en-US">
              <a:solidFill>
                <a:srgbClr val="253543"/>
              </a:solidFill>
              <a:latin typeface="Arial" panose="020B0604020202020204" pitchFamily="34" charset="0"/>
            </a:endParaRPr>
          </a:p>
        </p:txBody>
      </p:sp>
      <p:sp>
        <p:nvSpPr>
          <p:cNvPr id="17" name="TextBox 16">
            <a:extLst>
              <a:ext uri="{FF2B5EF4-FFF2-40B4-BE49-F238E27FC236}">
                <a16:creationId xmlns:a16="http://schemas.microsoft.com/office/drawing/2014/main" id="{B73EA7D7-49E1-B860-00E5-1C9CC3C3F579}"/>
              </a:ext>
            </a:extLst>
          </p:cNvPr>
          <p:cNvSpPr txBox="1"/>
          <p:nvPr/>
        </p:nvSpPr>
        <p:spPr>
          <a:xfrm>
            <a:off x="558800" y="5715000"/>
            <a:ext cx="11074400" cy="230832"/>
          </a:xfrm>
          <a:prstGeom prst="rect">
            <a:avLst/>
          </a:prstGeom>
          <a:noFill/>
        </p:spPr>
        <p:txBody>
          <a:bodyPr vert="horz" wrap="square" lIns="0" tIns="0" rIns="0" bIns="0" rtlCol="0">
            <a:spAutoFit/>
          </a:bodyPr>
          <a:lstStyle/>
          <a:p>
            <a:r>
              <a:rPr lang="vi-VN" sz="1500" b="1">
                <a:solidFill>
                  <a:srgbClr val="DC772F"/>
                </a:solidFill>
                <a:latin typeface="Arial" panose="020B0604020202020204" pitchFamily="34" charset="0"/>
              </a:rPr>
              <a:t>Dự báo 1–3 ngày bằng TFT là giai đoạn sau. App hiện chưa dự báo ngập từng đường.</a:t>
            </a:r>
            <a:endParaRPr lang="en-US" sz="1500" b="1">
              <a:solidFill>
                <a:srgbClr val="DC772F"/>
              </a:solidFill>
              <a:latin typeface="Arial" panose="020B0604020202020204" pitchFamily="34" charset="0"/>
            </a:endParaRPr>
          </a:p>
        </p:txBody>
      </p:sp>
      <p:sp>
        <p:nvSpPr>
          <p:cNvPr id="18" name="TextBox 17">
            <a:extLst>
              <a:ext uri="{FF2B5EF4-FFF2-40B4-BE49-F238E27FC236}">
                <a16:creationId xmlns:a16="http://schemas.microsoft.com/office/drawing/2014/main" id="{9171BB66-A64F-47F0-9D05-E49CA7BBA046}"/>
              </a:ext>
            </a:extLst>
          </p:cNvPr>
          <p:cNvSpPr txBox="1"/>
          <p:nvPr/>
        </p:nvSpPr>
        <p:spPr>
          <a:xfrm>
            <a:off x="11087100" y="6451600"/>
            <a:ext cx="5461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3</a:t>
            </a:r>
          </a:p>
        </p:txBody>
      </p:sp>
    </p:spTree>
    <p:extLst>
      <p:ext uri="{BB962C8B-B14F-4D97-AF65-F5344CB8AC3E}">
        <p14:creationId xmlns:p14="http://schemas.microsoft.com/office/powerpoint/2010/main" val="4042288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4D55B0-61E3-195A-42D0-9299B6402649}"/>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1666EFD-F263-91C6-59C7-03C0070E728C}"/>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32EC658-7ED6-1334-1D9A-A41B128C7DEE}"/>
              </a:ext>
            </a:extLst>
          </p:cNvPr>
          <p:cNvSpPr txBox="1"/>
          <p:nvPr/>
        </p:nvSpPr>
        <p:spPr>
          <a:xfrm>
            <a:off x="558800" y="304800"/>
            <a:ext cx="10795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DỮ LIỆU</a:t>
            </a:r>
          </a:p>
        </p:txBody>
      </p:sp>
      <p:sp>
        <p:nvSpPr>
          <p:cNvPr id="5" name="TextBox 4">
            <a:extLst>
              <a:ext uri="{FF2B5EF4-FFF2-40B4-BE49-F238E27FC236}">
                <a16:creationId xmlns:a16="http://schemas.microsoft.com/office/drawing/2014/main" id="{D4F7EB82-D6D8-8839-67BE-6E5FD2F459B4}"/>
              </a:ext>
            </a:extLst>
          </p:cNvPr>
          <p:cNvSpPr txBox="1"/>
          <p:nvPr/>
        </p:nvSpPr>
        <p:spPr>
          <a:xfrm>
            <a:off x="558800" y="660400"/>
            <a:ext cx="11074400" cy="446276"/>
          </a:xfrm>
          <a:prstGeom prst="rect">
            <a:avLst/>
          </a:prstGeom>
          <a:noFill/>
        </p:spPr>
        <p:txBody>
          <a:bodyPr vert="horz" wrap="square" lIns="0" tIns="0" rIns="0" bIns="0" rtlCol="0">
            <a:spAutoFit/>
          </a:bodyPr>
          <a:lstStyle/>
          <a:p>
            <a:r>
              <a:rPr lang="en-US" sz="2900" b="1">
                <a:solidFill>
                  <a:srgbClr val="172B41"/>
                </a:solidFill>
                <a:latin typeface="Arial" panose="020B0604020202020204" pitchFamily="34" charset="0"/>
              </a:rPr>
              <a:t>Mỗi nguồn có một vai trò khác nhau</a:t>
            </a:r>
          </a:p>
        </p:txBody>
      </p:sp>
      <p:sp>
        <p:nvSpPr>
          <p:cNvPr id="6" name="Rectangle 5">
            <a:extLst>
              <a:ext uri="{FF2B5EF4-FFF2-40B4-BE49-F238E27FC236}">
                <a16:creationId xmlns:a16="http://schemas.microsoft.com/office/drawing/2014/main" id="{50AAFA93-B8EC-C41C-6701-CDCDC35E891B}"/>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6F01C85-860F-3DD3-F4F4-956CE4977A77}"/>
              </a:ext>
            </a:extLst>
          </p:cNvPr>
          <p:cNvSpPr txBox="1"/>
          <p:nvPr/>
        </p:nvSpPr>
        <p:spPr>
          <a:xfrm>
            <a:off x="558800" y="6451600"/>
            <a:ext cx="8382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8" name="Rectangle 7">
            <a:extLst>
              <a:ext uri="{FF2B5EF4-FFF2-40B4-BE49-F238E27FC236}">
                <a16:creationId xmlns:a16="http://schemas.microsoft.com/office/drawing/2014/main" id="{7E955CA9-C644-4634-7E36-61CCA1B40CCA}"/>
              </a:ext>
            </a:extLst>
          </p:cNvPr>
          <p:cNvSpPr/>
          <p:nvPr/>
        </p:nvSpPr>
        <p:spPr>
          <a:xfrm>
            <a:off x="558800" y="1765300"/>
            <a:ext cx="11074400" cy="7239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C0A6DF9-B1CD-20FB-E2A5-550583D8373E}"/>
              </a:ext>
            </a:extLst>
          </p:cNvPr>
          <p:cNvSpPr txBox="1"/>
          <p:nvPr/>
        </p:nvSpPr>
        <p:spPr>
          <a:xfrm>
            <a:off x="762000" y="19177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GSMaP GC v8</a:t>
            </a:r>
          </a:p>
        </p:txBody>
      </p:sp>
      <p:sp>
        <p:nvSpPr>
          <p:cNvPr id="10" name="TextBox 9">
            <a:extLst>
              <a:ext uri="{FF2B5EF4-FFF2-40B4-BE49-F238E27FC236}">
                <a16:creationId xmlns:a16="http://schemas.microsoft.com/office/drawing/2014/main" id="{AAC865E3-8919-60DD-D1E4-6CE524FF8BA6}"/>
              </a:ext>
            </a:extLst>
          </p:cNvPr>
          <p:cNvSpPr txBox="1"/>
          <p:nvPr/>
        </p:nvSpPr>
        <p:spPr>
          <a:xfrm>
            <a:off x="3708400" y="1892300"/>
            <a:ext cx="76835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Mưa lịch sử hiệu chỉnh trạm: nhãn để mô hình học và chấm.</a:t>
            </a:r>
            <a:endParaRPr lang="en-US" sz="1600">
              <a:solidFill>
                <a:srgbClr val="253543"/>
              </a:solidFill>
              <a:latin typeface="Arial" panose="020B0604020202020204" pitchFamily="34" charset="0"/>
            </a:endParaRPr>
          </a:p>
        </p:txBody>
      </p:sp>
      <p:sp>
        <p:nvSpPr>
          <p:cNvPr id="11" name="Rectangle 10">
            <a:extLst>
              <a:ext uri="{FF2B5EF4-FFF2-40B4-BE49-F238E27FC236}">
                <a16:creationId xmlns:a16="http://schemas.microsoft.com/office/drawing/2014/main" id="{8DA96B9E-B7FF-2A81-672C-516264F5D2B4}"/>
              </a:ext>
            </a:extLst>
          </p:cNvPr>
          <p:cNvSpPr/>
          <p:nvPr/>
        </p:nvSpPr>
        <p:spPr>
          <a:xfrm>
            <a:off x="558800" y="2578100"/>
            <a:ext cx="11074400" cy="7239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9E6B2D1-5B51-EE59-4C70-9C73861E6C4E}"/>
              </a:ext>
            </a:extLst>
          </p:cNvPr>
          <p:cNvSpPr txBox="1"/>
          <p:nvPr/>
        </p:nvSpPr>
        <p:spPr>
          <a:xfrm>
            <a:off x="762000" y="27305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GSMaP raw / NRT</a:t>
            </a:r>
          </a:p>
        </p:txBody>
      </p:sp>
      <p:sp>
        <p:nvSpPr>
          <p:cNvPr id="13" name="TextBox 12">
            <a:extLst>
              <a:ext uri="{FF2B5EF4-FFF2-40B4-BE49-F238E27FC236}">
                <a16:creationId xmlns:a16="http://schemas.microsoft.com/office/drawing/2014/main" id="{8BFDACD5-162D-9A8A-7E95-B3B590DBDFB8}"/>
              </a:ext>
            </a:extLst>
          </p:cNvPr>
          <p:cNvSpPr txBox="1"/>
          <p:nvPr/>
        </p:nvSpPr>
        <p:spPr>
          <a:xfrm>
            <a:off x="3708400" y="2705100"/>
            <a:ext cx="76835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Mưa vệ tinh gần hiện tại: đầu vào, phải kiểm tra giờ tệp đến.</a:t>
            </a:r>
            <a:endParaRPr lang="en-US" sz="1600">
              <a:solidFill>
                <a:srgbClr val="253543"/>
              </a:solidFill>
              <a:latin typeface="Arial" panose="020B0604020202020204" pitchFamily="34" charset="0"/>
            </a:endParaRPr>
          </a:p>
        </p:txBody>
      </p:sp>
      <p:sp>
        <p:nvSpPr>
          <p:cNvPr id="14" name="Rectangle 13">
            <a:extLst>
              <a:ext uri="{FF2B5EF4-FFF2-40B4-BE49-F238E27FC236}">
                <a16:creationId xmlns:a16="http://schemas.microsoft.com/office/drawing/2014/main" id="{26CD6863-1AAF-5691-F0D5-C6A29AB25BB4}"/>
              </a:ext>
            </a:extLst>
          </p:cNvPr>
          <p:cNvSpPr/>
          <p:nvPr/>
        </p:nvSpPr>
        <p:spPr>
          <a:xfrm>
            <a:off x="558800" y="3390900"/>
            <a:ext cx="11074400" cy="7239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C850C5E-A130-163A-EE64-EEED42CF1B4B}"/>
              </a:ext>
            </a:extLst>
          </p:cNvPr>
          <p:cNvSpPr txBox="1"/>
          <p:nvPr/>
        </p:nvSpPr>
        <p:spPr>
          <a:xfrm>
            <a:off x="762000" y="35433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ERA5</a:t>
            </a:r>
          </a:p>
        </p:txBody>
      </p:sp>
      <p:sp>
        <p:nvSpPr>
          <p:cNvPr id="16" name="TextBox 15">
            <a:extLst>
              <a:ext uri="{FF2B5EF4-FFF2-40B4-BE49-F238E27FC236}">
                <a16:creationId xmlns:a16="http://schemas.microsoft.com/office/drawing/2014/main" id="{5FAEF0F3-8969-A34E-0758-3470363DB3EA}"/>
              </a:ext>
            </a:extLst>
          </p:cNvPr>
          <p:cNvSpPr txBox="1"/>
          <p:nvPr/>
        </p:nvSpPr>
        <p:spPr>
          <a:xfrm>
            <a:off x="3708400" y="3517900"/>
            <a:ext cx="76835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Khí tượng đã xảy ra: nghiên cứu hồi cứu và huấn luyện thử.</a:t>
            </a:r>
            <a:endParaRPr lang="en-US" sz="1600">
              <a:solidFill>
                <a:srgbClr val="253543"/>
              </a:solidFill>
              <a:latin typeface="Arial" panose="020B0604020202020204" pitchFamily="34" charset="0"/>
            </a:endParaRPr>
          </a:p>
        </p:txBody>
      </p:sp>
      <p:sp>
        <p:nvSpPr>
          <p:cNvPr id="17" name="Rectangle 16">
            <a:extLst>
              <a:ext uri="{FF2B5EF4-FFF2-40B4-BE49-F238E27FC236}">
                <a16:creationId xmlns:a16="http://schemas.microsoft.com/office/drawing/2014/main" id="{EF23C15D-E6C9-EB66-9DED-DAA74B9CDEEF}"/>
              </a:ext>
            </a:extLst>
          </p:cNvPr>
          <p:cNvSpPr/>
          <p:nvPr/>
        </p:nvSpPr>
        <p:spPr>
          <a:xfrm>
            <a:off x="558800" y="4203700"/>
            <a:ext cx="11074400" cy="7239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8F47BBC-5EF3-6E13-F567-3115B6D1C4CD}"/>
              </a:ext>
            </a:extLst>
          </p:cNvPr>
          <p:cNvSpPr txBox="1"/>
          <p:nvPr/>
        </p:nvSpPr>
        <p:spPr>
          <a:xfrm>
            <a:off x="762000" y="43561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ECMWF IFS</a:t>
            </a:r>
          </a:p>
        </p:txBody>
      </p:sp>
      <p:sp>
        <p:nvSpPr>
          <p:cNvPr id="19" name="TextBox 18">
            <a:extLst>
              <a:ext uri="{FF2B5EF4-FFF2-40B4-BE49-F238E27FC236}">
                <a16:creationId xmlns:a16="http://schemas.microsoft.com/office/drawing/2014/main" id="{C36F4CAC-7C1C-D0C6-0FAF-0800BD45EF08}"/>
              </a:ext>
            </a:extLst>
          </p:cNvPr>
          <p:cNvSpPr txBox="1"/>
          <p:nvPr/>
        </p:nvSpPr>
        <p:spPr>
          <a:xfrm>
            <a:off x="3708400" y="4330700"/>
            <a:ext cx="7683500" cy="246221"/>
          </a:xfrm>
          <a:prstGeom prst="rect">
            <a:avLst/>
          </a:prstGeom>
          <a:noFill/>
        </p:spPr>
        <p:txBody>
          <a:bodyPr vert="horz" wrap="square" lIns="0" tIns="0" rIns="0" bIns="0" rtlCol="0">
            <a:spAutoFit/>
          </a:bodyPr>
          <a:lstStyle/>
          <a:p>
            <a:r>
              <a:rPr lang="en-US" sz="1600">
                <a:solidFill>
                  <a:srgbClr val="253543"/>
                </a:solidFill>
                <a:latin typeface="Arial" panose="020B0604020202020204" pitchFamily="34" charset="0"/>
              </a:rPr>
              <a:t>Bản dự báo đã phát hành: đầu vào vận hành và đối chứng app.</a:t>
            </a:r>
          </a:p>
        </p:txBody>
      </p:sp>
      <p:sp>
        <p:nvSpPr>
          <p:cNvPr id="20" name="Rectangle 19">
            <a:extLst>
              <a:ext uri="{FF2B5EF4-FFF2-40B4-BE49-F238E27FC236}">
                <a16:creationId xmlns:a16="http://schemas.microsoft.com/office/drawing/2014/main" id="{0E51B1C3-8C8E-6C9E-9FFB-ED7BA343905F}"/>
              </a:ext>
            </a:extLst>
          </p:cNvPr>
          <p:cNvSpPr/>
          <p:nvPr/>
        </p:nvSpPr>
        <p:spPr>
          <a:xfrm>
            <a:off x="558800" y="5016500"/>
            <a:ext cx="11074400" cy="7239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8039C98-3950-455D-59C6-04CD6D2A9380}"/>
              </a:ext>
            </a:extLst>
          </p:cNvPr>
          <p:cNvSpPr txBox="1"/>
          <p:nvPr/>
        </p:nvSpPr>
        <p:spPr>
          <a:xfrm>
            <a:off x="762000" y="51689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Trạm GSOD</a:t>
            </a:r>
          </a:p>
        </p:txBody>
      </p:sp>
      <p:sp>
        <p:nvSpPr>
          <p:cNvPr id="22" name="TextBox 21">
            <a:extLst>
              <a:ext uri="{FF2B5EF4-FFF2-40B4-BE49-F238E27FC236}">
                <a16:creationId xmlns:a16="http://schemas.microsoft.com/office/drawing/2014/main" id="{3A75EA05-A7B9-A689-EEB0-A95FA3A79881}"/>
              </a:ext>
            </a:extLst>
          </p:cNvPr>
          <p:cNvSpPr txBox="1"/>
          <p:nvPr/>
        </p:nvSpPr>
        <p:spPr>
          <a:xfrm>
            <a:off x="3708400" y="5143500"/>
            <a:ext cx="76835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Đối chiếu độc lập một phần cho mưa ngày; chưa có trạm giờ rộng.</a:t>
            </a:r>
            <a:endParaRPr lang="en-US" sz="1600">
              <a:solidFill>
                <a:srgbClr val="253543"/>
              </a:solidFill>
              <a:latin typeface="Arial" panose="020B0604020202020204" pitchFamily="34" charset="0"/>
            </a:endParaRPr>
          </a:p>
        </p:txBody>
      </p:sp>
      <p:sp>
        <p:nvSpPr>
          <p:cNvPr id="23" name="TextBox 22">
            <a:extLst>
              <a:ext uri="{FF2B5EF4-FFF2-40B4-BE49-F238E27FC236}">
                <a16:creationId xmlns:a16="http://schemas.microsoft.com/office/drawing/2014/main" id="{3C3F5F54-8E90-E0AA-F2A7-436421730FBB}"/>
              </a:ext>
            </a:extLst>
          </p:cNvPr>
          <p:cNvSpPr txBox="1"/>
          <p:nvPr/>
        </p:nvSpPr>
        <p:spPr>
          <a:xfrm>
            <a:off x="558800" y="5880100"/>
            <a:ext cx="11074400" cy="246221"/>
          </a:xfrm>
          <a:prstGeom prst="rect">
            <a:avLst/>
          </a:prstGeom>
          <a:noFill/>
        </p:spPr>
        <p:txBody>
          <a:bodyPr vert="horz" wrap="square" lIns="0" tIns="0" rIns="0" bIns="0" rtlCol="0">
            <a:spAutoFit/>
          </a:bodyPr>
          <a:lstStyle/>
          <a:p>
            <a:r>
              <a:rPr lang="vi-VN" sz="1600" b="1">
                <a:solidFill>
                  <a:srgbClr val="DC772F"/>
                </a:solidFill>
                <a:latin typeface="Arial" panose="020B0604020202020204" pitchFamily="34" charset="0"/>
              </a:rPr>
              <a:t>Giờ dự báo thật chỉ được dùng dữ liệu đã tồn tại trước giờ phát hành.</a:t>
            </a:r>
            <a:endParaRPr lang="en-US" sz="1600" b="1">
              <a:solidFill>
                <a:srgbClr val="DC772F"/>
              </a:solidFill>
              <a:latin typeface="Arial" panose="020B0604020202020204" pitchFamily="34" charset="0"/>
            </a:endParaRPr>
          </a:p>
        </p:txBody>
      </p:sp>
      <p:sp>
        <p:nvSpPr>
          <p:cNvPr id="24" name="TextBox 23">
            <a:extLst>
              <a:ext uri="{FF2B5EF4-FFF2-40B4-BE49-F238E27FC236}">
                <a16:creationId xmlns:a16="http://schemas.microsoft.com/office/drawing/2014/main" id="{9C9FD641-FF18-7A28-4586-3FC5C83AAF5E}"/>
              </a:ext>
            </a:extLst>
          </p:cNvPr>
          <p:cNvSpPr txBox="1"/>
          <p:nvPr/>
        </p:nvSpPr>
        <p:spPr>
          <a:xfrm>
            <a:off x="11087100" y="6451600"/>
            <a:ext cx="5461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4</a:t>
            </a:r>
          </a:p>
        </p:txBody>
      </p:sp>
    </p:spTree>
    <p:extLst>
      <p:ext uri="{BB962C8B-B14F-4D97-AF65-F5344CB8AC3E}">
        <p14:creationId xmlns:p14="http://schemas.microsoft.com/office/powerpoint/2010/main" val="2594590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35A327-64E8-CA9C-0787-34311B1886B4}"/>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7601D71-B1D5-F279-DC30-C712C2055CE1}"/>
              </a:ext>
            </a:extLst>
          </p:cNvPr>
          <p:cNvSpPr txBox="1"/>
          <p:nvPr/>
        </p:nvSpPr>
        <p:spPr>
          <a:xfrm>
            <a:off x="558800" y="304800"/>
            <a:ext cx="9652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DỮ LIỆU &amp; THIẾT KẾ THỬ NGHIỆM</a:t>
            </a:r>
          </a:p>
        </p:txBody>
      </p:sp>
      <p:sp>
        <p:nvSpPr>
          <p:cNvPr id="4" name="TextBox 3">
            <a:extLst>
              <a:ext uri="{FF2B5EF4-FFF2-40B4-BE49-F238E27FC236}">
                <a16:creationId xmlns:a16="http://schemas.microsoft.com/office/drawing/2014/main" id="{1D099DF2-358D-0918-576F-3C88EA93DE7A}"/>
              </a:ext>
            </a:extLst>
          </p:cNvPr>
          <p:cNvSpPr txBox="1"/>
          <p:nvPr/>
        </p:nvSpPr>
        <p:spPr>
          <a:xfrm>
            <a:off x="558800" y="660400"/>
            <a:ext cx="11049000" cy="446276"/>
          </a:xfrm>
          <a:prstGeom prst="rect">
            <a:avLst/>
          </a:prstGeom>
          <a:noFill/>
        </p:spPr>
        <p:txBody>
          <a:bodyPr vert="horz" wrap="square" lIns="0" tIns="0" rIns="0" bIns="0" rtlCol="0">
            <a:spAutoFit/>
          </a:bodyPr>
          <a:lstStyle/>
          <a:p>
            <a:r>
              <a:rPr lang="en-US" sz="2900" b="1">
                <a:solidFill>
                  <a:srgbClr val="172B41"/>
                </a:solidFill>
                <a:latin typeface="Arial" panose="020B0604020202020204" pitchFamily="34" charset="0"/>
              </a:rPr>
              <a:t>Chọn nhãn đúng rồi mới so mô hình</a:t>
            </a:r>
          </a:p>
        </p:txBody>
      </p:sp>
      <p:sp>
        <p:nvSpPr>
          <p:cNvPr id="5" name="Rectangle 4">
            <a:extLst>
              <a:ext uri="{FF2B5EF4-FFF2-40B4-BE49-F238E27FC236}">
                <a16:creationId xmlns:a16="http://schemas.microsoft.com/office/drawing/2014/main" id="{3A247F9E-DB01-E927-262B-9ECB450624EC}"/>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4A17E13-7629-AB98-F650-04F1DDA0FB1A}"/>
              </a:ext>
            </a:extLst>
          </p:cNvPr>
          <p:cNvSpPr txBox="1"/>
          <p:nvPr/>
        </p:nvSpPr>
        <p:spPr>
          <a:xfrm>
            <a:off x="558800" y="6451600"/>
            <a:ext cx="8255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7" name="TextBox 6">
            <a:extLst>
              <a:ext uri="{FF2B5EF4-FFF2-40B4-BE49-F238E27FC236}">
                <a16:creationId xmlns:a16="http://schemas.microsoft.com/office/drawing/2014/main" id="{DDE0A0D0-C69B-2C60-EDEE-6FF8B60616E0}"/>
              </a:ext>
            </a:extLst>
          </p:cNvPr>
          <p:cNvSpPr txBox="1"/>
          <p:nvPr/>
        </p:nvSpPr>
        <p:spPr>
          <a:xfrm>
            <a:off x="11049000" y="6451600"/>
            <a:ext cx="584200" cy="153888"/>
          </a:xfrm>
          <a:prstGeom prst="rect">
            <a:avLst/>
          </a:prstGeom>
          <a:noFill/>
        </p:spPr>
        <p:txBody>
          <a:bodyPr vert="horz" wrap="square" lIns="0" tIns="0" rIns="0" bIns="0" rtlCol="0">
            <a:spAutoFit/>
          </a:bodyPr>
          <a:lstStyle/>
          <a:p>
            <a:pPr algn="r"/>
            <a:r>
              <a:rPr lang="en-US" sz="1000">
                <a:solidFill>
                  <a:srgbClr val="5D6F7E"/>
                </a:solidFill>
                <a:latin typeface="Arial" panose="020B0604020202020204" pitchFamily="34" charset="0"/>
              </a:rPr>
              <a:t>5</a:t>
            </a:r>
          </a:p>
        </p:txBody>
      </p:sp>
      <p:sp>
        <p:nvSpPr>
          <p:cNvPr id="8" name="TextBox 7">
            <a:extLst>
              <a:ext uri="{FF2B5EF4-FFF2-40B4-BE49-F238E27FC236}">
                <a16:creationId xmlns:a16="http://schemas.microsoft.com/office/drawing/2014/main" id="{C799727C-4A68-C817-BFDF-123D6C1BE86F}"/>
              </a:ext>
            </a:extLst>
          </p:cNvPr>
          <p:cNvSpPr txBox="1"/>
          <p:nvPr/>
        </p:nvSpPr>
        <p:spPr>
          <a:xfrm>
            <a:off x="558800" y="1676400"/>
            <a:ext cx="9588500" cy="276999"/>
          </a:xfrm>
          <a:prstGeom prst="rect">
            <a:avLst/>
          </a:prstGeom>
          <a:noFill/>
        </p:spPr>
        <p:txBody>
          <a:bodyPr vert="horz" wrap="square" lIns="0" tIns="0" rIns="0" bIns="0" rtlCol="0">
            <a:spAutoFit/>
          </a:bodyPr>
          <a:lstStyle/>
          <a:p>
            <a:r>
              <a:rPr lang="vi-VN" b="1">
                <a:solidFill>
                  <a:srgbClr val="253543"/>
                </a:solidFill>
                <a:latin typeface="Arial" panose="020B0604020202020204" pitchFamily="34" charset="0"/>
              </a:rPr>
              <a:t>CSI bắt ngày mưa ≥50 mm tại 10 trạm GSOD</a:t>
            </a:r>
            <a:endParaRPr lang="en-US" b="1">
              <a:solidFill>
                <a:srgbClr val="253543"/>
              </a:solidFill>
              <a:latin typeface="Arial" panose="020B0604020202020204" pitchFamily="34" charset="0"/>
            </a:endParaRPr>
          </a:p>
        </p:txBody>
      </p:sp>
      <p:sp>
        <p:nvSpPr>
          <p:cNvPr id="9" name="Rectangle 8">
            <a:extLst>
              <a:ext uri="{FF2B5EF4-FFF2-40B4-BE49-F238E27FC236}">
                <a16:creationId xmlns:a16="http://schemas.microsoft.com/office/drawing/2014/main" id="{01DC2E36-DCDB-482B-3C65-327F85C7BEC8}"/>
              </a:ext>
            </a:extLst>
          </p:cNvPr>
          <p:cNvSpPr/>
          <p:nvPr/>
        </p:nvSpPr>
        <p:spPr>
          <a:xfrm>
            <a:off x="558800" y="2209800"/>
            <a:ext cx="3454400" cy="13081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C4E9385-4CA9-493B-55D3-4BB1B9130AF3}"/>
              </a:ext>
            </a:extLst>
          </p:cNvPr>
          <p:cNvSpPr txBox="1"/>
          <p:nvPr/>
        </p:nvSpPr>
        <p:spPr>
          <a:xfrm>
            <a:off x="749300" y="2374900"/>
            <a:ext cx="3048000" cy="261610"/>
          </a:xfrm>
          <a:prstGeom prst="rect">
            <a:avLst/>
          </a:prstGeom>
          <a:noFill/>
        </p:spPr>
        <p:txBody>
          <a:bodyPr vert="horz" wrap="square" lIns="0" tIns="0" rIns="0" bIns="0" rtlCol="0">
            <a:spAutoFit/>
          </a:bodyPr>
          <a:lstStyle/>
          <a:p>
            <a:r>
              <a:rPr lang="en-US" sz="1700" b="1">
                <a:solidFill>
                  <a:srgbClr val="253543"/>
                </a:solidFill>
                <a:latin typeface="Arial" panose="020B0604020202020204" pitchFamily="34" charset="0"/>
              </a:rPr>
              <a:t>GSMaP GC v8</a:t>
            </a:r>
          </a:p>
        </p:txBody>
      </p:sp>
      <p:sp>
        <p:nvSpPr>
          <p:cNvPr id="11" name="TextBox 10">
            <a:extLst>
              <a:ext uri="{FF2B5EF4-FFF2-40B4-BE49-F238E27FC236}">
                <a16:creationId xmlns:a16="http://schemas.microsoft.com/office/drawing/2014/main" id="{CE909196-68FC-C859-7449-426A847387AA}"/>
              </a:ext>
            </a:extLst>
          </p:cNvPr>
          <p:cNvSpPr txBox="1"/>
          <p:nvPr/>
        </p:nvSpPr>
        <p:spPr>
          <a:xfrm>
            <a:off x="749300" y="2781300"/>
            <a:ext cx="3048000" cy="492443"/>
          </a:xfrm>
          <a:prstGeom prst="rect">
            <a:avLst/>
          </a:prstGeom>
          <a:noFill/>
        </p:spPr>
        <p:txBody>
          <a:bodyPr vert="horz" wrap="square" lIns="0" tIns="0" rIns="0" bIns="0" rtlCol="0">
            <a:spAutoFit/>
          </a:bodyPr>
          <a:lstStyle/>
          <a:p>
            <a:r>
              <a:rPr lang="en-US" sz="3200" b="1">
                <a:solidFill>
                  <a:srgbClr val="007E87"/>
                </a:solidFill>
                <a:latin typeface="Arial" panose="020B0604020202020204" pitchFamily="34" charset="0"/>
              </a:rPr>
              <a:t>0,33</a:t>
            </a:r>
          </a:p>
        </p:txBody>
      </p:sp>
      <p:sp>
        <p:nvSpPr>
          <p:cNvPr id="12" name="Rectangle 11">
            <a:extLst>
              <a:ext uri="{FF2B5EF4-FFF2-40B4-BE49-F238E27FC236}">
                <a16:creationId xmlns:a16="http://schemas.microsoft.com/office/drawing/2014/main" id="{71C86246-31DC-D720-913D-441835407ECC}"/>
              </a:ext>
            </a:extLst>
          </p:cNvPr>
          <p:cNvSpPr/>
          <p:nvPr/>
        </p:nvSpPr>
        <p:spPr>
          <a:xfrm>
            <a:off x="4267200" y="2209800"/>
            <a:ext cx="3454400" cy="13081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02BB0A0-7DD1-B5B6-338B-17C54DF046B3}"/>
              </a:ext>
            </a:extLst>
          </p:cNvPr>
          <p:cNvSpPr txBox="1"/>
          <p:nvPr/>
        </p:nvSpPr>
        <p:spPr>
          <a:xfrm>
            <a:off x="4457700" y="2374900"/>
            <a:ext cx="3048000" cy="261610"/>
          </a:xfrm>
          <a:prstGeom prst="rect">
            <a:avLst/>
          </a:prstGeom>
          <a:noFill/>
        </p:spPr>
        <p:txBody>
          <a:bodyPr vert="horz" wrap="square" lIns="0" tIns="0" rIns="0" bIns="0" rtlCol="0">
            <a:spAutoFit/>
          </a:bodyPr>
          <a:lstStyle/>
          <a:p>
            <a:r>
              <a:rPr lang="en-US" sz="1700" b="1">
                <a:solidFill>
                  <a:srgbClr val="253543"/>
                </a:solidFill>
                <a:latin typeface="Arial" panose="020B0604020202020204" pitchFamily="34" charset="0"/>
              </a:rPr>
              <a:t>IMERG</a:t>
            </a:r>
          </a:p>
        </p:txBody>
      </p:sp>
      <p:sp>
        <p:nvSpPr>
          <p:cNvPr id="14" name="TextBox 13">
            <a:extLst>
              <a:ext uri="{FF2B5EF4-FFF2-40B4-BE49-F238E27FC236}">
                <a16:creationId xmlns:a16="http://schemas.microsoft.com/office/drawing/2014/main" id="{241C1419-9881-661C-FE0A-CA6FCB65DA50}"/>
              </a:ext>
            </a:extLst>
          </p:cNvPr>
          <p:cNvSpPr txBox="1"/>
          <p:nvPr/>
        </p:nvSpPr>
        <p:spPr>
          <a:xfrm>
            <a:off x="4457700" y="2781300"/>
            <a:ext cx="3048000" cy="492443"/>
          </a:xfrm>
          <a:prstGeom prst="rect">
            <a:avLst/>
          </a:prstGeom>
          <a:noFill/>
        </p:spPr>
        <p:txBody>
          <a:bodyPr vert="horz" wrap="square" lIns="0" tIns="0" rIns="0" bIns="0" rtlCol="0">
            <a:spAutoFit/>
          </a:bodyPr>
          <a:lstStyle/>
          <a:p>
            <a:r>
              <a:rPr lang="en-US" sz="3200" b="1">
                <a:solidFill>
                  <a:srgbClr val="172B41"/>
                </a:solidFill>
                <a:latin typeface="Arial" panose="020B0604020202020204" pitchFamily="34" charset="0"/>
              </a:rPr>
              <a:t>0,22</a:t>
            </a:r>
          </a:p>
        </p:txBody>
      </p:sp>
      <p:sp>
        <p:nvSpPr>
          <p:cNvPr id="15" name="Rectangle 14">
            <a:extLst>
              <a:ext uri="{FF2B5EF4-FFF2-40B4-BE49-F238E27FC236}">
                <a16:creationId xmlns:a16="http://schemas.microsoft.com/office/drawing/2014/main" id="{82A4A037-4968-3AED-8108-D298CE65D5CA}"/>
              </a:ext>
            </a:extLst>
          </p:cNvPr>
          <p:cNvSpPr/>
          <p:nvPr/>
        </p:nvSpPr>
        <p:spPr>
          <a:xfrm>
            <a:off x="7975600" y="2209800"/>
            <a:ext cx="3454400" cy="13081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6B7AEBC-D0AB-0050-214D-F04107E019A2}"/>
              </a:ext>
            </a:extLst>
          </p:cNvPr>
          <p:cNvSpPr txBox="1"/>
          <p:nvPr/>
        </p:nvSpPr>
        <p:spPr>
          <a:xfrm>
            <a:off x="8166100" y="2374900"/>
            <a:ext cx="3048000" cy="261610"/>
          </a:xfrm>
          <a:prstGeom prst="rect">
            <a:avLst/>
          </a:prstGeom>
          <a:noFill/>
        </p:spPr>
        <p:txBody>
          <a:bodyPr vert="horz" wrap="square" lIns="0" tIns="0" rIns="0" bIns="0" rtlCol="0">
            <a:spAutoFit/>
          </a:bodyPr>
          <a:lstStyle/>
          <a:p>
            <a:r>
              <a:rPr lang="en-US" sz="1700" b="1">
                <a:solidFill>
                  <a:srgbClr val="253543"/>
                </a:solidFill>
                <a:latin typeface="Arial" panose="020B0604020202020204" pitchFamily="34" charset="0"/>
              </a:rPr>
              <a:t>ERA5</a:t>
            </a:r>
          </a:p>
        </p:txBody>
      </p:sp>
      <p:sp>
        <p:nvSpPr>
          <p:cNvPr id="17" name="TextBox 16">
            <a:extLst>
              <a:ext uri="{FF2B5EF4-FFF2-40B4-BE49-F238E27FC236}">
                <a16:creationId xmlns:a16="http://schemas.microsoft.com/office/drawing/2014/main" id="{1CC95A78-CCAB-8CBC-C977-6733DD5DDCEB}"/>
              </a:ext>
            </a:extLst>
          </p:cNvPr>
          <p:cNvSpPr txBox="1"/>
          <p:nvPr/>
        </p:nvSpPr>
        <p:spPr>
          <a:xfrm>
            <a:off x="8166100" y="2781300"/>
            <a:ext cx="3048000" cy="492443"/>
          </a:xfrm>
          <a:prstGeom prst="rect">
            <a:avLst/>
          </a:prstGeom>
          <a:noFill/>
        </p:spPr>
        <p:txBody>
          <a:bodyPr vert="horz" wrap="square" lIns="0" tIns="0" rIns="0" bIns="0" rtlCol="0">
            <a:spAutoFit/>
          </a:bodyPr>
          <a:lstStyle/>
          <a:p>
            <a:r>
              <a:rPr lang="en-US" sz="3200" b="1">
                <a:solidFill>
                  <a:srgbClr val="172B41"/>
                </a:solidFill>
                <a:latin typeface="Arial" panose="020B0604020202020204" pitchFamily="34" charset="0"/>
              </a:rPr>
              <a:t>0,17</a:t>
            </a:r>
          </a:p>
        </p:txBody>
      </p:sp>
      <p:sp>
        <p:nvSpPr>
          <p:cNvPr id="18" name="TextBox 17">
            <a:extLst>
              <a:ext uri="{FF2B5EF4-FFF2-40B4-BE49-F238E27FC236}">
                <a16:creationId xmlns:a16="http://schemas.microsoft.com/office/drawing/2014/main" id="{E60CBDA9-3E79-20B5-C733-070C96C3F7A5}"/>
              </a:ext>
            </a:extLst>
          </p:cNvPr>
          <p:cNvSpPr txBox="1"/>
          <p:nvPr/>
        </p:nvSpPr>
        <p:spPr>
          <a:xfrm>
            <a:off x="558800" y="3746500"/>
            <a:ext cx="11049000" cy="292388"/>
          </a:xfrm>
          <a:prstGeom prst="rect">
            <a:avLst/>
          </a:prstGeom>
          <a:noFill/>
        </p:spPr>
        <p:txBody>
          <a:bodyPr vert="horz" wrap="square" lIns="0" tIns="0" rIns="0" bIns="0" rtlCol="0">
            <a:spAutoFit/>
          </a:bodyPr>
          <a:lstStyle/>
          <a:p>
            <a:r>
              <a:rPr lang="vi-VN" sz="1900">
                <a:solidFill>
                  <a:srgbClr val="253543"/>
                </a:solidFill>
                <a:latin typeface="Arial" panose="020B0604020202020204" pitchFamily="34" charset="0"/>
              </a:rPr>
              <a:t>ERA5 mưa bỏ sót nhiều ngày cực đoan ở audit cũ; dùng GSMaP GC làm nhãn nghiên cứu.</a:t>
            </a:r>
            <a:endParaRPr lang="en-US" sz="1900">
              <a:solidFill>
                <a:srgbClr val="253543"/>
              </a:solidFill>
              <a:latin typeface="Arial" panose="020B0604020202020204" pitchFamily="34" charset="0"/>
            </a:endParaRPr>
          </a:p>
        </p:txBody>
      </p:sp>
      <p:sp>
        <p:nvSpPr>
          <p:cNvPr id="19" name="Rectangle 18">
            <a:extLst>
              <a:ext uri="{FF2B5EF4-FFF2-40B4-BE49-F238E27FC236}">
                <a16:creationId xmlns:a16="http://schemas.microsoft.com/office/drawing/2014/main" id="{A707FF81-1A7C-DFEE-C970-19E84D95B299}"/>
              </a:ext>
            </a:extLst>
          </p:cNvPr>
          <p:cNvSpPr/>
          <p:nvPr/>
        </p:nvSpPr>
        <p:spPr>
          <a:xfrm>
            <a:off x="558800" y="46990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B2E762D-9F86-F00D-37A0-0FB7E819BD93}"/>
              </a:ext>
            </a:extLst>
          </p:cNvPr>
          <p:cNvSpPr txBox="1"/>
          <p:nvPr/>
        </p:nvSpPr>
        <p:spPr>
          <a:xfrm>
            <a:off x="558800" y="4927600"/>
            <a:ext cx="11074400" cy="276999"/>
          </a:xfrm>
          <a:prstGeom prst="rect">
            <a:avLst/>
          </a:prstGeom>
          <a:noFill/>
        </p:spPr>
        <p:txBody>
          <a:bodyPr vert="horz" wrap="square" lIns="0" tIns="0" rIns="0" bIns="0" rtlCol="0">
            <a:spAutoFit/>
          </a:bodyPr>
          <a:lstStyle/>
          <a:p>
            <a:r>
              <a:rPr lang="en-US" b="1">
                <a:solidFill>
                  <a:srgbClr val="172B41"/>
                </a:solidFill>
                <a:latin typeface="Arial" panose="020B0604020202020204" pitchFamily="34" charset="0"/>
              </a:rPr>
              <a:t>93 ô Đà Nẵng  →  30 ô cố định để so sánh  →  3 năm validation (2021–23) × 3 seed</a:t>
            </a:r>
          </a:p>
        </p:txBody>
      </p:sp>
      <p:sp>
        <p:nvSpPr>
          <p:cNvPr id="21" name="TextBox 20">
            <a:extLst>
              <a:ext uri="{FF2B5EF4-FFF2-40B4-BE49-F238E27FC236}">
                <a16:creationId xmlns:a16="http://schemas.microsoft.com/office/drawing/2014/main" id="{045E5774-EEFB-D95C-6E1B-52E05DAC6979}"/>
              </a:ext>
            </a:extLst>
          </p:cNvPr>
          <p:cNvSpPr txBox="1"/>
          <p:nvPr/>
        </p:nvSpPr>
        <p:spPr>
          <a:xfrm>
            <a:off x="558800" y="5715000"/>
            <a:ext cx="11074400" cy="215444"/>
          </a:xfrm>
          <a:prstGeom prst="rect">
            <a:avLst/>
          </a:prstGeom>
          <a:noFill/>
        </p:spPr>
        <p:txBody>
          <a:bodyPr vert="horz" wrap="square" lIns="0" tIns="0" rIns="0" bIns="0" rtlCol="0">
            <a:spAutoFit/>
          </a:bodyPr>
          <a:lstStyle/>
          <a:p>
            <a:r>
              <a:rPr lang="vi-VN" sz="1400">
                <a:solidFill>
                  <a:srgbClr val="DC772F"/>
                </a:solidFill>
                <a:latin typeface="Arial" panose="020B0604020202020204" pitchFamily="34" charset="0"/>
              </a:rPr>
              <a:t>Test 2025 giữ kín. GSMaP GC có hiệu chỉnh trạm: benchmark GSOD chưa hoàn toàn độc lập.</a:t>
            </a:r>
            <a:endParaRPr lang="en-US" sz="1400">
              <a:solidFill>
                <a:srgbClr val="DC772F"/>
              </a:solidFill>
              <a:latin typeface="Arial" panose="020B0604020202020204" pitchFamily="34" charset="0"/>
            </a:endParaRPr>
          </a:p>
        </p:txBody>
      </p:sp>
    </p:spTree>
    <p:extLst>
      <p:ext uri="{BB962C8B-B14F-4D97-AF65-F5344CB8AC3E}">
        <p14:creationId xmlns:p14="http://schemas.microsoft.com/office/powerpoint/2010/main" val="3988427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0EDA86-346D-C350-72A9-B3F5727CD788}"/>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2E14564-0FA1-94A1-119F-07F45EF5B5A0}"/>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4B4E1A-13C0-FDB4-3F28-6BA7436E2BE3}"/>
              </a:ext>
            </a:extLst>
          </p:cNvPr>
          <p:cNvSpPr txBox="1"/>
          <p:nvPr/>
        </p:nvSpPr>
        <p:spPr>
          <a:xfrm>
            <a:off x="558800" y="304800"/>
            <a:ext cx="10795000" cy="169277"/>
          </a:xfrm>
          <a:prstGeom prst="rect">
            <a:avLst/>
          </a:prstGeom>
          <a:noFill/>
        </p:spPr>
        <p:txBody>
          <a:bodyPr vert="horz" wrap="square" lIns="0" tIns="0" rIns="0" bIns="0" rtlCol="0">
            <a:spAutoFit/>
          </a:bodyPr>
          <a:lstStyle/>
          <a:p>
            <a:r>
              <a:rPr lang="vi-VN" sz="1100" b="1">
                <a:solidFill>
                  <a:srgbClr val="007E87"/>
                </a:solidFill>
                <a:latin typeface="Arial" panose="020B0604020202020204" pitchFamily="34" charset="0"/>
              </a:rPr>
              <a:t>PHƯƠNG PHÁP</a:t>
            </a:r>
            <a:endParaRPr lang="en-US" sz="1100" b="1">
              <a:solidFill>
                <a:srgbClr val="007E87"/>
              </a:solidFill>
              <a:latin typeface="Arial" panose="020B0604020202020204" pitchFamily="34" charset="0"/>
            </a:endParaRPr>
          </a:p>
        </p:txBody>
      </p:sp>
      <p:sp>
        <p:nvSpPr>
          <p:cNvPr id="5" name="TextBox 4">
            <a:extLst>
              <a:ext uri="{FF2B5EF4-FFF2-40B4-BE49-F238E27FC236}">
                <a16:creationId xmlns:a16="http://schemas.microsoft.com/office/drawing/2014/main" id="{519E4A00-1819-FBB9-64A6-B059CA7C5E16}"/>
              </a:ext>
            </a:extLst>
          </p:cNvPr>
          <p:cNvSpPr txBox="1"/>
          <p:nvPr/>
        </p:nvSpPr>
        <p:spPr>
          <a:xfrm>
            <a:off x="558800" y="660400"/>
            <a:ext cx="11074400" cy="446276"/>
          </a:xfrm>
          <a:prstGeom prst="rect">
            <a:avLst/>
          </a:prstGeom>
          <a:noFill/>
        </p:spPr>
        <p:txBody>
          <a:bodyPr vert="horz" wrap="square" lIns="0" tIns="0" rIns="0" bIns="0" rtlCol="0">
            <a:spAutoFit/>
          </a:bodyPr>
          <a:lstStyle/>
          <a:p>
            <a:r>
              <a:rPr lang="en-US" sz="2900" b="1">
                <a:solidFill>
                  <a:srgbClr val="172B41"/>
                </a:solidFill>
                <a:latin typeface="Arial" panose="020B0604020202020204" pitchFamily="34" charset="0"/>
              </a:rPr>
              <a:t>So cùng dữ liệu để biết thay đổi nào thật sự giúp</a:t>
            </a:r>
          </a:p>
        </p:txBody>
      </p:sp>
      <p:sp>
        <p:nvSpPr>
          <p:cNvPr id="6" name="Rectangle 5">
            <a:extLst>
              <a:ext uri="{FF2B5EF4-FFF2-40B4-BE49-F238E27FC236}">
                <a16:creationId xmlns:a16="http://schemas.microsoft.com/office/drawing/2014/main" id="{D51AC044-5060-5950-926E-7E942A333FB5}"/>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CAF577E-1C6A-6390-3C15-B856EC0A661F}"/>
              </a:ext>
            </a:extLst>
          </p:cNvPr>
          <p:cNvSpPr txBox="1"/>
          <p:nvPr/>
        </p:nvSpPr>
        <p:spPr>
          <a:xfrm>
            <a:off x="558800" y="6451600"/>
            <a:ext cx="8382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8" name="TextBox 7">
            <a:extLst>
              <a:ext uri="{FF2B5EF4-FFF2-40B4-BE49-F238E27FC236}">
                <a16:creationId xmlns:a16="http://schemas.microsoft.com/office/drawing/2014/main" id="{198CD49D-9955-BAC0-2053-8E230591B9F7}"/>
              </a:ext>
            </a:extLst>
          </p:cNvPr>
          <p:cNvSpPr txBox="1"/>
          <p:nvPr/>
        </p:nvSpPr>
        <p:spPr>
          <a:xfrm>
            <a:off x="558800" y="1739900"/>
            <a:ext cx="5334000" cy="307777"/>
          </a:xfrm>
          <a:prstGeom prst="rect">
            <a:avLst/>
          </a:prstGeom>
          <a:noFill/>
        </p:spPr>
        <p:txBody>
          <a:bodyPr vert="horz" wrap="square" lIns="0" tIns="0" rIns="0" bIns="0" rtlCol="0">
            <a:spAutoFit/>
          </a:bodyPr>
          <a:lstStyle/>
          <a:p>
            <a:r>
              <a:rPr lang="en-US" sz="2000" b="1">
                <a:solidFill>
                  <a:srgbClr val="172B41"/>
                </a:solidFill>
                <a:latin typeface="Arial" panose="020B0604020202020204" pitchFamily="34" charset="0"/>
              </a:rPr>
              <a:t>Thiết kế phép so</a:t>
            </a:r>
          </a:p>
        </p:txBody>
      </p:sp>
      <p:sp>
        <p:nvSpPr>
          <p:cNvPr id="9" name="TextBox 8">
            <a:extLst>
              <a:ext uri="{FF2B5EF4-FFF2-40B4-BE49-F238E27FC236}">
                <a16:creationId xmlns:a16="http://schemas.microsoft.com/office/drawing/2014/main" id="{0C8162A5-B573-D3D9-FAC5-DDC977F95B9A}"/>
              </a:ext>
            </a:extLst>
          </p:cNvPr>
          <p:cNvSpPr txBox="1"/>
          <p:nvPr/>
        </p:nvSpPr>
        <p:spPr>
          <a:xfrm>
            <a:off x="558800" y="2349500"/>
            <a:ext cx="5283200" cy="276999"/>
          </a:xfrm>
          <a:prstGeom prst="rect">
            <a:avLst/>
          </a:prstGeom>
          <a:noFill/>
        </p:spPr>
        <p:txBody>
          <a:bodyPr vert="horz" wrap="square" lIns="0" tIns="0" rIns="0" bIns="0" rtlCol="0">
            <a:spAutoFit/>
          </a:bodyPr>
          <a:lstStyle/>
          <a:p>
            <a:r>
              <a:rPr lang="en-US">
                <a:solidFill>
                  <a:srgbClr val="253543"/>
                </a:solidFill>
                <a:latin typeface="Arial" panose="020B0604020202020204" pitchFamily="34" charset="0"/>
              </a:rPr>
              <a:t>30 ô cố định theo địa hình và khoảng cách biển</a:t>
            </a:r>
          </a:p>
        </p:txBody>
      </p:sp>
      <p:sp>
        <p:nvSpPr>
          <p:cNvPr id="10" name="TextBox 9">
            <a:extLst>
              <a:ext uri="{FF2B5EF4-FFF2-40B4-BE49-F238E27FC236}">
                <a16:creationId xmlns:a16="http://schemas.microsoft.com/office/drawing/2014/main" id="{100AE5BA-FD89-80A0-FA91-85156F74F4B1}"/>
              </a:ext>
            </a:extLst>
          </p:cNvPr>
          <p:cNvSpPr txBox="1"/>
          <p:nvPr/>
        </p:nvSpPr>
        <p:spPr>
          <a:xfrm>
            <a:off x="558800" y="3149600"/>
            <a:ext cx="5283200" cy="276999"/>
          </a:xfrm>
          <a:prstGeom prst="rect">
            <a:avLst/>
          </a:prstGeom>
          <a:noFill/>
        </p:spPr>
        <p:txBody>
          <a:bodyPr vert="horz" wrap="square" lIns="0" tIns="0" rIns="0" bIns="0" rtlCol="0">
            <a:spAutoFit/>
          </a:bodyPr>
          <a:lstStyle/>
          <a:p>
            <a:r>
              <a:rPr lang="en-US">
                <a:solidFill>
                  <a:srgbClr val="253543"/>
                </a:solidFill>
                <a:latin typeface="Arial" panose="020B0604020202020204" pitchFamily="34" charset="0"/>
              </a:rPr>
              <a:t>3 năm kiểm chứng: 2021, 2022, 2023</a:t>
            </a:r>
          </a:p>
        </p:txBody>
      </p:sp>
      <p:sp>
        <p:nvSpPr>
          <p:cNvPr id="11" name="TextBox 10">
            <a:extLst>
              <a:ext uri="{FF2B5EF4-FFF2-40B4-BE49-F238E27FC236}">
                <a16:creationId xmlns:a16="http://schemas.microsoft.com/office/drawing/2014/main" id="{7BEC9A43-4B44-7BE0-6144-4301C854DA01}"/>
              </a:ext>
            </a:extLst>
          </p:cNvPr>
          <p:cNvSpPr txBox="1"/>
          <p:nvPr/>
        </p:nvSpPr>
        <p:spPr>
          <a:xfrm>
            <a:off x="558800" y="3911600"/>
            <a:ext cx="5283200" cy="276999"/>
          </a:xfrm>
          <a:prstGeom prst="rect">
            <a:avLst/>
          </a:prstGeom>
          <a:noFill/>
        </p:spPr>
        <p:txBody>
          <a:bodyPr vert="horz" wrap="square" lIns="0" tIns="0" rIns="0" bIns="0" rtlCol="0">
            <a:spAutoFit/>
          </a:bodyPr>
          <a:lstStyle/>
          <a:p>
            <a:r>
              <a:rPr lang="en-US">
                <a:solidFill>
                  <a:srgbClr val="253543"/>
                </a:solidFill>
                <a:latin typeface="Arial" panose="020B0604020202020204" pitchFamily="34" charset="0"/>
              </a:rPr>
              <a:t>3 lần khởi tạo; test 2025 giữ kín</a:t>
            </a:r>
          </a:p>
        </p:txBody>
      </p:sp>
      <p:sp>
        <p:nvSpPr>
          <p:cNvPr id="12" name="TextBox 11">
            <a:extLst>
              <a:ext uri="{FF2B5EF4-FFF2-40B4-BE49-F238E27FC236}">
                <a16:creationId xmlns:a16="http://schemas.microsoft.com/office/drawing/2014/main" id="{69A3E37D-54C1-AC8F-8921-F51D0B5ACC26}"/>
              </a:ext>
            </a:extLst>
          </p:cNvPr>
          <p:cNvSpPr txBox="1"/>
          <p:nvPr/>
        </p:nvSpPr>
        <p:spPr>
          <a:xfrm>
            <a:off x="558800" y="4711700"/>
            <a:ext cx="5283200" cy="553998"/>
          </a:xfrm>
          <a:prstGeom prst="rect">
            <a:avLst/>
          </a:prstGeom>
          <a:noFill/>
        </p:spPr>
        <p:txBody>
          <a:bodyPr vert="horz" wrap="square" lIns="0" tIns="0" rIns="0" bIns="0" rtlCol="0">
            <a:spAutoFit/>
          </a:bodyPr>
          <a:lstStyle/>
          <a:p>
            <a:r>
              <a:rPr lang="en-US" b="1">
                <a:solidFill>
                  <a:srgbClr val="007E87"/>
                </a:solidFill>
                <a:latin typeface="Arial" panose="020B0604020202020204" pitchFamily="34" charset="0"/>
              </a:rPr>
              <a:t>Cùng ô, cùng giờ, cùng nhãn; báo khoảng tin cậy.</a:t>
            </a:r>
          </a:p>
        </p:txBody>
      </p:sp>
      <p:sp>
        <p:nvSpPr>
          <p:cNvPr id="13" name="Rectangle 12">
            <a:extLst>
              <a:ext uri="{FF2B5EF4-FFF2-40B4-BE49-F238E27FC236}">
                <a16:creationId xmlns:a16="http://schemas.microsoft.com/office/drawing/2014/main" id="{E7B6D5E1-EEE7-724C-1152-784C4BE11068}"/>
              </a:ext>
            </a:extLst>
          </p:cNvPr>
          <p:cNvSpPr/>
          <p:nvPr/>
        </p:nvSpPr>
        <p:spPr>
          <a:xfrm>
            <a:off x="6096000" y="1739900"/>
            <a:ext cx="12700" cy="38989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5E5B79B-7CDB-E4C4-1AB4-86F39459CAD9}"/>
              </a:ext>
            </a:extLst>
          </p:cNvPr>
          <p:cNvSpPr txBox="1"/>
          <p:nvPr/>
        </p:nvSpPr>
        <p:spPr>
          <a:xfrm>
            <a:off x="6451600" y="1739900"/>
            <a:ext cx="5181600" cy="307777"/>
          </a:xfrm>
          <a:prstGeom prst="rect">
            <a:avLst/>
          </a:prstGeom>
          <a:noFill/>
        </p:spPr>
        <p:txBody>
          <a:bodyPr vert="horz" wrap="square" lIns="0" tIns="0" rIns="0" bIns="0" rtlCol="0">
            <a:spAutoFit/>
          </a:bodyPr>
          <a:lstStyle/>
          <a:p>
            <a:r>
              <a:rPr lang="en-US" sz="2000" b="1">
                <a:solidFill>
                  <a:srgbClr val="172B41"/>
                </a:solidFill>
                <a:latin typeface="Arial" panose="020B0604020202020204" pitchFamily="34" charset="0"/>
              </a:rPr>
              <a:t>Các phép thử</a:t>
            </a:r>
          </a:p>
        </p:txBody>
      </p:sp>
      <p:sp>
        <p:nvSpPr>
          <p:cNvPr id="15" name="TextBox 14">
            <a:extLst>
              <a:ext uri="{FF2B5EF4-FFF2-40B4-BE49-F238E27FC236}">
                <a16:creationId xmlns:a16="http://schemas.microsoft.com/office/drawing/2014/main" id="{A45DF6AE-65AE-B2AB-A37A-08D51C43CD8A}"/>
              </a:ext>
            </a:extLst>
          </p:cNvPr>
          <p:cNvSpPr txBox="1"/>
          <p:nvPr/>
        </p:nvSpPr>
        <p:spPr>
          <a:xfrm>
            <a:off x="6451600" y="2349500"/>
            <a:ext cx="5067300" cy="261610"/>
          </a:xfrm>
          <a:prstGeom prst="rect">
            <a:avLst/>
          </a:prstGeom>
          <a:noFill/>
        </p:spPr>
        <p:txBody>
          <a:bodyPr vert="horz" wrap="square" lIns="0" tIns="0" rIns="0" bIns="0" rtlCol="0">
            <a:spAutoFit/>
          </a:bodyPr>
          <a:lstStyle/>
          <a:p>
            <a:r>
              <a:rPr lang="en-US" sz="1700">
                <a:solidFill>
                  <a:srgbClr val="253543"/>
                </a:solidFill>
                <a:latin typeface="Arial" panose="020B0604020202020204" pitchFamily="34" charset="0"/>
              </a:rPr>
              <a:t>LightGBM: mức sàn học máy dễ kiểm tra.</a:t>
            </a:r>
          </a:p>
        </p:txBody>
      </p:sp>
      <p:sp>
        <p:nvSpPr>
          <p:cNvPr id="16" name="TextBox 15">
            <a:extLst>
              <a:ext uri="{FF2B5EF4-FFF2-40B4-BE49-F238E27FC236}">
                <a16:creationId xmlns:a16="http://schemas.microsoft.com/office/drawing/2014/main" id="{F4CFE0A0-1361-6433-432A-0CFDBF2D468B}"/>
              </a:ext>
            </a:extLst>
          </p:cNvPr>
          <p:cNvSpPr txBox="1"/>
          <p:nvPr/>
        </p:nvSpPr>
        <p:spPr>
          <a:xfrm>
            <a:off x="6451600" y="3124200"/>
            <a:ext cx="5067300" cy="261610"/>
          </a:xfrm>
          <a:prstGeom prst="rect">
            <a:avLst/>
          </a:prstGeom>
          <a:noFill/>
        </p:spPr>
        <p:txBody>
          <a:bodyPr vert="horz" wrap="square" lIns="0" tIns="0" rIns="0" bIns="0" rtlCol="0">
            <a:spAutoFit/>
          </a:bodyPr>
          <a:lstStyle/>
          <a:p>
            <a:r>
              <a:rPr lang="en-US" sz="1700">
                <a:solidFill>
                  <a:srgbClr val="253543"/>
                </a:solidFill>
                <a:latin typeface="Arial" panose="020B0604020202020204" pitchFamily="34" charset="0"/>
              </a:rPr>
              <a:t>Bi-LSTM: mô hình chuỗi đang thử cho 1–6 giờ.</a:t>
            </a:r>
          </a:p>
        </p:txBody>
      </p:sp>
      <p:sp>
        <p:nvSpPr>
          <p:cNvPr id="17" name="TextBox 16">
            <a:extLst>
              <a:ext uri="{FF2B5EF4-FFF2-40B4-BE49-F238E27FC236}">
                <a16:creationId xmlns:a16="http://schemas.microsoft.com/office/drawing/2014/main" id="{E916382D-3FCA-0EDA-13CE-B78AE6173825}"/>
              </a:ext>
            </a:extLst>
          </p:cNvPr>
          <p:cNvSpPr txBox="1"/>
          <p:nvPr/>
        </p:nvSpPr>
        <p:spPr>
          <a:xfrm>
            <a:off x="6451600" y="3911600"/>
            <a:ext cx="5067300" cy="523220"/>
          </a:xfrm>
          <a:prstGeom prst="rect">
            <a:avLst/>
          </a:prstGeom>
          <a:noFill/>
        </p:spPr>
        <p:txBody>
          <a:bodyPr vert="horz" wrap="square" lIns="0" tIns="0" rIns="0" bIns="0" rtlCol="0">
            <a:spAutoFit/>
          </a:bodyPr>
          <a:lstStyle/>
          <a:p>
            <a:r>
              <a:rPr lang="en-US" sz="1700">
                <a:solidFill>
                  <a:srgbClr val="253543"/>
                </a:solidFill>
                <a:latin typeface="Arial" panose="020B0604020202020204" pitchFamily="34" charset="0"/>
              </a:rPr>
              <a:t>RAW so DOMAIN: dữ liệu thô hay thêm biểu diễn gió, ẩm, địa hình?</a:t>
            </a:r>
          </a:p>
        </p:txBody>
      </p:sp>
      <p:sp>
        <p:nvSpPr>
          <p:cNvPr id="18" name="TextBox 17">
            <a:extLst>
              <a:ext uri="{FF2B5EF4-FFF2-40B4-BE49-F238E27FC236}">
                <a16:creationId xmlns:a16="http://schemas.microsoft.com/office/drawing/2014/main" id="{F138EBA2-A95E-8406-C5F8-A8142E0FF754}"/>
              </a:ext>
            </a:extLst>
          </p:cNvPr>
          <p:cNvSpPr txBox="1"/>
          <p:nvPr/>
        </p:nvSpPr>
        <p:spPr>
          <a:xfrm>
            <a:off x="6451600" y="4991100"/>
            <a:ext cx="5067300" cy="523220"/>
          </a:xfrm>
          <a:prstGeom prst="rect">
            <a:avLst/>
          </a:prstGeom>
          <a:noFill/>
        </p:spPr>
        <p:txBody>
          <a:bodyPr vert="horz" wrap="square" lIns="0" tIns="0" rIns="0" bIns="0" rtlCol="0">
            <a:spAutoFit/>
          </a:bodyPr>
          <a:lstStyle/>
          <a:p>
            <a:r>
              <a:rPr lang="vi-VN" sz="1700">
                <a:solidFill>
                  <a:srgbClr val="253543"/>
                </a:solidFill>
                <a:latin typeface="Arial" panose="020B0604020202020204" pitchFamily="34" charset="0"/>
              </a:rPr>
              <a:t>Tweedie: đổi cách học lượng mưa lệch về số 0 và mưa lớn.</a:t>
            </a:r>
            <a:endParaRPr lang="en-US" sz="1700">
              <a:solidFill>
                <a:srgbClr val="253543"/>
              </a:solidFill>
              <a:latin typeface="Arial" panose="020B0604020202020204" pitchFamily="34" charset="0"/>
            </a:endParaRPr>
          </a:p>
        </p:txBody>
      </p:sp>
      <p:sp>
        <p:nvSpPr>
          <p:cNvPr id="19" name="TextBox 18">
            <a:extLst>
              <a:ext uri="{FF2B5EF4-FFF2-40B4-BE49-F238E27FC236}">
                <a16:creationId xmlns:a16="http://schemas.microsoft.com/office/drawing/2014/main" id="{FCBF6400-2C0C-1DF2-675D-3798BEC19099}"/>
              </a:ext>
            </a:extLst>
          </p:cNvPr>
          <p:cNvSpPr txBox="1"/>
          <p:nvPr/>
        </p:nvSpPr>
        <p:spPr>
          <a:xfrm>
            <a:off x="558800" y="5880100"/>
            <a:ext cx="11074400" cy="246221"/>
          </a:xfrm>
          <a:prstGeom prst="rect">
            <a:avLst/>
          </a:prstGeom>
          <a:noFill/>
        </p:spPr>
        <p:txBody>
          <a:bodyPr vert="horz" wrap="square" lIns="0" tIns="0" rIns="0" bIns="0" rtlCol="0">
            <a:spAutoFit/>
          </a:bodyPr>
          <a:lstStyle/>
          <a:p>
            <a:r>
              <a:rPr lang="vi-VN" sz="1600" b="1">
                <a:solidFill>
                  <a:srgbClr val="DC772F"/>
                </a:solidFill>
                <a:latin typeface="Arial" panose="020B0604020202020204" pitchFamily="34" charset="0"/>
              </a:rPr>
              <a:t>Chấm riêng sai số mm, bắt mưa mạnh và chất lượng xác suất.</a:t>
            </a:r>
            <a:endParaRPr lang="en-US" sz="1600" b="1">
              <a:solidFill>
                <a:srgbClr val="DC772F"/>
              </a:solidFill>
              <a:latin typeface="Arial" panose="020B0604020202020204" pitchFamily="34" charset="0"/>
            </a:endParaRPr>
          </a:p>
        </p:txBody>
      </p:sp>
      <p:sp>
        <p:nvSpPr>
          <p:cNvPr id="20" name="TextBox 19">
            <a:extLst>
              <a:ext uri="{FF2B5EF4-FFF2-40B4-BE49-F238E27FC236}">
                <a16:creationId xmlns:a16="http://schemas.microsoft.com/office/drawing/2014/main" id="{4F3A69DB-8D74-3ED2-9CB4-D9EC27175F0F}"/>
              </a:ext>
            </a:extLst>
          </p:cNvPr>
          <p:cNvSpPr txBox="1"/>
          <p:nvPr/>
        </p:nvSpPr>
        <p:spPr>
          <a:xfrm>
            <a:off x="11087100" y="6451600"/>
            <a:ext cx="5461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6</a:t>
            </a:r>
          </a:p>
        </p:txBody>
      </p:sp>
    </p:spTree>
    <p:extLst>
      <p:ext uri="{BB962C8B-B14F-4D97-AF65-F5344CB8AC3E}">
        <p14:creationId xmlns:p14="http://schemas.microsoft.com/office/powerpoint/2010/main" val="4232292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970BC1-9DAA-2E52-627C-EACA046E4623}"/>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72887C9-9626-3992-7DA8-BDA6BF928228}"/>
              </a:ext>
            </a:extLst>
          </p:cNvPr>
          <p:cNvSpPr txBox="1"/>
          <p:nvPr/>
        </p:nvSpPr>
        <p:spPr>
          <a:xfrm>
            <a:off x="558800" y="304800"/>
            <a:ext cx="9652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THỰC NGHIỆM MÔ HÌNH</a:t>
            </a:r>
          </a:p>
        </p:txBody>
      </p:sp>
      <p:sp>
        <p:nvSpPr>
          <p:cNvPr id="4" name="TextBox 3">
            <a:extLst>
              <a:ext uri="{FF2B5EF4-FFF2-40B4-BE49-F238E27FC236}">
                <a16:creationId xmlns:a16="http://schemas.microsoft.com/office/drawing/2014/main" id="{3468F3F3-0DD6-1EA0-545A-BF647D0F7153}"/>
              </a:ext>
            </a:extLst>
          </p:cNvPr>
          <p:cNvSpPr txBox="1"/>
          <p:nvPr/>
        </p:nvSpPr>
        <p:spPr>
          <a:xfrm>
            <a:off x="558800" y="660400"/>
            <a:ext cx="11049000" cy="446276"/>
          </a:xfrm>
          <a:prstGeom prst="rect">
            <a:avLst/>
          </a:prstGeom>
          <a:noFill/>
        </p:spPr>
        <p:txBody>
          <a:bodyPr vert="horz" wrap="square" lIns="0" tIns="0" rIns="0" bIns="0" rtlCol="0">
            <a:spAutoFit/>
          </a:bodyPr>
          <a:lstStyle/>
          <a:p>
            <a:r>
              <a:rPr lang="vi-VN" sz="2900" b="1">
                <a:solidFill>
                  <a:srgbClr val="172B41"/>
                </a:solidFill>
                <a:latin typeface="Arial" panose="020B0604020202020204" pitchFamily="34" charset="0"/>
              </a:rPr>
              <a:t>Kết quả rõ nhất: đổi hàm học lượng mưa</a:t>
            </a:r>
            <a:endParaRPr lang="en-US" sz="2900" b="1">
              <a:solidFill>
                <a:srgbClr val="172B41"/>
              </a:solidFill>
              <a:latin typeface="Arial" panose="020B0604020202020204" pitchFamily="34" charset="0"/>
            </a:endParaRPr>
          </a:p>
        </p:txBody>
      </p:sp>
      <p:sp>
        <p:nvSpPr>
          <p:cNvPr id="5" name="Rectangle 4">
            <a:extLst>
              <a:ext uri="{FF2B5EF4-FFF2-40B4-BE49-F238E27FC236}">
                <a16:creationId xmlns:a16="http://schemas.microsoft.com/office/drawing/2014/main" id="{4C07C2B3-9A83-3F57-2347-70CEFDF2CCF7}"/>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1366103-2667-B6A5-0498-F134CBF3B54C}"/>
              </a:ext>
            </a:extLst>
          </p:cNvPr>
          <p:cNvSpPr txBox="1"/>
          <p:nvPr/>
        </p:nvSpPr>
        <p:spPr>
          <a:xfrm>
            <a:off x="558800" y="6451600"/>
            <a:ext cx="8255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7" name="TextBox 6">
            <a:extLst>
              <a:ext uri="{FF2B5EF4-FFF2-40B4-BE49-F238E27FC236}">
                <a16:creationId xmlns:a16="http://schemas.microsoft.com/office/drawing/2014/main" id="{4CD6A228-7FC4-EEEF-60E8-1F7B07358256}"/>
              </a:ext>
            </a:extLst>
          </p:cNvPr>
          <p:cNvSpPr txBox="1"/>
          <p:nvPr/>
        </p:nvSpPr>
        <p:spPr>
          <a:xfrm>
            <a:off x="11049000" y="6451600"/>
            <a:ext cx="584200" cy="153888"/>
          </a:xfrm>
          <a:prstGeom prst="rect">
            <a:avLst/>
          </a:prstGeom>
          <a:noFill/>
        </p:spPr>
        <p:txBody>
          <a:bodyPr vert="horz" wrap="square" lIns="0" tIns="0" rIns="0" bIns="0" rtlCol="0">
            <a:spAutoFit/>
          </a:bodyPr>
          <a:lstStyle/>
          <a:p>
            <a:pPr algn="r"/>
            <a:r>
              <a:rPr lang="en-US" sz="1000">
                <a:solidFill>
                  <a:srgbClr val="5D6F7E"/>
                </a:solidFill>
                <a:latin typeface="Arial" panose="020B0604020202020204" pitchFamily="34" charset="0"/>
              </a:rPr>
              <a:t>7</a:t>
            </a:r>
          </a:p>
        </p:txBody>
      </p:sp>
      <p:sp>
        <p:nvSpPr>
          <p:cNvPr id="8" name="TextBox 7">
            <a:extLst>
              <a:ext uri="{FF2B5EF4-FFF2-40B4-BE49-F238E27FC236}">
                <a16:creationId xmlns:a16="http://schemas.microsoft.com/office/drawing/2014/main" id="{EC059F87-4C83-5C9C-6C66-C201A1D8E7DF}"/>
              </a:ext>
            </a:extLst>
          </p:cNvPr>
          <p:cNvSpPr txBox="1"/>
          <p:nvPr/>
        </p:nvSpPr>
        <p:spPr>
          <a:xfrm>
            <a:off x="558800" y="1524000"/>
            <a:ext cx="11074400" cy="261610"/>
          </a:xfrm>
          <a:prstGeom prst="rect">
            <a:avLst/>
          </a:prstGeom>
          <a:noFill/>
        </p:spPr>
        <p:txBody>
          <a:bodyPr vert="horz" wrap="square" lIns="0" tIns="0" rIns="0" bIns="0" rtlCol="0">
            <a:spAutoFit/>
          </a:bodyPr>
          <a:lstStyle/>
          <a:p>
            <a:r>
              <a:rPr lang="vi-VN" sz="1700">
                <a:solidFill>
                  <a:srgbClr val="253543"/>
                </a:solidFill>
                <a:latin typeface="Arial" panose="020B0604020202020204" pitchFamily="34" charset="0"/>
              </a:rPr>
              <a:t>RMSE tổng mưa 0–3 giờ, tháng 5–10 (mm; thấp hơn là tốt hơn)</a:t>
            </a:r>
            <a:endParaRPr lang="en-US" sz="1700">
              <a:solidFill>
                <a:srgbClr val="253543"/>
              </a:solidFill>
              <a:latin typeface="Arial" panose="020B0604020202020204" pitchFamily="34" charset="0"/>
            </a:endParaRPr>
          </a:p>
        </p:txBody>
      </p:sp>
      <p:sp>
        <p:nvSpPr>
          <p:cNvPr id="9" name="Rectangle 8">
            <a:extLst>
              <a:ext uri="{FF2B5EF4-FFF2-40B4-BE49-F238E27FC236}">
                <a16:creationId xmlns:a16="http://schemas.microsoft.com/office/drawing/2014/main" id="{FF79D340-8FA4-0DC2-84EE-52EB39BE2C6A}"/>
              </a:ext>
            </a:extLst>
          </p:cNvPr>
          <p:cNvSpPr/>
          <p:nvPr/>
        </p:nvSpPr>
        <p:spPr>
          <a:xfrm>
            <a:off x="558800" y="2108200"/>
            <a:ext cx="1422400" cy="533400"/>
          </a:xfrm>
          <a:prstGeom prst="rect">
            <a:avLst/>
          </a:prstGeom>
          <a:solidFill>
            <a:srgbClr val="172B41"/>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66CBB8C-CCC5-85B9-C0B0-C7608303BFCC}"/>
              </a:ext>
            </a:extLst>
          </p:cNvPr>
          <p:cNvSpPr txBox="1"/>
          <p:nvPr/>
        </p:nvSpPr>
        <p:spPr>
          <a:xfrm>
            <a:off x="673100" y="2209800"/>
            <a:ext cx="1193800" cy="230832"/>
          </a:xfrm>
          <a:prstGeom prst="rect">
            <a:avLst/>
          </a:prstGeom>
          <a:noFill/>
        </p:spPr>
        <p:txBody>
          <a:bodyPr vert="horz" wrap="square" lIns="0" tIns="0" rIns="0" bIns="0" rtlCol="0">
            <a:spAutoFit/>
          </a:bodyPr>
          <a:lstStyle/>
          <a:p>
            <a:r>
              <a:rPr lang="en-US" sz="1500" b="1">
                <a:solidFill>
                  <a:srgbClr val="FFFFFF"/>
                </a:solidFill>
                <a:latin typeface="Arial" panose="020B0604020202020204" pitchFamily="34" charset="0"/>
              </a:rPr>
              <a:t>Năm</a:t>
            </a:r>
          </a:p>
        </p:txBody>
      </p:sp>
      <p:sp>
        <p:nvSpPr>
          <p:cNvPr id="11" name="Rectangle 10">
            <a:extLst>
              <a:ext uri="{FF2B5EF4-FFF2-40B4-BE49-F238E27FC236}">
                <a16:creationId xmlns:a16="http://schemas.microsoft.com/office/drawing/2014/main" id="{1DFA9DC8-40F9-FF48-0F9D-E2096CCF63BC}"/>
              </a:ext>
            </a:extLst>
          </p:cNvPr>
          <p:cNvSpPr/>
          <p:nvPr/>
        </p:nvSpPr>
        <p:spPr>
          <a:xfrm>
            <a:off x="1981200" y="2108200"/>
            <a:ext cx="4826000" cy="533400"/>
          </a:xfrm>
          <a:prstGeom prst="rect">
            <a:avLst/>
          </a:prstGeom>
          <a:solidFill>
            <a:srgbClr val="172B41"/>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793E978-F2BD-344E-1007-C87748BD2762}"/>
              </a:ext>
            </a:extLst>
          </p:cNvPr>
          <p:cNvSpPr txBox="1"/>
          <p:nvPr/>
        </p:nvSpPr>
        <p:spPr>
          <a:xfrm>
            <a:off x="2095500" y="2209800"/>
            <a:ext cx="4597400" cy="230832"/>
          </a:xfrm>
          <a:prstGeom prst="rect">
            <a:avLst/>
          </a:prstGeom>
          <a:noFill/>
        </p:spPr>
        <p:txBody>
          <a:bodyPr vert="horz" wrap="square" lIns="0" tIns="0" rIns="0" bIns="0" rtlCol="0">
            <a:spAutoFit/>
          </a:bodyPr>
          <a:lstStyle/>
          <a:p>
            <a:r>
              <a:rPr lang="en-US" sz="1500" b="1">
                <a:solidFill>
                  <a:srgbClr val="FFFFFF"/>
                </a:solidFill>
                <a:latin typeface="Arial" panose="020B0604020202020204" pitchFamily="34" charset="0"/>
              </a:rPr>
              <a:t>LightGBM RAW: L1(log) → Tweedie</a:t>
            </a:r>
          </a:p>
        </p:txBody>
      </p:sp>
      <p:sp>
        <p:nvSpPr>
          <p:cNvPr id="13" name="Rectangle 12">
            <a:extLst>
              <a:ext uri="{FF2B5EF4-FFF2-40B4-BE49-F238E27FC236}">
                <a16:creationId xmlns:a16="http://schemas.microsoft.com/office/drawing/2014/main" id="{2B015AA6-86FC-653B-4BED-20A0E5E3EF1D}"/>
              </a:ext>
            </a:extLst>
          </p:cNvPr>
          <p:cNvSpPr/>
          <p:nvPr/>
        </p:nvSpPr>
        <p:spPr>
          <a:xfrm>
            <a:off x="6807200" y="2108200"/>
            <a:ext cx="4826000" cy="533400"/>
          </a:xfrm>
          <a:prstGeom prst="rect">
            <a:avLst/>
          </a:prstGeom>
          <a:solidFill>
            <a:srgbClr val="172B41"/>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CA4411D-9CF2-B9AC-AB91-2441CB5AF08A}"/>
              </a:ext>
            </a:extLst>
          </p:cNvPr>
          <p:cNvSpPr txBox="1"/>
          <p:nvPr/>
        </p:nvSpPr>
        <p:spPr>
          <a:xfrm>
            <a:off x="6921500" y="2209800"/>
            <a:ext cx="4597400" cy="230832"/>
          </a:xfrm>
          <a:prstGeom prst="rect">
            <a:avLst/>
          </a:prstGeom>
          <a:noFill/>
        </p:spPr>
        <p:txBody>
          <a:bodyPr vert="horz" wrap="square" lIns="0" tIns="0" rIns="0" bIns="0" rtlCol="0">
            <a:spAutoFit/>
          </a:bodyPr>
          <a:lstStyle/>
          <a:p>
            <a:r>
              <a:rPr lang="en-US" sz="1500" b="1">
                <a:solidFill>
                  <a:srgbClr val="FFFFFF"/>
                </a:solidFill>
                <a:latin typeface="Arial" panose="020B0604020202020204" pitchFamily="34" charset="0"/>
              </a:rPr>
              <a:t>Bi-LSTM RAW: log-Huber → Tweedie</a:t>
            </a:r>
          </a:p>
        </p:txBody>
      </p:sp>
      <p:sp>
        <p:nvSpPr>
          <p:cNvPr id="15" name="Rectangle 14">
            <a:extLst>
              <a:ext uri="{FF2B5EF4-FFF2-40B4-BE49-F238E27FC236}">
                <a16:creationId xmlns:a16="http://schemas.microsoft.com/office/drawing/2014/main" id="{66EC66A3-01CA-2D04-EDE8-8F8100C3559C}"/>
              </a:ext>
            </a:extLst>
          </p:cNvPr>
          <p:cNvSpPr/>
          <p:nvPr/>
        </p:nvSpPr>
        <p:spPr>
          <a:xfrm>
            <a:off x="558800" y="2641600"/>
            <a:ext cx="1422400" cy="698500"/>
          </a:xfrm>
          <a:prstGeom prst="rect">
            <a:avLst/>
          </a:prstGeom>
          <a:solidFill>
            <a:srgbClr val="FFFFFF"/>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1C5A988-9733-585C-8204-266F744219C2}"/>
              </a:ext>
            </a:extLst>
          </p:cNvPr>
          <p:cNvSpPr txBox="1"/>
          <p:nvPr/>
        </p:nvSpPr>
        <p:spPr>
          <a:xfrm>
            <a:off x="673100" y="2743200"/>
            <a:ext cx="1193800" cy="276999"/>
          </a:xfrm>
          <a:prstGeom prst="rect">
            <a:avLst/>
          </a:prstGeom>
          <a:noFill/>
        </p:spPr>
        <p:txBody>
          <a:bodyPr vert="horz" wrap="square" lIns="0" tIns="0" rIns="0" bIns="0" rtlCol="0">
            <a:spAutoFit/>
          </a:bodyPr>
          <a:lstStyle/>
          <a:p>
            <a:r>
              <a:rPr lang="en-US" b="1">
                <a:solidFill>
                  <a:srgbClr val="172B41"/>
                </a:solidFill>
                <a:latin typeface="Arial" panose="020B0604020202020204" pitchFamily="34" charset="0"/>
              </a:rPr>
              <a:t>2021</a:t>
            </a:r>
          </a:p>
        </p:txBody>
      </p:sp>
      <p:sp>
        <p:nvSpPr>
          <p:cNvPr id="17" name="Rectangle 16">
            <a:extLst>
              <a:ext uri="{FF2B5EF4-FFF2-40B4-BE49-F238E27FC236}">
                <a16:creationId xmlns:a16="http://schemas.microsoft.com/office/drawing/2014/main" id="{6D47EF1D-0134-5F60-CA32-3373B6FCB600}"/>
              </a:ext>
            </a:extLst>
          </p:cNvPr>
          <p:cNvSpPr/>
          <p:nvPr/>
        </p:nvSpPr>
        <p:spPr>
          <a:xfrm>
            <a:off x="1981200" y="2641600"/>
            <a:ext cx="4826000" cy="698500"/>
          </a:xfrm>
          <a:prstGeom prst="rect">
            <a:avLst/>
          </a:prstGeom>
          <a:solidFill>
            <a:srgbClr val="FFFFFF"/>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FCB60CF-BB70-2CA2-B10E-FE4DD9054A57}"/>
              </a:ext>
            </a:extLst>
          </p:cNvPr>
          <p:cNvSpPr txBox="1"/>
          <p:nvPr/>
        </p:nvSpPr>
        <p:spPr>
          <a:xfrm>
            <a:off x="2095500" y="2743200"/>
            <a:ext cx="4597400" cy="323165"/>
          </a:xfrm>
          <a:prstGeom prst="rect">
            <a:avLst/>
          </a:prstGeom>
          <a:noFill/>
        </p:spPr>
        <p:txBody>
          <a:bodyPr vert="horz" wrap="square" lIns="0" tIns="0" rIns="0" bIns="0" rtlCol="0">
            <a:spAutoFit/>
          </a:bodyPr>
          <a:lstStyle/>
          <a:p>
            <a:r>
              <a:rPr lang="en-US" sz="2100" b="1">
                <a:solidFill>
                  <a:srgbClr val="007E87"/>
                </a:solidFill>
                <a:latin typeface="Arial" panose="020B0604020202020204" pitchFamily="34" charset="0"/>
              </a:rPr>
              <a:t>4,607  →  3,947</a:t>
            </a:r>
          </a:p>
        </p:txBody>
      </p:sp>
      <p:sp>
        <p:nvSpPr>
          <p:cNvPr id="19" name="Rectangle 18">
            <a:extLst>
              <a:ext uri="{FF2B5EF4-FFF2-40B4-BE49-F238E27FC236}">
                <a16:creationId xmlns:a16="http://schemas.microsoft.com/office/drawing/2014/main" id="{64525F11-55EB-C4DA-F66B-E866A8B485D6}"/>
              </a:ext>
            </a:extLst>
          </p:cNvPr>
          <p:cNvSpPr/>
          <p:nvPr/>
        </p:nvSpPr>
        <p:spPr>
          <a:xfrm>
            <a:off x="6807200" y="2641600"/>
            <a:ext cx="4826000" cy="698500"/>
          </a:xfrm>
          <a:prstGeom prst="rect">
            <a:avLst/>
          </a:prstGeom>
          <a:solidFill>
            <a:srgbClr val="FFFFFF"/>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EC54FC2-1312-C1A2-62BD-96286601764E}"/>
              </a:ext>
            </a:extLst>
          </p:cNvPr>
          <p:cNvSpPr txBox="1"/>
          <p:nvPr/>
        </p:nvSpPr>
        <p:spPr>
          <a:xfrm>
            <a:off x="6921500" y="2743200"/>
            <a:ext cx="4597400" cy="323165"/>
          </a:xfrm>
          <a:prstGeom prst="rect">
            <a:avLst/>
          </a:prstGeom>
          <a:noFill/>
        </p:spPr>
        <p:txBody>
          <a:bodyPr vert="horz" wrap="square" lIns="0" tIns="0" rIns="0" bIns="0" rtlCol="0">
            <a:spAutoFit/>
          </a:bodyPr>
          <a:lstStyle/>
          <a:p>
            <a:r>
              <a:rPr lang="en-US" sz="2100" b="1">
                <a:solidFill>
                  <a:srgbClr val="007E87"/>
                </a:solidFill>
                <a:latin typeface="Arial" panose="020B0604020202020204" pitchFamily="34" charset="0"/>
              </a:rPr>
              <a:t>4,046  →  3,876</a:t>
            </a:r>
          </a:p>
        </p:txBody>
      </p:sp>
      <p:sp>
        <p:nvSpPr>
          <p:cNvPr id="21" name="Rectangle 20">
            <a:extLst>
              <a:ext uri="{FF2B5EF4-FFF2-40B4-BE49-F238E27FC236}">
                <a16:creationId xmlns:a16="http://schemas.microsoft.com/office/drawing/2014/main" id="{66EEE99E-DF88-5C51-40CE-EC4B742E288B}"/>
              </a:ext>
            </a:extLst>
          </p:cNvPr>
          <p:cNvSpPr/>
          <p:nvPr/>
        </p:nvSpPr>
        <p:spPr>
          <a:xfrm>
            <a:off x="558800" y="3340100"/>
            <a:ext cx="1422400" cy="698500"/>
          </a:xfrm>
          <a:prstGeom prst="rect">
            <a:avLst/>
          </a:prstGeom>
          <a:solidFill>
            <a:srgbClr val="F5F7F9"/>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DC72E09-0955-B4AE-FCAF-22BC054631ED}"/>
              </a:ext>
            </a:extLst>
          </p:cNvPr>
          <p:cNvSpPr txBox="1"/>
          <p:nvPr/>
        </p:nvSpPr>
        <p:spPr>
          <a:xfrm>
            <a:off x="673100" y="3441700"/>
            <a:ext cx="1193800" cy="276999"/>
          </a:xfrm>
          <a:prstGeom prst="rect">
            <a:avLst/>
          </a:prstGeom>
          <a:noFill/>
        </p:spPr>
        <p:txBody>
          <a:bodyPr vert="horz" wrap="square" lIns="0" tIns="0" rIns="0" bIns="0" rtlCol="0">
            <a:spAutoFit/>
          </a:bodyPr>
          <a:lstStyle/>
          <a:p>
            <a:r>
              <a:rPr lang="en-US" b="1">
                <a:solidFill>
                  <a:srgbClr val="172B41"/>
                </a:solidFill>
                <a:latin typeface="Arial" panose="020B0604020202020204" pitchFamily="34" charset="0"/>
              </a:rPr>
              <a:t>2022</a:t>
            </a:r>
          </a:p>
        </p:txBody>
      </p:sp>
      <p:sp>
        <p:nvSpPr>
          <p:cNvPr id="23" name="Rectangle 22">
            <a:extLst>
              <a:ext uri="{FF2B5EF4-FFF2-40B4-BE49-F238E27FC236}">
                <a16:creationId xmlns:a16="http://schemas.microsoft.com/office/drawing/2014/main" id="{06CAAB0C-081A-F835-0A7D-4ADFE3CDE21F}"/>
              </a:ext>
            </a:extLst>
          </p:cNvPr>
          <p:cNvSpPr/>
          <p:nvPr/>
        </p:nvSpPr>
        <p:spPr>
          <a:xfrm>
            <a:off x="1981200" y="3340100"/>
            <a:ext cx="4826000" cy="698500"/>
          </a:xfrm>
          <a:prstGeom prst="rect">
            <a:avLst/>
          </a:prstGeom>
          <a:solidFill>
            <a:srgbClr val="F5F7F9"/>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00B4E70-3E28-A39D-7E83-1D74EF38BFCF}"/>
              </a:ext>
            </a:extLst>
          </p:cNvPr>
          <p:cNvSpPr txBox="1"/>
          <p:nvPr/>
        </p:nvSpPr>
        <p:spPr>
          <a:xfrm>
            <a:off x="2095500" y="3441700"/>
            <a:ext cx="4597400" cy="323165"/>
          </a:xfrm>
          <a:prstGeom prst="rect">
            <a:avLst/>
          </a:prstGeom>
          <a:noFill/>
        </p:spPr>
        <p:txBody>
          <a:bodyPr vert="horz" wrap="square" lIns="0" tIns="0" rIns="0" bIns="0" rtlCol="0">
            <a:spAutoFit/>
          </a:bodyPr>
          <a:lstStyle/>
          <a:p>
            <a:r>
              <a:rPr lang="en-US" sz="2100" b="1">
                <a:solidFill>
                  <a:srgbClr val="007E87"/>
                </a:solidFill>
                <a:latin typeface="Arial" panose="020B0604020202020204" pitchFamily="34" charset="0"/>
              </a:rPr>
              <a:t>4,841  →  4,534</a:t>
            </a:r>
          </a:p>
        </p:txBody>
      </p:sp>
      <p:sp>
        <p:nvSpPr>
          <p:cNvPr id="25" name="Rectangle 24">
            <a:extLst>
              <a:ext uri="{FF2B5EF4-FFF2-40B4-BE49-F238E27FC236}">
                <a16:creationId xmlns:a16="http://schemas.microsoft.com/office/drawing/2014/main" id="{5BA05061-96C9-04F8-0A19-059C0544E301}"/>
              </a:ext>
            </a:extLst>
          </p:cNvPr>
          <p:cNvSpPr/>
          <p:nvPr/>
        </p:nvSpPr>
        <p:spPr>
          <a:xfrm>
            <a:off x="6807200" y="3340100"/>
            <a:ext cx="4826000" cy="698500"/>
          </a:xfrm>
          <a:prstGeom prst="rect">
            <a:avLst/>
          </a:prstGeom>
          <a:solidFill>
            <a:srgbClr val="F5F7F9"/>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EC2D2E6-14F3-D6C3-DCE5-CAB3EB024C67}"/>
              </a:ext>
            </a:extLst>
          </p:cNvPr>
          <p:cNvSpPr txBox="1"/>
          <p:nvPr/>
        </p:nvSpPr>
        <p:spPr>
          <a:xfrm>
            <a:off x="6921500" y="3441700"/>
            <a:ext cx="4597400" cy="323165"/>
          </a:xfrm>
          <a:prstGeom prst="rect">
            <a:avLst/>
          </a:prstGeom>
          <a:noFill/>
        </p:spPr>
        <p:txBody>
          <a:bodyPr vert="horz" wrap="square" lIns="0" tIns="0" rIns="0" bIns="0" rtlCol="0">
            <a:spAutoFit/>
          </a:bodyPr>
          <a:lstStyle/>
          <a:p>
            <a:r>
              <a:rPr lang="en-US" sz="2100" b="1">
                <a:solidFill>
                  <a:srgbClr val="007E87"/>
                </a:solidFill>
                <a:latin typeface="Arial" panose="020B0604020202020204" pitchFamily="34" charset="0"/>
              </a:rPr>
              <a:t>4,661  →  4,581</a:t>
            </a:r>
          </a:p>
        </p:txBody>
      </p:sp>
      <p:sp>
        <p:nvSpPr>
          <p:cNvPr id="27" name="Rectangle 26">
            <a:extLst>
              <a:ext uri="{FF2B5EF4-FFF2-40B4-BE49-F238E27FC236}">
                <a16:creationId xmlns:a16="http://schemas.microsoft.com/office/drawing/2014/main" id="{49744241-F36A-6C5E-7AA4-E5D40C9AFBEB}"/>
              </a:ext>
            </a:extLst>
          </p:cNvPr>
          <p:cNvSpPr/>
          <p:nvPr/>
        </p:nvSpPr>
        <p:spPr>
          <a:xfrm>
            <a:off x="558800" y="4038600"/>
            <a:ext cx="1422400" cy="698500"/>
          </a:xfrm>
          <a:prstGeom prst="rect">
            <a:avLst/>
          </a:prstGeom>
          <a:solidFill>
            <a:srgbClr val="FFFFFF"/>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74A612B-C58D-9DE8-8BB3-CF705DA3E5A7}"/>
              </a:ext>
            </a:extLst>
          </p:cNvPr>
          <p:cNvSpPr txBox="1"/>
          <p:nvPr/>
        </p:nvSpPr>
        <p:spPr>
          <a:xfrm>
            <a:off x="673100" y="4140200"/>
            <a:ext cx="1193800" cy="276999"/>
          </a:xfrm>
          <a:prstGeom prst="rect">
            <a:avLst/>
          </a:prstGeom>
          <a:noFill/>
        </p:spPr>
        <p:txBody>
          <a:bodyPr vert="horz" wrap="square" lIns="0" tIns="0" rIns="0" bIns="0" rtlCol="0">
            <a:spAutoFit/>
          </a:bodyPr>
          <a:lstStyle/>
          <a:p>
            <a:r>
              <a:rPr lang="en-US" b="1">
                <a:solidFill>
                  <a:srgbClr val="172B41"/>
                </a:solidFill>
                <a:latin typeface="Arial" panose="020B0604020202020204" pitchFamily="34" charset="0"/>
              </a:rPr>
              <a:t>2023</a:t>
            </a:r>
          </a:p>
        </p:txBody>
      </p:sp>
      <p:sp>
        <p:nvSpPr>
          <p:cNvPr id="29" name="Rectangle 28">
            <a:extLst>
              <a:ext uri="{FF2B5EF4-FFF2-40B4-BE49-F238E27FC236}">
                <a16:creationId xmlns:a16="http://schemas.microsoft.com/office/drawing/2014/main" id="{2B8D86B2-2F8D-22B3-F726-32F805F717B9}"/>
              </a:ext>
            </a:extLst>
          </p:cNvPr>
          <p:cNvSpPr/>
          <p:nvPr/>
        </p:nvSpPr>
        <p:spPr>
          <a:xfrm>
            <a:off x="1981200" y="4038600"/>
            <a:ext cx="4826000" cy="698500"/>
          </a:xfrm>
          <a:prstGeom prst="rect">
            <a:avLst/>
          </a:prstGeom>
          <a:solidFill>
            <a:srgbClr val="FFFFFF"/>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65ACE3F-5C46-B8BF-280A-C7054D7EE5A7}"/>
              </a:ext>
            </a:extLst>
          </p:cNvPr>
          <p:cNvSpPr txBox="1"/>
          <p:nvPr/>
        </p:nvSpPr>
        <p:spPr>
          <a:xfrm>
            <a:off x="2095500" y="4140200"/>
            <a:ext cx="4597400" cy="323165"/>
          </a:xfrm>
          <a:prstGeom prst="rect">
            <a:avLst/>
          </a:prstGeom>
          <a:noFill/>
        </p:spPr>
        <p:txBody>
          <a:bodyPr vert="horz" wrap="square" lIns="0" tIns="0" rIns="0" bIns="0" rtlCol="0">
            <a:spAutoFit/>
          </a:bodyPr>
          <a:lstStyle/>
          <a:p>
            <a:r>
              <a:rPr lang="en-US" sz="2100" b="1">
                <a:solidFill>
                  <a:srgbClr val="007E87"/>
                </a:solidFill>
                <a:latin typeface="Arial" panose="020B0604020202020204" pitchFamily="34" charset="0"/>
              </a:rPr>
              <a:t>4,205  →  3,610</a:t>
            </a:r>
          </a:p>
        </p:txBody>
      </p:sp>
      <p:sp>
        <p:nvSpPr>
          <p:cNvPr id="31" name="Rectangle 30">
            <a:extLst>
              <a:ext uri="{FF2B5EF4-FFF2-40B4-BE49-F238E27FC236}">
                <a16:creationId xmlns:a16="http://schemas.microsoft.com/office/drawing/2014/main" id="{AA561385-0A3E-18FF-F57E-60312D5D885E}"/>
              </a:ext>
            </a:extLst>
          </p:cNvPr>
          <p:cNvSpPr/>
          <p:nvPr/>
        </p:nvSpPr>
        <p:spPr>
          <a:xfrm>
            <a:off x="6807200" y="4038600"/>
            <a:ext cx="4826000" cy="698500"/>
          </a:xfrm>
          <a:prstGeom prst="rect">
            <a:avLst/>
          </a:prstGeom>
          <a:solidFill>
            <a:srgbClr val="FFFFFF"/>
          </a:solidFill>
          <a:ln>
            <a:solidFill>
              <a:srgbClr val="D3DF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B22D592-63AC-D257-EAAD-50617B175670}"/>
              </a:ext>
            </a:extLst>
          </p:cNvPr>
          <p:cNvSpPr txBox="1"/>
          <p:nvPr/>
        </p:nvSpPr>
        <p:spPr>
          <a:xfrm>
            <a:off x="6921500" y="4140200"/>
            <a:ext cx="4597400" cy="323165"/>
          </a:xfrm>
          <a:prstGeom prst="rect">
            <a:avLst/>
          </a:prstGeom>
          <a:noFill/>
        </p:spPr>
        <p:txBody>
          <a:bodyPr vert="horz" wrap="square" lIns="0" tIns="0" rIns="0" bIns="0" rtlCol="0">
            <a:spAutoFit/>
          </a:bodyPr>
          <a:lstStyle/>
          <a:p>
            <a:r>
              <a:rPr lang="en-US" sz="2100" b="1">
                <a:solidFill>
                  <a:srgbClr val="007E87"/>
                </a:solidFill>
                <a:latin typeface="Arial" panose="020B0604020202020204" pitchFamily="34" charset="0"/>
              </a:rPr>
              <a:t>3,963  →  3,540</a:t>
            </a:r>
          </a:p>
        </p:txBody>
      </p:sp>
      <p:sp>
        <p:nvSpPr>
          <p:cNvPr id="33" name="TextBox 32">
            <a:extLst>
              <a:ext uri="{FF2B5EF4-FFF2-40B4-BE49-F238E27FC236}">
                <a16:creationId xmlns:a16="http://schemas.microsoft.com/office/drawing/2014/main" id="{9446F6C1-1A61-0829-AEDA-F0C58D3F2084}"/>
              </a:ext>
            </a:extLst>
          </p:cNvPr>
          <p:cNvSpPr txBox="1"/>
          <p:nvPr/>
        </p:nvSpPr>
        <p:spPr>
          <a:xfrm>
            <a:off x="558800" y="5003800"/>
            <a:ext cx="110744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LightGBM: CI95% mức giảm RMSE loại 0 cả 3 năm. Bi-LSTM: 2022 chưa chắc; BSS xác suất ≥1 giảm 0,186→0,148.</a:t>
            </a:r>
            <a:endParaRPr lang="en-US" sz="1600">
              <a:solidFill>
                <a:srgbClr val="253543"/>
              </a:solidFill>
              <a:latin typeface="Arial" panose="020B0604020202020204" pitchFamily="34" charset="0"/>
            </a:endParaRPr>
          </a:p>
        </p:txBody>
      </p:sp>
    </p:spTree>
    <p:extLst>
      <p:ext uri="{BB962C8B-B14F-4D97-AF65-F5344CB8AC3E}">
        <p14:creationId xmlns:p14="http://schemas.microsoft.com/office/powerpoint/2010/main" val="2431353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C59866-E89D-9A0F-EFEB-D6EABF5F3ECC}"/>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9991BE-C450-0123-396F-EFC076222BF7}"/>
              </a:ext>
            </a:extLst>
          </p:cNvPr>
          <p:cNvSpPr txBox="1"/>
          <p:nvPr/>
        </p:nvSpPr>
        <p:spPr>
          <a:xfrm>
            <a:off x="558800" y="304800"/>
            <a:ext cx="9652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ĐÓNG GÓP THEO VÙNG</a:t>
            </a:r>
          </a:p>
        </p:txBody>
      </p:sp>
      <p:sp>
        <p:nvSpPr>
          <p:cNvPr id="4" name="TextBox 3">
            <a:extLst>
              <a:ext uri="{FF2B5EF4-FFF2-40B4-BE49-F238E27FC236}">
                <a16:creationId xmlns:a16="http://schemas.microsoft.com/office/drawing/2014/main" id="{6FE9617C-496B-62D6-D0FC-8176A9300189}"/>
              </a:ext>
            </a:extLst>
          </p:cNvPr>
          <p:cNvSpPr txBox="1"/>
          <p:nvPr/>
        </p:nvSpPr>
        <p:spPr>
          <a:xfrm>
            <a:off x="558800" y="660400"/>
            <a:ext cx="11049000" cy="446276"/>
          </a:xfrm>
          <a:prstGeom prst="rect">
            <a:avLst/>
          </a:prstGeom>
          <a:noFill/>
        </p:spPr>
        <p:txBody>
          <a:bodyPr vert="horz" wrap="square" lIns="0" tIns="0" rIns="0" bIns="0" rtlCol="0">
            <a:spAutoFit/>
          </a:bodyPr>
          <a:lstStyle/>
          <a:p>
            <a:r>
              <a:rPr lang="vi-VN" sz="2900" b="1">
                <a:solidFill>
                  <a:srgbClr val="172B41"/>
                </a:solidFill>
                <a:latin typeface="Arial" panose="020B0604020202020204" pitchFamily="34" charset="0"/>
              </a:rPr>
              <a:t>Hiểu khí tượng địa phương: tín hiệu có, thắng lợi chưa chắc</a:t>
            </a:r>
            <a:endParaRPr lang="en-US" sz="2900" b="1">
              <a:solidFill>
                <a:srgbClr val="172B41"/>
              </a:solidFill>
              <a:latin typeface="Arial" panose="020B0604020202020204" pitchFamily="34" charset="0"/>
            </a:endParaRPr>
          </a:p>
        </p:txBody>
      </p:sp>
      <p:sp>
        <p:nvSpPr>
          <p:cNvPr id="5" name="Rectangle 4">
            <a:extLst>
              <a:ext uri="{FF2B5EF4-FFF2-40B4-BE49-F238E27FC236}">
                <a16:creationId xmlns:a16="http://schemas.microsoft.com/office/drawing/2014/main" id="{12979893-CEB3-9ADB-56A8-30020D98E59F}"/>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ECD36EA-ABA9-84D1-EC14-42C21525DBEB}"/>
              </a:ext>
            </a:extLst>
          </p:cNvPr>
          <p:cNvSpPr txBox="1"/>
          <p:nvPr/>
        </p:nvSpPr>
        <p:spPr>
          <a:xfrm>
            <a:off x="558800" y="6451600"/>
            <a:ext cx="8255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7" name="TextBox 6">
            <a:extLst>
              <a:ext uri="{FF2B5EF4-FFF2-40B4-BE49-F238E27FC236}">
                <a16:creationId xmlns:a16="http://schemas.microsoft.com/office/drawing/2014/main" id="{3632D534-6D31-66E5-77CA-52E5EBB8EB79}"/>
              </a:ext>
            </a:extLst>
          </p:cNvPr>
          <p:cNvSpPr txBox="1"/>
          <p:nvPr/>
        </p:nvSpPr>
        <p:spPr>
          <a:xfrm>
            <a:off x="11049000" y="6451600"/>
            <a:ext cx="584200" cy="153888"/>
          </a:xfrm>
          <a:prstGeom prst="rect">
            <a:avLst/>
          </a:prstGeom>
          <a:noFill/>
        </p:spPr>
        <p:txBody>
          <a:bodyPr vert="horz" wrap="square" lIns="0" tIns="0" rIns="0" bIns="0" rtlCol="0">
            <a:spAutoFit/>
          </a:bodyPr>
          <a:lstStyle/>
          <a:p>
            <a:pPr algn="r"/>
            <a:r>
              <a:rPr lang="en-US" sz="1000">
                <a:solidFill>
                  <a:srgbClr val="5D6F7E"/>
                </a:solidFill>
                <a:latin typeface="Arial" panose="020B0604020202020204" pitchFamily="34" charset="0"/>
              </a:rPr>
              <a:t>8</a:t>
            </a:r>
          </a:p>
        </p:txBody>
      </p:sp>
      <p:sp>
        <p:nvSpPr>
          <p:cNvPr id="8" name="Rectangle 7">
            <a:extLst>
              <a:ext uri="{FF2B5EF4-FFF2-40B4-BE49-F238E27FC236}">
                <a16:creationId xmlns:a16="http://schemas.microsoft.com/office/drawing/2014/main" id="{625EC10D-57B0-6DAA-0392-9CD242533A22}"/>
              </a:ext>
            </a:extLst>
          </p:cNvPr>
          <p:cNvSpPr/>
          <p:nvPr/>
        </p:nvSpPr>
        <p:spPr>
          <a:xfrm>
            <a:off x="558800" y="1727200"/>
            <a:ext cx="4279900" cy="35560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CFDB8EC-1F96-CCE2-7015-9C5AFCC202EE}"/>
              </a:ext>
            </a:extLst>
          </p:cNvPr>
          <p:cNvSpPr txBox="1"/>
          <p:nvPr/>
        </p:nvSpPr>
        <p:spPr>
          <a:xfrm>
            <a:off x="800100" y="1981200"/>
            <a:ext cx="3657600" cy="323165"/>
          </a:xfrm>
          <a:prstGeom prst="rect">
            <a:avLst/>
          </a:prstGeom>
          <a:noFill/>
        </p:spPr>
        <p:txBody>
          <a:bodyPr vert="horz" wrap="square" lIns="0" tIns="0" rIns="0" bIns="0" rtlCol="0">
            <a:spAutoFit/>
          </a:bodyPr>
          <a:lstStyle/>
          <a:p>
            <a:r>
              <a:rPr lang="en-US" sz="2100" b="1">
                <a:solidFill>
                  <a:srgbClr val="172B41"/>
                </a:solidFill>
                <a:latin typeface="Arial" panose="020B0604020202020204" pitchFamily="34" charset="0"/>
              </a:rPr>
              <a:t>Gió Đông Bắc</a:t>
            </a:r>
          </a:p>
        </p:txBody>
      </p:sp>
      <p:sp>
        <p:nvSpPr>
          <p:cNvPr id="10" name="TextBox 9">
            <a:extLst>
              <a:ext uri="{FF2B5EF4-FFF2-40B4-BE49-F238E27FC236}">
                <a16:creationId xmlns:a16="http://schemas.microsoft.com/office/drawing/2014/main" id="{1120E494-5572-5E8E-2649-CEB5A7514D69}"/>
              </a:ext>
            </a:extLst>
          </p:cNvPr>
          <p:cNvSpPr txBox="1"/>
          <p:nvPr/>
        </p:nvSpPr>
        <p:spPr>
          <a:xfrm>
            <a:off x="800100" y="2667000"/>
            <a:ext cx="3467100" cy="492443"/>
          </a:xfrm>
          <a:prstGeom prst="rect">
            <a:avLst/>
          </a:prstGeom>
          <a:noFill/>
        </p:spPr>
        <p:txBody>
          <a:bodyPr vert="horz" wrap="square" lIns="0" tIns="0" rIns="0" bIns="0" rtlCol="0">
            <a:spAutoFit/>
          </a:bodyPr>
          <a:lstStyle/>
          <a:p>
            <a:r>
              <a:rPr lang="en-US" sz="3200" b="1">
                <a:solidFill>
                  <a:srgbClr val="007E87"/>
                </a:solidFill>
                <a:latin typeface="Arial" panose="020B0604020202020204" pitchFamily="34" charset="0"/>
              </a:rPr>
              <a:t>12–18%</a:t>
            </a:r>
          </a:p>
        </p:txBody>
      </p:sp>
      <p:sp>
        <p:nvSpPr>
          <p:cNvPr id="11" name="TextBox 10">
            <a:extLst>
              <a:ext uri="{FF2B5EF4-FFF2-40B4-BE49-F238E27FC236}">
                <a16:creationId xmlns:a16="http://schemas.microsoft.com/office/drawing/2014/main" id="{CA02F69C-58E6-FA3D-461F-7FC9DA68561B}"/>
              </a:ext>
            </a:extLst>
          </p:cNvPr>
          <p:cNvSpPr txBox="1"/>
          <p:nvPr/>
        </p:nvSpPr>
        <p:spPr>
          <a:xfrm>
            <a:off x="800100" y="3289300"/>
            <a:ext cx="3429000" cy="246221"/>
          </a:xfrm>
          <a:prstGeom prst="rect">
            <a:avLst/>
          </a:prstGeom>
          <a:noFill/>
        </p:spPr>
        <p:txBody>
          <a:bodyPr vert="horz" wrap="square" lIns="0" tIns="0" rIns="0" bIns="0" rtlCol="0">
            <a:spAutoFit/>
          </a:bodyPr>
          <a:lstStyle/>
          <a:p>
            <a:r>
              <a:rPr lang="en-US" sz="1600">
                <a:solidFill>
                  <a:srgbClr val="253543"/>
                </a:solidFill>
                <a:latin typeface="Arial" panose="020B0604020202020204" pitchFamily="34" charset="0"/>
              </a:rPr>
              <a:t>số mẫu trong audit</a:t>
            </a:r>
          </a:p>
        </p:txBody>
      </p:sp>
      <p:sp>
        <p:nvSpPr>
          <p:cNvPr id="12" name="TextBox 11">
            <a:extLst>
              <a:ext uri="{FF2B5EF4-FFF2-40B4-BE49-F238E27FC236}">
                <a16:creationId xmlns:a16="http://schemas.microsoft.com/office/drawing/2014/main" id="{65CFF2C8-08F1-3A17-4142-0FCD3B7F862F}"/>
              </a:ext>
            </a:extLst>
          </p:cNvPr>
          <p:cNvSpPr txBox="1"/>
          <p:nvPr/>
        </p:nvSpPr>
        <p:spPr>
          <a:xfrm>
            <a:off x="800100" y="3937000"/>
            <a:ext cx="3467100" cy="492443"/>
          </a:xfrm>
          <a:prstGeom prst="rect">
            <a:avLst/>
          </a:prstGeom>
          <a:noFill/>
        </p:spPr>
        <p:txBody>
          <a:bodyPr vert="horz" wrap="square" lIns="0" tIns="0" rIns="0" bIns="0" rtlCol="0">
            <a:spAutoFit/>
          </a:bodyPr>
          <a:lstStyle/>
          <a:p>
            <a:r>
              <a:rPr lang="en-US" sz="3200" b="1">
                <a:solidFill>
                  <a:srgbClr val="DC772F"/>
                </a:solidFill>
                <a:latin typeface="Arial" panose="020B0604020202020204" pitchFamily="34" charset="0"/>
              </a:rPr>
              <a:t>46–65%</a:t>
            </a:r>
          </a:p>
        </p:txBody>
      </p:sp>
      <p:sp>
        <p:nvSpPr>
          <p:cNvPr id="13" name="TextBox 12">
            <a:extLst>
              <a:ext uri="{FF2B5EF4-FFF2-40B4-BE49-F238E27FC236}">
                <a16:creationId xmlns:a16="http://schemas.microsoft.com/office/drawing/2014/main" id="{E68A7066-13A0-CB0A-40C6-833D5C7BF2C3}"/>
              </a:ext>
            </a:extLst>
          </p:cNvPr>
          <p:cNvSpPr txBox="1"/>
          <p:nvPr/>
        </p:nvSpPr>
        <p:spPr>
          <a:xfrm>
            <a:off x="800100" y="4559300"/>
            <a:ext cx="35052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sự kiện mưa ≥10 mm/3 giờ</a:t>
            </a:r>
            <a:endParaRPr lang="en-US" sz="1600">
              <a:solidFill>
                <a:srgbClr val="253543"/>
              </a:solidFill>
              <a:latin typeface="Arial" panose="020B0604020202020204" pitchFamily="34" charset="0"/>
            </a:endParaRPr>
          </a:p>
        </p:txBody>
      </p:sp>
      <p:sp>
        <p:nvSpPr>
          <p:cNvPr id="14" name="TextBox 13">
            <a:extLst>
              <a:ext uri="{FF2B5EF4-FFF2-40B4-BE49-F238E27FC236}">
                <a16:creationId xmlns:a16="http://schemas.microsoft.com/office/drawing/2014/main" id="{19C692CE-F01A-3056-E54E-DFC8ED6B9C90}"/>
              </a:ext>
            </a:extLst>
          </p:cNvPr>
          <p:cNvSpPr txBox="1"/>
          <p:nvPr/>
        </p:nvSpPr>
        <p:spPr>
          <a:xfrm>
            <a:off x="5168900" y="1905000"/>
            <a:ext cx="6350000" cy="553998"/>
          </a:xfrm>
          <a:prstGeom prst="rect">
            <a:avLst/>
          </a:prstGeom>
          <a:noFill/>
        </p:spPr>
        <p:txBody>
          <a:bodyPr vert="horz" wrap="square" lIns="0" tIns="0" rIns="0" bIns="0" rtlCol="0">
            <a:spAutoFit/>
          </a:bodyPr>
          <a:lstStyle/>
          <a:p>
            <a:r>
              <a:rPr lang="vi-VN" b="1">
                <a:solidFill>
                  <a:srgbClr val="172B41"/>
                </a:solidFill>
                <a:latin typeface="Arial" panose="020B0604020202020204" pitchFamily="34" charset="0"/>
              </a:rPr>
              <a:t>Bi-LSTM DOMAIN − RAW: </a:t>
            </a:r>
            <a:r>
              <a:rPr lang="el-GR" b="1">
                <a:solidFill>
                  <a:srgbClr val="172B41"/>
                </a:solidFill>
                <a:latin typeface="Arial" panose="020B0604020202020204" pitchFamily="34" charset="0"/>
              </a:rPr>
              <a:t>Δ</a:t>
            </a:r>
            <a:r>
              <a:rPr lang="vi-VN" b="1">
                <a:solidFill>
                  <a:srgbClr val="172B41"/>
                </a:solidFill>
                <a:latin typeface="Arial" panose="020B0604020202020204" pitchFamily="34" charset="0"/>
              </a:rPr>
              <a:t>CSI xác suất mưa ≥10 mm/3 giờ</a:t>
            </a:r>
            <a:endParaRPr lang="en-US" b="1">
              <a:solidFill>
                <a:srgbClr val="172B41"/>
              </a:solidFill>
              <a:latin typeface="Arial" panose="020B0604020202020204" pitchFamily="34" charset="0"/>
            </a:endParaRPr>
          </a:p>
        </p:txBody>
      </p:sp>
      <p:sp>
        <p:nvSpPr>
          <p:cNvPr id="15" name="Rectangle 14">
            <a:extLst>
              <a:ext uri="{FF2B5EF4-FFF2-40B4-BE49-F238E27FC236}">
                <a16:creationId xmlns:a16="http://schemas.microsoft.com/office/drawing/2014/main" id="{0E390146-5D33-674A-F8F6-BCEF2302EEBB}"/>
              </a:ext>
            </a:extLst>
          </p:cNvPr>
          <p:cNvSpPr/>
          <p:nvPr/>
        </p:nvSpPr>
        <p:spPr>
          <a:xfrm>
            <a:off x="5181600" y="2819400"/>
            <a:ext cx="6299200" cy="5461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433FFA7-E249-E5C9-5F8E-E49E5B9CAB4F}"/>
              </a:ext>
            </a:extLst>
          </p:cNvPr>
          <p:cNvSpPr txBox="1"/>
          <p:nvPr/>
        </p:nvSpPr>
        <p:spPr>
          <a:xfrm>
            <a:off x="5410200" y="2908300"/>
            <a:ext cx="5715000" cy="307777"/>
          </a:xfrm>
          <a:prstGeom prst="rect">
            <a:avLst/>
          </a:prstGeom>
          <a:noFill/>
        </p:spPr>
        <p:txBody>
          <a:bodyPr vert="horz" wrap="square" lIns="0" tIns="0" rIns="0" bIns="0" rtlCol="0">
            <a:spAutoFit/>
          </a:bodyPr>
          <a:lstStyle/>
          <a:p>
            <a:r>
              <a:rPr lang="en-US" sz="2000" b="1">
                <a:solidFill>
                  <a:srgbClr val="007E87"/>
                </a:solidFill>
                <a:latin typeface="Arial" panose="020B0604020202020204" pitchFamily="34" charset="0"/>
              </a:rPr>
              <a:t>2021  +0,051</a:t>
            </a:r>
          </a:p>
        </p:txBody>
      </p:sp>
      <p:sp>
        <p:nvSpPr>
          <p:cNvPr id="17" name="Rectangle 16">
            <a:extLst>
              <a:ext uri="{FF2B5EF4-FFF2-40B4-BE49-F238E27FC236}">
                <a16:creationId xmlns:a16="http://schemas.microsoft.com/office/drawing/2014/main" id="{1F801AA4-C817-41D7-0BA2-0D606BC8451A}"/>
              </a:ext>
            </a:extLst>
          </p:cNvPr>
          <p:cNvSpPr/>
          <p:nvPr/>
        </p:nvSpPr>
        <p:spPr>
          <a:xfrm>
            <a:off x="5181600" y="3492500"/>
            <a:ext cx="6299200" cy="5461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B820565-C8AF-FB1F-9573-6675BD819291}"/>
              </a:ext>
            </a:extLst>
          </p:cNvPr>
          <p:cNvSpPr txBox="1"/>
          <p:nvPr/>
        </p:nvSpPr>
        <p:spPr>
          <a:xfrm>
            <a:off x="5410200" y="3581400"/>
            <a:ext cx="5715000" cy="307777"/>
          </a:xfrm>
          <a:prstGeom prst="rect">
            <a:avLst/>
          </a:prstGeom>
          <a:noFill/>
        </p:spPr>
        <p:txBody>
          <a:bodyPr vert="horz" wrap="square" lIns="0" tIns="0" rIns="0" bIns="0" rtlCol="0">
            <a:spAutoFit/>
          </a:bodyPr>
          <a:lstStyle/>
          <a:p>
            <a:r>
              <a:rPr lang="en-US" sz="2000" b="1">
                <a:solidFill>
                  <a:srgbClr val="007E87"/>
                </a:solidFill>
                <a:latin typeface="Arial" panose="020B0604020202020204" pitchFamily="34" charset="0"/>
              </a:rPr>
              <a:t>2022  +0,007</a:t>
            </a:r>
          </a:p>
        </p:txBody>
      </p:sp>
      <p:sp>
        <p:nvSpPr>
          <p:cNvPr id="19" name="Rectangle 18">
            <a:extLst>
              <a:ext uri="{FF2B5EF4-FFF2-40B4-BE49-F238E27FC236}">
                <a16:creationId xmlns:a16="http://schemas.microsoft.com/office/drawing/2014/main" id="{515FE863-928A-5039-D3AC-67B7E4CD5AF1}"/>
              </a:ext>
            </a:extLst>
          </p:cNvPr>
          <p:cNvSpPr/>
          <p:nvPr/>
        </p:nvSpPr>
        <p:spPr>
          <a:xfrm>
            <a:off x="5181600" y="4165600"/>
            <a:ext cx="6299200" cy="5461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0820E42-7F38-B553-7840-7F2386C3B086}"/>
              </a:ext>
            </a:extLst>
          </p:cNvPr>
          <p:cNvSpPr txBox="1"/>
          <p:nvPr/>
        </p:nvSpPr>
        <p:spPr>
          <a:xfrm>
            <a:off x="5410200" y="4254500"/>
            <a:ext cx="5715000" cy="307777"/>
          </a:xfrm>
          <a:prstGeom prst="rect">
            <a:avLst/>
          </a:prstGeom>
          <a:noFill/>
        </p:spPr>
        <p:txBody>
          <a:bodyPr vert="horz" wrap="square" lIns="0" tIns="0" rIns="0" bIns="0" rtlCol="0">
            <a:spAutoFit/>
          </a:bodyPr>
          <a:lstStyle/>
          <a:p>
            <a:r>
              <a:rPr lang="en-US" sz="2000" b="1">
                <a:solidFill>
                  <a:srgbClr val="007E87"/>
                </a:solidFill>
                <a:latin typeface="Arial" panose="020B0604020202020204" pitchFamily="34" charset="0"/>
              </a:rPr>
              <a:t>2023  +0,031</a:t>
            </a:r>
          </a:p>
        </p:txBody>
      </p:sp>
      <p:sp>
        <p:nvSpPr>
          <p:cNvPr id="21" name="TextBox 20">
            <a:extLst>
              <a:ext uri="{FF2B5EF4-FFF2-40B4-BE49-F238E27FC236}">
                <a16:creationId xmlns:a16="http://schemas.microsoft.com/office/drawing/2014/main" id="{D4CCD0D4-7059-6B12-1765-B3AB59A6074B}"/>
              </a:ext>
            </a:extLst>
          </p:cNvPr>
          <p:cNvSpPr txBox="1"/>
          <p:nvPr/>
        </p:nvSpPr>
        <p:spPr>
          <a:xfrm>
            <a:off x="5168900" y="5080000"/>
            <a:ext cx="6438900" cy="246221"/>
          </a:xfrm>
          <a:prstGeom prst="rect">
            <a:avLst/>
          </a:prstGeom>
          <a:noFill/>
        </p:spPr>
        <p:txBody>
          <a:bodyPr vert="horz" wrap="square" lIns="0" tIns="0" rIns="0" bIns="0" rtlCol="0">
            <a:spAutoFit/>
          </a:bodyPr>
          <a:lstStyle/>
          <a:p>
            <a:r>
              <a:rPr lang="vi-VN" sz="1600" b="1">
                <a:solidFill>
                  <a:srgbClr val="DC772F"/>
                </a:solidFill>
                <a:latin typeface="Arial" panose="020B0604020202020204" pitchFamily="34" charset="0"/>
              </a:rPr>
              <a:t>CI95% từng năm đều chứa 0; LightGBM chưa xác nhận lợi ích lặp.</a:t>
            </a:r>
            <a:endParaRPr lang="en-US" sz="1600" b="1">
              <a:solidFill>
                <a:srgbClr val="DC772F"/>
              </a:solidFill>
              <a:latin typeface="Arial" panose="020B0604020202020204" pitchFamily="34" charset="0"/>
            </a:endParaRPr>
          </a:p>
        </p:txBody>
      </p:sp>
    </p:spTree>
    <p:extLst>
      <p:ext uri="{BB962C8B-B14F-4D97-AF65-F5344CB8AC3E}">
        <p14:creationId xmlns:p14="http://schemas.microsoft.com/office/powerpoint/2010/main" val="1160837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846056-199B-6526-094E-C5EBA36D7524}"/>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446FC84-D3EB-6B99-2ABB-C8FEC72846BA}"/>
              </a:ext>
            </a:extLst>
          </p:cNvPr>
          <p:cNvSpPr txBox="1"/>
          <p:nvPr/>
        </p:nvSpPr>
        <p:spPr>
          <a:xfrm>
            <a:off x="558800" y="304800"/>
            <a:ext cx="9652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TỪ MÔ HÌNH ĐẾN SẢN PHẨM</a:t>
            </a:r>
          </a:p>
        </p:txBody>
      </p:sp>
      <p:sp>
        <p:nvSpPr>
          <p:cNvPr id="4" name="TextBox 3">
            <a:extLst>
              <a:ext uri="{FF2B5EF4-FFF2-40B4-BE49-F238E27FC236}">
                <a16:creationId xmlns:a16="http://schemas.microsoft.com/office/drawing/2014/main" id="{41BEE319-9F88-816B-2967-5DAE7B8665EB}"/>
              </a:ext>
            </a:extLst>
          </p:cNvPr>
          <p:cNvSpPr txBox="1"/>
          <p:nvPr/>
        </p:nvSpPr>
        <p:spPr>
          <a:xfrm>
            <a:off x="558800" y="660400"/>
            <a:ext cx="11049000" cy="446276"/>
          </a:xfrm>
          <a:prstGeom prst="rect">
            <a:avLst/>
          </a:prstGeom>
          <a:noFill/>
        </p:spPr>
        <p:txBody>
          <a:bodyPr vert="horz" wrap="square" lIns="0" tIns="0" rIns="0" bIns="0" rtlCol="0">
            <a:spAutoFit/>
          </a:bodyPr>
          <a:lstStyle/>
          <a:p>
            <a:r>
              <a:rPr lang="en-US" sz="2900" b="1">
                <a:solidFill>
                  <a:srgbClr val="172B41"/>
                </a:solidFill>
                <a:latin typeface="Arial" panose="020B0604020202020204" pitchFamily="34" charset="0"/>
              </a:rPr>
              <a:t>App đã có demo hồi cứu; phát hành AI live còn cổng dữ liệu</a:t>
            </a:r>
          </a:p>
        </p:txBody>
      </p:sp>
      <p:sp>
        <p:nvSpPr>
          <p:cNvPr id="5" name="Rectangle 4">
            <a:extLst>
              <a:ext uri="{FF2B5EF4-FFF2-40B4-BE49-F238E27FC236}">
                <a16:creationId xmlns:a16="http://schemas.microsoft.com/office/drawing/2014/main" id="{84D46DFD-A400-FBAE-9E01-1DFA0F6B3CB3}"/>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7D5156C-C7F9-1DDB-8039-6A8BCB32E549}"/>
              </a:ext>
            </a:extLst>
          </p:cNvPr>
          <p:cNvSpPr txBox="1"/>
          <p:nvPr/>
        </p:nvSpPr>
        <p:spPr>
          <a:xfrm>
            <a:off x="558800" y="6451600"/>
            <a:ext cx="8255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7" name="TextBox 6">
            <a:extLst>
              <a:ext uri="{FF2B5EF4-FFF2-40B4-BE49-F238E27FC236}">
                <a16:creationId xmlns:a16="http://schemas.microsoft.com/office/drawing/2014/main" id="{E173E47C-8581-48FB-887F-8313FD06EF65}"/>
              </a:ext>
            </a:extLst>
          </p:cNvPr>
          <p:cNvSpPr txBox="1"/>
          <p:nvPr/>
        </p:nvSpPr>
        <p:spPr>
          <a:xfrm>
            <a:off x="11049000" y="6451600"/>
            <a:ext cx="584200" cy="153888"/>
          </a:xfrm>
          <a:prstGeom prst="rect">
            <a:avLst/>
          </a:prstGeom>
          <a:noFill/>
        </p:spPr>
        <p:txBody>
          <a:bodyPr vert="horz" wrap="square" lIns="0" tIns="0" rIns="0" bIns="0" rtlCol="0">
            <a:spAutoFit/>
          </a:bodyPr>
          <a:lstStyle/>
          <a:p>
            <a:pPr algn="r"/>
            <a:r>
              <a:rPr lang="en-US" sz="1000">
                <a:solidFill>
                  <a:srgbClr val="5D6F7E"/>
                </a:solidFill>
                <a:latin typeface="Arial" panose="020B0604020202020204" pitchFamily="34" charset="0"/>
              </a:rPr>
              <a:t>9</a:t>
            </a:r>
          </a:p>
        </p:txBody>
      </p:sp>
      <p:sp>
        <p:nvSpPr>
          <p:cNvPr id="8" name="Rectangle 7">
            <a:extLst>
              <a:ext uri="{FF2B5EF4-FFF2-40B4-BE49-F238E27FC236}">
                <a16:creationId xmlns:a16="http://schemas.microsoft.com/office/drawing/2014/main" id="{D8EC76C6-61F0-A6B8-70D7-72C02BCB489B}"/>
              </a:ext>
            </a:extLst>
          </p:cNvPr>
          <p:cNvSpPr/>
          <p:nvPr/>
        </p:nvSpPr>
        <p:spPr>
          <a:xfrm>
            <a:off x="558800" y="1752600"/>
            <a:ext cx="5232400" cy="36449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552CCEF-87D7-8C8E-5B3E-AAA1C12E8745}"/>
              </a:ext>
            </a:extLst>
          </p:cNvPr>
          <p:cNvSpPr txBox="1"/>
          <p:nvPr/>
        </p:nvSpPr>
        <p:spPr>
          <a:xfrm>
            <a:off x="787400" y="1981200"/>
            <a:ext cx="4572000" cy="323165"/>
          </a:xfrm>
          <a:prstGeom prst="rect">
            <a:avLst/>
          </a:prstGeom>
          <a:noFill/>
        </p:spPr>
        <p:txBody>
          <a:bodyPr vert="horz" wrap="square" lIns="0" tIns="0" rIns="0" bIns="0" rtlCol="0">
            <a:spAutoFit/>
          </a:bodyPr>
          <a:lstStyle/>
          <a:p>
            <a:r>
              <a:rPr lang="en-US" sz="2100" b="1">
                <a:solidFill>
                  <a:srgbClr val="172B41"/>
                </a:solidFill>
                <a:latin typeface="Arial" panose="020B0604020202020204" pitchFamily="34" charset="0"/>
              </a:rPr>
              <a:t>Đã kiểm tra</a:t>
            </a:r>
          </a:p>
        </p:txBody>
      </p:sp>
      <p:sp>
        <p:nvSpPr>
          <p:cNvPr id="10" name="TextBox 9">
            <a:extLst>
              <a:ext uri="{FF2B5EF4-FFF2-40B4-BE49-F238E27FC236}">
                <a16:creationId xmlns:a16="http://schemas.microsoft.com/office/drawing/2014/main" id="{D0AEB65B-BF72-0E7A-EE13-CC30A0BC85BA}"/>
              </a:ext>
            </a:extLst>
          </p:cNvPr>
          <p:cNvSpPr txBox="1"/>
          <p:nvPr/>
        </p:nvSpPr>
        <p:spPr>
          <a:xfrm>
            <a:off x="787400" y="2641600"/>
            <a:ext cx="4533900" cy="523220"/>
          </a:xfrm>
          <a:prstGeom prst="rect">
            <a:avLst/>
          </a:prstGeom>
          <a:noFill/>
        </p:spPr>
        <p:txBody>
          <a:bodyPr vert="horz" wrap="square" lIns="0" tIns="0" rIns="0" bIns="0" rtlCol="0">
            <a:spAutoFit/>
          </a:bodyPr>
          <a:lstStyle/>
          <a:p>
            <a:r>
              <a:rPr lang="en-US" sz="3400" b="1">
                <a:solidFill>
                  <a:srgbClr val="007E87"/>
                </a:solidFill>
                <a:latin typeface="Arial" panose="020B0604020202020204" pitchFamily="34" charset="0"/>
              </a:rPr>
              <a:t>24/24</a:t>
            </a:r>
          </a:p>
        </p:txBody>
      </p:sp>
      <p:sp>
        <p:nvSpPr>
          <p:cNvPr id="11" name="TextBox 10">
            <a:extLst>
              <a:ext uri="{FF2B5EF4-FFF2-40B4-BE49-F238E27FC236}">
                <a16:creationId xmlns:a16="http://schemas.microsoft.com/office/drawing/2014/main" id="{C6683E7A-786F-5581-3929-862A5DED7F0B}"/>
              </a:ext>
            </a:extLst>
          </p:cNvPr>
          <p:cNvSpPr txBox="1"/>
          <p:nvPr/>
        </p:nvSpPr>
        <p:spPr>
          <a:xfrm>
            <a:off x="787400" y="3276600"/>
            <a:ext cx="4521200" cy="261610"/>
          </a:xfrm>
          <a:prstGeom prst="rect">
            <a:avLst/>
          </a:prstGeom>
          <a:noFill/>
        </p:spPr>
        <p:txBody>
          <a:bodyPr vert="horz" wrap="square" lIns="0" tIns="0" rIns="0" bIns="0" rtlCol="0">
            <a:spAutoFit/>
          </a:bodyPr>
          <a:lstStyle/>
          <a:p>
            <a:r>
              <a:rPr lang="en-US" sz="1700">
                <a:solidFill>
                  <a:srgbClr val="253543"/>
                </a:solidFill>
                <a:latin typeface="Arial" panose="020B0604020202020204" pitchFamily="34" charset="0"/>
              </a:rPr>
              <a:t>tệp GSMaP NRT v8 tải, giải mã</a:t>
            </a:r>
          </a:p>
        </p:txBody>
      </p:sp>
      <p:sp>
        <p:nvSpPr>
          <p:cNvPr id="12" name="TextBox 11">
            <a:extLst>
              <a:ext uri="{FF2B5EF4-FFF2-40B4-BE49-F238E27FC236}">
                <a16:creationId xmlns:a16="http://schemas.microsoft.com/office/drawing/2014/main" id="{FD524AB6-D3AA-B0D6-3BDE-260BFB40D2BA}"/>
              </a:ext>
            </a:extLst>
          </p:cNvPr>
          <p:cNvSpPr txBox="1"/>
          <p:nvPr/>
        </p:nvSpPr>
        <p:spPr>
          <a:xfrm>
            <a:off x="787400" y="4089400"/>
            <a:ext cx="4546600" cy="492443"/>
          </a:xfrm>
          <a:prstGeom prst="rect">
            <a:avLst/>
          </a:prstGeom>
          <a:noFill/>
        </p:spPr>
        <p:txBody>
          <a:bodyPr vert="horz" wrap="square" lIns="0" tIns="0" rIns="0" bIns="0" rtlCol="0">
            <a:spAutoFit/>
          </a:bodyPr>
          <a:lstStyle/>
          <a:p>
            <a:r>
              <a:rPr lang="en-US" sz="1600">
                <a:solidFill>
                  <a:srgbClr val="253543"/>
                </a:solidFill>
                <a:latin typeface="Arial" panose="020B0604020202020204" pitchFamily="34" charset="0"/>
              </a:rPr>
              <a:t>93/93 ô hữu hạn; demo archive dùng checkpoint thật; 36 phép đối chiếu API khớp.</a:t>
            </a:r>
          </a:p>
        </p:txBody>
      </p:sp>
      <p:sp>
        <p:nvSpPr>
          <p:cNvPr id="13" name="Rectangle 12">
            <a:extLst>
              <a:ext uri="{FF2B5EF4-FFF2-40B4-BE49-F238E27FC236}">
                <a16:creationId xmlns:a16="http://schemas.microsoft.com/office/drawing/2014/main" id="{8176B020-CD0A-5C9F-5C7D-8AC16CFC734B}"/>
              </a:ext>
            </a:extLst>
          </p:cNvPr>
          <p:cNvSpPr/>
          <p:nvPr/>
        </p:nvSpPr>
        <p:spPr>
          <a:xfrm>
            <a:off x="6096000" y="1752600"/>
            <a:ext cx="5537200" cy="36449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7CBDCDB-B4C9-2680-CF49-ACF82B8472AE}"/>
              </a:ext>
            </a:extLst>
          </p:cNvPr>
          <p:cNvSpPr txBox="1"/>
          <p:nvPr/>
        </p:nvSpPr>
        <p:spPr>
          <a:xfrm>
            <a:off x="6337300" y="1981200"/>
            <a:ext cx="5029200" cy="323165"/>
          </a:xfrm>
          <a:prstGeom prst="rect">
            <a:avLst/>
          </a:prstGeom>
          <a:noFill/>
        </p:spPr>
        <p:txBody>
          <a:bodyPr vert="horz" wrap="square" lIns="0" tIns="0" rIns="0" bIns="0" rtlCol="0">
            <a:spAutoFit/>
          </a:bodyPr>
          <a:lstStyle/>
          <a:p>
            <a:r>
              <a:rPr lang="vi-VN" sz="2100" b="1">
                <a:solidFill>
                  <a:srgbClr val="172B41"/>
                </a:solidFill>
                <a:latin typeface="Arial" panose="020B0604020202020204" pitchFamily="34" charset="0"/>
              </a:rPr>
              <a:t>Cần kiểm định trước AI live</a:t>
            </a:r>
            <a:endParaRPr lang="en-US" sz="2100" b="1">
              <a:solidFill>
                <a:srgbClr val="172B41"/>
              </a:solidFill>
              <a:latin typeface="Arial" panose="020B0604020202020204" pitchFamily="34" charset="0"/>
            </a:endParaRPr>
          </a:p>
        </p:txBody>
      </p:sp>
      <p:sp>
        <p:nvSpPr>
          <p:cNvPr id="15" name="TextBox 14">
            <a:extLst>
              <a:ext uri="{FF2B5EF4-FFF2-40B4-BE49-F238E27FC236}">
                <a16:creationId xmlns:a16="http://schemas.microsoft.com/office/drawing/2014/main" id="{284F5C53-6F4D-D95D-27F6-61BAA5AD4BF2}"/>
              </a:ext>
            </a:extLst>
          </p:cNvPr>
          <p:cNvSpPr txBox="1"/>
          <p:nvPr/>
        </p:nvSpPr>
        <p:spPr>
          <a:xfrm>
            <a:off x="6337300" y="2628900"/>
            <a:ext cx="4991100" cy="523220"/>
          </a:xfrm>
          <a:prstGeom prst="rect">
            <a:avLst/>
          </a:prstGeom>
          <a:noFill/>
        </p:spPr>
        <p:txBody>
          <a:bodyPr vert="horz" wrap="square" lIns="0" tIns="0" rIns="0" bIns="0" rtlCol="0">
            <a:spAutoFit/>
          </a:bodyPr>
          <a:lstStyle/>
          <a:p>
            <a:r>
              <a:rPr lang="vi-VN" sz="1700">
                <a:solidFill>
                  <a:srgbClr val="253543"/>
                </a:solidFill>
                <a:latin typeface="Arial" panose="020B0604020202020204" pitchFamily="34" charset="0"/>
              </a:rPr>
              <a:t>Một tệp mới được phát hiện khi đã cũ 3,53–3,70 giờ; mới 1 quan sát.</a:t>
            </a:r>
            <a:endParaRPr lang="en-US" sz="1700">
              <a:solidFill>
                <a:srgbClr val="253543"/>
              </a:solidFill>
              <a:latin typeface="Arial" panose="020B0604020202020204" pitchFamily="34" charset="0"/>
            </a:endParaRPr>
          </a:p>
        </p:txBody>
      </p:sp>
      <p:sp>
        <p:nvSpPr>
          <p:cNvPr id="16" name="TextBox 15">
            <a:extLst>
              <a:ext uri="{FF2B5EF4-FFF2-40B4-BE49-F238E27FC236}">
                <a16:creationId xmlns:a16="http://schemas.microsoft.com/office/drawing/2014/main" id="{4FD1FC33-7D52-7131-E929-27B783F6D92D}"/>
              </a:ext>
            </a:extLst>
          </p:cNvPr>
          <p:cNvSpPr txBox="1"/>
          <p:nvPr/>
        </p:nvSpPr>
        <p:spPr>
          <a:xfrm>
            <a:off x="6337300" y="3708400"/>
            <a:ext cx="4991100" cy="523220"/>
          </a:xfrm>
          <a:prstGeom prst="rect">
            <a:avLst/>
          </a:prstGeom>
          <a:noFill/>
        </p:spPr>
        <p:txBody>
          <a:bodyPr vert="horz" wrap="square" lIns="0" tIns="0" rIns="0" bIns="0" rtlCol="0">
            <a:spAutoFit/>
          </a:bodyPr>
          <a:lstStyle/>
          <a:p>
            <a:r>
              <a:rPr lang="en-US" sz="1700">
                <a:solidFill>
                  <a:srgbClr val="253543"/>
                </a:solidFill>
                <a:latin typeface="Arial" panose="020B0604020202020204" pitchFamily="34" charset="0"/>
              </a:rPr>
              <a:t>Train lại lag 5h: RMSE tăng 0,038–0,053 mm/3h (~1%) so lag 4h trên 3 fold.</a:t>
            </a:r>
          </a:p>
        </p:txBody>
      </p:sp>
      <p:sp>
        <p:nvSpPr>
          <p:cNvPr id="17" name="TextBox 16">
            <a:extLst>
              <a:ext uri="{FF2B5EF4-FFF2-40B4-BE49-F238E27FC236}">
                <a16:creationId xmlns:a16="http://schemas.microsoft.com/office/drawing/2014/main" id="{31A054BA-4308-34F9-2C32-1572C5BCE971}"/>
              </a:ext>
            </a:extLst>
          </p:cNvPr>
          <p:cNvSpPr txBox="1"/>
          <p:nvPr/>
        </p:nvSpPr>
        <p:spPr>
          <a:xfrm>
            <a:off x="558800" y="5613400"/>
            <a:ext cx="11074400" cy="246221"/>
          </a:xfrm>
          <a:prstGeom prst="rect">
            <a:avLst/>
          </a:prstGeom>
          <a:noFill/>
        </p:spPr>
        <p:txBody>
          <a:bodyPr vert="horz" wrap="square" lIns="0" tIns="0" rIns="0" bIns="0" rtlCol="0">
            <a:spAutoFit/>
          </a:bodyPr>
          <a:lstStyle/>
          <a:p>
            <a:r>
              <a:rPr lang="en-US" sz="1600" b="1">
                <a:solidFill>
                  <a:srgbClr val="DC772F"/>
                </a:solidFill>
                <a:latin typeface="Arial" panose="020B0604020202020204" pitchFamily="34" charset="0"/>
              </a:rPr>
              <a:t>Cần đo nhiều ngày và xác minh mọi biến đầu vào có sẵn đúng giờ phát hành.</a:t>
            </a:r>
          </a:p>
        </p:txBody>
      </p:sp>
    </p:spTree>
    <p:extLst>
      <p:ext uri="{BB962C8B-B14F-4D97-AF65-F5344CB8AC3E}">
        <p14:creationId xmlns:p14="http://schemas.microsoft.com/office/powerpoint/2010/main" val="1239837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0FCD0A-921C-3B44-110E-9CF1F5C568BA}"/>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E98F0A8-7D2A-56CF-BEC7-C5B370D49F05}"/>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2FDAEA4-94D3-9794-3F8C-4CA92B108DC2}"/>
              </a:ext>
            </a:extLst>
          </p:cNvPr>
          <p:cNvSpPr txBox="1"/>
          <p:nvPr/>
        </p:nvSpPr>
        <p:spPr>
          <a:xfrm>
            <a:off x="558800" y="304800"/>
            <a:ext cx="10795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TRIỂN KHAI ỨNG DỤNG</a:t>
            </a:r>
          </a:p>
        </p:txBody>
      </p:sp>
      <p:sp>
        <p:nvSpPr>
          <p:cNvPr id="5" name="TextBox 4">
            <a:extLst>
              <a:ext uri="{FF2B5EF4-FFF2-40B4-BE49-F238E27FC236}">
                <a16:creationId xmlns:a16="http://schemas.microsoft.com/office/drawing/2014/main" id="{55BE1C55-F94F-925C-2F37-78894F6F72B9}"/>
              </a:ext>
            </a:extLst>
          </p:cNvPr>
          <p:cNvSpPr txBox="1"/>
          <p:nvPr/>
        </p:nvSpPr>
        <p:spPr>
          <a:xfrm>
            <a:off x="558800" y="660400"/>
            <a:ext cx="11074400" cy="446276"/>
          </a:xfrm>
          <a:prstGeom prst="rect">
            <a:avLst/>
          </a:prstGeom>
          <a:noFill/>
        </p:spPr>
        <p:txBody>
          <a:bodyPr vert="horz" wrap="square" lIns="0" tIns="0" rIns="0" bIns="0" rtlCol="0">
            <a:spAutoFit/>
          </a:bodyPr>
          <a:lstStyle/>
          <a:p>
            <a:r>
              <a:rPr lang="en-US" sz="2900" b="1">
                <a:solidFill>
                  <a:srgbClr val="172B41"/>
                </a:solidFill>
                <a:latin typeface="Arial" panose="020B0604020202020204" pitchFamily="34" charset="0"/>
              </a:rPr>
              <a:t>Một dự báo chỉ hiển thị khi dữ liệu đầu vào hợp lệ</a:t>
            </a:r>
          </a:p>
        </p:txBody>
      </p:sp>
      <p:sp>
        <p:nvSpPr>
          <p:cNvPr id="6" name="Rectangle 5">
            <a:extLst>
              <a:ext uri="{FF2B5EF4-FFF2-40B4-BE49-F238E27FC236}">
                <a16:creationId xmlns:a16="http://schemas.microsoft.com/office/drawing/2014/main" id="{9F854C14-A99E-B0DC-EDF8-EBFBA6E0A927}"/>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B652EE6-697F-F90E-A572-4257078440FA}"/>
              </a:ext>
            </a:extLst>
          </p:cNvPr>
          <p:cNvSpPr txBox="1"/>
          <p:nvPr/>
        </p:nvSpPr>
        <p:spPr>
          <a:xfrm>
            <a:off x="558800" y="6451600"/>
            <a:ext cx="8382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8" name="Rectangle 7">
            <a:extLst>
              <a:ext uri="{FF2B5EF4-FFF2-40B4-BE49-F238E27FC236}">
                <a16:creationId xmlns:a16="http://schemas.microsoft.com/office/drawing/2014/main" id="{0C196978-08C3-0C71-33D7-51383514BFDB}"/>
              </a:ext>
            </a:extLst>
          </p:cNvPr>
          <p:cNvSpPr/>
          <p:nvPr/>
        </p:nvSpPr>
        <p:spPr>
          <a:xfrm>
            <a:off x="558800" y="1803400"/>
            <a:ext cx="11074400" cy="7239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03A8A45-A747-8C59-2DA4-644FDFE63406}"/>
              </a:ext>
            </a:extLst>
          </p:cNvPr>
          <p:cNvSpPr txBox="1"/>
          <p:nvPr/>
        </p:nvSpPr>
        <p:spPr>
          <a:xfrm>
            <a:off x="762000" y="19558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1. Thu nguồn</a:t>
            </a:r>
          </a:p>
        </p:txBody>
      </p:sp>
      <p:sp>
        <p:nvSpPr>
          <p:cNvPr id="10" name="TextBox 9">
            <a:extLst>
              <a:ext uri="{FF2B5EF4-FFF2-40B4-BE49-F238E27FC236}">
                <a16:creationId xmlns:a16="http://schemas.microsoft.com/office/drawing/2014/main" id="{34530180-7420-4B2A-44CE-36F7CD80033F}"/>
              </a:ext>
            </a:extLst>
          </p:cNvPr>
          <p:cNvSpPr txBox="1"/>
          <p:nvPr/>
        </p:nvSpPr>
        <p:spPr>
          <a:xfrm>
            <a:off x="3708400" y="1930400"/>
            <a:ext cx="76835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Lấy NRT và forecast; lưu giờ phát hành, giờ nhận, phiên bản.</a:t>
            </a:r>
            <a:endParaRPr lang="en-US" sz="1600">
              <a:solidFill>
                <a:srgbClr val="253543"/>
              </a:solidFill>
              <a:latin typeface="Arial" panose="020B0604020202020204" pitchFamily="34" charset="0"/>
            </a:endParaRPr>
          </a:p>
        </p:txBody>
      </p:sp>
      <p:sp>
        <p:nvSpPr>
          <p:cNvPr id="11" name="Rectangle 10">
            <a:extLst>
              <a:ext uri="{FF2B5EF4-FFF2-40B4-BE49-F238E27FC236}">
                <a16:creationId xmlns:a16="http://schemas.microsoft.com/office/drawing/2014/main" id="{152AD0BA-C905-68DB-D2DA-E2678E5FBA63}"/>
              </a:ext>
            </a:extLst>
          </p:cNvPr>
          <p:cNvSpPr/>
          <p:nvPr/>
        </p:nvSpPr>
        <p:spPr>
          <a:xfrm>
            <a:off x="558800" y="2654300"/>
            <a:ext cx="11074400" cy="7239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C756042-C8A0-716D-C9C1-282ED780BBF9}"/>
              </a:ext>
            </a:extLst>
          </p:cNvPr>
          <p:cNvSpPr txBox="1"/>
          <p:nvPr/>
        </p:nvSpPr>
        <p:spPr>
          <a:xfrm>
            <a:off x="762000" y="28067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2. Chặn lỗi</a:t>
            </a:r>
          </a:p>
        </p:txBody>
      </p:sp>
      <p:sp>
        <p:nvSpPr>
          <p:cNvPr id="13" name="TextBox 12">
            <a:extLst>
              <a:ext uri="{FF2B5EF4-FFF2-40B4-BE49-F238E27FC236}">
                <a16:creationId xmlns:a16="http://schemas.microsoft.com/office/drawing/2014/main" id="{25DBEF6F-63CE-4F9F-8316-C3D805A90D7E}"/>
              </a:ext>
            </a:extLst>
          </p:cNvPr>
          <p:cNvSpPr txBox="1"/>
          <p:nvPr/>
        </p:nvSpPr>
        <p:spPr>
          <a:xfrm>
            <a:off x="3708400" y="2781300"/>
            <a:ext cx="7683500" cy="246221"/>
          </a:xfrm>
          <a:prstGeom prst="rect">
            <a:avLst/>
          </a:prstGeom>
          <a:noFill/>
        </p:spPr>
        <p:txBody>
          <a:bodyPr vert="horz" wrap="square" lIns="0" tIns="0" rIns="0" bIns="0" rtlCol="0">
            <a:spAutoFit/>
          </a:bodyPr>
          <a:lstStyle/>
          <a:p>
            <a:r>
              <a:rPr lang="en-US" sz="1600">
                <a:solidFill>
                  <a:srgbClr val="253543"/>
                </a:solidFill>
                <a:latin typeface="Arial" panose="020B0604020202020204" pitchFamily="34" charset="0"/>
              </a:rPr>
              <a:t>Kiểm tra đủ cửa sổ 24 giờ, dữ liệu không cũ hoặc thiếu.</a:t>
            </a:r>
          </a:p>
        </p:txBody>
      </p:sp>
      <p:sp>
        <p:nvSpPr>
          <p:cNvPr id="14" name="Rectangle 13">
            <a:extLst>
              <a:ext uri="{FF2B5EF4-FFF2-40B4-BE49-F238E27FC236}">
                <a16:creationId xmlns:a16="http://schemas.microsoft.com/office/drawing/2014/main" id="{84734733-EA2B-4D87-E4D7-8AA9F61E5770}"/>
              </a:ext>
            </a:extLst>
          </p:cNvPr>
          <p:cNvSpPr/>
          <p:nvPr/>
        </p:nvSpPr>
        <p:spPr>
          <a:xfrm>
            <a:off x="558800" y="3505200"/>
            <a:ext cx="11074400" cy="7239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3B402C2-B9B7-A20C-DD1B-0A0AF925A520}"/>
              </a:ext>
            </a:extLst>
          </p:cNvPr>
          <p:cNvSpPr txBox="1"/>
          <p:nvPr/>
        </p:nvSpPr>
        <p:spPr>
          <a:xfrm>
            <a:off x="762000" y="36576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3. Suy luận</a:t>
            </a:r>
          </a:p>
        </p:txBody>
      </p:sp>
      <p:sp>
        <p:nvSpPr>
          <p:cNvPr id="16" name="TextBox 15">
            <a:extLst>
              <a:ext uri="{FF2B5EF4-FFF2-40B4-BE49-F238E27FC236}">
                <a16:creationId xmlns:a16="http://schemas.microsoft.com/office/drawing/2014/main" id="{A7F2521E-16E0-61AB-3E33-29A24A8F0D9C}"/>
              </a:ext>
            </a:extLst>
          </p:cNvPr>
          <p:cNvSpPr txBox="1"/>
          <p:nvPr/>
        </p:nvSpPr>
        <p:spPr>
          <a:xfrm>
            <a:off x="3708400" y="3632200"/>
            <a:ext cx="7683500" cy="246221"/>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Chạy checkpoint được chọn và hiệu chỉnh xác suất.</a:t>
            </a:r>
            <a:endParaRPr lang="en-US" sz="1600">
              <a:solidFill>
                <a:srgbClr val="253543"/>
              </a:solidFill>
              <a:latin typeface="Arial" panose="020B0604020202020204" pitchFamily="34" charset="0"/>
            </a:endParaRPr>
          </a:p>
        </p:txBody>
      </p:sp>
      <p:sp>
        <p:nvSpPr>
          <p:cNvPr id="17" name="Rectangle 16">
            <a:extLst>
              <a:ext uri="{FF2B5EF4-FFF2-40B4-BE49-F238E27FC236}">
                <a16:creationId xmlns:a16="http://schemas.microsoft.com/office/drawing/2014/main" id="{A242215D-2192-68FE-DCAE-251FCC01FF54}"/>
              </a:ext>
            </a:extLst>
          </p:cNvPr>
          <p:cNvSpPr/>
          <p:nvPr/>
        </p:nvSpPr>
        <p:spPr>
          <a:xfrm>
            <a:off x="558800" y="4356100"/>
            <a:ext cx="11074400" cy="7239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414C246-C685-AE2E-93B5-92B8B5E4745B}"/>
              </a:ext>
            </a:extLst>
          </p:cNvPr>
          <p:cNvSpPr txBox="1"/>
          <p:nvPr/>
        </p:nvSpPr>
        <p:spPr>
          <a:xfrm>
            <a:off x="762000" y="4508500"/>
            <a:ext cx="2794000" cy="261610"/>
          </a:xfrm>
          <a:prstGeom prst="rect">
            <a:avLst/>
          </a:prstGeom>
          <a:noFill/>
        </p:spPr>
        <p:txBody>
          <a:bodyPr vert="horz" wrap="square" lIns="0" tIns="0" rIns="0" bIns="0" rtlCol="0">
            <a:spAutoFit/>
          </a:bodyPr>
          <a:lstStyle/>
          <a:p>
            <a:r>
              <a:rPr lang="en-US" sz="1700" b="1">
                <a:solidFill>
                  <a:srgbClr val="172B41"/>
                </a:solidFill>
                <a:latin typeface="Arial" panose="020B0604020202020204" pitchFamily="34" charset="0"/>
              </a:rPr>
              <a:t>4. Hiển thị</a:t>
            </a:r>
          </a:p>
        </p:txBody>
      </p:sp>
      <p:sp>
        <p:nvSpPr>
          <p:cNvPr id="19" name="TextBox 18">
            <a:extLst>
              <a:ext uri="{FF2B5EF4-FFF2-40B4-BE49-F238E27FC236}">
                <a16:creationId xmlns:a16="http://schemas.microsoft.com/office/drawing/2014/main" id="{46621ADC-46E3-5786-7DF2-47E550112007}"/>
              </a:ext>
            </a:extLst>
          </p:cNvPr>
          <p:cNvSpPr txBox="1"/>
          <p:nvPr/>
        </p:nvSpPr>
        <p:spPr>
          <a:xfrm>
            <a:off x="3708400" y="4483100"/>
            <a:ext cx="7683500" cy="246221"/>
          </a:xfrm>
          <a:prstGeom prst="rect">
            <a:avLst/>
          </a:prstGeom>
          <a:noFill/>
        </p:spPr>
        <p:txBody>
          <a:bodyPr vert="horz" wrap="square" lIns="0" tIns="0" rIns="0" bIns="0" rtlCol="0">
            <a:spAutoFit/>
          </a:bodyPr>
          <a:lstStyle/>
          <a:p>
            <a:r>
              <a:rPr lang="en-US" sz="1600">
                <a:solidFill>
                  <a:srgbClr val="253543"/>
                </a:solidFill>
                <a:latin typeface="Arial" panose="020B0604020202020204" pitchFamily="34" charset="0"/>
              </a:rPr>
              <a:t>Bản đồ 93 ô: mm/3 giờ, xác suất, thời điểm cập nhật.</a:t>
            </a:r>
          </a:p>
        </p:txBody>
      </p:sp>
      <p:sp>
        <p:nvSpPr>
          <p:cNvPr id="20" name="TextBox 19">
            <a:extLst>
              <a:ext uri="{FF2B5EF4-FFF2-40B4-BE49-F238E27FC236}">
                <a16:creationId xmlns:a16="http://schemas.microsoft.com/office/drawing/2014/main" id="{419E23B7-6A36-8816-B76E-7D5C00A8F93E}"/>
              </a:ext>
            </a:extLst>
          </p:cNvPr>
          <p:cNvSpPr txBox="1"/>
          <p:nvPr/>
        </p:nvSpPr>
        <p:spPr>
          <a:xfrm>
            <a:off x="558800" y="5524500"/>
            <a:ext cx="11074400" cy="292388"/>
          </a:xfrm>
          <a:prstGeom prst="rect">
            <a:avLst/>
          </a:prstGeom>
          <a:noFill/>
        </p:spPr>
        <p:txBody>
          <a:bodyPr vert="horz" wrap="square" lIns="0" tIns="0" rIns="0" bIns="0" rtlCol="0">
            <a:spAutoFit/>
          </a:bodyPr>
          <a:lstStyle/>
          <a:p>
            <a:r>
              <a:rPr lang="vi-VN" sz="1900" b="1">
                <a:solidFill>
                  <a:srgbClr val="DC772F"/>
                </a:solidFill>
                <a:latin typeface="Arial" panose="020B0604020202020204" pitchFamily="34" charset="0"/>
              </a:rPr>
              <a:t>Hiện có demo từ checkpoint trên dữ liệu lịch sử; AI live chưa bật.</a:t>
            </a:r>
            <a:endParaRPr lang="en-US" sz="1900" b="1">
              <a:solidFill>
                <a:srgbClr val="DC772F"/>
              </a:solidFill>
              <a:latin typeface="Arial" panose="020B0604020202020204" pitchFamily="34" charset="0"/>
            </a:endParaRPr>
          </a:p>
        </p:txBody>
      </p:sp>
      <p:sp>
        <p:nvSpPr>
          <p:cNvPr id="21" name="TextBox 20">
            <a:extLst>
              <a:ext uri="{FF2B5EF4-FFF2-40B4-BE49-F238E27FC236}">
                <a16:creationId xmlns:a16="http://schemas.microsoft.com/office/drawing/2014/main" id="{52D96044-51B8-9F04-B042-0D1EEECD1980}"/>
              </a:ext>
            </a:extLst>
          </p:cNvPr>
          <p:cNvSpPr txBox="1"/>
          <p:nvPr/>
        </p:nvSpPr>
        <p:spPr>
          <a:xfrm>
            <a:off x="11087100" y="6451600"/>
            <a:ext cx="5461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10</a:t>
            </a:r>
          </a:p>
        </p:txBody>
      </p:sp>
    </p:spTree>
    <p:extLst>
      <p:ext uri="{BB962C8B-B14F-4D97-AF65-F5344CB8AC3E}">
        <p14:creationId xmlns:p14="http://schemas.microsoft.com/office/powerpoint/2010/main" val="316239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CCEC7F-B4BE-6021-53D2-614B874A645B}"/>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2F4FB60-5018-8655-8390-1E77C725D020}"/>
              </a:ext>
            </a:extLst>
          </p:cNvPr>
          <p:cNvSpPr txBox="1"/>
          <p:nvPr/>
        </p:nvSpPr>
        <p:spPr>
          <a:xfrm>
            <a:off x="558800" y="304800"/>
            <a:ext cx="9652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KẾ HOẠCH &amp; CÂU HỎI CHO GIẢNG VIÊN</a:t>
            </a:r>
          </a:p>
        </p:txBody>
      </p:sp>
      <p:sp>
        <p:nvSpPr>
          <p:cNvPr id="4" name="TextBox 3">
            <a:extLst>
              <a:ext uri="{FF2B5EF4-FFF2-40B4-BE49-F238E27FC236}">
                <a16:creationId xmlns:a16="http://schemas.microsoft.com/office/drawing/2014/main" id="{916015C9-5DDD-BA05-9CAA-3A708B271656}"/>
              </a:ext>
            </a:extLst>
          </p:cNvPr>
          <p:cNvSpPr txBox="1"/>
          <p:nvPr/>
        </p:nvSpPr>
        <p:spPr>
          <a:xfrm>
            <a:off x="558800" y="660400"/>
            <a:ext cx="11049000" cy="446276"/>
          </a:xfrm>
          <a:prstGeom prst="rect">
            <a:avLst/>
          </a:prstGeom>
          <a:noFill/>
        </p:spPr>
        <p:txBody>
          <a:bodyPr vert="horz" wrap="square" lIns="0" tIns="0" rIns="0" bIns="0" rtlCol="0">
            <a:spAutoFit/>
          </a:bodyPr>
          <a:lstStyle/>
          <a:p>
            <a:r>
              <a:rPr lang="vi-VN" sz="2900" b="1">
                <a:solidFill>
                  <a:srgbClr val="172B41"/>
                </a:solidFill>
                <a:latin typeface="Arial" panose="020B0604020202020204" pitchFamily="34" charset="0"/>
              </a:rPr>
              <a:t>Ba bước để chọn mô hình thực sự dùng được</a:t>
            </a:r>
            <a:endParaRPr lang="en-US" sz="2900" b="1">
              <a:solidFill>
                <a:srgbClr val="172B41"/>
              </a:solidFill>
              <a:latin typeface="Arial" panose="020B0604020202020204" pitchFamily="34" charset="0"/>
            </a:endParaRPr>
          </a:p>
        </p:txBody>
      </p:sp>
      <p:sp>
        <p:nvSpPr>
          <p:cNvPr id="5" name="Rectangle 4">
            <a:extLst>
              <a:ext uri="{FF2B5EF4-FFF2-40B4-BE49-F238E27FC236}">
                <a16:creationId xmlns:a16="http://schemas.microsoft.com/office/drawing/2014/main" id="{F27D316F-C0BA-85EA-07CF-B87FEDE82A87}"/>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4AEC5DD-9655-87E6-FAD1-5FCC2665AD50}"/>
              </a:ext>
            </a:extLst>
          </p:cNvPr>
          <p:cNvSpPr txBox="1"/>
          <p:nvPr/>
        </p:nvSpPr>
        <p:spPr>
          <a:xfrm>
            <a:off x="558800" y="6451600"/>
            <a:ext cx="8255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7" name="TextBox 6">
            <a:extLst>
              <a:ext uri="{FF2B5EF4-FFF2-40B4-BE49-F238E27FC236}">
                <a16:creationId xmlns:a16="http://schemas.microsoft.com/office/drawing/2014/main" id="{F496A938-7703-1560-CDFF-5D41F026DB4F}"/>
              </a:ext>
            </a:extLst>
          </p:cNvPr>
          <p:cNvSpPr txBox="1"/>
          <p:nvPr/>
        </p:nvSpPr>
        <p:spPr>
          <a:xfrm>
            <a:off x="11049000" y="6451600"/>
            <a:ext cx="584200" cy="153888"/>
          </a:xfrm>
          <a:prstGeom prst="rect">
            <a:avLst/>
          </a:prstGeom>
          <a:noFill/>
        </p:spPr>
        <p:txBody>
          <a:bodyPr vert="horz" wrap="square" lIns="0" tIns="0" rIns="0" bIns="0" rtlCol="0">
            <a:spAutoFit/>
          </a:bodyPr>
          <a:lstStyle/>
          <a:p>
            <a:pPr algn="r"/>
            <a:r>
              <a:rPr lang="en-US" sz="1000">
                <a:solidFill>
                  <a:srgbClr val="5D6F7E"/>
                </a:solidFill>
                <a:latin typeface="Arial" panose="020B0604020202020204" pitchFamily="34" charset="0"/>
              </a:rPr>
              <a:t>11</a:t>
            </a:r>
          </a:p>
        </p:txBody>
      </p:sp>
      <p:sp>
        <p:nvSpPr>
          <p:cNvPr id="8" name="Rectangle 7">
            <a:extLst>
              <a:ext uri="{FF2B5EF4-FFF2-40B4-BE49-F238E27FC236}">
                <a16:creationId xmlns:a16="http://schemas.microsoft.com/office/drawing/2014/main" id="{E16E579F-32AA-0F5A-FB5A-48B49D656A70}"/>
              </a:ext>
            </a:extLst>
          </p:cNvPr>
          <p:cNvSpPr/>
          <p:nvPr/>
        </p:nvSpPr>
        <p:spPr>
          <a:xfrm>
            <a:off x="558800" y="1752600"/>
            <a:ext cx="11074400" cy="10160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5AFABFB-993E-5C2B-877D-CFC6C7FE434B}"/>
              </a:ext>
            </a:extLst>
          </p:cNvPr>
          <p:cNvSpPr txBox="1"/>
          <p:nvPr/>
        </p:nvSpPr>
        <p:spPr>
          <a:xfrm>
            <a:off x="736600" y="1968500"/>
            <a:ext cx="787400" cy="446276"/>
          </a:xfrm>
          <a:prstGeom prst="rect">
            <a:avLst/>
          </a:prstGeom>
          <a:noFill/>
        </p:spPr>
        <p:txBody>
          <a:bodyPr vert="horz" wrap="square" lIns="0" tIns="0" rIns="0" bIns="0" rtlCol="0">
            <a:spAutoFit/>
          </a:bodyPr>
          <a:lstStyle/>
          <a:p>
            <a:r>
              <a:rPr lang="en-US" sz="2900" b="1">
                <a:solidFill>
                  <a:srgbClr val="007E87"/>
                </a:solidFill>
                <a:latin typeface="Arial" panose="020B0604020202020204" pitchFamily="34" charset="0"/>
              </a:rPr>
              <a:t>01</a:t>
            </a:r>
          </a:p>
        </p:txBody>
      </p:sp>
      <p:sp>
        <p:nvSpPr>
          <p:cNvPr id="10" name="TextBox 9">
            <a:extLst>
              <a:ext uri="{FF2B5EF4-FFF2-40B4-BE49-F238E27FC236}">
                <a16:creationId xmlns:a16="http://schemas.microsoft.com/office/drawing/2014/main" id="{25E172D1-5FD2-14EF-3B2C-9E16F19B26DE}"/>
              </a:ext>
            </a:extLst>
          </p:cNvPr>
          <p:cNvSpPr txBox="1"/>
          <p:nvPr/>
        </p:nvSpPr>
        <p:spPr>
          <a:xfrm>
            <a:off x="1676400" y="1866900"/>
            <a:ext cx="2349500" cy="292388"/>
          </a:xfrm>
          <a:prstGeom prst="rect">
            <a:avLst/>
          </a:prstGeom>
          <a:noFill/>
        </p:spPr>
        <p:txBody>
          <a:bodyPr vert="horz" wrap="square" lIns="0" tIns="0" rIns="0" bIns="0" rtlCol="0">
            <a:spAutoFit/>
          </a:bodyPr>
          <a:lstStyle/>
          <a:p>
            <a:r>
              <a:rPr lang="en-US" sz="1900" b="1">
                <a:solidFill>
                  <a:srgbClr val="172B41"/>
                </a:solidFill>
                <a:latin typeface="Arial" panose="020B0604020202020204" pitchFamily="34" charset="0"/>
              </a:rPr>
              <a:t>Đo nguồn</a:t>
            </a:r>
          </a:p>
        </p:txBody>
      </p:sp>
      <p:sp>
        <p:nvSpPr>
          <p:cNvPr id="11" name="TextBox 10">
            <a:extLst>
              <a:ext uri="{FF2B5EF4-FFF2-40B4-BE49-F238E27FC236}">
                <a16:creationId xmlns:a16="http://schemas.microsoft.com/office/drawing/2014/main" id="{3BAE589B-466C-1B34-3635-F0E0C1484C2F}"/>
              </a:ext>
            </a:extLst>
          </p:cNvPr>
          <p:cNvSpPr txBox="1"/>
          <p:nvPr/>
        </p:nvSpPr>
        <p:spPr>
          <a:xfrm>
            <a:off x="4064000" y="1879600"/>
            <a:ext cx="7264400" cy="492443"/>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Ghi giờ file mới nhiều ngày; kiểm tra train–NRT và dữ liệu có trước giờ phát hành.</a:t>
            </a:r>
            <a:endParaRPr lang="en-US" sz="1600">
              <a:solidFill>
                <a:srgbClr val="253543"/>
              </a:solidFill>
              <a:latin typeface="Arial" panose="020B0604020202020204" pitchFamily="34" charset="0"/>
            </a:endParaRPr>
          </a:p>
        </p:txBody>
      </p:sp>
      <p:sp>
        <p:nvSpPr>
          <p:cNvPr id="12" name="Rectangle 11">
            <a:extLst>
              <a:ext uri="{FF2B5EF4-FFF2-40B4-BE49-F238E27FC236}">
                <a16:creationId xmlns:a16="http://schemas.microsoft.com/office/drawing/2014/main" id="{F4850E1D-2FF7-729A-D714-99AD3DB34202}"/>
              </a:ext>
            </a:extLst>
          </p:cNvPr>
          <p:cNvSpPr/>
          <p:nvPr/>
        </p:nvSpPr>
        <p:spPr>
          <a:xfrm>
            <a:off x="558800" y="2946400"/>
            <a:ext cx="11074400" cy="10160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AA59DF4-20E0-D04B-A6AF-9A5D714876A3}"/>
              </a:ext>
            </a:extLst>
          </p:cNvPr>
          <p:cNvSpPr txBox="1"/>
          <p:nvPr/>
        </p:nvSpPr>
        <p:spPr>
          <a:xfrm>
            <a:off x="736600" y="3162300"/>
            <a:ext cx="787400" cy="446276"/>
          </a:xfrm>
          <a:prstGeom prst="rect">
            <a:avLst/>
          </a:prstGeom>
          <a:noFill/>
        </p:spPr>
        <p:txBody>
          <a:bodyPr vert="horz" wrap="square" lIns="0" tIns="0" rIns="0" bIns="0" rtlCol="0">
            <a:spAutoFit/>
          </a:bodyPr>
          <a:lstStyle/>
          <a:p>
            <a:r>
              <a:rPr lang="en-US" sz="2900" b="1">
                <a:solidFill>
                  <a:srgbClr val="007E87"/>
                </a:solidFill>
                <a:latin typeface="Arial" panose="020B0604020202020204" pitchFamily="34" charset="0"/>
              </a:rPr>
              <a:t>02</a:t>
            </a:r>
          </a:p>
        </p:txBody>
      </p:sp>
      <p:sp>
        <p:nvSpPr>
          <p:cNvPr id="14" name="TextBox 13">
            <a:extLst>
              <a:ext uri="{FF2B5EF4-FFF2-40B4-BE49-F238E27FC236}">
                <a16:creationId xmlns:a16="http://schemas.microsoft.com/office/drawing/2014/main" id="{BA214CDB-99A3-919C-D50C-C90EE6C58C40}"/>
              </a:ext>
            </a:extLst>
          </p:cNvPr>
          <p:cNvSpPr txBox="1"/>
          <p:nvPr/>
        </p:nvSpPr>
        <p:spPr>
          <a:xfrm>
            <a:off x="1676400" y="3060700"/>
            <a:ext cx="2349500" cy="292388"/>
          </a:xfrm>
          <a:prstGeom prst="rect">
            <a:avLst/>
          </a:prstGeom>
          <a:noFill/>
        </p:spPr>
        <p:txBody>
          <a:bodyPr vert="horz" wrap="square" lIns="0" tIns="0" rIns="0" bIns="0" rtlCol="0">
            <a:spAutoFit/>
          </a:bodyPr>
          <a:lstStyle/>
          <a:p>
            <a:r>
              <a:rPr lang="en-US" sz="1900" b="1">
                <a:solidFill>
                  <a:srgbClr val="172B41"/>
                </a:solidFill>
                <a:latin typeface="Arial" panose="020B0604020202020204" pitchFamily="34" charset="0"/>
              </a:rPr>
              <a:t>So công bằng</a:t>
            </a:r>
          </a:p>
        </p:txBody>
      </p:sp>
      <p:sp>
        <p:nvSpPr>
          <p:cNvPr id="15" name="TextBox 14">
            <a:extLst>
              <a:ext uri="{FF2B5EF4-FFF2-40B4-BE49-F238E27FC236}">
                <a16:creationId xmlns:a16="http://schemas.microsoft.com/office/drawing/2014/main" id="{944F39D2-F79B-B3BF-BAA9-B5BF070767F6}"/>
              </a:ext>
            </a:extLst>
          </p:cNvPr>
          <p:cNvSpPr txBox="1"/>
          <p:nvPr/>
        </p:nvSpPr>
        <p:spPr>
          <a:xfrm>
            <a:off x="4064000" y="3073400"/>
            <a:ext cx="7264400" cy="492443"/>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AI và ECMWF trên cùng ô, giờ, hạn, nhãn; đánh giá mưa mạnh, xác suất, độ trễ.</a:t>
            </a:r>
            <a:endParaRPr lang="en-US" sz="1600">
              <a:solidFill>
                <a:srgbClr val="253543"/>
              </a:solidFill>
              <a:latin typeface="Arial" panose="020B0604020202020204" pitchFamily="34" charset="0"/>
            </a:endParaRPr>
          </a:p>
        </p:txBody>
      </p:sp>
      <p:sp>
        <p:nvSpPr>
          <p:cNvPr id="16" name="Rectangle 15">
            <a:extLst>
              <a:ext uri="{FF2B5EF4-FFF2-40B4-BE49-F238E27FC236}">
                <a16:creationId xmlns:a16="http://schemas.microsoft.com/office/drawing/2014/main" id="{22E96E24-68A3-BB4C-0DD9-87DA1B3C83E8}"/>
              </a:ext>
            </a:extLst>
          </p:cNvPr>
          <p:cNvSpPr/>
          <p:nvPr/>
        </p:nvSpPr>
        <p:spPr>
          <a:xfrm>
            <a:off x="558800" y="4140200"/>
            <a:ext cx="11074400" cy="10160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000B9B3-15BB-DBD4-8D50-0CC5FF638DFF}"/>
              </a:ext>
            </a:extLst>
          </p:cNvPr>
          <p:cNvSpPr txBox="1"/>
          <p:nvPr/>
        </p:nvSpPr>
        <p:spPr>
          <a:xfrm>
            <a:off x="736600" y="4356100"/>
            <a:ext cx="787400" cy="446276"/>
          </a:xfrm>
          <a:prstGeom prst="rect">
            <a:avLst/>
          </a:prstGeom>
          <a:noFill/>
        </p:spPr>
        <p:txBody>
          <a:bodyPr vert="horz" wrap="square" lIns="0" tIns="0" rIns="0" bIns="0" rtlCol="0">
            <a:spAutoFit/>
          </a:bodyPr>
          <a:lstStyle/>
          <a:p>
            <a:r>
              <a:rPr lang="en-US" sz="2900" b="1">
                <a:solidFill>
                  <a:srgbClr val="007E87"/>
                </a:solidFill>
                <a:latin typeface="Arial" panose="020B0604020202020204" pitchFamily="34" charset="0"/>
              </a:rPr>
              <a:t>03</a:t>
            </a:r>
          </a:p>
        </p:txBody>
      </p:sp>
      <p:sp>
        <p:nvSpPr>
          <p:cNvPr id="18" name="TextBox 17">
            <a:extLst>
              <a:ext uri="{FF2B5EF4-FFF2-40B4-BE49-F238E27FC236}">
                <a16:creationId xmlns:a16="http://schemas.microsoft.com/office/drawing/2014/main" id="{5BA185BA-9D20-1936-0A10-250CBFBBCA72}"/>
              </a:ext>
            </a:extLst>
          </p:cNvPr>
          <p:cNvSpPr txBox="1"/>
          <p:nvPr/>
        </p:nvSpPr>
        <p:spPr>
          <a:xfrm>
            <a:off x="1676400" y="4254500"/>
            <a:ext cx="2349500" cy="292388"/>
          </a:xfrm>
          <a:prstGeom prst="rect">
            <a:avLst/>
          </a:prstGeom>
          <a:noFill/>
        </p:spPr>
        <p:txBody>
          <a:bodyPr vert="horz" wrap="square" lIns="0" tIns="0" rIns="0" bIns="0" rtlCol="0">
            <a:spAutoFit/>
          </a:bodyPr>
          <a:lstStyle/>
          <a:p>
            <a:r>
              <a:rPr lang="en-US" sz="1900" b="1">
                <a:solidFill>
                  <a:srgbClr val="172B41"/>
                </a:solidFill>
                <a:latin typeface="Arial" panose="020B0604020202020204" pitchFamily="34" charset="0"/>
              </a:rPr>
              <a:t>Chốt app</a:t>
            </a:r>
          </a:p>
        </p:txBody>
      </p:sp>
      <p:sp>
        <p:nvSpPr>
          <p:cNvPr id="19" name="TextBox 18">
            <a:extLst>
              <a:ext uri="{FF2B5EF4-FFF2-40B4-BE49-F238E27FC236}">
                <a16:creationId xmlns:a16="http://schemas.microsoft.com/office/drawing/2014/main" id="{9855775C-D4AD-6F8A-DD60-9F2FD50DA82F}"/>
              </a:ext>
            </a:extLst>
          </p:cNvPr>
          <p:cNvSpPr txBox="1"/>
          <p:nvPr/>
        </p:nvSpPr>
        <p:spPr>
          <a:xfrm>
            <a:off x="4064000" y="4267200"/>
            <a:ext cx="7264400" cy="492443"/>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Chọn mô hình/fallback theo kết quả; thử với người dùng; rồi mới mở rộng 1–3 ngày.</a:t>
            </a:r>
            <a:endParaRPr lang="en-US" sz="1600">
              <a:solidFill>
                <a:srgbClr val="253543"/>
              </a:solidFill>
              <a:latin typeface="Arial" panose="020B0604020202020204" pitchFamily="34" charset="0"/>
            </a:endParaRPr>
          </a:p>
        </p:txBody>
      </p:sp>
      <p:sp>
        <p:nvSpPr>
          <p:cNvPr id="20" name="TextBox 19">
            <a:extLst>
              <a:ext uri="{FF2B5EF4-FFF2-40B4-BE49-F238E27FC236}">
                <a16:creationId xmlns:a16="http://schemas.microsoft.com/office/drawing/2014/main" id="{3CE29E90-3CD4-F0A6-BB50-44C46226A9A7}"/>
              </a:ext>
            </a:extLst>
          </p:cNvPr>
          <p:cNvSpPr txBox="1"/>
          <p:nvPr/>
        </p:nvSpPr>
        <p:spPr>
          <a:xfrm>
            <a:off x="558800" y="5588000"/>
            <a:ext cx="11074400" cy="246221"/>
          </a:xfrm>
          <a:prstGeom prst="rect">
            <a:avLst/>
          </a:prstGeom>
          <a:noFill/>
        </p:spPr>
        <p:txBody>
          <a:bodyPr vert="horz" wrap="square" lIns="0" tIns="0" rIns="0" bIns="0" rtlCol="0">
            <a:spAutoFit/>
          </a:bodyPr>
          <a:lstStyle/>
          <a:p>
            <a:r>
              <a:rPr lang="vi-VN" sz="1600" b="1">
                <a:solidFill>
                  <a:srgbClr val="DC772F"/>
                </a:solidFill>
                <a:latin typeface="Arial" panose="020B0604020202020204" pitchFamily="34" charset="0"/>
              </a:rPr>
              <a:t>Xin góp ý: tập trung 0–6h một vùng? Ưu tiên RMSE hay bắt mưa mạnh? Có trạm giờ độc lập?</a:t>
            </a:r>
            <a:endParaRPr lang="en-US" sz="1600" b="1">
              <a:solidFill>
                <a:srgbClr val="DC772F"/>
              </a:solidFill>
              <a:latin typeface="Arial" panose="020B0604020202020204" pitchFamily="34" charset="0"/>
            </a:endParaRPr>
          </a:p>
        </p:txBody>
      </p:sp>
    </p:spTree>
    <p:extLst>
      <p:ext uri="{BB962C8B-B14F-4D97-AF65-F5344CB8AC3E}">
        <p14:creationId xmlns:p14="http://schemas.microsoft.com/office/powerpoint/2010/main" val="2931803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ADB373-4DCF-936C-22E4-E62B0A8B79CE}"/>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3A723CF-FF54-6930-D8D6-30E48EB3719C}"/>
              </a:ext>
            </a:extLst>
          </p:cNvPr>
          <p:cNvSpPr txBox="1"/>
          <p:nvPr/>
        </p:nvSpPr>
        <p:spPr>
          <a:xfrm>
            <a:off x="558800" y="304800"/>
            <a:ext cx="9652000" cy="169277"/>
          </a:xfrm>
          <a:prstGeom prst="rect">
            <a:avLst/>
          </a:prstGeom>
          <a:noFill/>
        </p:spPr>
        <p:txBody>
          <a:bodyPr vert="horz" wrap="square" lIns="0" tIns="0" rIns="0" bIns="0" rtlCol="0">
            <a:spAutoFit/>
          </a:bodyPr>
          <a:lstStyle/>
          <a:p>
            <a:r>
              <a:rPr lang="vi-VN" sz="1100" b="1">
                <a:solidFill>
                  <a:srgbClr val="007E87"/>
                </a:solidFill>
                <a:latin typeface="Arial" panose="020B0604020202020204" pitchFamily="34" charset="0"/>
              </a:rPr>
              <a:t>DỰ PHÒNG NẾU ĐƯỢC HỎI</a:t>
            </a:r>
            <a:endParaRPr lang="en-US" sz="1100" b="1">
              <a:solidFill>
                <a:srgbClr val="007E87"/>
              </a:solidFill>
              <a:latin typeface="Arial" panose="020B0604020202020204" pitchFamily="34" charset="0"/>
            </a:endParaRPr>
          </a:p>
        </p:txBody>
      </p:sp>
      <p:sp>
        <p:nvSpPr>
          <p:cNvPr id="4" name="TextBox 3">
            <a:extLst>
              <a:ext uri="{FF2B5EF4-FFF2-40B4-BE49-F238E27FC236}">
                <a16:creationId xmlns:a16="http://schemas.microsoft.com/office/drawing/2014/main" id="{D77144B6-0DEB-2200-5492-18E2FFC0A5ED}"/>
              </a:ext>
            </a:extLst>
          </p:cNvPr>
          <p:cNvSpPr txBox="1"/>
          <p:nvPr/>
        </p:nvSpPr>
        <p:spPr>
          <a:xfrm>
            <a:off x="558800" y="660400"/>
            <a:ext cx="11049000" cy="446276"/>
          </a:xfrm>
          <a:prstGeom prst="rect">
            <a:avLst/>
          </a:prstGeom>
          <a:noFill/>
        </p:spPr>
        <p:txBody>
          <a:bodyPr vert="horz" wrap="square" lIns="0" tIns="0" rIns="0" bIns="0" rtlCol="0">
            <a:spAutoFit/>
          </a:bodyPr>
          <a:lstStyle/>
          <a:p>
            <a:r>
              <a:rPr lang="en-US" sz="2900" b="1">
                <a:solidFill>
                  <a:srgbClr val="172B41"/>
                </a:solidFill>
                <a:latin typeface="Arial" panose="020B0604020202020204" pitchFamily="34" charset="0"/>
              </a:rPr>
              <a:t>ECMWF là đối chứng dự báo, không phải nhãn ERA5</a:t>
            </a:r>
          </a:p>
        </p:txBody>
      </p:sp>
      <p:sp>
        <p:nvSpPr>
          <p:cNvPr id="5" name="Rectangle 4">
            <a:extLst>
              <a:ext uri="{FF2B5EF4-FFF2-40B4-BE49-F238E27FC236}">
                <a16:creationId xmlns:a16="http://schemas.microsoft.com/office/drawing/2014/main" id="{E7BCDECC-9A4C-7AE5-B0DE-872887E9D8E7}"/>
              </a:ext>
            </a:extLst>
          </p:cNvPr>
          <p:cNvSpPr/>
          <p:nvPr/>
        </p:nvSpPr>
        <p:spPr>
          <a:xfrm>
            <a:off x="558800" y="62992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5A49F8E-B7B7-A96C-1198-9DD71FC86EB0}"/>
              </a:ext>
            </a:extLst>
          </p:cNvPr>
          <p:cNvSpPr txBox="1"/>
          <p:nvPr/>
        </p:nvSpPr>
        <p:spPr>
          <a:xfrm>
            <a:off x="558800" y="6451600"/>
            <a:ext cx="82550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PBL6  |  Đà Nẵng  |  14.10.2026</a:t>
            </a:r>
          </a:p>
        </p:txBody>
      </p:sp>
      <p:sp>
        <p:nvSpPr>
          <p:cNvPr id="7" name="TextBox 6">
            <a:extLst>
              <a:ext uri="{FF2B5EF4-FFF2-40B4-BE49-F238E27FC236}">
                <a16:creationId xmlns:a16="http://schemas.microsoft.com/office/drawing/2014/main" id="{1FB2BA39-1DF5-9B02-CC27-EAACD2EB51F3}"/>
              </a:ext>
            </a:extLst>
          </p:cNvPr>
          <p:cNvSpPr txBox="1"/>
          <p:nvPr/>
        </p:nvSpPr>
        <p:spPr>
          <a:xfrm>
            <a:off x="11049000" y="6451600"/>
            <a:ext cx="584200" cy="153888"/>
          </a:xfrm>
          <a:prstGeom prst="rect">
            <a:avLst/>
          </a:prstGeom>
          <a:noFill/>
        </p:spPr>
        <p:txBody>
          <a:bodyPr vert="horz" wrap="square" lIns="0" tIns="0" rIns="0" bIns="0" rtlCol="0">
            <a:spAutoFit/>
          </a:bodyPr>
          <a:lstStyle/>
          <a:p>
            <a:pPr algn="r"/>
            <a:r>
              <a:rPr lang="en-US" sz="1000">
                <a:solidFill>
                  <a:srgbClr val="5D6F7E"/>
                </a:solidFill>
                <a:latin typeface="Arial" panose="020B0604020202020204" pitchFamily="34" charset="0"/>
              </a:rPr>
              <a:t>12</a:t>
            </a:r>
          </a:p>
        </p:txBody>
      </p:sp>
      <p:sp>
        <p:nvSpPr>
          <p:cNvPr id="8" name="TextBox 7">
            <a:extLst>
              <a:ext uri="{FF2B5EF4-FFF2-40B4-BE49-F238E27FC236}">
                <a16:creationId xmlns:a16="http://schemas.microsoft.com/office/drawing/2014/main" id="{A99E4C6F-5CED-6A75-A2FA-CB01C59053F7}"/>
              </a:ext>
            </a:extLst>
          </p:cNvPr>
          <p:cNvSpPr txBox="1"/>
          <p:nvPr/>
        </p:nvSpPr>
        <p:spPr>
          <a:xfrm>
            <a:off x="558800" y="1765300"/>
            <a:ext cx="11074400" cy="307777"/>
          </a:xfrm>
          <a:prstGeom prst="rect">
            <a:avLst/>
          </a:prstGeom>
          <a:noFill/>
        </p:spPr>
        <p:txBody>
          <a:bodyPr vert="horz" wrap="square" lIns="0" tIns="0" rIns="0" bIns="0" rtlCol="0">
            <a:spAutoFit/>
          </a:bodyPr>
          <a:lstStyle/>
          <a:p>
            <a:r>
              <a:rPr lang="en-US" sz="2000" b="1">
                <a:solidFill>
                  <a:srgbClr val="172B41"/>
                </a:solidFill>
                <a:latin typeface="Arial" panose="020B0604020202020204" pitchFamily="34" charset="0"/>
              </a:rPr>
              <a:t>Pilot: 56 run trong 14 ngày (10/2024) × 30 ô = 1.680 cặp dự báo/nhãn.</a:t>
            </a:r>
          </a:p>
        </p:txBody>
      </p:sp>
      <p:sp>
        <p:nvSpPr>
          <p:cNvPr id="9" name="Rectangle 8">
            <a:extLst>
              <a:ext uri="{FF2B5EF4-FFF2-40B4-BE49-F238E27FC236}">
                <a16:creationId xmlns:a16="http://schemas.microsoft.com/office/drawing/2014/main" id="{D6E8DE6B-8B64-2A83-0231-8ECB470F380B}"/>
              </a:ext>
            </a:extLst>
          </p:cNvPr>
          <p:cNvSpPr/>
          <p:nvPr/>
        </p:nvSpPr>
        <p:spPr>
          <a:xfrm>
            <a:off x="558800" y="2819400"/>
            <a:ext cx="5207000" cy="1943100"/>
          </a:xfrm>
          <a:prstGeom prst="rect">
            <a:avLst/>
          </a:prstGeom>
          <a:solidFill>
            <a:srgbClr val="EEF6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5ABAA74-43C0-766D-469A-434A84A0E14C}"/>
              </a:ext>
            </a:extLst>
          </p:cNvPr>
          <p:cNvSpPr txBox="1"/>
          <p:nvPr/>
        </p:nvSpPr>
        <p:spPr>
          <a:xfrm>
            <a:off x="787400" y="3060700"/>
            <a:ext cx="4724400" cy="292388"/>
          </a:xfrm>
          <a:prstGeom prst="rect">
            <a:avLst/>
          </a:prstGeom>
          <a:noFill/>
        </p:spPr>
        <p:txBody>
          <a:bodyPr vert="horz" wrap="square" lIns="0" tIns="0" rIns="0" bIns="0" rtlCol="0">
            <a:spAutoFit/>
          </a:bodyPr>
          <a:lstStyle/>
          <a:p>
            <a:r>
              <a:rPr lang="en-US" sz="1900" b="1">
                <a:solidFill>
                  <a:srgbClr val="172B41"/>
                </a:solidFill>
                <a:latin typeface="Arial" panose="020B0604020202020204" pitchFamily="34" charset="0"/>
              </a:rPr>
              <a:t>ECMWF / Open-Meteo</a:t>
            </a:r>
          </a:p>
        </p:txBody>
      </p:sp>
      <p:sp>
        <p:nvSpPr>
          <p:cNvPr id="11" name="TextBox 10">
            <a:extLst>
              <a:ext uri="{FF2B5EF4-FFF2-40B4-BE49-F238E27FC236}">
                <a16:creationId xmlns:a16="http://schemas.microsoft.com/office/drawing/2014/main" id="{A84378F2-01FD-260F-C70C-C9A3ADE1C0E8}"/>
              </a:ext>
            </a:extLst>
          </p:cNvPr>
          <p:cNvSpPr txBox="1"/>
          <p:nvPr/>
        </p:nvSpPr>
        <p:spPr>
          <a:xfrm>
            <a:off x="787400" y="3683000"/>
            <a:ext cx="4572000" cy="369332"/>
          </a:xfrm>
          <a:prstGeom prst="rect">
            <a:avLst/>
          </a:prstGeom>
          <a:noFill/>
        </p:spPr>
        <p:txBody>
          <a:bodyPr vert="horz" wrap="square" lIns="0" tIns="0" rIns="0" bIns="0" rtlCol="0">
            <a:spAutoFit/>
          </a:bodyPr>
          <a:lstStyle/>
          <a:p>
            <a:r>
              <a:rPr lang="en-US" sz="2400" b="1">
                <a:solidFill>
                  <a:srgbClr val="007E87"/>
                </a:solidFill>
                <a:latin typeface="Arial" panose="020B0604020202020204" pitchFamily="34" charset="0"/>
              </a:rPr>
              <a:t>RMSE 3,950 mm/3h</a:t>
            </a:r>
          </a:p>
        </p:txBody>
      </p:sp>
      <p:sp>
        <p:nvSpPr>
          <p:cNvPr id="12" name="TextBox 11">
            <a:extLst>
              <a:ext uri="{FF2B5EF4-FFF2-40B4-BE49-F238E27FC236}">
                <a16:creationId xmlns:a16="http://schemas.microsoft.com/office/drawing/2014/main" id="{0E48DC2B-7964-918B-3C41-E096241BFC1E}"/>
              </a:ext>
            </a:extLst>
          </p:cNvPr>
          <p:cNvSpPr txBox="1"/>
          <p:nvPr/>
        </p:nvSpPr>
        <p:spPr>
          <a:xfrm>
            <a:off x="787400" y="4254500"/>
            <a:ext cx="4572000" cy="276999"/>
          </a:xfrm>
          <a:prstGeom prst="rect">
            <a:avLst/>
          </a:prstGeom>
          <a:noFill/>
        </p:spPr>
        <p:txBody>
          <a:bodyPr vert="horz" wrap="square" lIns="0" tIns="0" rIns="0" bIns="0" rtlCol="0">
            <a:spAutoFit/>
          </a:bodyPr>
          <a:lstStyle/>
          <a:p>
            <a:r>
              <a:rPr lang="en-US">
                <a:solidFill>
                  <a:srgbClr val="253543"/>
                </a:solidFill>
                <a:latin typeface="Arial" panose="020B0604020202020204" pitchFamily="34" charset="0"/>
              </a:rPr>
              <a:t>CSI ≥10: 0,089</a:t>
            </a:r>
          </a:p>
        </p:txBody>
      </p:sp>
      <p:sp>
        <p:nvSpPr>
          <p:cNvPr id="13" name="Rectangle 12">
            <a:extLst>
              <a:ext uri="{FF2B5EF4-FFF2-40B4-BE49-F238E27FC236}">
                <a16:creationId xmlns:a16="http://schemas.microsoft.com/office/drawing/2014/main" id="{DB637A8B-D755-AA30-C759-3B2C23CEE1F7}"/>
              </a:ext>
            </a:extLst>
          </p:cNvPr>
          <p:cNvSpPr/>
          <p:nvPr/>
        </p:nvSpPr>
        <p:spPr>
          <a:xfrm>
            <a:off x="6019800" y="2819400"/>
            <a:ext cx="5613400" cy="1943100"/>
          </a:xfrm>
          <a:prstGeom prst="rect">
            <a:avLst/>
          </a:prstGeom>
          <a:solidFill>
            <a:srgbClr val="F5F7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4B1D3EF-475B-DA67-7FDC-457E7AD86DEE}"/>
              </a:ext>
            </a:extLst>
          </p:cNvPr>
          <p:cNvSpPr txBox="1"/>
          <p:nvPr/>
        </p:nvSpPr>
        <p:spPr>
          <a:xfrm>
            <a:off x="6261100" y="3060700"/>
            <a:ext cx="4953000" cy="292388"/>
          </a:xfrm>
          <a:prstGeom prst="rect">
            <a:avLst/>
          </a:prstGeom>
          <a:noFill/>
        </p:spPr>
        <p:txBody>
          <a:bodyPr vert="horz" wrap="square" lIns="0" tIns="0" rIns="0" bIns="0" rtlCol="0">
            <a:spAutoFit/>
          </a:bodyPr>
          <a:lstStyle/>
          <a:p>
            <a:r>
              <a:rPr lang="en-US" sz="1900" b="1">
                <a:solidFill>
                  <a:srgbClr val="172B41"/>
                </a:solidFill>
                <a:latin typeface="Arial" panose="020B0604020202020204" pitchFamily="34" charset="0"/>
              </a:rPr>
              <a:t>Đối chứng luôn 0</a:t>
            </a:r>
          </a:p>
        </p:txBody>
      </p:sp>
      <p:sp>
        <p:nvSpPr>
          <p:cNvPr id="15" name="TextBox 14">
            <a:extLst>
              <a:ext uri="{FF2B5EF4-FFF2-40B4-BE49-F238E27FC236}">
                <a16:creationId xmlns:a16="http://schemas.microsoft.com/office/drawing/2014/main" id="{03E37BDD-13AD-7307-E431-C0318412623D}"/>
              </a:ext>
            </a:extLst>
          </p:cNvPr>
          <p:cNvSpPr txBox="1"/>
          <p:nvPr/>
        </p:nvSpPr>
        <p:spPr>
          <a:xfrm>
            <a:off x="6261100" y="3683000"/>
            <a:ext cx="5054600" cy="369332"/>
          </a:xfrm>
          <a:prstGeom prst="rect">
            <a:avLst/>
          </a:prstGeom>
          <a:noFill/>
        </p:spPr>
        <p:txBody>
          <a:bodyPr vert="horz" wrap="square" lIns="0" tIns="0" rIns="0" bIns="0" rtlCol="0">
            <a:spAutoFit/>
          </a:bodyPr>
          <a:lstStyle/>
          <a:p>
            <a:r>
              <a:rPr lang="en-US" sz="2400" b="1">
                <a:solidFill>
                  <a:srgbClr val="DC772F"/>
                </a:solidFill>
                <a:latin typeface="Arial" panose="020B0604020202020204" pitchFamily="34" charset="0"/>
              </a:rPr>
              <a:t>RMSE 3,878 mm/3h</a:t>
            </a:r>
          </a:p>
        </p:txBody>
      </p:sp>
      <p:sp>
        <p:nvSpPr>
          <p:cNvPr id="16" name="TextBox 15">
            <a:extLst>
              <a:ext uri="{FF2B5EF4-FFF2-40B4-BE49-F238E27FC236}">
                <a16:creationId xmlns:a16="http://schemas.microsoft.com/office/drawing/2014/main" id="{5CC186C0-33C0-2CFA-301B-0E4012609E20}"/>
              </a:ext>
            </a:extLst>
          </p:cNvPr>
          <p:cNvSpPr txBox="1"/>
          <p:nvPr/>
        </p:nvSpPr>
        <p:spPr>
          <a:xfrm>
            <a:off x="6261100" y="4254500"/>
            <a:ext cx="4953000" cy="276999"/>
          </a:xfrm>
          <a:prstGeom prst="rect">
            <a:avLst/>
          </a:prstGeom>
          <a:noFill/>
        </p:spPr>
        <p:txBody>
          <a:bodyPr vert="horz" wrap="square" lIns="0" tIns="0" rIns="0" bIns="0" rtlCol="0">
            <a:spAutoFit/>
          </a:bodyPr>
          <a:lstStyle/>
          <a:p>
            <a:r>
              <a:rPr lang="vi-VN">
                <a:solidFill>
                  <a:srgbClr val="253543"/>
                </a:solidFill>
                <a:latin typeface="Arial" panose="020B0604020202020204" pitchFamily="34" charset="0"/>
              </a:rPr>
              <a:t>Chỉ 4/14 ngày có mưa mạnh.</a:t>
            </a:r>
            <a:endParaRPr lang="en-US">
              <a:solidFill>
                <a:srgbClr val="253543"/>
              </a:solidFill>
              <a:latin typeface="Arial" panose="020B0604020202020204" pitchFamily="34" charset="0"/>
            </a:endParaRPr>
          </a:p>
        </p:txBody>
      </p:sp>
      <p:sp>
        <p:nvSpPr>
          <p:cNvPr id="17" name="TextBox 16">
            <a:extLst>
              <a:ext uri="{FF2B5EF4-FFF2-40B4-BE49-F238E27FC236}">
                <a16:creationId xmlns:a16="http://schemas.microsoft.com/office/drawing/2014/main" id="{3F064E65-B891-6037-FA35-9183C7B81C92}"/>
              </a:ext>
            </a:extLst>
          </p:cNvPr>
          <p:cNvSpPr txBox="1"/>
          <p:nvPr/>
        </p:nvSpPr>
        <p:spPr>
          <a:xfrm>
            <a:off x="558800" y="5156200"/>
            <a:ext cx="11074400" cy="261610"/>
          </a:xfrm>
          <a:prstGeom prst="rect">
            <a:avLst/>
          </a:prstGeom>
          <a:noFill/>
        </p:spPr>
        <p:txBody>
          <a:bodyPr vert="horz" wrap="square" lIns="0" tIns="0" rIns="0" bIns="0" rtlCol="0">
            <a:spAutoFit/>
          </a:bodyPr>
          <a:lstStyle/>
          <a:p>
            <a:r>
              <a:rPr lang="vi-VN" sz="1700">
                <a:solidFill>
                  <a:srgbClr val="253543"/>
                </a:solidFill>
                <a:latin typeface="Arial" panose="020B0604020202020204" pitchFamily="34" charset="0"/>
              </a:rPr>
              <a:t>CI hiệu RMSE chứa 0; chưa có phép so AI–ECMWF cùng mẫu vận hành. Pilot chỉ thăm dò.</a:t>
            </a:r>
            <a:endParaRPr lang="en-US" sz="1700">
              <a:solidFill>
                <a:srgbClr val="253543"/>
              </a:solidFill>
              <a:latin typeface="Arial" panose="020B0604020202020204" pitchFamily="34" charset="0"/>
            </a:endParaRPr>
          </a:p>
        </p:txBody>
      </p:sp>
    </p:spTree>
    <p:extLst>
      <p:ext uri="{BB962C8B-B14F-4D97-AF65-F5344CB8AC3E}">
        <p14:creationId xmlns:p14="http://schemas.microsoft.com/office/powerpoint/2010/main" val="2178003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2401</Words>
  <Application>Microsoft Office PowerPoint</Application>
  <PresentationFormat>Widescreen</PresentationFormat>
  <Paragraphs>180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Hoang</dc:creator>
  <cp:lastModifiedBy>Thanh Hoang</cp:lastModifiedBy>
  <cp:revision>2</cp:revision>
  <dcterms:created xsi:type="dcterms:W3CDTF">2026-10-13T17:21:27Z</dcterms:created>
  <dcterms:modified xsi:type="dcterms:W3CDTF">2026-10-14T01:01:48Z</dcterms:modified>
</cp:coreProperties>
</file>