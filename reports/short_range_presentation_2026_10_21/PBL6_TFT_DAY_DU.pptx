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này nghiên cứu dữ liệu cho dự đoán trực tiếp lượng mưa trung bình vùng trong ba khoảng 24 giờ. Ba điều cần giữ: đã có đủ E0–E7; POD và FAR phải đọc cùng nhau; kết quả tích cực tập trung ở ngày 1, chưa chứng minh dự đoán tốt toàn bộ 72 giờ. Các slide phụ lục chứa đủ 48 dòng chính để kiểm tra. Đây là development, không phải kết quả test 2025.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lần phát hành lúc 07 giờ Việt Nam tạo ba số lượng mưa trung bình vùng. Ngày 1 là khoảng 0–24 giờ, ngày 2 là 24–48 giờ, ngày 3 là 48–72 giờ. Ví dụ 12, 35, 5 mm chỉ là minh họa. Không cộng 93 giá trị mm để làm nhãn vùng; lấy trung bình theo diện tích rồi cộng 24 giờ. Dự đoán một số trung bình vùng không suy ra tất cả xã hoặc ô đều nhận lượng mưa đó.</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Đầu vào gồm khí tượng quá khứ từ ERA5 và đại lượng suy ra; lịch được tính từ timestamp. Nhãn là y_region_gc_mm từ GSMaP Gauge, tổng hợp theo diện tích các ô rồi cộng 24 giờ. Mưa ERA5 không phải nhãn trong nhánh ngày. Độ đầy đủ hoặc checksum không bảo đảm biến khí tượng hay nhãn vệ tinh chính xác về vật lý. Các biến SST/bối cảnh/chênh áp có hỗ trợ không gian riêng theo mã dựng nguồn, không phải mọi trường đều là 93 phép đo độc lập.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Lấy 168 giờ khí tượng trước thời điểm phát hành, tính trung bình theo khối 6 giờ, thành 28 bước. Với F biến, tensor quá khứ có dạng N×28×F. Decoder chỉ nhận 12 bước lịch tương lai với 4 biến lịch; không nhận ERA5 ở giờ cần dự đoán. Đầu lượng mưa gồm 3 số, đầu sự kiện gồm 3 ngày nhân 3 ngưỡng. Mọi cấu hình dùng mask chung E7: đủ lịch sử và nhãn 72 giờ, không thay mẫu khi bớt biến.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 gồm 7 trường bề mặt và 4 mã lịch. A gồm đối lưu, mây, lớp biên và ẩm đất. M gồm khí tượng trên cao và dòng ẩm. C chỉ có một biến nhiệt độ biển tại hộp biển. Các nhóm không lặp cột nhưng có thể tương quan vật lý và thống kê. A là tên quy ước: B/M cũng mô tả khí quyển. M chưa là một chỉ số gió mùa đã được kiểm định; C chưa là cả ENSO/MJO. Danh mục 44 biến ở phụ lục.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nhóm bổ sung A/M/C tạo 2 mũ 3 bằng tám tổ hợp. Mỗi E đã chạy trên ba fold phát triển và ba seed TFT, tổng 9 lượt TFT; LightGBM xác định có 3 pipeline. E0 là bộ biến nền, không phải tên một thuật toán. Tăng số biến cũng làm tăng tham số đầu vào TFT; giữ hidden/epoch không đồng nghĩa cùng số tham số. Factorial giúp đo từng tổ hợp trong pipeline, chưa chứng minh nhân quả vật lý.</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TFT được chọn như một giả thuyết kiến trúc có lựa chọn biến/gating và dự đoán nhiều hạn. Bản vùng điều chỉnh dùng LSTM/attention và đầu Tweedie/BCE, chưa có static context hoặc phân vị. Informer thiết kế cho chuỗi dài; mã tác giả có time marks. Với encoder 28 bước, hiệu quả chuỗi cực dài chưa phải nút thắt rõ. Chưa có phép so cùng giao thức, vì vậy R² cũ hay benchmark khác không đủ kết luận Informer kém hoặc không khả thi. Nếu so kiến trúc, cần cùng input/target/ngân sách và chấp nhận mọi kết quả.</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LightGBM là thuật toán cây boosting được huấn luyện, không phải nguồn mưa khác. TFT thấy chuỗi 28 bước; cây thấy thống kê của cùng lịch sử: khối cuối, trung bình 24/72/168 giờ và thay đổi hai khối cuối, cộng lịch. Vì thế E0 có 87 cột bảng, E7 có 252 cột. So E0/E2 trong một họ đo đóng góp M; so TFT/LightGBM tại cùng E đo hai pipeline. Còn khác biểu diễn, loss và số seed, nên chưa phải chỉ thay một kiến trúc. Với vài nghìn nhãn ngày, đối chứng cây là phép đo cần thiết; không có định lý cây luôn thắng.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R1 là nghiên cứu mưa ngày kế tiếp tại Cairns, trong đó LightGBM học thành phần dư của mô hình lai. R2 dùng LightGBM cho lượng mưa tại vùng núi Nhật Bản với forecast lân cận và quan trắc. R3 nghiên cứu dự đoán mùa, nên chỉ hỗ trợ bối cảnh phương pháp. Những bài này chứng minh thuật toán đã được dùng trong nghiên cứu giáng thủy, không chứng minh cấu hình của nhóm tốt ở Đà Nẵng. Không nhập điểm giữa các bài vì khác nhãn, hạn và không gian. Phân biệt cơ sở thuật toán A1 với cơ sở ứng dụng R1/R2.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script LOCAL, hàm evaluate báo POD/FAR cho tổng 6 giờ đạt 10 mm cùng CSI/RMSE/MAE. Notebook Tweedie bổ sung chỉ số 1 giờ, 3/6 giờ và max giờ. Tuy nhiên early stopping của hai tệp được rà soát so RMSE phần tử trên đầu ra giờ; tên biến val_rmse_6h không tự làm nó thành RMSE tổng 6 giờ. evaluate xác suất trong notebook ghi BS và CSI_prob ở p&gt;=0.5, dù docstring nhắc BSS. Do đó không đồng nhất bảng báo cáo POD/FAR với việc tối ưu POD/FAR, hoặc BS với BSS. Phạm vi audit là commit này, chưa xác nhận mã riêng chưa push của thành viên.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Lượng mm, xác suất và quyết định là ba sản phẩm liên quan nhưng khác nhau. RMSE/MAE/Bias đo lượng. BS/BSS đánh giá xác suất với nhãn sự kiện 0/1. CSI/POD/FAR đo quyết định có/không sau khi chọn ngưỡng xác suất. BSS tốt không tự bảo đảm RMSE tốt; POD cao không bảo đảm ít báo nhầm. Tập dữ liệu ít sự kiện làm accuracy dễ bị ngày khô chi phối. Đầu lượng mưa và xác suất hiện không thuộc một phân phối duy nhất, nên không thay CSI của hai loại đầu ra cho nhau.</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Nhãn [0,10,40] mm và dự đoán [0,15,25] mm tạo lỗi [0,+5,-15] mm. MAE=(0+5+15)/3=6,67 mm. RMSE=sqrt((0+25+225)/3)=9,13 mm. Bias=(0+5-15)/3=−3,33 mm. RMSE phạt lỗi 15 mm mạnh, MAE mô tả trung bình trị tuyệt đối và Bias chỉ ra xu hướng thiếu. Bias có thể triệt tiêu khi có lỗi dương/âm, vì vậy gần 0 chưa bảo đảm tốt. Đây là tổng mưa 24 giờ trung bình vùng, không so trực tiếp với RMSE giờ hoặc tại điểm.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Với o=1 khi mưa đạt ngưỡng và o=0 khi không, Brier score là trung bình (p-o)^2. Nếu sự kiện xảy ra, dự báo 0,8 có lỗi 0,04, dự báo 0,2 có lỗi 0,64. BSS=1-BS_model/BS_ref. Ví dụ BS_model=0,06 và BS_ref=0,08 thì BSS=0,25, tương đương giảm 25% lỗi Brier so tham chiếu, không phải 25% ngày đúng. Khí hậu trong dự án học từ train theo tháng/lead. BSS có thể âm; nó không đo sai số mm và không cần ngưỡng quyết định tau. Reliability là chẩn đoán bổ sung, không thay BSS.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100 ngày có 10 ngày đạt ngưỡng. Báo trúng 7, bỏ sót 3, báo nhầm 5 và đúng không sự kiện 85. POD=7/(7+3)=0.700. FAR=5/(7+5)=0.417. CSI=7/(7+3+5)=0.467. FAR chia cho tổng lần báo có, khác false positive rate chia cho tổng ngày không sự kiện. Không báo lần nào thì FAR không xác định, không tự điền 0. Nếu luôn báo khô, accuracy đạt 90% nhưng không bắt được một sự kiện nào.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E7 ngày 1 thật, cùng 1075 mốc và 114 sự kiện. TFT bắt được 73, bỏ sót 41 và báo nhầm 66. LightGBM bắt được 60, bỏ sót 54 và báo nhầm 32. TFT bắt thêm 13 sự kiện nhưng có thêm 34 báo nhầm. Không nói mô hình nào tốt hơn chỉ từ một chỉ số. Ưu tiên bỏ sót hay báo nhầm cần mục tiêu sử dụng và chi phí rõ; chưa có yêu cầu đó để tự đặt POD tối thiểu. Các số đếm được tái tạo từ aggregate đầy đủ độ chính xác và kiểm tra khớp CSI, không dùng nhãn mới.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Giao thức hiện có gia đình kiểm định chính cho BSS16 và báo CSI. Giữ giao thức để không đổi mục tiêu theo điểm đẹp. POD/FAR là chẩn đoán bắt buộc cạnh CSI; lượng mm phải xuất hiện rõ bằng RMSE/MAE/Bias vì đó là đầu ra nghiên cứu. Nếu bài báo xác định cải thiện lượng mm là câu hỏi chính, cần chốt tiêu chí định lượng trước holdout, không dùng BSS như bằng chứng duy nhất. Nếu mục tiêu là cảnh báo ít bỏ sót, đặt yêu cầu POD và đánh đổi FAR từ nhu cầu sử dụng, chọn ngưỡng trên calibration rồi khóa. Không có một thứ tự phổ quát chỉ do dự báo là ngắn hạn.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 học scaler, mô hình và khí hậu. Calibration chọn epoch/iteration, hiệu chỉnh xác suất và ngưỡng, nên không phải một tập đánh giá độc lập. Evaluation của ba fold là 2021–2023 và đã được xem trong development. Có 1075 mốc mỗi lead, 114 sự kiện 16, 37 sự kiện 50, 15 sự kiện 100. Ba lead có ngày mưa trùng nhau, không cộng thành số đợt độc lập. Nếu đổi ranh/nhãn, phải chạy lại phần phát triển trước khóa thiết kế. Không lấy kết quả 2026 để chọn mô hình chấm 2025.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Ngưỡng q=16/50/100 mm xác định nhãn sự kiện từ lượng mưa vùng. Ngưỡng tau xác định báo có từ xác suất. Calibration hiện chọn tau bằng CSI; các điểm POD/FAR trong bảng là ở những ngưỡng đó, không phải tại cùng POD hoặc cùng FAR giữa hai mô hình. Khi hạ tau, có thể bắt thêm sự kiện và thêm báo nhầm; FAR không nhất thiết đơn điệu trong mẫu hữu hạn. BS/BSS không cần tau. CSI từ đầu lượng mưa&gt;=q là amount_CSI, khác CSI chính từ xác suất&gt;=tau. Các ngưỡng mưa là giao thức nghiên cứu, không tự là cấp cảnh báo từng xã.</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BSS=1-BS/BSref. Dương tốt hơn khí hậu, âm kém hơn; không phải accuracy. Bảng cho đủ E0–E7, ba ngày và hai mô hình, mỗi cột in đậm điểm tốt nhất ở độ chính xác hiển thị. Chữ đỏ đánh dấu BSS âm; điểm ít âm nhất vẫn kém khí hậu. TFT E2/E6 có điểm cao ngày 1, LightGBM E4 cao ngày 1; chưa có kiểm định mọi cặp để tuyên bố cấu hình thắng ngoài mẫu. Không trung bình các BSS năm để thay BSS pooled đã tính từ các dự đoán/reference ghép.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hàng dùng cùng ngưỡng mưa 16, nhưng tau quyết định được chọn riêng trên calibration của từng fold/mô hình. Bảng in đậm điểm tốt hơn giữa TFT và LightGBM cùng ngày ở độ chính xác hiển thị; chưa là kiểm định khác biệt giữa hai mô hình. Biểu đồ dùng success ratio=1-FAR trên trục ngang, POD trên trục dọc và đường CSI. Đây là performance diagram, không phải ROC vì trục ngang không phải FPR. Điểm gộp đại diện các fold có tau riêng, không phải một ngưỡng xác suất toàn cục. Ngày 3 BSS âm dù POD vẫn khoảng 0,4–0,5, nên chỉ nhìn POD sẽ che lỗi xác suất.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RMSE phạt lỗi lớn; MAE là lỗi tuyệt đối trung bình; Bias âm là dự báo thiếu. Bảng E7 cho thấy LightGBM có RMSE/MAE ngày 1 thấp hơn, còn ngày 3 TFT RMSE thấp hơn nhưng MAE cao hơn. Chọn một chỉ số có thể dẫn đến nhận xét khác nhau; không nói thắng mọi mặt. Mỗi cột in đậm điểm tốt hơn cùng ngày, Bias theo trị tuyệt đối. BSS tốt hơn không tự suy ra RMSE tốt hơn. RMSE khoảng 20 mm là mức lỗi tổng hợp, không phải khoảng chắc chắn mọi ngày sai trong ±20 mm.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Gia đình chính gồm E1-E0, E2-E0, E3-E0 trên ba ngày, tổng 9 phép. CI 99,44% điều chỉnh theo Bonferroni cho từng phép. A ngày 1 delta khoảng 0.0853, CI [0.0022,0.1607]; M khoảng 0.1443, CI [0.0681,0.2329]; C chứa 0. Khối 14 ngày cho cùng phân loại. Bootstrap lấy chung trọng số cho nhãn, dự đoán và reference, điều kiện trên mô hình đã fit; không bao phủ mọi bất định nhãn, khởi tạo, ranh và lựa chọn mô hình. Chưa kiểm định trực tiếp M-A. Các năm development đã xem trước nên không thay holdout độc lập.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 trận 96 lượt hiện chạy khoảng27,9 phút trên 4060 Laptop 8 GB; đó là thời gian tiến trình, không phải mọi công việc nghiên cứu. Ưu tiên tiếp theo là ranh/trọng số vùng và kiểm chứng nhãn ngày, gồm các biến mã hóa/proxy cần xác nhận. Nếu dữ liệu thay đổi, chạy lại development liên quan rồi khóa. Ngày 3 có thể cần forecast thật hoặc cách học khác, nhưng ma trận hiện chưa cô lập nguyên nhân. Không lấy kết quả âm để kết luận toàn bộ bài toán 72 giờ không khả thi. Chưa cần thêm kiến trúc chỉ để chứng minh kiến trúc đó thua.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cơ sở ứng dụng LightGBM trong các bài nghiên cứu mưa, nhưng phép đo tại dự án mới quyết định giá trị. POD và FAR vẫn cần ở hạn ngày, luôn đọc cùng CSI, BSS và lượng mm; chưa có yêu cầu chi phí để ưu tiên riêng POD hoặc FAR. Đã chạy đủ E0–E7 và có tín hiệu A/M ngày 1; ngày 3 chưa vượt khí hậu. Phần tiếp theo là hoàn thiện định nghĩa vùng, nhãn, giao thức rồi holdout. Khi bị hỏi TFT sao chưa thắng LightGBM, trả lời mục tiêu nghiên cứu đặc trưng, không đặt trước thuật toán phải thắng.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chứa đúng tám cấu hình và bảy chỉ số từ aggregate gốc. Đậm là điểm tốt nhất ở độ chính xác hiển thị trong cùng cột; RMSE/MAE/FAR lấy nhỏ nhất, Bias lấy gần 0 nhất, BSS/CSI/POD lấy lớn nhất. Đỏ là BSS âm; ít âm nhất vẫn kém khí hậu. Đây không phải kiểm định mọi cặp. TFT ensemble 3 seed, không phải trung bình metric 3 seed. Cùng 1075 mốc/114 sự kiện 16 cho mọi E. Lượng mưa có đơn vị mm/24h; chỉ số sự kiện không đơn vị.</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chứa đúng tám cấu hình và bảy chỉ số từ aggregate gốc. Đậm là điểm tốt nhất ở độ chính xác hiển thị trong cùng cột; RMSE/MAE/FAR lấy nhỏ nhất, Bias lấy gần 0 nhất, BSS/CSI/POD lấy lớn nhất. Đỏ là BSS âm; ít âm nhất vẫn kém khí hậu. Đây không phải kiểm định mọi cặp. TFT ensemble 3 seed, không phải trung bình metric 3 seed. Cùng 1075 mốc/114 sự kiện 16 cho mọi E. Lượng mưa có đơn vị mm/24h; chỉ số sự kiện không đơn vị.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chứa đúng tám cấu hình và bảy chỉ số từ aggregate gốc. Đậm là điểm tốt nhất ở độ chính xác hiển thị trong cùng cột; RMSE/MAE/FAR lấy nhỏ nhất, Bias lấy gần 0 nhất, BSS/CSI/POD lấy lớn nhất. Đỏ là BSS âm; ít âm nhất vẫn kém khí hậu. Đây không phải kiểm định mọi cặp. TFT ensemble 3 seed, không phải trung bình metric 3 seed. Cùng 1075 mốc/114 sự kiện 16 cho mọi E. Lượng mưa có đơn vị mm/24h; chỉ số sự kiện không đơn vị.</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chứa đúng tám cấu hình và bảy chỉ số từ aggregate gốc. Đậm là điểm tốt nhất ở độ chính xác hiển thị trong cùng cột; RMSE/MAE/FAR lấy nhỏ nhất, Bias lấy gần 0 nhất, BSS/CSI/POD lấy lớn nhất. Đỏ là BSS âm; ít âm nhất vẫn kém khí hậu. Đây không phải kiểm định mọi cặp. TFT ensemble 3 seed, không phải trung bình metric 3 seed. Cùng 1075 mốc/114 sự kiện 16 cho mọi E. Lượng mưa có đơn vị mm/24h; chỉ số sự kiện không đơn vị.</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chứa đúng tám cấu hình và bảy chỉ số từ aggregate gốc. Đậm là điểm tốt nhất ở độ chính xác hiển thị trong cùng cột; RMSE/MAE/FAR lấy nhỏ nhất, Bias lấy gần 0 nhất, BSS/CSI/POD lấy lớn nhất. Đỏ là BSS âm; ít âm nhất vẫn kém khí hậu. Đây không phải kiểm định mọi cặp. TFT ensemble 3 seed, không phải trung bình metric 3 seed. Cùng 1075 mốc/114 sự kiện 16 cho mọi E. Lượng mưa có đơn vị mm/24h; chỉ số sự kiện không đơn vị.</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chứa đúng tám cấu hình và bảy chỉ số từ aggregate gốc. Đậm là điểm tốt nhất ở độ chính xác hiển thị trong cùng cột; RMSE/MAE/FAR lấy nhỏ nhất, Bias lấy gần 0 nhất, BSS/CSI/POD lấy lớn nhất. Đỏ là BSS âm; ít âm nhất vẫn kém khí hậu. Đây không phải kiểm định mọi cặp. TFT ensemble 3 seed, không phải trung bình metric 3 seed. Cùng 1075 mốc/114 sự kiện 16 cho mọi E. Lượng mưa có đơn vị mm/24h; chỉ số sự kiện không đơn vị.</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Tên biến giữ đúng theo feature_catalog.csv. Trường khí tượng V1 thường có tiền tố mean__; lịch không có tiền tố. Mỗi nhóm là danh mục cột, không độc lập thống kê. CIN NaNđược mã hóa 500 và has_lfc được dựng theo nguồn, cần audit vật lý; hữu hạn không tự bảo đảm đúng. Các trường context/SST/chênh áp có miền không gian riêng. Không suy ra93 quan trắc ERA5độc lập từ lưới đích0,1 độ.</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Tên biến giữ đúng theo feature_catalog.csv. Trường khí tượng V1 thường có tiền tố mean__; lịch không có tiền tố. Mỗi nhóm là danh mục cột, không độc lập thống kê. CIN NaNđược mã hóa 500 và has_lfc được dựng theo nguồn, cần audit vật lý; hữu hạn không tự bảo đảm đúng. Các trường context/SST/chênh áp có miền không gian riêng. Không suy ra93 quan trắc ERA5độc lập từ lưới đích0,1 độ.</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nguồn sơ cấp được đối chiếu đến ngày 21/10/2026. R1 và R3được đọc qua phần công khai từ nhà xuất bản; không khẳng định đã audit full text phương pháp. R2 có trang bài báo và PDF chính thức. Không sao chép PDF hoặc điểm của paper vào repo. Đây là cơ sở chọn phép thử, không là bảo đảm kết quả cho Việt Nam.</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 làpaper thuật toán LightGBM, A2 TFT, A3/A4 Informer. V1 làhướng dẫn kiểm chứng phân loại, V2 làkiểm chứng xác suất. Các nhận định áp dụng cho dữ liệu28 bước/vùng xấp xỉ là suy luận của dự án, không trích như kết luận bài gốc. Chi tiết lịch sử nhánh dev được đóng dấu bằng commit và SHA; không chấm lại mô hình hoặc mở 2025 trong lượt làm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hyperlink" Target="https://www.sciencedirect.com/science/article/pii/S095070512200555X" TargetMode="External"/><Relationship Id="rId4" Type="http://schemas.openxmlformats.org/officeDocument/2006/relationships/hyperlink" Target="https://www.jstage.jst.go.jp/article/ipsjjip/32/0/32_873/_article/-char/en" TargetMode="External"/><Relationship Id="rId5" Type="http://schemas.openxmlformats.org/officeDocument/2006/relationships/hyperlink" Target="https://www.sciencedirect.com/science/article/abs/pii/S0169809523003587"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hyperlink" Target="https://proceedings.neurips.cc/paper_files/paper/2017/hash/6449f44a102fde848669bdd9eb6b76fa-Abstract.html" TargetMode="External"/><Relationship Id="rId4" Type="http://schemas.openxmlformats.org/officeDocument/2006/relationships/hyperlink" Target="https://arxiv.org/abs/1912.09363" TargetMode="External"/><Relationship Id="rId5" Type="http://schemas.openxmlformats.org/officeDocument/2006/relationships/hyperlink" Target="https://ojs.aaai.org/index.php/AAAI/article/view/17325" TargetMode="External"/><Relationship Id="rId6" Type="http://schemas.openxmlformats.org/officeDocument/2006/relationships/hyperlink" Target="https://github.com/zhouhaoyi/Informer2020/blob/main/models/model.py" TargetMode="External"/><Relationship Id="rId7" Type="http://schemas.openxmlformats.org/officeDocument/2006/relationships/hyperlink" Target="https://www.ecmwf.int/sites/default/files/elibrary/2007/15490-verification-categorical-forecasts.pdf" TargetMode="External"/><Relationship Id="rId8" Type="http://schemas.openxmlformats.org/officeDocument/2006/relationships/hyperlink" Target="https://confluence.ecmwf.int/spaces/FUG/pages/673551875/Section%2B12.B%2BStatistical%2BConcepts%2B-%2BProbabilistic%2BData"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01</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Đặc trưng nào giúp dự đoán mưa vùng?</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PBL6 • Development 2021–2023 • Vùng 93 ô xấp xỉ • Test 2025 giữ kín</a:t>
            </a:r>
          </a:p>
        </p:txBody>
      </p:sp>
      <p:sp>
        <p:nvSpPr>
          <p:cNvPr id="6" name="TextBox 5"/>
          <p:cNvSpPr txBox="1"/>
          <p:nvPr/>
        </p:nvSpPr>
        <p:spPr>
          <a:xfrm>
            <a:off x="594360" y="1490472"/>
            <a:ext cx="10972800" cy="914400"/>
          </a:xfrm>
          <a:prstGeom prst="rect">
            <a:avLst/>
          </a:prstGeom>
          <a:noFill/>
        </p:spPr>
        <p:txBody>
          <a:bodyPr wrap="square" lIns="0" rIns="0" tIns="0" bIns="0" anchor="t">
            <a:spAutoFit/>
          </a:bodyPr>
          <a:lstStyle/>
          <a:p>
            <a:pPr algn="l">
              <a:lnSpc>
                <a:spcPct val="112000"/>
              </a:lnSpc>
              <a:spcBef>
                <a:spcPts val="0"/>
              </a:spcBef>
              <a:spcAft>
                <a:spcPts val="0"/>
              </a:spcAft>
            </a:pPr>
            <a:r>
              <a:rPr sz="2600" b="1">
                <a:solidFill>
                  <a:srgbClr val="087E8B"/>
                </a:solidFill>
                <a:latin typeface="Arial"/>
              </a:rPr>
              <a:t>TFT và LightGBM · ngày 1, 2, 3</a:t>
            </a:r>
          </a:p>
          <a:p>
            <a:pPr algn="l">
              <a:lnSpc>
                <a:spcPct val="112000"/>
              </a:lnSpc>
              <a:spcBef>
                <a:spcPts val="0"/>
              </a:spcBef>
              <a:spcAft>
                <a:spcPts val="0"/>
              </a:spcAft>
            </a:pPr>
            <a:r>
              <a:rPr sz="2600" b="1">
                <a:solidFill>
                  <a:srgbClr val="087E8B"/>
                </a:solidFill>
                <a:latin typeface="Arial"/>
              </a:rPr>
              <a:t>Bằng chứng, cách đọc chỉ số và giới hạn</a:t>
            </a:r>
          </a:p>
        </p:txBody>
      </p:sp>
      <p:sp>
        <p:nvSpPr>
          <p:cNvPr id="7" name="Rectangle 6"/>
          <p:cNvSpPr/>
          <p:nvPr/>
        </p:nvSpPr>
        <p:spPr>
          <a:xfrm>
            <a:off x="594360" y="2788920"/>
            <a:ext cx="3520440" cy="224028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916936"/>
            <a:ext cx="320954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Đã chạy đủ</a:t>
            </a:r>
          </a:p>
        </p:txBody>
      </p:sp>
      <p:sp>
        <p:nvSpPr>
          <p:cNvPr id="9" name="TextBox 8"/>
          <p:cNvSpPr txBox="1"/>
          <p:nvPr/>
        </p:nvSpPr>
        <p:spPr>
          <a:xfrm>
            <a:off x="749808" y="3584448"/>
            <a:ext cx="3209544" cy="1325880"/>
          </a:xfrm>
          <a:prstGeom prst="rect">
            <a:avLst/>
          </a:prstGeom>
          <a:noFill/>
        </p:spPr>
        <p:txBody>
          <a:bodyPr wrap="square" lIns="0" rIns="0" tIns="0" bIns="0" anchor="t">
            <a:spAutoFit/>
          </a:bodyPr>
          <a:lstStyle/>
          <a:p>
            <a:pPr algn="l">
              <a:lnSpc>
                <a:spcPct val="112000"/>
              </a:lnSpc>
              <a:spcBef>
                <a:spcPts val="0"/>
              </a:spcBef>
              <a:spcAft>
                <a:spcPts val="0"/>
              </a:spcAft>
            </a:pPr>
            <a:r>
              <a:rPr sz="2100" b="0">
                <a:solidFill>
                  <a:srgbClr val="123047"/>
                </a:solidFill>
                <a:latin typeface="Arial"/>
              </a:rPr>
              <a:t>72 lượt TFT</a:t>
            </a:r>
          </a:p>
          <a:p>
            <a:pPr algn="l">
              <a:lnSpc>
                <a:spcPct val="112000"/>
              </a:lnSpc>
              <a:spcBef>
                <a:spcPts val="0"/>
              </a:spcBef>
              <a:spcAft>
                <a:spcPts val="0"/>
              </a:spcAft>
            </a:pPr>
            <a:r>
              <a:rPr sz="2100" b="0">
                <a:solidFill>
                  <a:srgbClr val="123047"/>
                </a:solidFill>
                <a:latin typeface="Arial"/>
              </a:rPr>
              <a:t>24 pipeline LightGBM</a:t>
            </a:r>
          </a:p>
          <a:p>
            <a:pPr algn="l">
              <a:lnSpc>
                <a:spcPct val="112000"/>
              </a:lnSpc>
              <a:spcBef>
                <a:spcPts val="0"/>
              </a:spcBef>
              <a:spcAft>
                <a:spcPts val="0"/>
              </a:spcAft>
            </a:pPr>
            <a:r>
              <a:rPr sz="2100" b="0">
                <a:solidFill>
                  <a:srgbClr val="123047"/>
                </a:solidFill>
                <a:latin typeface="Arial"/>
              </a:rPr>
              <a:t>96/96 lượt tái lập</a:t>
            </a:r>
          </a:p>
        </p:txBody>
      </p:sp>
      <p:sp>
        <p:nvSpPr>
          <p:cNvPr id="10" name="Rectangle 9"/>
          <p:cNvSpPr/>
          <p:nvPr/>
        </p:nvSpPr>
        <p:spPr>
          <a:xfrm>
            <a:off x="4315968" y="2788920"/>
            <a:ext cx="3520440" cy="224028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1416" y="2916936"/>
            <a:ext cx="320954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Cần đọc đủ</a:t>
            </a:r>
          </a:p>
        </p:txBody>
      </p:sp>
      <p:sp>
        <p:nvSpPr>
          <p:cNvPr id="12" name="TextBox 11"/>
          <p:cNvSpPr txBox="1"/>
          <p:nvPr/>
        </p:nvSpPr>
        <p:spPr>
          <a:xfrm>
            <a:off x="4471416" y="3584448"/>
            <a:ext cx="3209544" cy="1325880"/>
          </a:xfrm>
          <a:prstGeom prst="rect">
            <a:avLst/>
          </a:prstGeom>
          <a:noFill/>
        </p:spPr>
        <p:txBody>
          <a:bodyPr wrap="square" lIns="0" rIns="0" tIns="0" bIns="0" anchor="t">
            <a:spAutoFit/>
          </a:bodyPr>
          <a:lstStyle/>
          <a:p>
            <a:pPr algn="l">
              <a:lnSpc>
                <a:spcPct val="112000"/>
              </a:lnSpc>
              <a:spcBef>
                <a:spcPts val="0"/>
              </a:spcBef>
              <a:spcAft>
                <a:spcPts val="0"/>
              </a:spcAft>
            </a:pPr>
            <a:r>
              <a:rPr sz="1900" b="0">
                <a:solidFill>
                  <a:srgbClr val="123047"/>
                </a:solidFill>
                <a:latin typeface="Arial"/>
              </a:rPr>
              <a:t>Lượng mưa: RMSE/MAE/Bias</a:t>
            </a:r>
          </a:p>
          <a:p>
            <a:pPr algn="l">
              <a:lnSpc>
                <a:spcPct val="112000"/>
              </a:lnSpc>
              <a:spcBef>
                <a:spcPts val="0"/>
              </a:spcBef>
              <a:spcAft>
                <a:spcPts val="0"/>
              </a:spcAft>
            </a:pPr>
            <a:r>
              <a:rPr sz="1900" b="0">
                <a:solidFill>
                  <a:srgbClr val="123047"/>
                </a:solidFill>
                <a:latin typeface="Arial"/>
              </a:rPr>
              <a:t>Xác suất: BS/BSS</a:t>
            </a:r>
          </a:p>
          <a:p>
            <a:pPr algn="l">
              <a:lnSpc>
                <a:spcPct val="112000"/>
              </a:lnSpc>
              <a:spcBef>
                <a:spcPts val="0"/>
              </a:spcBef>
              <a:spcAft>
                <a:spcPts val="0"/>
              </a:spcAft>
            </a:pPr>
            <a:r>
              <a:rPr sz="1900" b="0">
                <a:solidFill>
                  <a:srgbClr val="123047"/>
                </a:solidFill>
                <a:latin typeface="Arial"/>
              </a:rPr>
              <a:t>Sự kiện: CSI + POD + FAR</a:t>
            </a:r>
          </a:p>
        </p:txBody>
      </p:sp>
      <p:sp>
        <p:nvSpPr>
          <p:cNvPr id="13" name="Rectangle 12"/>
          <p:cNvSpPr/>
          <p:nvPr/>
        </p:nvSpPr>
        <p:spPr>
          <a:xfrm>
            <a:off x="8037575" y="2788920"/>
            <a:ext cx="3520440" cy="224028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93023" y="2916936"/>
            <a:ext cx="320954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Kết quả trung thực</a:t>
            </a:r>
          </a:p>
        </p:txBody>
      </p:sp>
      <p:sp>
        <p:nvSpPr>
          <p:cNvPr id="15" name="TextBox 14"/>
          <p:cNvSpPr txBox="1"/>
          <p:nvPr/>
        </p:nvSpPr>
        <p:spPr>
          <a:xfrm>
            <a:off x="8193023" y="3584448"/>
            <a:ext cx="3209544" cy="1325880"/>
          </a:xfrm>
          <a:prstGeom prst="rect">
            <a:avLst/>
          </a:prstGeom>
          <a:noFill/>
        </p:spPr>
        <p:txBody>
          <a:bodyPr wrap="square" lIns="0" rIns="0" tIns="0" bIns="0" anchor="t">
            <a:spAutoFit/>
          </a:bodyPr>
          <a:lstStyle/>
          <a:p>
            <a:pPr algn="l">
              <a:lnSpc>
                <a:spcPct val="112000"/>
              </a:lnSpc>
              <a:spcBef>
                <a:spcPts val="0"/>
              </a:spcBef>
              <a:spcAft>
                <a:spcPts val="0"/>
              </a:spcAft>
            </a:pPr>
            <a:r>
              <a:rPr sz="1900" b="0">
                <a:solidFill>
                  <a:srgbClr val="123047"/>
                </a:solidFill>
                <a:latin typeface="Arial"/>
              </a:rPr>
              <a:t>A/M có tín hiệu ngày 1</a:t>
            </a:r>
          </a:p>
          <a:p>
            <a:pPr algn="l">
              <a:lnSpc>
                <a:spcPct val="112000"/>
              </a:lnSpc>
              <a:spcBef>
                <a:spcPts val="0"/>
              </a:spcBef>
              <a:spcAft>
                <a:spcPts val="0"/>
              </a:spcAft>
            </a:pPr>
            <a:r>
              <a:rPr sz="1900" b="0">
                <a:solidFill>
                  <a:srgbClr val="123047"/>
                </a:solidFill>
                <a:latin typeface="Arial"/>
              </a:rPr>
              <a:t>Ngày 3 chưa vượt khí hậu</a:t>
            </a:r>
          </a:p>
          <a:p>
            <a:pPr algn="l">
              <a:lnSpc>
                <a:spcPct val="112000"/>
              </a:lnSpc>
              <a:spcBef>
                <a:spcPts val="0"/>
              </a:spcBef>
              <a:spcAft>
                <a:spcPts val="0"/>
              </a:spcAft>
            </a:pPr>
            <a:r>
              <a:rPr sz="1900" b="0">
                <a:solidFill>
                  <a:srgbClr val="123047"/>
                </a:solidFill>
                <a:latin typeface="Arial"/>
              </a:rPr>
              <a:t>Vùng/nhãn còn cần kiểm chứng</a:t>
            </a:r>
          </a:p>
        </p:txBody>
      </p:sp>
      <p:sp>
        <p:nvSpPr>
          <p:cNvPr id="16" name="Rectangle 15"/>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24 slide chính + 10 slide tra cứu • 21/10/2026 • Năm 2025 giữ kín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02</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Đầu ra: ba tổng mưa 24 giờ riêng của cả vùng</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PBL6 • Development 2021–2023 • Vùng 93 ô xấp xỉ • Test 2025 giữ kín</a:t>
            </a:r>
          </a:p>
        </p:txBody>
      </p:sp>
      <p:pic>
        <p:nvPicPr>
          <p:cNvPr id="6" name="Picture 5" descr="target_timeline.png"/>
          <p:cNvPicPr>
            <a:picLocks noChangeAspect="1"/>
          </p:cNvPicPr>
          <p:nvPr/>
        </p:nvPicPr>
        <p:blipFill>
          <a:blip r:embed="rId3"/>
          <a:stretch>
            <a:fillRect/>
          </a:stretch>
        </p:blipFill>
        <p:spPr>
          <a:xfrm>
            <a:off x="502920" y="1508760"/>
            <a:ext cx="11201400" cy="2889504"/>
          </a:xfrm>
          <a:prstGeom prst="rect">
            <a:avLst/>
          </a:prstGeom>
        </p:spPr>
      </p:pic>
      <p:sp>
        <p:nvSpPr>
          <p:cNvPr id="7" name="TextBox 6"/>
          <p:cNvSpPr txBox="1"/>
          <p:nvPr/>
        </p:nvSpPr>
        <p:spPr>
          <a:xfrm>
            <a:off x="685800" y="4590288"/>
            <a:ext cx="10835640" cy="86868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Ví dụ minh họa: [12, 35, 5] mm/24h cho ba ngày.</a:t>
            </a:r>
          </a:p>
          <a:p>
            <a:pPr algn="l">
              <a:lnSpc>
                <a:spcPct val="112000"/>
              </a:lnSpc>
              <a:spcBef>
                <a:spcPts val="0"/>
              </a:spcBef>
              <a:spcAft>
                <a:spcPts val="0"/>
              </a:spcAft>
            </a:pPr>
            <a:r>
              <a:rPr sz="2200" b="0">
                <a:solidFill>
                  <a:srgbClr val="123047"/>
                </a:solidFill>
                <a:latin typeface="Arial"/>
              </a:rPr>
              <a:t>Một mẫu đại diện cho một mốc của vùng; không phải một ô.</a:t>
            </a:r>
          </a:p>
        </p:txBody>
      </p:sp>
      <p:sp>
        <p:nvSpPr>
          <p:cNvPr id="8" name="Rectangle 7"/>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87E8B"/>
                </a:solidFill>
                <a:latin typeface="Arial"/>
              </a:rPr>
              <a:t>Ngày 2/3 không phải tổng tích lũy 48/72 giờ; chưa có đầu ra từng giờ.</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03</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Dữ liệu: ERA5 làm đầu vào, GSMaP Gauge làm nhãn</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PBL6 • Development 2021–2023 • Vùng 93 ô xấp xỉ • Test 2025 giữ kín</a:t>
            </a:r>
          </a:p>
        </p:txBody>
      </p:sp>
      <p:sp>
        <p:nvSpPr>
          <p:cNvPr id="6" name="Rectangle 5"/>
          <p:cNvSpPr/>
          <p:nvPr/>
        </p:nvSpPr>
        <p:spPr>
          <a:xfrm>
            <a:off x="594360" y="1508760"/>
            <a:ext cx="5486400" cy="3355848"/>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36776"/>
            <a:ext cx="517550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Đầu vào trước giờ phát hành</a:t>
            </a:r>
          </a:p>
        </p:txBody>
      </p:sp>
      <p:sp>
        <p:nvSpPr>
          <p:cNvPr id="8" name="TextBox 7"/>
          <p:cNvSpPr txBox="1"/>
          <p:nvPr/>
        </p:nvSpPr>
        <p:spPr>
          <a:xfrm>
            <a:off x="749808" y="2304288"/>
            <a:ext cx="5175504" cy="2441448"/>
          </a:xfrm>
          <a:prstGeom prst="rect">
            <a:avLst/>
          </a:prstGeom>
          <a:noFill/>
        </p:spPr>
        <p:txBody>
          <a:bodyPr wrap="square" lIns="0" rIns="0" tIns="0" bIns="0" anchor="t">
            <a:spAutoFit/>
          </a:bodyPr>
          <a:lstStyle/>
          <a:p>
            <a:pPr algn="l">
              <a:lnSpc>
                <a:spcPct val="112000"/>
              </a:lnSpc>
              <a:spcBef>
                <a:spcPts val="0"/>
              </a:spcBef>
              <a:spcAft>
                <a:spcPts val="0"/>
              </a:spcAft>
            </a:pPr>
            <a:r>
              <a:rPr sz="2300" b="0">
                <a:solidFill>
                  <a:srgbClr val="123047"/>
                </a:solidFill>
                <a:latin typeface="Arial"/>
              </a:rPr>
              <a:t>Nhiệt độ, ẩm, gió, áp suất…</a:t>
            </a:r>
          </a:p>
          <a:p>
            <a:pPr algn="l">
              <a:lnSpc>
                <a:spcPct val="112000"/>
              </a:lnSpc>
              <a:spcBef>
                <a:spcPts val="0"/>
              </a:spcBef>
              <a:spcAft>
                <a:spcPts val="0"/>
              </a:spcAft>
            </a:pPr>
            <a:r>
              <a:rPr sz="2300" b="0">
                <a:solidFill>
                  <a:srgbClr val="123047"/>
                </a:solidFill>
                <a:latin typeface="Arial"/>
              </a:rPr>
              <a:t>Đối lưu, mây, dòng ẩm, SST</a:t>
            </a:r>
          </a:p>
          <a:p>
            <a:pPr algn="l">
              <a:lnSpc>
                <a:spcPct val="112000"/>
              </a:lnSpc>
              <a:spcBef>
                <a:spcPts val="0"/>
              </a:spcBef>
              <a:spcAft>
                <a:spcPts val="0"/>
              </a:spcAft>
            </a:pPr>
            <a:r>
              <a:rPr sz="2300" b="0">
                <a:solidFill>
                  <a:srgbClr val="123047"/>
                </a:solidFill>
                <a:latin typeface="Arial"/>
              </a:rPr>
              <a:t>Lịch trong năm và trong ngày</a:t>
            </a:r>
          </a:p>
          <a:p>
            <a:pPr algn="l">
              <a:lnSpc>
                <a:spcPct val="112000"/>
              </a:lnSpc>
              <a:spcBef>
                <a:spcPts val="0"/>
              </a:spcBef>
              <a:spcAft>
                <a:spcPts val="0"/>
              </a:spcAft>
            </a:pPr>
            <a:r>
              <a:rPr sz="2300" b="0">
                <a:solidFill>
                  <a:srgbClr val="123047"/>
                </a:solidFill>
                <a:latin typeface="Arial"/>
              </a:rPr>
              <a:t>Hiện không dùng mưa quá khứ</a:t>
            </a:r>
          </a:p>
        </p:txBody>
      </p:sp>
      <p:sp>
        <p:nvSpPr>
          <p:cNvPr id="9" name="Rectangle 8"/>
          <p:cNvSpPr/>
          <p:nvPr/>
        </p:nvSpPr>
        <p:spPr>
          <a:xfrm>
            <a:off x="6291072" y="1508760"/>
            <a:ext cx="5303520" cy="3355848"/>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36776"/>
            <a:ext cx="499262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Nhãn và phạm vi</a:t>
            </a:r>
          </a:p>
        </p:txBody>
      </p:sp>
      <p:sp>
        <p:nvSpPr>
          <p:cNvPr id="11" name="TextBox 10"/>
          <p:cNvSpPr txBox="1"/>
          <p:nvPr/>
        </p:nvSpPr>
        <p:spPr>
          <a:xfrm>
            <a:off x="6446520" y="2304288"/>
            <a:ext cx="4992624" cy="2441448"/>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GSMaP Gauge → mưa vùng</a:t>
            </a:r>
          </a:p>
          <a:p>
            <a:pPr algn="l">
              <a:lnSpc>
                <a:spcPct val="112000"/>
              </a:lnSpc>
              <a:spcBef>
                <a:spcPts val="0"/>
              </a:spcBef>
              <a:spcAft>
                <a:spcPts val="0"/>
              </a:spcAft>
            </a:pPr>
            <a:r>
              <a:rPr sz="2200" b="0">
                <a:solidFill>
                  <a:srgbClr val="123047"/>
                </a:solidFill>
                <a:latin typeface="Arial"/>
              </a:rPr>
              <a:t>93 ô, tổng hợp trước mô hình</a:t>
            </a:r>
          </a:p>
          <a:p>
            <a:pPr algn="l">
              <a:lnSpc>
                <a:spcPct val="112000"/>
              </a:lnSpc>
              <a:spcBef>
                <a:spcPts val="0"/>
              </a:spcBef>
              <a:spcAft>
                <a:spcPts val="0"/>
              </a:spcAft>
            </a:pPr>
            <a:r>
              <a:rPr sz="2200" b="0">
                <a:solidFill>
                  <a:srgbClr val="123047"/>
                </a:solidFill>
                <a:latin typeface="Arial"/>
              </a:rPr>
              <a:t>Diện tích toàn ô ≈11.074 km²</a:t>
            </a:r>
          </a:p>
          <a:p>
            <a:pPr algn="l">
              <a:lnSpc>
                <a:spcPct val="112000"/>
              </a:lnSpc>
              <a:spcBef>
                <a:spcPts val="0"/>
              </a:spcBef>
              <a:spcAft>
                <a:spcPts val="0"/>
              </a:spcAft>
            </a:pPr>
            <a:r>
              <a:rPr sz="2200" b="0">
                <a:solidFill>
                  <a:srgbClr val="123047"/>
                </a:solidFill>
                <a:latin typeface="Arial"/>
              </a:rPr>
              <a:t>Footprint xấp xỉ Đà Nẵng mới</a:t>
            </a:r>
          </a:p>
        </p:txBody>
      </p:sp>
      <p:sp>
        <p:nvSpPr>
          <p:cNvPr id="12" name="Rectangle 11"/>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AD3434"/>
                </a:solidFill>
                <a:latin typeface="Arial"/>
              </a:rPr>
              <a:t>Chưa có giao ranh hành chính chính xác; nhãn vệ tinh vẫn có sai số.</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04</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Một mẫu TFT được tạo như thế nào?</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PBL6 • Development 2021–2023 • Vùng 93 ô xấp xỉ • Test 2025 giữ kín</a:t>
            </a:r>
          </a:p>
        </p:txBody>
      </p:sp>
      <p:graphicFrame>
        <p:nvGraphicFramePr>
          <p:cNvPr id="6" name="Table 5"/>
          <p:cNvGraphicFramePr>
            <a:graphicFrameLocks noGrp="1"/>
          </p:cNvGraphicFramePr>
          <p:nvPr/>
        </p:nvGraphicFramePr>
        <p:xfrm>
          <a:off x="502920" y="1508760"/>
          <a:ext cx="11201400" cy="3566160"/>
        </p:xfrm>
        <a:graphic>
          <a:graphicData uri="http://schemas.openxmlformats.org/drawingml/2006/table">
            <a:tbl>
              <a:tblPr firstRow="1" bandRow="1">
                <a:tableStyleId>{5C22544A-7EE6-4342-B048-85BDC9FD1C3A}</a:tableStyleId>
              </a:tblPr>
              <a:tblGrid>
                <a:gridCol w="1005840"/>
                <a:gridCol w="5212080"/>
                <a:gridCol w="4983480"/>
              </a:tblGrid>
              <a:tr h="713232">
                <a:tc>
                  <a:txBody>
                    <a:bodyPr/>
                    <a:lstStyle/>
                    <a:p>
                      <a:pPr algn="ctr">
                        <a:lnSpc>
                          <a:spcPct val="100000"/>
                        </a:lnSpc>
                        <a:spcBef>
                          <a:spcPts val="0"/>
                        </a:spcBef>
                        <a:spcAft>
                          <a:spcPts val="0"/>
                        </a:spcAft>
                      </a:pPr>
                      <a:r>
                        <a:rPr sz="2200" b="1">
                          <a:solidFill>
                            <a:srgbClr val="FFFFFF"/>
                          </a:solidFill>
                          <a:latin typeface="Arial"/>
                        </a:rPr>
                        <a:t>Bước</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Thao tác</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Kết quả</a:t>
                      </a:r>
                    </a:p>
                  </a:txBody>
                  <a:tcPr marL="50292" marR="50292" marT="32004" marB="32004" anchor="ctr">
                    <a:solidFill>
                      <a:srgbClr val="123047"/>
                    </a:solidFill>
                  </a:tcPr>
                </a:tc>
              </a:tr>
              <a:tr h="713232">
                <a:tc>
                  <a:txBody>
                    <a:bodyPr/>
                    <a:lstStyle/>
                    <a:p>
                      <a:pPr algn="ctr">
                        <a:lnSpc>
                          <a:spcPct val="100000"/>
                        </a:lnSpc>
                        <a:spcBef>
                          <a:spcPts val="0"/>
                        </a:spcBef>
                        <a:spcAft>
                          <a:spcPts val="0"/>
                        </a:spcAft>
                      </a:pPr>
                      <a:r>
                        <a:rPr sz="2200" b="0">
                          <a:solidFill>
                            <a:srgbClr val="123047"/>
                          </a:solidFill>
                          <a:latin typeface="Arial"/>
                        </a:rPr>
                        <a:t>1</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Tổng hợp ô → vùng</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Một chuỗi vùng</a:t>
                      </a:r>
                    </a:p>
                  </a:txBody>
                  <a:tcPr marL="50292" marR="50292" marT="32004" marB="32004" anchor="ctr">
                    <a:solidFill>
                      <a:srgbClr val="FFFFFF"/>
                    </a:solidFill>
                  </a:tcPr>
                </a:tc>
              </a:tr>
              <a:tr h="713232">
                <a:tc>
                  <a:txBody>
                    <a:bodyPr/>
                    <a:lstStyle/>
                    <a:p>
                      <a:pPr algn="ctr">
                        <a:lnSpc>
                          <a:spcPct val="100000"/>
                        </a:lnSpc>
                        <a:spcBef>
                          <a:spcPts val="0"/>
                        </a:spcBef>
                        <a:spcAft>
                          <a:spcPts val="0"/>
                        </a:spcAft>
                      </a:pPr>
                      <a:r>
                        <a:rPr sz="2200" b="0">
                          <a:solidFill>
                            <a:srgbClr val="123047"/>
                          </a:solidFill>
                          <a:latin typeface="Arial"/>
                        </a:rPr>
                        <a:t>2</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168 giờ quá khứ → gộp 6 giờ</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28 bước × F biến</a:t>
                      </a:r>
                    </a:p>
                  </a:txBody>
                  <a:tcPr marL="50292" marR="50292" marT="32004" marB="32004" anchor="ctr">
                    <a:solidFill>
                      <a:srgbClr val="EDF2F7"/>
                    </a:solidFill>
                  </a:tcPr>
                </a:tc>
              </a:tr>
              <a:tr h="713232">
                <a:tc>
                  <a:txBody>
                    <a:bodyPr/>
                    <a:lstStyle/>
                    <a:p>
                      <a:pPr algn="ctr">
                        <a:lnSpc>
                          <a:spcPct val="100000"/>
                        </a:lnSpc>
                        <a:spcBef>
                          <a:spcPts val="0"/>
                        </a:spcBef>
                        <a:spcAft>
                          <a:spcPts val="0"/>
                        </a:spcAft>
                      </a:pPr>
                      <a:r>
                        <a:rPr sz="2200" b="0">
                          <a:solidFill>
                            <a:srgbClr val="123047"/>
                          </a:solidFill>
                          <a:latin typeface="Arial"/>
                        </a:rPr>
                        <a:t>3</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Thêm lịch tương lai đã biết</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12 bước × 4 biến lịch</a:t>
                      </a:r>
                    </a:p>
                  </a:txBody>
                  <a:tcPr marL="50292" marR="50292" marT="32004" marB="32004" anchor="ctr">
                    <a:solidFill>
                      <a:srgbClr val="FFFFFF"/>
                    </a:solidFill>
                  </a:tcPr>
                </a:tc>
              </a:tr>
              <a:tr h="713232">
                <a:tc>
                  <a:txBody>
                    <a:bodyPr/>
                    <a:lstStyle/>
                    <a:p>
                      <a:pPr algn="ctr">
                        <a:lnSpc>
                          <a:spcPct val="100000"/>
                        </a:lnSpc>
                        <a:spcBef>
                          <a:spcPts val="0"/>
                        </a:spcBef>
                        <a:spcAft>
                          <a:spcPts val="0"/>
                        </a:spcAft>
                      </a:pPr>
                      <a:r>
                        <a:rPr sz="2200" b="0">
                          <a:solidFill>
                            <a:srgbClr val="123047"/>
                          </a:solidFill>
                          <a:latin typeface="Arial"/>
                        </a:rPr>
                        <a:t>4</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TFT dự đoán lượng + sự kiện</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3 lượng mm + 9 xác suất</a:t>
                      </a:r>
                    </a:p>
                  </a:txBody>
                  <a:tcPr marL="50292" marR="50292" marT="32004" marB="32004" anchor="ctr">
                    <a:solidFill>
                      <a:srgbClr val="EDF2F7"/>
                    </a:solidFill>
                  </a:tcPr>
                </a:tc>
              </a:tr>
            </a:tbl>
          </a:graphicData>
        </a:graphic>
      </p:graphicFrame>
      <p:sp>
        <p:nvSpPr>
          <p:cNvPr id="7" name="TextBox 6"/>
          <p:cNvSpPr txBox="1"/>
          <p:nvPr/>
        </p:nvSpPr>
        <p:spPr>
          <a:xfrm>
            <a:off x="685800" y="5230368"/>
            <a:ext cx="10881360" cy="694944"/>
          </a:xfrm>
          <a:prstGeom prst="rect">
            <a:avLst/>
          </a:prstGeom>
          <a:noFill/>
        </p:spPr>
        <p:txBody>
          <a:bodyPr wrap="square" lIns="0" rIns="0" tIns="0" bIns="0" anchor="t">
            <a:spAutoFit/>
          </a:bodyPr>
          <a:lstStyle/>
          <a:p>
            <a:pPr algn="l">
              <a:lnSpc>
                <a:spcPct val="112000"/>
              </a:lnSpc>
              <a:spcBef>
                <a:spcPts val="0"/>
              </a:spcBef>
              <a:spcAft>
                <a:spcPts val="0"/>
              </a:spcAft>
            </a:pPr>
            <a:r>
              <a:rPr sz="2000" b="0">
                <a:solidFill>
                  <a:srgbClr val="123047"/>
                </a:solidFill>
                <a:latin typeface="Arial"/>
              </a:rPr>
              <a:t>E0: F=11; E7: F=44. Cùng các mốc hợp lệ cho mọi E.</a:t>
            </a:r>
          </a:p>
          <a:p>
            <a:pPr algn="l">
              <a:lnSpc>
                <a:spcPct val="112000"/>
              </a:lnSpc>
              <a:spcBef>
                <a:spcPts val="0"/>
              </a:spcBef>
              <a:spcAft>
                <a:spcPts val="0"/>
              </a:spcAft>
            </a:pPr>
            <a:r>
              <a:rPr sz="2000" b="0">
                <a:solidFill>
                  <a:srgbClr val="123047"/>
                </a:solidFill>
                <a:latin typeface="Arial"/>
              </a:rPr>
              <a:t>ERA5 hồi cứu chưa chứng minh dữ liệu đến kịp lúc chạy thật.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05</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Bốn nhóm đặc trưng: cùng cột nguồn, khác vai trò</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PBL6 • Development 2021–2023 • Vùng 93 ô xấp xỉ • Test 2025 giữ kín</a:t>
            </a:r>
          </a:p>
        </p:txBody>
      </p:sp>
      <p:graphicFrame>
        <p:nvGraphicFramePr>
          <p:cNvPr id="6" name="Table 5"/>
          <p:cNvGraphicFramePr>
            <a:graphicFrameLocks noGrp="1"/>
          </p:cNvGraphicFramePr>
          <p:nvPr/>
        </p:nvGraphicFramePr>
        <p:xfrm>
          <a:off x="502920" y="1508760"/>
          <a:ext cx="11201400" cy="3566160"/>
        </p:xfrm>
        <a:graphic>
          <a:graphicData uri="http://schemas.openxmlformats.org/drawingml/2006/table">
            <a:tbl>
              <a:tblPr firstRow="1" bandRow="1">
                <a:tableStyleId>{5C22544A-7EE6-4342-B048-85BDC9FD1C3A}</a:tableStyleId>
              </a:tblPr>
              <a:tblGrid>
                <a:gridCol w="2834640"/>
                <a:gridCol w="1280160"/>
                <a:gridCol w="7086600"/>
              </a:tblGrid>
              <a:tr h="713232">
                <a:tc>
                  <a:txBody>
                    <a:bodyPr/>
                    <a:lstStyle/>
                    <a:p>
                      <a:pPr algn="ctr">
                        <a:lnSpc>
                          <a:spcPct val="100000"/>
                        </a:lnSpc>
                        <a:spcBef>
                          <a:spcPts val="0"/>
                        </a:spcBef>
                        <a:spcAft>
                          <a:spcPts val="0"/>
                        </a:spcAft>
                      </a:pPr>
                      <a:r>
                        <a:rPr sz="2200" b="1">
                          <a:solidFill>
                            <a:srgbClr val="FFFFFF"/>
                          </a:solidFill>
                          <a:latin typeface="Arial"/>
                        </a:rPr>
                        <a:t>Nhóm</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Số biến</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Thông tin</a:t>
                      </a:r>
                    </a:p>
                  </a:txBody>
                  <a:tcPr marL="50292" marR="50292" marT="32004" marB="32004" anchor="ctr">
                    <a:solidFill>
                      <a:srgbClr val="123047"/>
                    </a:solidFill>
                  </a:tcPr>
                </a:tc>
              </a:tr>
              <a:tr h="713232">
                <a:tc>
                  <a:txBody>
                    <a:bodyPr/>
                    <a:lstStyle/>
                    <a:p>
                      <a:pPr algn="ctr">
                        <a:lnSpc>
                          <a:spcPct val="100000"/>
                        </a:lnSpc>
                        <a:spcBef>
                          <a:spcPts val="0"/>
                        </a:spcBef>
                        <a:spcAft>
                          <a:spcPts val="0"/>
                        </a:spcAft>
                      </a:pPr>
                      <a:r>
                        <a:rPr sz="2200" b="0">
                          <a:solidFill>
                            <a:srgbClr val="123047"/>
                          </a:solidFill>
                          <a:latin typeface="Arial"/>
                        </a:rPr>
                        <a:t>B — Nền</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11</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Bề mặt và lịch</a:t>
                      </a:r>
                    </a:p>
                  </a:txBody>
                  <a:tcPr marL="50292" marR="50292" marT="32004" marB="32004" anchor="ctr">
                    <a:solidFill>
                      <a:srgbClr val="FFFFFF"/>
                    </a:solidFill>
                  </a:tcPr>
                </a:tc>
              </a:tr>
              <a:tr h="713232">
                <a:tc>
                  <a:txBody>
                    <a:bodyPr/>
                    <a:lstStyle/>
                    <a:p>
                      <a:pPr algn="ctr">
                        <a:lnSpc>
                          <a:spcPct val="100000"/>
                        </a:lnSpc>
                        <a:spcBef>
                          <a:spcPts val="0"/>
                        </a:spcBef>
                        <a:spcAft>
                          <a:spcPts val="0"/>
                        </a:spcAft>
                      </a:pPr>
                      <a:r>
                        <a:rPr sz="2200" b="0">
                          <a:solidFill>
                            <a:srgbClr val="123047"/>
                          </a:solidFill>
                          <a:latin typeface="Arial"/>
                        </a:rPr>
                        <a:t>A — Bổ sung</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12</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Đối lưu, mây, lớp biên, ẩm đất</a:t>
                      </a:r>
                    </a:p>
                  </a:txBody>
                  <a:tcPr marL="50292" marR="50292" marT="32004" marB="32004" anchor="ctr">
                    <a:solidFill>
                      <a:srgbClr val="EDF2F7"/>
                    </a:solidFill>
                  </a:tcPr>
                </a:tc>
              </a:tr>
              <a:tr h="713232">
                <a:tc>
                  <a:txBody>
                    <a:bodyPr/>
                    <a:lstStyle/>
                    <a:p>
                      <a:pPr algn="ctr">
                        <a:lnSpc>
                          <a:spcPct val="100000"/>
                        </a:lnSpc>
                        <a:spcBef>
                          <a:spcPts val="0"/>
                        </a:spcBef>
                        <a:spcAft>
                          <a:spcPts val="0"/>
                        </a:spcAft>
                      </a:pPr>
                      <a:r>
                        <a:rPr sz="2200" b="0">
                          <a:solidFill>
                            <a:srgbClr val="123047"/>
                          </a:solidFill>
                          <a:latin typeface="Arial"/>
                        </a:rPr>
                        <a:t>M — Hoàn lưu</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20</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Gió/ẩm trên cao, dòng ẩm, chênh áp</a:t>
                      </a:r>
                    </a:p>
                  </a:txBody>
                  <a:tcPr marL="50292" marR="50292" marT="32004" marB="32004" anchor="ctr">
                    <a:solidFill>
                      <a:srgbClr val="FFFFFF"/>
                    </a:solidFill>
                  </a:tcPr>
                </a:tc>
              </a:tr>
              <a:tr h="713232">
                <a:tc>
                  <a:txBody>
                    <a:bodyPr/>
                    <a:lstStyle/>
                    <a:p>
                      <a:pPr algn="ctr">
                        <a:lnSpc>
                          <a:spcPct val="100000"/>
                        </a:lnSpc>
                        <a:spcBef>
                          <a:spcPts val="0"/>
                        </a:spcBef>
                        <a:spcAft>
                          <a:spcPts val="0"/>
                        </a:spcAft>
                      </a:pPr>
                      <a:r>
                        <a:rPr sz="2200" b="0">
                          <a:solidFill>
                            <a:srgbClr val="123047"/>
                          </a:solidFill>
                          <a:latin typeface="Arial"/>
                        </a:rPr>
                        <a:t>C — Biển</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1</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SST vùng biển đã chọn</a:t>
                      </a:r>
                    </a:p>
                  </a:txBody>
                  <a:tcPr marL="50292" marR="50292" marT="32004" marB="32004" anchor="ctr">
                    <a:solidFill>
                      <a:srgbClr val="EDF2F7"/>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87E8B"/>
                </a:solidFill>
                <a:latin typeface="Arial"/>
              </a:rPr>
              <a:t>44 biến ≠ 44 thông tin độc lập; thêm nhiều biến chưa chắc tốt hơn.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06</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E0–E7: giữ mô hình, thay tổ hợp đầu vào</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PBL6 • Development 2021–2023 • Vùng 93 ô xấp xỉ • Test 2025 giữ kín</a:t>
            </a:r>
          </a:p>
        </p:txBody>
      </p:sp>
      <p:graphicFrame>
        <p:nvGraphicFramePr>
          <p:cNvPr id="6" name="Table 5"/>
          <p:cNvGraphicFramePr>
            <a:graphicFrameLocks noGrp="1"/>
          </p:cNvGraphicFramePr>
          <p:nvPr/>
        </p:nvGraphicFramePr>
        <p:xfrm>
          <a:off x="502920" y="1508760"/>
          <a:ext cx="11201400" cy="3950208"/>
        </p:xfrm>
        <a:graphic>
          <a:graphicData uri="http://schemas.openxmlformats.org/drawingml/2006/table">
            <a:tbl>
              <a:tblPr firstRow="1" bandRow="1">
                <a:tableStyleId>{5C22544A-7EE6-4342-B048-85BDC9FD1C3A}</a:tableStyleId>
              </a:tblPr>
              <a:tblGrid>
                <a:gridCol w="731520"/>
                <a:gridCol w="4114800"/>
                <a:gridCol w="1371600"/>
                <a:gridCol w="4983480"/>
              </a:tblGrid>
              <a:tr h="438912">
                <a:tc>
                  <a:txBody>
                    <a:bodyPr/>
                    <a:lstStyle/>
                    <a:p>
                      <a:pPr algn="ctr">
                        <a:lnSpc>
                          <a:spcPct val="100000"/>
                        </a:lnSpc>
                        <a:spcBef>
                          <a:spcPts val="0"/>
                        </a:spcBef>
                        <a:spcAft>
                          <a:spcPts val="0"/>
                        </a:spcAft>
                      </a:pPr>
                      <a:r>
                        <a:rPr sz="210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Đầu vào</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Biến</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TFT / LGBM</a:t>
                      </a:r>
                    </a:p>
                  </a:txBody>
                  <a:tcPr marL="50292" marR="50292" marT="32004" marB="32004" anchor="ctr">
                    <a:solidFill>
                      <a:srgbClr val="123047"/>
                    </a:solidFill>
                  </a:tcPr>
                </a:tc>
              </a:tr>
              <a:tr h="438912">
                <a:tc>
                  <a:txBody>
                    <a:bodyPr/>
                    <a:lstStyle/>
                    <a:p>
                      <a:pPr algn="ctr">
                        <a:lnSpc>
                          <a:spcPct val="100000"/>
                        </a:lnSpc>
                        <a:spcBef>
                          <a:spcPts val="0"/>
                        </a:spcBef>
                        <a:spcAft>
                          <a:spcPts val="0"/>
                        </a:spcAft>
                      </a:pPr>
                      <a:r>
                        <a:rPr sz="210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B</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11</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9 / 3</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210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B+A</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23</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9 / 3</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210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B+M</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31</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9 / 3</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2100" b="0">
                          <a:solidFill>
                            <a:srgbClr val="123047"/>
                          </a:solidFill>
                          <a:latin typeface="Arial"/>
                        </a:rPr>
                        <a:t>E3</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B+C</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12</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9 / 3</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2100" b="0">
                          <a:solidFill>
                            <a:srgbClr val="123047"/>
                          </a:solidFill>
                          <a:latin typeface="Arial"/>
                        </a:rPr>
                        <a:t>E4</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B+A+M</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43</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9 / 3</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2100" b="0">
                          <a:solidFill>
                            <a:srgbClr val="123047"/>
                          </a:solidFill>
                          <a:latin typeface="Arial"/>
                        </a:rPr>
                        <a:t>E5</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B+A+C</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24</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9 / 3</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210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B+M+C</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32</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9 / 3</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210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B+A+M+C</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44</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9 / 3</a:t>
                      </a:r>
                    </a:p>
                  </a:txBody>
                  <a:tcPr marL="50292" marR="50292" marT="32004" marB="32004" anchor="ctr">
                    <a:solidFill>
                      <a:srgbClr val="EDF2F7"/>
                    </a:solidFill>
                  </a:tcPr>
                </a:tc>
              </a:tr>
            </a:tbl>
          </a:graphicData>
        </a:graphic>
      </p:graphicFrame>
      <p:sp>
        <p:nvSpPr>
          <p:cNvPr id="7" name="Rectangle 6"/>
          <p:cNvSpPr/>
          <p:nvPr/>
        </p:nvSpPr>
        <p:spPr>
          <a:xfrm>
            <a:off x="502920" y="5641848"/>
            <a:ext cx="11201400" cy="484632"/>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733288"/>
            <a:ext cx="10927080" cy="374904"/>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87E8B"/>
                </a:solidFill>
                <a:latin typeface="Arial"/>
              </a:rPr>
              <a:t>Đã hoàn thành: 72 TFT + 24 LightGBM; 96/96 lượt tái lập kết quả.</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07</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Vì sao thử TFT? Informer đã bị loại chưa?</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Cơ sở: [A2] TFT • [A3–A4] Informer • Chưa có phép so Informer cùng giao thức</a:t>
            </a:r>
          </a:p>
        </p:txBody>
      </p:sp>
      <p:sp>
        <p:nvSpPr>
          <p:cNvPr id="6" name="Rectangle 5"/>
          <p:cNvSpPr/>
          <p:nvPr/>
        </p:nvSpPr>
        <p:spPr>
          <a:xfrm>
            <a:off x="594360" y="1508760"/>
            <a:ext cx="5486400" cy="361188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36776"/>
            <a:ext cx="517550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TFT: có cơ sở để thử</a:t>
            </a:r>
          </a:p>
        </p:txBody>
      </p:sp>
      <p:sp>
        <p:nvSpPr>
          <p:cNvPr id="8" name="TextBox 7"/>
          <p:cNvSpPr txBox="1"/>
          <p:nvPr/>
        </p:nvSpPr>
        <p:spPr>
          <a:xfrm>
            <a:off x="749808" y="2304288"/>
            <a:ext cx="5175504" cy="269748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Học trọng số cho các biến</a:t>
            </a:r>
          </a:p>
          <a:p>
            <a:pPr algn="l">
              <a:lnSpc>
                <a:spcPct val="112000"/>
              </a:lnSpc>
              <a:spcBef>
                <a:spcPts val="0"/>
              </a:spcBef>
              <a:spcAft>
                <a:spcPts val="0"/>
              </a:spcAft>
            </a:pPr>
            <a:r>
              <a:rPr sz="2200" b="0">
                <a:solidFill>
                  <a:srgbClr val="123047"/>
                </a:solidFill>
                <a:latin typeface="Arial"/>
              </a:rPr>
              <a:t>Kết hợp chuỗi và attention</a:t>
            </a:r>
          </a:p>
          <a:p>
            <a:pPr algn="l">
              <a:lnSpc>
                <a:spcPct val="112000"/>
              </a:lnSpc>
              <a:spcBef>
                <a:spcPts val="0"/>
              </a:spcBef>
              <a:spcAft>
                <a:spcPts val="0"/>
              </a:spcAft>
            </a:pPr>
            <a:r>
              <a:rPr sz="2200" b="0">
                <a:solidFill>
                  <a:srgbClr val="123047"/>
                </a:solidFill>
                <a:latin typeface="Arial"/>
              </a:rPr>
              <a:t>Dự đoán nhiều hạn cùng lúc</a:t>
            </a:r>
          </a:p>
          <a:p>
            <a:pPr algn="l">
              <a:lnSpc>
                <a:spcPct val="112000"/>
              </a:lnSpc>
              <a:spcBef>
                <a:spcPts val="0"/>
              </a:spcBef>
              <a:spcAft>
                <a:spcPts val="0"/>
              </a:spcAft>
            </a:pPr>
            <a:r>
              <a:rPr sz="2200" b="0">
                <a:solidFill>
                  <a:srgbClr val="123047"/>
                </a:solidFill>
                <a:latin typeface="Arial"/>
              </a:rPr>
              <a:t>Bản hiện tại là adaptation</a:t>
            </a:r>
          </a:p>
        </p:txBody>
      </p:sp>
      <p:sp>
        <p:nvSpPr>
          <p:cNvPr id="9" name="Rectangle 8"/>
          <p:cNvSpPr/>
          <p:nvPr/>
        </p:nvSpPr>
        <p:spPr>
          <a:xfrm>
            <a:off x="6291072" y="1508760"/>
            <a:ext cx="5303520" cy="361188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36776"/>
            <a:ext cx="499262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Informer: chưa có kết luận</a:t>
            </a:r>
          </a:p>
        </p:txBody>
      </p:sp>
      <p:sp>
        <p:nvSpPr>
          <p:cNvPr id="11" name="TextBox 10"/>
          <p:cNvSpPr txBox="1"/>
          <p:nvPr/>
        </p:nvSpPr>
        <p:spPr>
          <a:xfrm>
            <a:off x="6446520" y="2304288"/>
            <a:ext cx="4992624" cy="2697480"/>
          </a:xfrm>
          <a:prstGeom prst="rect">
            <a:avLst/>
          </a:prstGeom>
          <a:noFill/>
        </p:spPr>
        <p:txBody>
          <a:bodyPr wrap="square" lIns="0" rIns="0" tIns="0" bIns="0" anchor="t">
            <a:spAutoFit/>
          </a:bodyPr>
          <a:lstStyle/>
          <a:p>
            <a:pPr algn="l">
              <a:lnSpc>
                <a:spcPct val="112000"/>
              </a:lnSpc>
              <a:spcBef>
                <a:spcPts val="0"/>
              </a:spcBef>
              <a:spcAft>
                <a:spcPts val="0"/>
              </a:spcAft>
            </a:pPr>
            <a:r>
              <a:rPr sz="2100" b="0">
                <a:solidFill>
                  <a:srgbClr val="123047"/>
                </a:solidFill>
                <a:latin typeface="Arial"/>
              </a:rPr>
              <a:t>Chưa chạy cùng giao thức vùng</a:t>
            </a:r>
          </a:p>
          <a:p>
            <a:pPr algn="l">
              <a:lnSpc>
                <a:spcPct val="112000"/>
              </a:lnSpc>
              <a:spcBef>
                <a:spcPts val="0"/>
              </a:spcBef>
              <a:spcAft>
                <a:spcPts val="0"/>
              </a:spcAft>
            </a:pPr>
            <a:r>
              <a:rPr sz="2100" b="0">
                <a:solidFill>
                  <a:srgbClr val="123047"/>
                </a:solidFill>
                <a:latin typeface="Arial"/>
              </a:rPr>
              <a:t>Có đầu vào thông tin thời gian</a:t>
            </a:r>
          </a:p>
          <a:p>
            <a:pPr algn="l">
              <a:lnSpc>
                <a:spcPct val="112000"/>
              </a:lnSpc>
              <a:spcBef>
                <a:spcPts val="0"/>
              </a:spcBef>
              <a:spcAft>
                <a:spcPts val="0"/>
              </a:spcAft>
            </a:pPr>
            <a:r>
              <a:rPr sz="2100" b="0">
                <a:solidFill>
                  <a:srgbClr val="123047"/>
                </a:solidFill>
                <a:latin typeface="Arial"/>
              </a:rPr>
              <a:t>Chuỗi hiện tại chỉ 28 bước</a:t>
            </a:r>
          </a:p>
          <a:p>
            <a:pPr algn="l">
              <a:lnSpc>
                <a:spcPct val="112000"/>
              </a:lnSpc>
              <a:spcBef>
                <a:spcPts val="0"/>
              </a:spcBef>
              <a:spcAft>
                <a:spcPts val="0"/>
              </a:spcAft>
            </a:pPr>
            <a:r>
              <a:rPr sz="2100" b="0">
                <a:solidFill>
                  <a:srgbClr val="123047"/>
                </a:solidFill>
                <a:latin typeface="Arial"/>
              </a:rPr>
              <a:t>Điểm R² cũ không loại được nó</a:t>
            </a:r>
          </a:p>
        </p:txBody>
      </p:sp>
      <p:sp>
        <p:nvSpPr>
          <p:cNvPr id="12" name="Rectangle 11"/>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87E8B"/>
                </a:solidFill>
                <a:latin typeface="Arial"/>
              </a:rPr>
              <a:t>Lý do lựa chọn là giả thuyết để đo; chưa phải bằng chứng TFT thắng.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08</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LightGBM đối chứng: cùng nguyên liệu, khác cách học</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[A1] Ke et al. 2017 + cấu hình LightGBM đã lưu trong run.json</a:t>
            </a:r>
          </a:p>
        </p:txBody>
      </p:sp>
      <p:graphicFrame>
        <p:nvGraphicFramePr>
          <p:cNvPr id="6" name="Table 5"/>
          <p:cNvGraphicFramePr>
            <a:graphicFrameLocks noGrp="1"/>
          </p:cNvGraphicFramePr>
          <p:nvPr/>
        </p:nvGraphicFramePr>
        <p:xfrm>
          <a:off x="502920" y="1508760"/>
          <a:ext cx="11201400" cy="3520440"/>
        </p:xfrm>
        <a:graphic>
          <a:graphicData uri="http://schemas.openxmlformats.org/drawingml/2006/table">
            <a:tbl>
              <a:tblPr firstRow="1" bandRow="1">
                <a:tableStyleId>{5C22544A-7EE6-4342-B048-85BDC9FD1C3A}</a:tableStyleId>
              </a:tblPr>
              <a:tblGrid>
                <a:gridCol w="2743200"/>
                <a:gridCol w="4229100"/>
                <a:gridCol w="4229100"/>
              </a:tblGrid>
              <a:tr h="704088">
                <a:tc>
                  <a:txBody>
                    <a:bodyPr/>
                    <a:lstStyle/>
                    <a:p>
                      <a:pPr algn="ctr">
                        <a:lnSpc>
                          <a:spcPct val="100000"/>
                        </a:lnSpc>
                        <a:spcBef>
                          <a:spcPts val="0"/>
                        </a:spcBef>
                        <a:spcAft>
                          <a:spcPts val="0"/>
                        </a:spcAft>
                      </a:pPr>
                      <a:r>
                        <a:rPr sz="2000" b="1">
                          <a:solidFill>
                            <a:srgbClr val="FFFFFF"/>
                          </a:solidFill>
                          <a:latin typeface="Arial"/>
                        </a:rPr>
                        <a:t>Nội dung</a:t>
                      </a:r>
                    </a:p>
                  </a:txBody>
                  <a:tcPr marL="50292" marR="50292" marT="32004" marB="32004" anchor="ctr">
                    <a:solidFill>
                      <a:srgbClr val="123047"/>
                    </a:solidFill>
                  </a:tcPr>
                </a:tc>
                <a:tc>
                  <a:txBody>
                    <a:bodyPr/>
                    <a:lstStyle/>
                    <a:p>
                      <a:pPr algn="ctr">
                        <a:lnSpc>
                          <a:spcPct val="100000"/>
                        </a:lnSpc>
                        <a:spcBef>
                          <a:spcPts val="0"/>
                        </a:spcBef>
                        <a:spcAft>
                          <a:spcPts val="0"/>
                        </a:spcAft>
                      </a:pPr>
                      <a:r>
                        <a:rPr sz="2000" b="1">
                          <a:solidFill>
                            <a:srgbClr val="FFFFFF"/>
                          </a:solidFill>
                          <a:latin typeface="Arial"/>
                        </a:rPr>
                        <a:t>TFT</a:t>
                      </a:r>
                    </a:p>
                  </a:txBody>
                  <a:tcPr marL="50292" marR="50292" marT="32004" marB="32004" anchor="ctr">
                    <a:solidFill>
                      <a:srgbClr val="123047"/>
                    </a:solidFill>
                  </a:tcPr>
                </a:tc>
                <a:tc>
                  <a:txBody>
                    <a:bodyPr/>
                    <a:lstStyle/>
                    <a:p>
                      <a:pPr algn="ctr">
                        <a:lnSpc>
                          <a:spcPct val="100000"/>
                        </a:lnSpc>
                        <a:spcBef>
                          <a:spcPts val="0"/>
                        </a:spcBef>
                        <a:spcAft>
                          <a:spcPts val="0"/>
                        </a:spcAft>
                      </a:pPr>
                      <a:r>
                        <a:rPr sz="2000" b="1">
                          <a:solidFill>
                            <a:srgbClr val="FFFFFF"/>
                          </a:solidFill>
                          <a:latin typeface="Arial"/>
                        </a:rPr>
                        <a:t>LightGBM</a:t>
                      </a:r>
                    </a:p>
                  </a:txBody>
                  <a:tcPr marL="50292" marR="50292" marT="32004" marB="32004" anchor="ctr">
                    <a:solidFill>
                      <a:srgbClr val="123047"/>
                    </a:solidFill>
                  </a:tcPr>
                </a:tc>
              </a:tr>
              <a:tr h="704088">
                <a:tc>
                  <a:txBody>
                    <a:bodyPr/>
                    <a:lstStyle/>
                    <a:p>
                      <a:pPr algn="ctr">
                        <a:lnSpc>
                          <a:spcPct val="100000"/>
                        </a:lnSpc>
                        <a:spcBef>
                          <a:spcPts val="0"/>
                        </a:spcBef>
                        <a:spcAft>
                          <a:spcPts val="0"/>
                        </a:spcAft>
                      </a:pPr>
                      <a:r>
                        <a:rPr sz="2000" b="0">
                          <a:solidFill>
                            <a:srgbClr val="123047"/>
                          </a:solidFill>
                          <a:latin typeface="Arial"/>
                        </a:rPr>
                        <a:t>Nguyên liệu</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Khí tượng quá khứ + lịch</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Cùng nguyên liệu</a:t>
                      </a:r>
                    </a:p>
                  </a:txBody>
                  <a:tcPr marL="50292" marR="50292" marT="32004" marB="32004" anchor="ctr">
                    <a:solidFill>
                      <a:srgbClr val="FFFFFF"/>
                    </a:solidFill>
                  </a:tcPr>
                </a:tc>
              </a:tr>
              <a:tr h="704088">
                <a:tc>
                  <a:txBody>
                    <a:bodyPr/>
                    <a:lstStyle/>
                    <a:p>
                      <a:pPr algn="ctr">
                        <a:lnSpc>
                          <a:spcPct val="100000"/>
                        </a:lnSpc>
                        <a:spcBef>
                          <a:spcPts val="0"/>
                        </a:spcBef>
                        <a:spcAft>
                          <a:spcPts val="0"/>
                        </a:spcAft>
                      </a:pPr>
                      <a:r>
                        <a:rPr sz="2000" b="0">
                          <a:solidFill>
                            <a:srgbClr val="123047"/>
                          </a:solidFill>
                          <a:latin typeface="Arial"/>
                        </a:rPr>
                        <a:t>Biểu diễn</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0">
                          <a:solidFill>
                            <a:srgbClr val="123047"/>
                          </a:solidFill>
                          <a:latin typeface="Arial"/>
                        </a:rPr>
                        <a:t>Chuỗi 28 bước</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0">
                          <a:solidFill>
                            <a:srgbClr val="123047"/>
                          </a:solidFill>
                          <a:latin typeface="Arial"/>
                        </a:rPr>
                        <a:t>Thống kê lịch sử thành bảng</a:t>
                      </a:r>
                    </a:p>
                  </a:txBody>
                  <a:tcPr marL="50292" marR="50292" marT="32004" marB="32004" anchor="ctr">
                    <a:solidFill>
                      <a:srgbClr val="EDF2F7"/>
                    </a:solidFill>
                  </a:tcPr>
                </a:tc>
              </a:tr>
              <a:tr h="704088">
                <a:tc>
                  <a:txBody>
                    <a:bodyPr/>
                    <a:lstStyle/>
                    <a:p>
                      <a:pPr algn="ctr">
                        <a:lnSpc>
                          <a:spcPct val="100000"/>
                        </a:lnSpc>
                        <a:spcBef>
                          <a:spcPts val="0"/>
                        </a:spcBef>
                        <a:spcAft>
                          <a:spcPts val="0"/>
                        </a:spcAft>
                      </a:pPr>
                      <a:r>
                        <a:rPr sz="2000" b="0">
                          <a:solidFill>
                            <a:srgbClr val="123047"/>
                          </a:solidFill>
                          <a:latin typeface="Arial"/>
                        </a:rPr>
                        <a:t>Mô hình</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Mạng neural</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Tổ hợp cây boosting</a:t>
                      </a:r>
                    </a:p>
                  </a:txBody>
                  <a:tcPr marL="50292" marR="50292" marT="32004" marB="32004" anchor="ctr">
                    <a:solidFill>
                      <a:srgbClr val="FFFFFF"/>
                    </a:solidFill>
                  </a:tcPr>
                </a:tc>
              </a:tr>
              <a:tr h="704088">
                <a:tc>
                  <a:txBody>
                    <a:bodyPr/>
                    <a:lstStyle/>
                    <a:p>
                      <a:pPr algn="ctr">
                        <a:lnSpc>
                          <a:spcPct val="100000"/>
                        </a:lnSpc>
                        <a:spcBef>
                          <a:spcPts val="0"/>
                        </a:spcBef>
                        <a:spcAft>
                          <a:spcPts val="0"/>
                        </a:spcAft>
                      </a:pPr>
                      <a:r>
                        <a:rPr sz="2000" b="0">
                          <a:solidFill>
                            <a:srgbClr val="123047"/>
                          </a:solidFill>
                          <a:latin typeface="Arial"/>
                        </a:rPr>
                        <a:t>Đầu ra / mẫu chấm</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0">
                          <a:solidFill>
                            <a:srgbClr val="123047"/>
                          </a:solidFill>
                          <a:latin typeface="Arial"/>
                        </a:rPr>
                        <a:t>Ba ngày, cùng nhãn/mốc</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0">
                          <a:solidFill>
                            <a:srgbClr val="123047"/>
                          </a:solidFill>
                          <a:latin typeface="Arial"/>
                        </a:rPr>
                        <a:t>Ba ngày, cùng nhãn/mốc</a:t>
                      </a:r>
                    </a:p>
                  </a:txBody>
                  <a:tcPr marL="50292" marR="50292" marT="32004" marB="32004" anchor="ctr">
                    <a:solidFill>
                      <a:srgbClr val="EDF2F7"/>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87E8B"/>
                </a:solidFill>
                <a:latin typeface="Arial"/>
              </a:rPr>
              <a:t>E0/E7 là cách chọn biến; TFT/LightGBM là cách học từ những biến đó.</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09</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LightGBM có cơ sở ứng dụng trong dự đoán mưa</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sơ cấp [R1–R3]; tiêu đề, DOI và giới hạn ở phụ lục tài liệu tham khảo</a:t>
            </a:r>
          </a:p>
        </p:txBody>
      </p:sp>
      <p:graphicFrame>
        <p:nvGraphicFramePr>
          <p:cNvPr id="6" name="Table 5"/>
          <p:cNvGraphicFramePr>
            <a:graphicFrameLocks noGrp="1"/>
          </p:cNvGraphicFramePr>
          <p:nvPr/>
        </p:nvGraphicFramePr>
        <p:xfrm>
          <a:off x="502920" y="1508760"/>
          <a:ext cx="11201400" cy="3730752"/>
        </p:xfrm>
        <a:graphic>
          <a:graphicData uri="http://schemas.openxmlformats.org/drawingml/2006/table">
            <a:tbl>
              <a:tblPr firstRow="1" bandRow="1">
                <a:tableStyleId>{5C22544A-7EE6-4342-B048-85BDC9FD1C3A}</a:tableStyleId>
              </a:tblPr>
              <a:tblGrid>
                <a:gridCol w="2880360"/>
                <a:gridCol w="4297680"/>
                <a:gridCol w="4023360"/>
              </a:tblGrid>
              <a:tr h="932688">
                <a:tc>
                  <a:txBody>
                    <a:bodyPr/>
                    <a:lstStyle/>
                    <a:p>
                      <a:pPr algn="ctr">
                        <a:lnSpc>
                          <a:spcPct val="100000"/>
                        </a:lnSpc>
                        <a:spcBef>
                          <a:spcPts val="0"/>
                        </a:spcBef>
                        <a:spcAft>
                          <a:spcPts val="0"/>
                        </a:spcAft>
                      </a:pPr>
                      <a:r>
                        <a:rPr sz="1800" b="1">
                          <a:solidFill>
                            <a:srgbClr val="FFFFFF"/>
                          </a:solidFill>
                          <a:latin typeface="Arial"/>
                        </a:rPr>
                        <a:t>Nghiên cứu</a:t>
                      </a:r>
                    </a:p>
                  </a:txBody>
                  <a:tcPr marL="50292" marR="50292" marT="32004" marB="32004" anchor="ctr">
                    <a:solidFill>
                      <a:srgbClr val="123047"/>
                    </a:solidFill>
                  </a:tcPr>
                </a:tc>
                <a:tc>
                  <a:txBody>
                    <a:bodyPr/>
                    <a:lstStyle/>
                    <a:p>
                      <a:pPr algn="ctr">
                        <a:lnSpc>
                          <a:spcPct val="100000"/>
                        </a:lnSpc>
                        <a:spcBef>
                          <a:spcPts val="0"/>
                        </a:spcBef>
                        <a:spcAft>
                          <a:spcPts val="0"/>
                        </a:spcAft>
                      </a:pPr>
                      <a:r>
                        <a:rPr sz="1800" b="1">
                          <a:solidFill>
                            <a:srgbClr val="FFFFFF"/>
                          </a:solidFill>
                          <a:latin typeface="Arial"/>
                        </a:rPr>
                        <a:t>LightGBM làm gì?</a:t>
                      </a:r>
                    </a:p>
                  </a:txBody>
                  <a:tcPr marL="50292" marR="50292" marT="32004" marB="32004" anchor="ctr">
                    <a:solidFill>
                      <a:srgbClr val="123047"/>
                    </a:solidFill>
                  </a:tcPr>
                </a:tc>
                <a:tc>
                  <a:txBody>
                    <a:bodyPr/>
                    <a:lstStyle/>
                    <a:p>
                      <a:pPr algn="ctr">
                        <a:lnSpc>
                          <a:spcPct val="100000"/>
                        </a:lnSpc>
                        <a:spcBef>
                          <a:spcPts val="0"/>
                        </a:spcBef>
                        <a:spcAft>
                          <a:spcPts val="0"/>
                        </a:spcAft>
                      </a:pPr>
                      <a:r>
                        <a:rPr sz="1800" b="1">
                          <a:solidFill>
                            <a:srgbClr val="FFFFFF"/>
                          </a:solidFill>
                          <a:latin typeface="Arial"/>
                        </a:rPr>
                        <a:t>Giới hạn khi vận dụng</a:t>
                      </a:r>
                    </a:p>
                  </a:txBody>
                  <a:tcPr marL="50292" marR="50292" marT="32004" marB="32004" anchor="ctr">
                    <a:solidFill>
                      <a:srgbClr val="123047"/>
                    </a:solidFill>
                  </a:tcPr>
                </a:tc>
              </a:tr>
              <a:tr h="932688">
                <a:tc>
                  <a:txBody>
                    <a:bodyPr/>
                    <a:lstStyle/>
                    <a:p>
                      <a:pPr algn="ctr">
                        <a:lnSpc>
                          <a:spcPct val="100000"/>
                        </a:lnSpc>
                        <a:spcBef>
                          <a:spcPts val="0"/>
                        </a:spcBef>
                        <a:spcAft>
                          <a:spcPts val="0"/>
                        </a:spcAft>
                      </a:pPr>
                      <a:r>
                        <a:rPr sz="1800" b="0">
                          <a:solidFill>
                            <a:srgbClr val="123047"/>
                          </a:solidFill>
                          <a:latin typeface="Arial"/>
                        </a:rPr>
                        <a:t>R1 · He và cs.</a:t>
                      </a:r>
                    </a:p>
                    <a:p>
                      <a:r>
                        <a:t>2022 · KBS</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Học phần dư trong mô hình lai</a:t>
                      </a:r>
                    </a:p>
                    <a:p>
                      <a:r>
                        <a:t>dự đoán mưa ngày kế tiếp</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Cairns; có mưa quá khứ;</a:t>
                      </a:r>
                    </a:p>
                    <a:p>
                      <a:r>
                        <a:t>không phải cây đơn lẻ</a:t>
                      </a:r>
                    </a:p>
                  </a:txBody>
                  <a:tcPr marL="50292" marR="50292" marT="32004" marB="32004" anchor="ctr">
                    <a:solidFill>
                      <a:srgbClr val="FFFFFF"/>
                    </a:solidFill>
                  </a:tcPr>
                </a:tc>
              </a:tr>
              <a:tr h="932688">
                <a:tc>
                  <a:txBody>
                    <a:bodyPr/>
                    <a:lstStyle/>
                    <a:p>
                      <a:pPr algn="ctr">
                        <a:lnSpc>
                          <a:spcPct val="100000"/>
                        </a:lnSpc>
                        <a:spcBef>
                          <a:spcPts val="0"/>
                        </a:spcBef>
                        <a:spcAft>
                          <a:spcPts val="0"/>
                        </a:spcAft>
                      </a:pPr>
                      <a:r>
                        <a:rPr sz="1800" b="0">
                          <a:solidFill>
                            <a:srgbClr val="123047"/>
                          </a:solidFill>
                          <a:latin typeface="Arial"/>
                        </a:rPr>
                        <a:t>R2 · Iwase &amp; Takenawa</a:t>
                      </a:r>
                    </a:p>
                    <a:p>
                      <a:r>
                        <a:t>2024 · JIP</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Dự đoán lượng mưa vùng núi</a:t>
                      </a:r>
                    </a:p>
                    <a:p>
                      <a:r>
                        <a:t>từ forecast và quan trắc</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Dự đoán tại điểm;</a:t>
                      </a:r>
                    </a:p>
                    <a:p>
                      <a:r>
                        <a:t>có forecast đầu vào</a:t>
                      </a:r>
                    </a:p>
                  </a:txBody>
                  <a:tcPr marL="50292" marR="50292" marT="32004" marB="32004" anchor="ctr">
                    <a:solidFill>
                      <a:srgbClr val="EDF2F7"/>
                    </a:solidFill>
                  </a:tcPr>
                </a:tc>
              </a:tr>
              <a:tr h="932688">
                <a:tc>
                  <a:txBody>
                    <a:bodyPr/>
                    <a:lstStyle/>
                    <a:p>
                      <a:pPr algn="ctr">
                        <a:lnSpc>
                          <a:spcPct val="100000"/>
                        </a:lnSpc>
                        <a:spcBef>
                          <a:spcPts val="0"/>
                        </a:spcBef>
                        <a:spcAft>
                          <a:spcPts val="0"/>
                        </a:spcAft>
                      </a:pPr>
                      <a:r>
                        <a:rPr sz="1800" b="0">
                          <a:solidFill>
                            <a:srgbClr val="123047"/>
                          </a:solidFill>
                          <a:latin typeface="Arial"/>
                        </a:rPr>
                        <a:t>R3 · Qian &amp; Jia</a:t>
                      </a:r>
                    </a:p>
                    <a:p>
                      <a:r>
                        <a:t>2023 · Atmos. Research</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Dự đoán giáng thủy mùa đông</a:t>
                      </a:r>
                    </a:p>
                    <a:p>
                      <a:r>
                        <a:t>bằng LightGBM/XGBoost</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Hạn mùa; không chứng minh</a:t>
                      </a:r>
                    </a:p>
                    <a:p>
                      <a:r>
                        <a:t>kỹ năng ở 24–72 giờ</a:t>
                      </a:r>
                    </a:p>
                  </a:txBody>
                  <a:tcPr marL="50292" marR="50292" marT="32004" marB="32004" anchor="ctr">
                    <a:solidFill>
                      <a:srgbClr val="FFFFFF"/>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87E8B"/>
                </a:solidFill>
                <a:latin typeface="Arial"/>
              </a:rPr>
              <a:t>Paper tạo cơ sở thử nghiệm; kết quả cùng giao thức mới quyết định giá trị.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10</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Nhánh dev có POD/FAR; có thực sự chọn model bằng nó?</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Read-only origin/dev fe27756 • LOCAL.py + Tweedie COLAB.ipynb • Chi tiết: dev_metrics_audit.json</a:t>
            </a:r>
          </a:p>
        </p:txBody>
      </p:sp>
      <p:graphicFrame>
        <p:nvGraphicFramePr>
          <p:cNvPr id="6" name="Table 5"/>
          <p:cNvGraphicFramePr>
            <a:graphicFrameLocks noGrp="1"/>
          </p:cNvGraphicFramePr>
          <p:nvPr/>
        </p:nvGraphicFramePr>
        <p:xfrm>
          <a:off x="502920" y="1508760"/>
          <a:ext cx="11201400" cy="3566160"/>
        </p:xfrm>
        <a:graphic>
          <a:graphicData uri="http://schemas.openxmlformats.org/drawingml/2006/table">
            <a:tbl>
              <a:tblPr firstRow="1" bandRow="1">
                <a:tableStyleId>{5C22544A-7EE6-4342-B048-85BDC9FD1C3A}</a:tableStyleId>
              </a:tblPr>
              <a:tblGrid>
                <a:gridCol w="2286000"/>
                <a:gridCol w="4480560"/>
                <a:gridCol w="4434840"/>
              </a:tblGrid>
              <a:tr h="713232">
                <a:tc>
                  <a:txBody>
                    <a:bodyPr/>
                    <a:lstStyle/>
                    <a:p>
                      <a:pPr algn="ctr">
                        <a:lnSpc>
                          <a:spcPct val="100000"/>
                        </a:lnSpc>
                        <a:spcBef>
                          <a:spcPts val="0"/>
                        </a:spcBef>
                        <a:spcAft>
                          <a:spcPts val="0"/>
                        </a:spcAft>
                      </a:pPr>
                      <a:r>
                        <a:rPr sz="1850" b="1">
                          <a:solidFill>
                            <a:srgbClr val="FFFFFF"/>
                          </a:solidFill>
                          <a:latin typeface="Arial"/>
                        </a:rPr>
                        <a:t>Nội dung</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Dev đã rà soát</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TFT vùng hiện tại</a:t>
                      </a:r>
                    </a:p>
                  </a:txBody>
                  <a:tcPr marL="50292" marR="50292" marT="32004" marB="32004" anchor="ctr">
                    <a:solidFill>
                      <a:srgbClr val="123047"/>
                    </a:solidFill>
                  </a:tcPr>
                </a:tc>
              </a:tr>
              <a:tr h="713232">
                <a:tc>
                  <a:txBody>
                    <a:bodyPr/>
                    <a:lstStyle/>
                    <a:p>
                      <a:pPr algn="ctr">
                        <a:lnSpc>
                          <a:spcPct val="100000"/>
                        </a:lnSpc>
                        <a:spcBef>
                          <a:spcPts val="0"/>
                        </a:spcBef>
                        <a:spcAft>
                          <a:spcPts val="0"/>
                        </a:spcAft>
                      </a:pPr>
                      <a:r>
                        <a:rPr sz="1850" b="0">
                          <a:solidFill>
                            <a:srgbClr val="123047"/>
                          </a:solidFill>
                          <a:latin typeface="Arial"/>
                        </a:rPr>
                        <a:t>Nhãn</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precipitation, full_features cũ</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GSMaP Gauge, vùng 93 ô</a:t>
                      </a:r>
                    </a:p>
                  </a:txBody>
                  <a:tcPr marL="50292" marR="50292" marT="32004" marB="32004" anchor="ctr">
                    <a:solidFill>
                      <a:srgbClr val="FFFFFF"/>
                    </a:solidFill>
                  </a:tcPr>
                </a:tc>
              </a:tr>
              <a:tr h="713232">
                <a:tc>
                  <a:txBody>
                    <a:bodyPr/>
                    <a:lstStyle/>
                    <a:p>
                      <a:pPr algn="ctr">
                        <a:lnSpc>
                          <a:spcPct val="100000"/>
                        </a:lnSpc>
                        <a:spcBef>
                          <a:spcPts val="0"/>
                        </a:spcBef>
                        <a:spcAft>
                          <a:spcPts val="0"/>
                        </a:spcAft>
                      </a:pPr>
                      <a:r>
                        <a:rPr sz="1850" b="0">
                          <a:solidFill>
                            <a:srgbClr val="123047"/>
                          </a:solidFill>
                          <a:latin typeface="Arial"/>
                        </a:rPr>
                        <a:t>Sự kiện</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Tổng 6h / max giờ; nhiều ngưỡng</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Tổng 24h vùng; 16/50/100 mm</a:t>
                      </a:r>
                    </a:p>
                  </a:txBody>
                  <a:tcPr marL="50292" marR="50292" marT="32004" marB="32004" anchor="ctr">
                    <a:solidFill>
                      <a:srgbClr val="EDF2F7"/>
                    </a:solidFill>
                  </a:tcPr>
                </a:tc>
              </a:tr>
              <a:tr h="713232">
                <a:tc>
                  <a:txBody>
                    <a:bodyPr/>
                    <a:lstStyle/>
                    <a:p>
                      <a:pPr algn="ctr">
                        <a:lnSpc>
                          <a:spcPct val="100000"/>
                        </a:lnSpc>
                        <a:spcBef>
                          <a:spcPts val="0"/>
                        </a:spcBef>
                        <a:spcAft>
                          <a:spcPts val="0"/>
                        </a:spcAft>
                      </a:pPr>
                      <a:r>
                        <a:rPr sz="1850" b="0">
                          <a:solidFill>
                            <a:srgbClr val="123047"/>
                          </a:solidFill>
                          <a:latin typeface="Arial"/>
                        </a:rPr>
                        <a:t>Quyết định</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Nhiều cột từ lượng mm ≥ q</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Bảng chính: xác suất p ≥ τ cal</a:t>
                      </a:r>
                    </a:p>
                  </a:txBody>
                  <a:tcPr marL="50292" marR="50292" marT="32004" marB="32004" anchor="ctr">
                    <a:solidFill>
                      <a:srgbClr val="FFFFFF"/>
                    </a:solidFill>
                  </a:tcPr>
                </a:tc>
              </a:tr>
              <a:tr h="713232">
                <a:tc>
                  <a:txBody>
                    <a:bodyPr/>
                    <a:lstStyle/>
                    <a:p>
                      <a:pPr algn="ctr">
                        <a:lnSpc>
                          <a:spcPct val="100000"/>
                        </a:lnSpc>
                        <a:spcBef>
                          <a:spcPts val="0"/>
                        </a:spcBef>
                        <a:spcAft>
                          <a:spcPts val="0"/>
                        </a:spcAft>
                      </a:pPr>
                      <a:r>
                        <a:rPr sz="1850" b="0">
                          <a:solidFill>
                            <a:srgbClr val="123047"/>
                          </a:solidFill>
                          <a:latin typeface="Arial"/>
                        </a:rPr>
                        <a:t>Chọn epoch</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RMSE phần tử đầu ra giờ</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Brier calibration, 3 ngày</a:t>
                      </a:r>
                    </a:p>
                  </a:txBody>
                  <a:tcPr marL="50292" marR="50292" marT="32004" marB="32004" anchor="ctr">
                    <a:solidFill>
                      <a:srgbClr val="EDF2F7"/>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Cùng công thức POD/FAR chưa đủ để so điểm: phải cùng nhãn, khoảng giờ và quy tắc.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11</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Ba câu hỏi đánh giá cần ba nhóm chỉ số</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[V1] Kiểm chứng sự kiện • [V2] Kiểm chứng xác suất • src/short_range_evaluation.py</a:t>
            </a:r>
          </a:p>
        </p:txBody>
      </p:sp>
      <p:sp>
        <p:nvSpPr>
          <p:cNvPr id="6" name="Rectangle 5"/>
          <p:cNvSpPr/>
          <p:nvPr/>
        </p:nvSpPr>
        <p:spPr>
          <a:xfrm>
            <a:off x="594360" y="1572768"/>
            <a:ext cx="3520440" cy="333756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700784"/>
            <a:ext cx="320954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1 · Lượng mưa</a:t>
            </a:r>
          </a:p>
        </p:txBody>
      </p:sp>
      <p:sp>
        <p:nvSpPr>
          <p:cNvPr id="8" name="TextBox 7"/>
          <p:cNvSpPr txBox="1"/>
          <p:nvPr/>
        </p:nvSpPr>
        <p:spPr>
          <a:xfrm>
            <a:off x="749808" y="2368296"/>
            <a:ext cx="3209544" cy="242316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Sai bao nhiêu mm?</a:t>
            </a:r>
          </a:p>
          <a:p>
            <a:pPr algn="l">
              <a:lnSpc>
                <a:spcPct val="112000"/>
              </a:lnSpc>
              <a:spcBef>
                <a:spcPts val="0"/>
              </a:spcBef>
              <a:spcAft>
                <a:spcPts val="0"/>
              </a:spcAft>
            </a:pPr>
            <a:r>
              <a:rPr sz="2200" b="0">
                <a:solidFill>
                  <a:srgbClr val="123047"/>
                </a:solidFill>
                <a:latin typeface="Arial"/>
              </a:rPr>
              <a:t>RMSE: chú ý lỗi lớn</a:t>
            </a:r>
          </a:p>
          <a:p>
            <a:pPr algn="l">
              <a:lnSpc>
                <a:spcPct val="112000"/>
              </a:lnSpc>
              <a:spcBef>
                <a:spcPts val="0"/>
              </a:spcBef>
              <a:spcAft>
                <a:spcPts val="0"/>
              </a:spcAft>
            </a:pPr>
            <a:r>
              <a:rPr sz="2200" b="0">
                <a:solidFill>
                  <a:srgbClr val="123047"/>
                </a:solidFill>
                <a:latin typeface="Arial"/>
              </a:rPr>
              <a:t>MAE: lỗi tuyệt đối</a:t>
            </a:r>
          </a:p>
          <a:p>
            <a:pPr algn="l">
              <a:lnSpc>
                <a:spcPct val="112000"/>
              </a:lnSpc>
              <a:spcBef>
                <a:spcPts val="0"/>
              </a:spcBef>
              <a:spcAft>
                <a:spcPts val="0"/>
              </a:spcAft>
            </a:pPr>
            <a:r>
              <a:rPr sz="2200" b="0">
                <a:solidFill>
                  <a:srgbClr val="123047"/>
                </a:solidFill>
                <a:latin typeface="Arial"/>
              </a:rPr>
              <a:t>Bias: thừa hay thiếu</a:t>
            </a:r>
          </a:p>
        </p:txBody>
      </p:sp>
      <p:sp>
        <p:nvSpPr>
          <p:cNvPr id="9" name="Rectangle 8"/>
          <p:cNvSpPr/>
          <p:nvPr/>
        </p:nvSpPr>
        <p:spPr>
          <a:xfrm>
            <a:off x="4315968" y="1572768"/>
            <a:ext cx="3520440" cy="333756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71416" y="1700784"/>
            <a:ext cx="320954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2 · Xác suất</a:t>
            </a:r>
          </a:p>
        </p:txBody>
      </p:sp>
      <p:sp>
        <p:nvSpPr>
          <p:cNvPr id="11" name="TextBox 10"/>
          <p:cNvSpPr txBox="1"/>
          <p:nvPr/>
        </p:nvSpPr>
        <p:spPr>
          <a:xfrm>
            <a:off x="4471416" y="2368296"/>
            <a:ext cx="3209544" cy="2423160"/>
          </a:xfrm>
          <a:prstGeom prst="rect">
            <a:avLst/>
          </a:prstGeom>
          <a:noFill/>
        </p:spPr>
        <p:txBody>
          <a:bodyPr wrap="square" lIns="0" rIns="0" tIns="0" bIns="0" anchor="t">
            <a:spAutoFit/>
          </a:bodyPr>
          <a:lstStyle/>
          <a:p>
            <a:pPr algn="l">
              <a:lnSpc>
                <a:spcPct val="112000"/>
              </a:lnSpc>
              <a:spcBef>
                <a:spcPts val="0"/>
              </a:spcBef>
              <a:spcAft>
                <a:spcPts val="0"/>
              </a:spcAft>
            </a:pPr>
            <a:r>
              <a:rPr sz="2100" b="0">
                <a:solidFill>
                  <a:srgbClr val="123047"/>
                </a:solidFill>
                <a:latin typeface="Arial"/>
              </a:rPr>
              <a:t>Xác suất có ích không?</a:t>
            </a:r>
          </a:p>
          <a:p>
            <a:pPr algn="l">
              <a:lnSpc>
                <a:spcPct val="112000"/>
              </a:lnSpc>
              <a:spcBef>
                <a:spcPts val="0"/>
              </a:spcBef>
              <a:spcAft>
                <a:spcPts val="0"/>
              </a:spcAft>
            </a:pPr>
            <a:r>
              <a:rPr sz="2100" b="0">
                <a:solidFill>
                  <a:srgbClr val="123047"/>
                </a:solidFill>
                <a:latin typeface="Arial"/>
              </a:rPr>
              <a:t>BS: lỗi xác suất</a:t>
            </a:r>
          </a:p>
          <a:p>
            <a:pPr algn="l">
              <a:lnSpc>
                <a:spcPct val="112000"/>
              </a:lnSpc>
              <a:spcBef>
                <a:spcPts val="0"/>
              </a:spcBef>
              <a:spcAft>
                <a:spcPts val="0"/>
              </a:spcAft>
            </a:pPr>
            <a:r>
              <a:rPr sz="2100" b="0">
                <a:solidFill>
                  <a:srgbClr val="123047"/>
                </a:solidFill>
                <a:latin typeface="Arial"/>
              </a:rPr>
              <a:t>BSS: hơn khí hậu?</a:t>
            </a:r>
          </a:p>
          <a:p>
            <a:pPr algn="l">
              <a:lnSpc>
                <a:spcPct val="112000"/>
              </a:lnSpc>
              <a:spcBef>
                <a:spcPts val="0"/>
              </a:spcBef>
              <a:spcAft>
                <a:spcPts val="0"/>
              </a:spcAft>
            </a:pPr>
            <a:r>
              <a:rPr sz="2100" b="0">
                <a:solidFill>
                  <a:srgbClr val="123047"/>
                </a:solidFill>
                <a:latin typeface="Arial"/>
              </a:rPr>
              <a:t>Reliability: có đúng mức?</a:t>
            </a:r>
          </a:p>
        </p:txBody>
      </p:sp>
      <p:sp>
        <p:nvSpPr>
          <p:cNvPr id="12" name="Rectangle 11"/>
          <p:cNvSpPr/>
          <p:nvPr/>
        </p:nvSpPr>
        <p:spPr>
          <a:xfrm>
            <a:off x="8037575" y="1572768"/>
            <a:ext cx="3520440" cy="333756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3" y="1700784"/>
            <a:ext cx="320954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3 · Quyết định</a:t>
            </a:r>
          </a:p>
        </p:txBody>
      </p:sp>
      <p:sp>
        <p:nvSpPr>
          <p:cNvPr id="14" name="TextBox 13"/>
          <p:cNvSpPr txBox="1"/>
          <p:nvPr/>
        </p:nvSpPr>
        <p:spPr>
          <a:xfrm>
            <a:off x="8193023" y="2368296"/>
            <a:ext cx="3209544" cy="2423160"/>
          </a:xfrm>
          <a:prstGeom prst="rect">
            <a:avLst/>
          </a:prstGeom>
          <a:noFill/>
        </p:spPr>
        <p:txBody>
          <a:bodyPr wrap="square" lIns="0" rIns="0" tIns="0" bIns="0" anchor="t">
            <a:spAutoFit/>
          </a:bodyPr>
          <a:lstStyle/>
          <a:p>
            <a:pPr algn="l">
              <a:lnSpc>
                <a:spcPct val="112000"/>
              </a:lnSpc>
              <a:spcBef>
                <a:spcPts val="0"/>
              </a:spcBef>
              <a:spcAft>
                <a:spcPts val="0"/>
              </a:spcAft>
            </a:pPr>
            <a:r>
              <a:rPr sz="2000" b="0">
                <a:solidFill>
                  <a:srgbClr val="123047"/>
                </a:solidFill>
                <a:latin typeface="Arial"/>
              </a:rPr>
              <a:t>Báo có/không thế nào?</a:t>
            </a:r>
          </a:p>
          <a:p>
            <a:pPr algn="l">
              <a:lnSpc>
                <a:spcPct val="112000"/>
              </a:lnSpc>
              <a:spcBef>
                <a:spcPts val="0"/>
              </a:spcBef>
              <a:spcAft>
                <a:spcPts val="0"/>
              </a:spcAft>
            </a:pPr>
            <a:r>
              <a:rPr sz="2000" b="0">
                <a:solidFill>
                  <a:srgbClr val="123047"/>
                </a:solidFill>
                <a:latin typeface="Arial"/>
              </a:rPr>
              <a:t>POD: bắt được bao nhiêu</a:t>
            </a:r>
          </a:p>
          <a:p>
            <a:pPr algn="l">
              <a:lnSpc>
                <a:spcPct val="112000"/>
              </a:lnSpc>
              <a:spcBef>
                <a:spcPts val="0"/>
              </a:spcBef>
              <a:spcAft>
                <a:spcPts val="0"/>
              </a:spcAft>
            </a:pPr>
            <a:r>
              <a:rPr sz="2000" b="0">
                <a:solidFill>
                  <a:srgbClr val="123047"/>
                </a:solidFill>
                <a:latin typeface="Arial"/>
              </a:rPr>
              <a:t>FAR: báo nhầm bao nhiêu</a:t>
            </a:r>
          </a:p>
          <a:p>
            <a:pPr algn="l">
              <a:lnSpc>
                <a:spcPct val="112000"/>
              </a:lnSpc>
              <a:spcBef>
                <a:spcPts val="0"/>
              </a:spcBef>
              <a:spcAft>
                <a:spcPts val="0"/>
              </a:spcAft>
            </a:pPr>
            <a:r>
              <a:rPr sz="2000" b="0">
                <a:solidFill>
                  <a:srgbClr val="123047"/>
                </a:solidFill>
                <a:latin typeface="Arial"/>
              </a:rPr>
              <a:t>CSI: tổng hợp ba số đếm</a:t>
            </a:r>
          </a:p>
        </p:txBody>
      </p:sp>
      <p:sp>
        <p:nvSpPr>
          <p:cNvPr id="15" name="Rectangle 14"/>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50" b="1">
                <a:solidFill>
                  <a:srgbClr val="087E8B"/>
                </a:solidFill>
                <a:latin typeface="Arial"/>
              </a:rPr>
              <a:t>RMSE/MAE nhỏ hơn; Bias gần 0; BSS/CSI/POD lớn hơn; FAR nhỏ hơn.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12</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Lượng mưa: vì sao cần cả RMSE, MAE và Bias?</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Ví dụ tự tạo để giải thích; không phải kết quả mô hình</a:t>
            </a:r>
          </a:p>
        </p:txBody>
      </p:sp>
      <p:graphicFrame>
        <p:nvGraphicFramePr>
          <p:cNvPr id="6" name="Table 5"/>
          <p:cNvGraphicFramePr>
            <a:graphicFrameLocks noGrp="1"/>
          </p:cNvGraphicFramePr>
          <p:nvPr/>
        </p:nvGraphicFramePr>
        <p:xfrm>
          <a:off x="502920" y="1508760"/>
          <a:ext cx="11201400" cy="2304288"/>
        </p:xfrm>
        <a:graphic>
          <a:graphicData uri="http://schemas.openxmlformats.org/drawingml/2006/table">
            <a:tbl>
              <a:tblPr firstRow="1" bandRow="1">
                <a:tableStyleId>{5C22544A-7EE6-4342-B048-85BDC9FD1C3A}</a:tableStyleId>
              </a:tblPr>
              <a:tblGrid>
                <a:gridCol w="3657600"/>
                <a:gridCol w="2514600"/>
                <a:gridCol w="2514600"/>
                <a:gridCol w="2514600"/>
              </a:tblGrid>
              <a:tr h="576072">
                <a:tc>
                  <a:txBody>
                    <a:bodyPr/>
                    <a:lstStyle/>
                    <a:p>
                      <a:pPr algn="ctr">
                        <a:lnSpc>
                          <a:spcPct val="100000"/>
                        </a:lnSpc>
                        <a:spcBef>
                          <a:spcPts val="0"/>
                        </a:spcBef>
                        <a:spcAft>
                          <a:spcPts val="0"/>
                        </a:spcAft>
                      </a:pPr>
                      <a:r>
                        <a:rPr sz="2300" b="1">
                          <a:solidFill>
                            <a:srgbClr val="FFFFFF"/>
                          </a:solidFill>
                          <a:latin typeface="Arial"/>
                        </a:rPr>
                        <a:t>Ví dụ 3 ngày</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Ngày A</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Ngày B</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Ngày C</a:t>
                      </a:r>
                    </a:p>
                  </a:txBody>
                  <a:tcPr marL="50292" marR="50292" marT="32004" marB="32004" anchor="ctr">
                    <a:solidFill>
                      <a:srgbClr val="123047"/>
                    </a:solidFill>
                  </a:tcPr>
                </a:tc>
              </a:tr>
              <a:tr h="576072">
                <a:tc>
                  <a:txBody>
                    <a:bodyPr/>
                    <a:lstStyle/>
                    <a:p>
                      <a:pPr algn="ctr">
                        <a:lnSpc>
                          <a:spcPct val="100000"/>
                        </a:lnSpc>
                        <a:spcBef>
                          <a:spcPts val="0"/>
                        </a:spcBef>
                        <a:spcAft>
                          <a:spcPts val="0"/>
                        </a:spcAft>
                      </a:pPr>
                      <a:r>
                        <a:rPr sz="2300" b="0">
                          <a:solidFill>
                            <a:srgbClr val="123047"/>
                          </a:solidFill>
                          <a:latin typeface="Arial"/>
                        </a:rPr>
                        <a:t>Mưa nhãn y (mm)</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0</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10</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40</a:t>
                      </a:r>
                    </a:p>
                  </a:txBody>
                  <a:tcPr marL="50292" marR="50292" marT="32004" marB="32004" anchor="ctr">
                    <a:solidFill>
                      <a:srgbClr val="FFFFFF"/>
                    </a:solidFill>
                  </a:tcPr>
                </a:tc>
              </a:tr>
              <a:tr h="576072">
                <a:tc>
                  <a:txBody>
                    <a:bodyPr/>
                    <a:lstStyle/>
                    <a:p>
                      <a:pPr algn="ctr">
                        <a:lnSpc>
                          <a:spcPct val="100000"/>
                        </a:lnSpc>
                        <a:spcBef>
                          <a:spcPts val="0"/>
                        </a:spcBef>
                        <a:spcAft>
                          <a:spcPts val="0"/>
                        </a:spcAft>
                      </a:pPr>
                      <a:r>
                        <a:rPr sz="2300" b="0">
                          <a:solidFill>
                            <a:srgbClr val="123047"/>
                          </a:solidFill>
                          <a:latin typeface="Arial"/>
                        </a:rPr>
                        <a:t>Dự đoán f (mm)</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0</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15</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25</a:t>
                      </a:r>
                    </a:p>
                  </a:txBody>
                  <a:tcPr marL="50292" marR="50292" marT="32004" marB="32004" anchor="ctr">
                    <a:solidFill>
                      <a:srgbClr val="EDF2F7"/>
                    </a:solidFill>
                  </a:tcPr>
                </a:tc>
              </a:tr>
              <a:tr h="576072">
                <a:tc>
                  <a:txBody>
                    <a:bodyPr/>
                    <a:lstStyle/>
                    <a:p>
                      <a:pPr algn="ctr">
                        <a:lnSpc>
                          <a:spcPct val="100000"/>
                        </a:lnSpc>
                        <a:spcBef>
                          <a:spcPts val="0"/>
                        </a:spcBef>
                        <a:spcAft>
                          <a:spcPts val="0"/>
                        </a:spcAft>
                      </a:pPr>
                      <a:r>
                        <a:rPr sz="2300" b="0">
                          <a:solidFill>
                            <a:srgbClr val="123047"/>
                          </a:solidFill>
                          <a:latin typeface="Arial"/>
                        </a:rPr>
                        <a:t>Sai số f−y (mm)</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0</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+5</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−15</a:t>
                      </a:r>
                    </a:p>
                  </a:txBody>
                  <a:tcPr marL="50292" marR="50292" marT="32004" marB="32004" anchor="ctr">
                    <a:solidFill>
                      <a:srgbClr val="FFFFFF"/>
                    </a:solidFill>
                  </a:tcPr>
                </a:tc>
              </a:tr>
            </a:tbl>
          </a:graphicData>
        </a:graphic>
      </p:graphicFrame>
      <p:sp>
        <p:nvSpPr>
          <p:cNvPr id="7" name="TextBox 6"/>
          <p:cNvSpPr txBox="1"/>
          <p:nvPr/>
        </p:nvSpPr>
        <p:spPr>
          <a:xfrm>
            <a:off x="685800" y="4160520"/>
            <a:ext cx="10835640" cy="1042415"/>
          </a:xfrm>
          <a:prstGeom prst="rect">
            <a:avLst/>
          </a:prstGeom>
          <a:noFill/>
        </p:spPr>
        <p:txBody>
          <a:bodyPr wrap="square" lIns="0" rIns="0" tIns="0" bIns="0" anchor="t">
            <a:spAutoFit/>
          </a:bodyPr>
          <a:lstStyle/>
          <a:p>
            <a:pPr algn="l">
              <a:lnSpc>
                <a:spcPct val="112000"/>
              </a:lnSpc>
              <a:spcBef>
                <a:spcPts val="0"/>
              </a:spcBef>
              <a:spcAft>
                <a:spcPts val="0"/>
              </a:spcAft>
            </a:pPr>
            <a:r>
              <a:rPr sz="2100" b="0">
                <a:solidFill>
                  <a:srgbClr val="123047"/>
                </a:solidFill>
                <a:latin typeface="Arial"/>
              </a:rPr>
              <a:t>MAE = trung bình |f−y| = </a:t>
            </a:r>
            <a:r>
              <a:rPr sz="2100" b="1">
                <a:solidFill>
                  <a:srgbClr val="123047"/>
                </a:solidFill>
                <a:latin typeface="Arial"/>
              </a:rPr>
              <a:t>6,67 mm</a:t>
            </a:r>
          </a:p>
          <a:p>
            <a:pPr algn="l">
              <a:lnSpc>
                <a:spcPct val="112000"/>
              </a:lnSpc>
              <a:spcBef>
                <a:spcPts val="0"/>
              </a:spcBef>
              <a:spcAft>
                <a:spcPts val="0"/>
              </a:spcAft>
            </a:pPr>
            <a:r>
              <a:rPr sz="2100" b="0">
                <a:solidFill>
                  <a:srgbClr val="123047"/>
                </a:solidFill>
                <a:latin typeface="Arial"/>
              </a:rPr>
              <a:t>RMSE = căn trung bình (f−y)² = </a:t>
            </a:r>
            <a:r>
              <a:rPr sz="2100" b="1">
                <a:solidFill>
                  <a:srgbClr val="123047"/>
                </a:solidFill>
                <a:latin typeface="Arial"/>
              </a:rPr>
              <a:t>9,13 mm</a:t>
            </a:r>
          </a:p>
          <a:p>
            <a:pPr algn="l">
              <a:lnSpc>
                <a:spcPct val="112000"/>
              </a:lnSpc>
              <a:spcBef>
                <a:spcPts val="0"/>
              </a:spcBef>
              <a:spcAft>
                <a:spcPts val="0"/>
              </a:spcAft>
            </a:pPr>
            <a:r>
              <a:rPr sz="2100" b="0">
                <a:solidFill>
                  <a:srgbClr val="123047"/>
                </a:solidFill>
                <a:latin typeface="Arial"/>
              </a:rPr>
              <a:t>Bias = trung bình (f−y) = </a:t>
            </a:r>
            <a:r>
              <a:rPr sz="2100" b="1">
                <a:solidFill>
                  <a:srgbClr val="123047"/>
                </a:solidFill>
                <a:latin typeface="Arial"/>
              </a:rPr>
              <a:t>−3,33 mm</a:t>
            </a:r>
            <a:r>
              <a:rPr sz="2100" b="0">
                <a:solidFill>
                  <a:srgbClr val="123047"/>
                </a:solidFill>
                <a:latin typeface="Arial"/>
              </a:rPr>
              <a:t>: dự đoán thiếu</a:t>
            </a:r>
          </a:p>
        </p:txBody>
      </p:sp>
      <p:sp>
        <p:nvSpPr>
          <p:cNvPr id="8" name="Rectangle 7"/>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Bias có thể triệt tiêu lỗi dương/âm; một chỉ số riêng không mô tả đủ sai số lượng.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13</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Xác suất: BSS so với khí hậu, không phải accuracy</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Định nghĩa BS/BSS [V2]; số minh họa tự tạo</a:t>
            </a:r>
          </a:p>
        </p:txBody>
      </p:sp>
      <p:sp>
        <p:nvSpPr>
          <p:cNvPr id="6" name="Rectangle 5"/>
          <p:cNvSpPr/>
          <p:nvPr/>
        </p:nvSpPr>
        <p:spPr>
          <a:xfrm>
            <a:off x="594360" y="1508760"/>
            <a:ext cx="5486400" cy="361188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36776"/>
            <a:ext cx="517550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BS · lỗi xác suất</a:t>
            </a:r>
          </a:p>
        </p:txBody>
      </p:sp>
      <p:sp>
        <p:nvSpPr>
          <p:cNvPr id="8" name="TextBox 7"/>
          <p:cNvSpPr txBox="1"/>
          <p:nvPr/>
        </p:nvSpPr>
        <p:spPr>
          <a:xfrm>
            <a:off x="749808" y="2304288"/>
            <a:ext cx="5175504" cy="2697480"/>
          </a:xfrm>
          <a:prstGeom prst="rect">
            <a:avLst/>
          </a:prstGeom>
          <a:noFill/>
        </p:spPr>
        <p:txBody>
          <a:bodyPr wrap="square" lIns="0" rIns="0" tIns="0" bIns="0" anchor="t">
            <a:spAutoFit/>
          </a:bodyPr>
          <a:lstStyle/>
          <a:p>
            <a:pPr algn="l">
              <a:lnSpc>
                <a:spcPct val="112000"/>
              </a:lnSpc>
              <a:spcBef>
                <a:spcPts val="0"/>
              </a:spcBef>
              <a:spcAft>
                <a:spcPts val="0"/>
              </a:spcAft>
            </a:pPr>
            <a:r>
              <a:rPr sz="2100" b="0">
                <a:solidFill>
                  <a:srgbClr val="123047"/>
                </a:solidFill>
                <a:latin typeface="Arial"/>
              </a:rPr>
              <a:t>Nhãn o: 1 nếu mưa đạt ngưỡng</a:t>
            </a:r>
          </a:p>
          <a:p>
            <a:pPr algn="l">
              <a:lnSpc>
                <a:spcPct val="112000"/>
              </a:lnSpc>
              <a:spcBef>
                <a:spcPts val="0"/>
              </a:spcBef>
              <a:spcAft>
                <a:spcPts val="0"/>
              </a:spcAft>
            </a:pPr>
            <a:r>
              <a:rPr sz="2100" b="0">
                <a:solidFill>
                  <a:srgbClr val="123047"/>
                </a:solidFill>
                <a:latin typeface="Arial"/>
              </a:rPr>
              <a:t>BS = trung bình (p−o)²</a:t>
            </a:r>
          </a:p>
          <a:p>
            <a:pPr algn="l">
              <a:lnSpc>
                <a:spcPct val="112000"/>
              </a:lnSpc>
              <a:spcBef>
                <a:spcPts val="0"/>
              </a:spcBef>
              <a:spcAft>
                <a:spcPts val="0"/>
              </a:spcAft>
            </a:pPr>
            <a:r>
              <a:rPr sz="2100" b="0">
                <a:solidFill>
                  <a:srgbClr val="123047"/>
                </a:solidFill>
                <a:latin typeface="Arial"/>
              </a:rPr>
              <a:t>Thực có mưa: p=0,8 → lỗi 0,04</a:t>
            </a:r>
          </a:p>
          <a:p>
            <a:pPr algn="l">
              <a:lnSpc>
                <a:spcPct val="112000"/>
              </a:lnSpc>
              <a:spcBef>
                <a:spcPts val="0"/>
              </a:spcBef>
              <a:spcAft>
                <a:spcPts val="0"/>
              </a:spcAft>
            </a:pPr>
            <a:r>
              <a:rPr sz="2100" b="0">
                <a:solidFill>
                  <a:srgbClr val="123047"/>
                </a:solidFill>
                <a:latin typeface="Arial"/>
              </a:rPr>
              <a:t>Thực có mưa: p=0,2 → lỗi 0,64</a:t>
            </a:r>
          </a:p>
        </p:txBody>
      </p:sp>
      <p:sp>
        <p:nvSpPr>
          <p:cNvPr id="9" name="Rectangle 8"/>
          <p:cNvSpPr/>
          <p:nvPr/>
        </p:nvSpPr>
        <p:spPr>
          <a:xfrm>
            <a:off x="6291072" y="1508760"/>
            <a:ext cx="5303520" cy="361188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36776"/>
            <a:ext cx="499262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BSS · hơn khí hậu bao nhiêu?</a:t>
            </a:r>
          </a:p>
        </p:txBody>
      </p:sp>
      <p:sp>
        <p:nvSpPr>
          <p:cNvPr id="11" name="TextBox 10"/>
          <p:cNvSpPr txBox="1"/>
          <p:nvPr/>
        </p:nvSpPr>
        <p:spPr>
          <a:xfrm>
            <a:off x="6446520" y="2304288"/>
            <a:ext cx="4992624" cy="2697480"/>
          </a:xfrm>
          <a:prstGeom prst="rect">
            <a:avLst/>
          </a:prstGeom>
          <a:noFill/>
        </p:spPr>
        <p:txBody>
          <a:bodyPr wrap="square" lIns="0" rIns="0" tIns="0" bIns="0" anchor="t">
            <a:spAutoFit/>
          </a:bodyPr>
          <a:lstStyle/>
          <a:p>
            <a:pPr algn="l">
              <a:lnSpc>
                <a:spcPct val="112000"/>
              </a:lnSpc>
              <a:spcBef>
                <a:spcPts val="0"/>
              </a:spcBef>
              <a:spcAft>
                <a:spcPts val="0"/>
              </a:spcAft>
            </a:pPr>
            <a:r>
              <a:rPr sz="2000" b="0">
                <a:solidFill>
                  <a:srgbClr val="123047"/>
                </a:solidFill>
                <a:latin typeface="Arial"/>
              </a:rPr>
              <a:t>BSS = 1 − BS / BS_khí_hậu</a:t>
            </a:r>
          </a:p>
          <a:p>
            <a:pPr algn="l">
              <a:lnSpc>
                <a:spcPct val="112000"/>
              </a:lnSpc>
              <a:spcBef>
                <a:spcPts val="0"/>
              </a:spcBef>
              <a:spcAft>
                <a:spcPts val="0"/>
              </a:spcAft>
            </a:pPr>
            <a:r>
              <a:rPr sz="2000" b="0">
                <a:solidFill>
                  <a:srgbClr val="123047"/>
                </a:solidFill>
                <a:latin typeface="Arial"/>
              </a:rPr>
              <a:t>Ví dụ: 1 − 0,06/0,08 = 0,25</a:t>
            </a:r>
          </a:p>
          <a:p>
            <a:pPr algn="l">
              <a:lnSpc>
                <a:spcPct val="112000"/>
              </a:lnSpc>
              <a:spcBef>
                <a:spcPts val="0"/>
              </a:spcBef>
              <a:spcAft>
                <a:spcPts val="0"/>
              </a:spcAft>
            </a:pPr>
            <a:r>
              <a:rPr sz="2000" b="0">
                <a:solidFill>
                  <a:srgbClr val="123047"/>
                </a:solidFill>
                <a:latin typeface="Arial"/>
              </a:rPr>
              <a:t>Giảm 25% lỗi Brier so tham chiếu</a:t>
            </a:r>
          </a:p>
          <a:p>
            <a:pPr algn="l">
              <a:lnSpc>
                <a:spcPct val="112000"/>
              </a:lnSpc>
              <a:spcBef>
                <a:spcPts val="0"/>
              </a:spcBef>
              <a:spcAft>
                <a:spcPts val="0"/>
              </a:spcAft>
            </a:pPr>
            <a:r>
              <a:rPr sz="2000" b="0">
                <a:solidFill>
                  <a:srgbClr val="123047"/>
                </a:solidFill>
                <a:latin typeface="Arial"/>
              </a:rPr>
              <a:t>Dương: hơn; âm: kém tham chiếu</a:t>
            </a:r>
          </a:p>
        </p:txBody>
      </p:sp>
      <p:sp>
        <p:nvSpPr>
          <p:cNvPr id="12" name="Rectangle 11"/>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50" b="1">
                <a:solidFill>
                  <a:srgbClr val="087E8B"/>
                </a:solidFill>
                <a:latin typeface="Arial"/>
              </a:rPr>
              <a:t>BSS = 0,25 không có nghĩa dự đoán đúng 25% số ngày; không có đơn vị mm.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14</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POD, FAR, CSI: cùng xuất phát từ bảng đếm</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Công thức [V1]; ví dụ tự tạo, không phải kết quả mô hình</a:t>
            </a:r>
          </a:p>
        </p:txBody>
      </p:sp>
      <p:graphicFrame>
        <p:nvGraphicFramePr>
          <p:cNvPr id="6" name="Table 5"/>
          <p:cNvGraphicFramePr>
            <a:graphicFrameLocks noGrp="1"/>
          </p:cNvGraphicFramePr>
          <p:nvPr/>
        </p:nvGraphicFramePr>
        <p:xfrm>
          <a:off x="502920" y="1508760"/>
          <a:ext cx="11201400" cy="2276856"/>
        </p:xfrm>
        <a:graphic>
          <a:graphicData uri="http://schemas.openxmlformats.org/drawingml/2006/table">
            <a:tbl>
              <a:tblPr firstRow="1" bandRow="1">
                <a:tableStyleId>{5C22544A-7EE6-4342-B048-85BDC9FD1C3A}</a:tableStyleId>
              </a:tblPr>
              <a:tblGrid>
                <a:gridCol w="3657600"/>
                <a:gridCol w="3771900"/>
                <a:gridCol w="3771900"/>
              </a:tblGrid>
              <a:tr h="758952">
                <a:tc>
                  <a:txBody>
                    <a:bodyPr/>
                    <a:lstStyle/>
                    <a:p>
                      <a:pPr algn="ctr">
                        <a:lnSpc>
                          <a:spcPct val="100000"/>
                        </a:lnSpc>
                        <a:spcBef>
                          <a:spcPts val="0"/>
                        </a:spcBef>
                        <a:spcAft>
                          <a:spcPts val="0"/>
                        </a:spcAft>
                      </a:pPr>
                      <a:r>
                        <a:rPr sz="2200" b="1">
                          <a:solidFill>
                            <a:srgbClr val="FFFFFF"/>
                          </a:solidFill>
                          <a:latin typeface="Arial"/>
                        </a:rPr>
                        <a:t>Ví dụ 100 ngày</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Thực có sự kiện</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Thực không có</a:t>
                      </a:r>
                    </a:p>
                  </a:txBody>
                  <a:tcPr marL="50292" marR="50292" marT="32004" marB="32004" anchor="ctr">
                    <a:solidFill>
                      <a:srgbClr val="123047"/>
                    </a:solidFill>
                  </a:tcPr>
                </a:tc>
              </a:tr>
              <a:tr h="758952">
                <a:tc>
                  <a:txBody>
                    <a:bodyPr/>
                    <a:lstStyle/>
                    <a:p>
                      <a:pPr algn="ctr">
                        <a:lnSpc>
                          <a:spcPct val="100000"/>
                        </a:lnSpc>
                        <a:spcBef>
                          <a:spcPts val="0"/>
                        </a:spcBef>
                        <a:spcAft>
                          <a:spcPts val="0"/>
                        </a:spcAft>
                      </a:pPr>
                      <a:r>
                        <a:rPr sz="2200" b="0">
                          <a:solidFill>
                            <a:srgbClr val="123047"/>
                          </a:solidFill>
                          <a:latin typeface="Arial"/>
                        </a:rPr>
                        <a:t>Mô hình báo có</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H = 7 · báo trúng</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F = 5 · báo nhầm</a:t>
                      </a:r>
                    </a:p>
                  </a:txBody>
                  <a:tcPr marL="50292" marR="50292" marT="32004" marB="32004" anchor="ctr">
                    <a:solidFill>
                      <a:srgbClr val="FFFFFF"/>
                    </a:solidFill>
                  </a:tcPr>
                </a:tc>
              </a:tr>
              <a:tr h="758952">
                <a:tc>
                  <a:txBody>
                    <a:bodyPr/>
                    <a:lstStyle/>
                    <a:p>
                      <a:pPr algn="ctr">
                        <a:lnSpc>
                          <a:spcPct val="100000"/>
                        </a:lnSpc>
                        <a:spcBef>
                          <a:spcPts val="0"/>
                        </a:spcBef>
                        <a:spcAft>
                          <a:spcPts val="0"/>
                        </a:spcAft>
                      </a:pPr>
                      <a:r>
                        <a:rPr sz="2200" b="0">
                          <a:solidFill>
                            <a:srgbClr val="123047"/>
                          </a:solidFill>
                          <a:latin typeface="Arial"/>
                        </a:rPr>
                        <a:t>Mô hình báo không</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M = 3 · bỏ sót</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TN = 85 · đúng không</a:t>
                      </a:r>
                    </a:p>
                  </a:txBody>
                  <a:tcPr marL="50292" marR="50292" marT="32004" marB="32004" anchor="ctr">
                    <a:solidFill>
                      <a:srgbClr val="EDF2F7"/>
                    </a:solidFill>
                  </a:tcPr>
                </a:tc>
              </a:tr>
            </a:tbl>
          </a:graphicData>
        </a:graphic>
      </p:graphicFrame>
      <p:sp>
        <p:nvSpPr>
          <p:cNvPr id="7" name="TextBox 6"/>
          <p:cNvSpPr txBox="1"/>
          <p:nvPr/>
        </p:nvSpPr>
        <p:spPr>
          <a:xfrm>
            <a:off x="685800" y="4133087"/>
            <a:ext cx="10789920" cy="1097280"/>
          </a:xfrm>
          <a:prstGeom prst="rect">
            <a:avLst/>
          </a:prstGeom>
          <a:noFill/>
        </p:spPr>
        <p:txBody>
          <a:bodyPr wrap="square" lIns="0" rIns="0" tIns="0" bIns="0" anchor="t">
            <a:spAutoFit/>
          </a:bodyPr>
          <a:lstStyle/>
          <a:p>
            <a:pPr algn="l">
              <a:lnSpc>
                <a:spcPct val="112000"/>
              </a:lnSpc>
              <a:spcBef>
                <a:spcPts val="0"/>
              </a:spcBef>
              <a:spcAft>
                <a:spcPts val="0"/>
              </a:spcAft>
            </a:pPr>
            <a:r>
              <a:rPr sz="2300" b="0">
                <a:solidFill>
                  <a:srgbClr val="123047"/>
                </a:solidFill>
                <a:latin typeface="Arial"/>
              </a:rPr>
              <a:t>POD = H/(H+M) = 0,700       FAR = F/(H+F) = 0,417</a:t>
            </a:r>
          </a:p>
          <a:p>
            <a:pPr algn="l">
              <a:lnSpc>
                <a:spcPct val="112000"/>
              </a:lnSpc>
              <a:spcBef>
                <a:spcPts val="0"/>
              </a:spcBef>
              <a:spcAft>
                <a:spcPts val="0"/>
              </a:spcAft>
            </a:pPr>
            <a:r>
              <a:rPr sz="2300" b="0">
                <a:solidFill>
                  <a:srgbClr val="123047"/>
                </a:solidFill>
                <a:latin typeface="Arial"/>
              </a:rPr>
              <a:t>CSI = H/(H+M+F) = 0,467       FAR khác FPR = F/(F+TN)</a:t>
            </a:r>
          </a:p>
        </p:txBody>
      </p:sp>
      <p:sp>
        <p:nvSpPr>
          <p:cNvPr id="8" name="Rectangle 7"/>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AD3434"/>
                </a:solidFill>
                <a:latin typeface="Arial"/>
              </a:rPr>
              <a:t>Luôn báo khô có accuracy 90% trong ví dụ; POD = 0 và CSI = 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15</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POD cao hơn có đủ để kết luận tốt hơn?</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dự án: scores_ensemble_pooled.csv • Ngưỡng 16 mm/24h • Development, chưa phải test 2025</a:t>
            </a:r>
          </a:p>
        </p:txBody>
      </p:sp>
      <p:graphicFrame>
        <p:nvGraphicFramePr>
          <p:cNvPr id="6" name="Table 5"/>
          <p:cNvGraphicFramePr>
            <a:graphicFrameLocks noGrp="1"/>
          </p:cNvGraphicFramePr>
          <p:nvPr/>
        </p:nvGraphicFramePr>
        <p:xfrm>
          <a:off x="502920" y="1508760"/>
          <a:ext cx="11201400" cy="2249424"/>
        </p:xfrm>
        <a:graphic>
          <a:graphicData uri="http://schemas.openxmlformats.org/drawingml/2006/table">
            <a:tbl>
              <a:tblPr firstRow="1" bandRow="1">
                <a:tableStyleId>{5C22544A-7EE6-4342-B048-85BDC9FD1C3A}</a:tableStyleId>
              </a:tblPr>
              <a:tblGrid>
                <a:gridCol w="2194560"/>
                <a:gridCol w="1645920"/>
                <a:gridCol w="1828800"/>
                <a:gridCol w="2057400"/>
                <a:gridCol w="1737360"/>
                <a:gridCol w="1737360"/>
              </a:tblGrid>
              <a:tr h="749808">
                <a:tc>
                  <a:txBody>
                    <a:bodyPr/>
                    <a:lstStyle/>
                    <a:p>
                      <a:pPr algn="ctr">
                        <a:lnSpc>
                          <a:spcPct val="100000"/>
                        </a:lnSpc>
                        <a:spcBef>
                          <a:spcPts val="0"/>
                        </a:spcBef>
                        <a:spcAft>
                          <a:spcPts val="0"/>
                        </a:spcAft>
                      </a:pPr>
                      <a:r>
                        <a:rPr sz="2200" b="1">
                          <a:solidFill>
                            <a:srgbClr val="FFFFFF"/>
                          </a:solidFill>
                          <a:latin typeface="Arial"/>
                        </a:rPr>
                        <a:t>E7 · ngày 1</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Trúng H</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Bỏ sót M</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Báo nhầm F</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FAR ↓</a:t>
                      </a:r>
                    </a:p>
                  </a:txBody>
                  <a:tcPr marL="50292" marR="50292" marT="32004" marB="32004" anchor="ctr">
                    <a:solidFill>
                      <a:srgbClr val="123047"/>
                    </a:solidFill>
                  </a:tcPr>
                </a:tc>
              </a:tr>
              <a:tr h="749808">
                <a:tc>
                  <a:txBody>
                    <a:bodyPr/>
                    <a:lstStyle/>
                    <a:p>
                      <a:pPr algn="ctr">
                        <a:lnSpc>
                          <a:spcPct val="100000"/>
                        </a:lnSpc>
                        <a:spcBef>
                          <a:spcPts val="0"/>
                        </a:spcBef>
                        <a:spcAft>
                          <a:spcPts val="0"/>
                        </a:spcAft>
                      </a:pPr>
                      <a:r>
                        <a:rPr sz="220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1">
                          <a:solidFill>
                            <a:srgbClr val="123047"/>
                          </a:solidFill>
                          <a:latin typeface="Arial"/>
                        </a:rPr>
                        <a:t>73</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41</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66</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1">
                          <a:solidFill>
                            <a:srgbClr val="087E8B"/>
                          </a:solidFill>
                          <a:latin typeface="Arial"/>
                        </a:rPr>
                        <a:t>0.640</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0.475</a:t>
                      </a:r>
                    </a:p>
                  </a:txBody>
                  <a:tcPr marL="50292" marR="50292" marT="32004" marB="32004" anchor="ctr">
                    <a:solidFill>
                      <a:srgbClr val="FFFFFF"/>
                    </a:solidFill>
                  </a:tcPr>
                </a:tc>
              </a:tr>
              <a:tr h="749808">
                <a:tc>
                  <a:txBody>
                    <a:bodyPr/>
                    <a:lstStyle/>
                    <a:p>
                      <a:pPr algn="ctr">
                        <a:lnSpc>
                          <a:spcPct val="100000"/>
                        </a:lnSpc>
                        <a:spcBef>
                          <a:spcPts val="0"/>
                        </a:spcBef>
                        <a:spcAft>
                          <a:spcPts val="0"/>
                        </a:spcAft>
                      </a:pPr>
                      <a:r>
                        <a:rPr sz="2200" b="0">
                          <a:solidFill>
                            <a:srgbClr val="123047"/>
                          </a:solidFill>
                          <a:latin typeface="Arial"/>
                        </a:rPr>
                        <a:t>LightGBM</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60</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54</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1">
                          <a:solidFill>
                            <a:srgbClr val="123047"/>
                          </a:solidFill>
                          <a:latin typeface="Arial"/>
                        </a:rPr>
                        <a:t>32</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0.526</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1">
                          <a:solidFill>
                            <a:srgbClr val="087E8B"/>
                          </a:solidFill>
                          <a:latin typeface="Arial"/>
                        </a:rPr>
                        <a:t>0.348</a:t>
                      </a:r>
                    </a:p>
                  </a:txBody>
                  <a:tcPr marL="50292" marR="50292" marT="32004" marB="32004" anchor="ctr">
                    <a:solidFill>
                      <a:srgbClr val="EDF2F7"/>
                    </a:solidFill>
                  </a:tcPr>
                </a:tc>
              </a:tr>
            </a:tbl>
          </a:graphicData>
        </a:graphic>
      </p:graphicFrame>
      <p:sp>
        <p:nvSpPr>
          <p:cNvPr id="7" name="TextBox 6"/>
          <p:cNvSpPr txBox="1"/>
          <p:nvPr/>
        </p:nvSpPr>
        <p:spPr>
          <a:xfrm>
            <a:off x="685800" y="4078224"/>
            <a:ext cx="10789920" cy="1097280"/>
          </a:xfrm>
          <a:prstGeom prst="rect">
            <a:avLst/>
          </a:prstGeom>
          <a:noFill/>
        </p:spPr>
        <p:txBody>
          <a:bodyPr wrap="square" lIns="0" rIns="0" tIns="0" bIns="0" anchor="t">
            <a:spAutoFit/>
          </a:bodyPr>
          <a:lstStyle/>
          <a:p>
            <a:pPr algn="l">
              <a:lnSpc>
                <a:spcPct val="112000"/>
              </a:lnSpc>
              <a:spcBef>
                <a:spcPts val="0"/>
              </a:spcBef>
              <a:spcAft>
                <a:spcPts val="0"/>
              </a:spcAft>
            </a:pPr>
            <a:r>
              <a:rPr sz="2300" b="0">
                <a:solidFill>
                  <a:srgbClr val="123047"/>
                </a:solidFill>
                <a:latin typeface="Arial"/>
              </a:rPr>
              <a:t>TFT bắt thêm </a:t>
            </a:r>
            <a:r>
              <a:rPr sz="2300" b="1">
                <a:solidFill>
                  <a:srgbClr val="123047"/>
                </a:solidFill>
                <a:latin typeface="Arial"/>
              </a:rPr>
              <a:t>13 sự kiện</a:t>
            </a:r>
            <a:r>
              <a:rPr sz="2300" b="0">
                <a:solidFill>
                  <a:srgbClr val="123047"/>
                </a:solidFill>
                <a:latin typeface="Arial"/>
              </a:rPr>
              <a:t>, đồng thời thêm </a:t>
            </a:r>
            <a:r>
              <a:rPr sz="2300" b="1">
                <a:solidFill>
                  <a:srgbClr val="123047"/>
                </a:solidFill>
                <a:latin typeface="Arial"/>
              </a:rPr>
              <a:t>34 lần báo nhầm</a:t>
            </a:r>
            <a:r>
              <a:rPr sz="2300" b="0">
                <a:solidFill>
                  <a:srgbClr val="123047"/>
                </a:solidFill>
                <a:latin typeface="Arial"/>
              </a:rPr>
              <a:t>.</a:t>
            </a:r>
          </a:p>
          <a:p>
            <a:pPr algn="l">
              <a:lnSpc>
                <a:spcPct val="112000"/>
              </a:lnSpc>
              <a:spcBef>
                <a:spcPts val="0"/>
              </a:spcBef>
              <a:spcAft>
                <a:spcPts val="0"/>
              </a:spcAft>
            </a:pPr>
            <a:r>
              <a:rPr sz="2300" b="0">
                <a:solidFill>
                  <a:srgbClr val="123047"/>
                </a:solidFill>
                <a:latin typeface="Arial"/>
              </a:rPr>
              <a:t>POD/FAR phải đọc thành một cặp, cùng CSI và số lượng sự kiện.</a:t>
            </a:r>
          </a:p>
        </p:txBody>
      </p:sp>
      <p:sp>
        <p:nvSpPr>
          <p:cNvPr id="8" name="Rectangle 7"/>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750" b="1">
                <a:solidFill>
                  <a:srgbClr val="087E8B"/>
                </a:solidFill>
                <a:latin typeface="Arial"/>
              </a:rPr>
              <a:t>In đậm: số để đối chiếu trong bảng; chưa phải kết luận khác biệt có ý nghĩa thống kê.</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16</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Nên ưu tiên metrics thế nào trong nghiên cứu hiện tại?</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Giữ protocol đã khóa; đây là khuyến nghị cách báo cáo, không đổi tiêu chí sau khi thấy điểm</a:t>
            </a:r>
          </a:p>
        </p:txBody>
      </p:sp>
      <p:graphicFrame>
        <p:nvGraphicFramePr>
          <p:cNvPr id="6" name="Table 5"/>
          <p:cNvGraphicFramePr>
            <a:graphicFrameLocks noGrp="1"/>
          </p:cNvGraphicFramePr>
          <p:nvPr/>
        </p:nvGraphicFramePr>
        <p:xfrm>
          <a:off x="502920" y="1508760"/>
          <a:ext cx="11201400" cy="3749040"/>
        </p:xfrm>
        <a:graphic>
          <a:graphicData uri="http://schemas.openxmlformats.org/drawingml/2006/table">
            <a:tbl>
              <a:tblPr firstRow="1" bandRow="1">
                <a:tableStyleId>{5C22544A-7EE6-4342-B048-85BDC9FD1C3A}</a:tableStyleId>
              </a:tblPr>
              <a:tblGrid>
                <a:gridCol w="4572000"/>
                <a:gridCol w="6629400"/>
              </a:tblGrid>
              <a:tr h="749808">
                <a:tc>
                  <a:txBody>
                    <a:bodyPr/>
                    <a:lstStyle/>
                    <a:p>
                      <a:pPr algn="ctr">
                        <a:lnSpc>
                          <a:spcPct val="100000"/>
                        </a:lnSpc>
                        <a:spcBef>
                          <a:spcPts val="0"/>
                        </a:spcBef>
                        <a:spcAft>
                          <a:spcPts val="0"/>
                        </a:spcAft>
                      </a:pPr>
                      <a:r>
                        <a:rPr sz="1900" b="1">
                          <a:solidFill>
                            <a:srgbClr val="FFFFFF"/>
                          </a:solidFill>
                          <a:latin typeface="Arial"/>
                        </a:rPr>
                        <a:t>Mục đích</a:t>
                      </a:r>
                    </a:p>
                  </a:txBody>
                  <a:tcPr marL="50292" marR="50292" marT="32004" marB="32004" anchor="ctr">
                    <a:solidFill>
                      <a:srgbClr val="123047"/>
                    </a:solidFill>
                  </a:tcPr>
                </a:tc>
                <a:tc>
                  <a:txBody>
                    <a:bodyPr/>
                    <a:lstStyle/>
                    <a:p>
                      <a:pPr algn="ctr">
                        <a:lnSpc>
                          <a:spcPct val="100000"/>
                        </a:lnSpc>
                        <a:spcBef>
                          <a:spcPts val="0"/>
                        </a:spcBef>
                        <a:spcAft>
                          <a:spcPts val="0"/>
                        </a:spcAft>
                      </a:pPr>
                      <a:r>
                        <a:rPr sz="1900" b="1">
                          <a:solidFill>
                            <a:srgbClr val="FFFFFF"/>
                          </a:solidFill>
                          <a:latin typeface="Arial"/>
                        </a:rPr>
                        <a:t>Vai trò đề nghị</a:t>
                      </a:r>
                    </a:p>
                  </a:txBody>
                  <a:tcPr marL="50292" marR="50292" marT="32004" marB="32004" anchor="ctr">
                    <a:solidFill>
                      <a:srgbClr val="123047"/>
                    </a:solidFill>
                  </a:tcPr>
                </a:tc>
              </a:tr>
              <a:tr h="749808">
                <a:tc>
                  <a:txBody>
                    <a:bodyPr/>
                    <a:lstStyle/>
                    <a:p>
                      <a:pPr algn="ctr">
                        <a:lnSpc>
                          <a:spcPct val="100000"/>
                        </a:lnSpc>
                        <a:spcBef>
                          <a:spcPts val="0"/>
                        </a:spcBef>
                        <a:spcAft>
                          <a:spcPts val="0"/>
                        </a:spcAft>
                      </a:pPr>
                      <a:r>
                        <a:rPr sz="1900" b="0">
                          <a:solidFill>
                            <a:srgbClr val="123047"/>
                          </a:solidFill>
                          <a:latin typeface="Arial"/>
                        </a:rPr>
                        <a:t>Đóng góp đặc trưng trong protocol hiện tại</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123047"/>
                          </a:solidFill>
                          <a:latin typeface="Arial"/>
                        </a:rPr>
                        <a:t>BSS16 chính; CSI + POD + FAR luôn đi cùng</a:t>
                      </a:r>
                    </a:p>
                  </a:txBody>
                  <a:tcPr marL="50292" marR="50292" marT="32004" marB="32004" anchor="ctr">
                    <a:solidFill>
                      <a:srgbClr val="FFFFFF"/>
                    </a:solidFill>
                  </a:tcPr>
                </a:tc>
              </a:tr>
              <a:tr h="749808">
                <a:tc>
                  <a:txBody>
                    <a:bodyPr/>
                    <a:lstStyle/>
                    <a:p>
                      <a:pPr algn="ctr">
                        <a:lnSpc>
                          <a:spcPct val="100000"/>
                        </a:lnSpc>
                        <a:spcBef>
                          <a:spcPts val="0"/>
                        </a:spcBef>
                        <a:spcAft>
                          <a:spcPts val="0"/>
                        </a:spcAft>
                      </a:pPr>
                      <a:r>
                        <a:rPr sz="1900" b="0">
                          <a:solidFill>
                            <a:srgbClr val="123047"/>
                          </a:solidFill>
                          <a:latin typeface="Arial"/>
                        </a:rPr>
                        <a:t>Đánh giá lượng mưa vùng dự đoán</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RMSE + MAE + Bias hiển thị ngang phần kết quả</a:t>
                      </a:r>
                    </a:p>
                  </a:txBody>
                  <a:tcPr marL="50292" marR="50292" marT="32004" marB="32004" anchor="ctr">
                    <a:solidFill>
                      <a:srgbClr val="EDF2F7"/>
                    </a:solidFill>
                  </a:tcPr>
                </a:tc>
              </a:tr>
              <a:tr h="749808">
                <a:tc>
                  <a:txBody>
                    <a:bodyPr/>
                    <a:lstStyle/>
                    <a:p>
                      <a:pPr algn="ctr">
                        <a:lnSpc>
                          <a:spcPct val="100000"/>
                        </a:lnSpc>
                        <a:spcBef>
                          <a:spcPts val="0"/>
                        </a:spcBef>
                        <a:spcAft>
                          <a:spcPts val="0"/>
                        </a:spcAft>
                      </a:pPr>
                      <a:r>
                        <a:rPr sz="1900" b="0">
                          <a:solidFill>
                            <a:srgbClr val="123047"/>
                          </a:solidFill>
                          <a:latin typeface="Arial"/>
                        </a:rPr>
                        <a:t>Nếu ưu tiên cảnh báo ít bỏ sót</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123047"/>
                          </a:solidFill>
                          <a:latin typeface="Arial"/>
                        </a:rPr>
                        <a:t>Cần chốt yêu cầu POD và mức FAR chấp nhận</a:t>
                      </a:r>
                    </a:p>
                  </a:txBody>
                  <a:tcPr marL="50292" marR="50292" marT="32004" marB="32004" anchor="ctr">
                    <a:solidFill>
                      <a:srgbClr val="FFFFFF"/>
                    </a:solidFill>
                  </a:tcPr>
                </a:tc>
              </a:tr>
              <a:tr h="749808">
                <a:tc>
                  <a:txBody>
                    <a:bodyPr/>
                    <a:lstStyle/>
                    <a:p>
                      <a:pPr algn="ctr">
                        <a:lnSpc>
                          <a:spcPct val="100000"/>
                        </a:lnSpc>
                        <a:spcBef>
                          <a:spcPts val="0"/>
                        </a:spcBef>
                        <a:spcAft>
                          <a:spcPts val="0"/>
                        </a:spcAft>
                      </a:pPr>
                      <a:r>
                        <a:rPr sz="1900" b="0">
                          <a:solidFill>
                            <a:srgbClr val="123047"/>
                          </a:solidFill>
                          <a:latin typeface="Arial"/>
                        </a:rPr>
                        <a:t>Nếu đổi mục tiêu chọn mô hình</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Khóa lại trước holdout; chưa tự đổi trong lượt này</a:t>
                      </a:r>
                    </a:p>
                  </a:txBody>
                  <a:tcPr marL="50292" marR="50292" marT="32004" marB="32004" anchor="ctr">
                    <a:solidFill>
                      <a:srgbClr val="EDF2F7"/>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POD/FAR cần thiết; chưa có cơ sở ưu tiên riêng một chỉ số lên trên mọi mục tiêu.</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17</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Chia theo thời gian, cùng mẫu, giữ kín năm 2025</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PBL6 • Development 2021–2023 • Vùng 93 ô xấp xỉ • Test 2025 giữ kín</a:t>
            </a:r>
          </a:p>
        </p:txBody>
      </p:sp>
      <p:graphicFrame>
        <p:nvGraphicFramePr>
          <p:cNvPr id="6" name="Table 5"/>
          <p:cNvGraphicFramePr>
            <a:graphicFrameLocks noGrp="1"/>
          </p:cNvGraphicFramePr>
          <p:nvPr/>
        </p:nvGraphicFramePr>
        <p:xfrm>
          <a:off x="502920" y="1508760"/>
          <a:ext cx="11201400" cy="2560320"/>
        </p:xfrm>
        <a:graphic>
          <a:graphicData uri="http://schemas.openxmlformats.org/drawingml/2006/table">
            <a:tbl>
              <a:tblPr firstRow="1" bandRow="1">
                <a:tableStyleId>{5C22544A-7EE6-4342-B048-85BDC9FD1C3A}</a:tableStyleId>
              </a:tblPr>
              <a:tblGrid>
                <a:gridCol w="914400"/>
                <a:gridCol w="3657600"/>
                <a:gridCol w="3314700"/>
                <a:gridCol w="3314700"/>
              </a:tblGrid>
              <a:tr h="640080">
                <a:tc>
                  <a:txBody>
                    <a:bodyPr/>
                    <a:lstStyle/>
                    <a:p>
                      <a:pPr algn="ctr">
                        <a:lnSpc>
                          <a:spcPct val="100000"/>
                        </a:lnSpc>
                        <a:spcBef>
                          <a:spcPts val="0"/>
                        </a:spcBef>
                        <a:spcAft>
                          <a:spcPts val="0"/>
                        </a:spcAft>
                      </a:pPr>
                      <a:r>
                        <a:rPr sz="2300" b="1">
                          <a:solidFill>
                            <a:srgbClr val="FFFFFF"/>
                          </a:solidFill>
                          <a:latin typeface="Arial"/>
                        </a:rPr>
                        <a:t>Fold</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Train</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Calibration</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Evaluation</a:t>
                      </a:r>
                    </a:p>
                  </a:txBody>
                  <a:tcPr marL="50292" marR="50292" marT="32004" marB="32004" anchor="ctr">
                    <a:solidFill>
                      <a:srgbClr val="123047"/>
                    </a:solidFill>
                  </a:tcPr>
                </a:tc>
              </a:tr>
              <a:tr h="640080">
                <a:tc>
                  <a:txBody>
                    <a:bodyPr/>
                    <a:lstStyle/>
                    <a:p>
                      <a:pPr algn="ctr">
                        <a:lnSpc>
                          <a:spcPct val="100000"/>
                        </a:lnSpc>
                        <a:spcBef>
                          <a:spcPts val="0"/>
                        </a:spcBef>
                        <a:spcAft>
                          <a:spcPts val="0"/>
                        </a:spcAft>
                      </a:pPr>
                      <a:r>
                        <a:rPr sz="2300" b="0">
                          <a:solidFill>
                            <a:srgbClr val="123047"/>
                          </a:solidFill>
                          <a:latin typeface="Arial"/>
                        </a:rPr>
                        <a:t>F1</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2015–2019</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2020</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2021</a:t>
                      </a:r>
                    </a:p>
                  </a:txBody>
                  <a:tcPr marL="50292" marR="50292" marT="32004" marB="32004" anchor="ctr">
                    <a:solidFill>
                      <a:srgbClr val="FFFFFF"/>
                    </a:solidFill>
                  </a:tcPr>
                </a:tc>
              </a:tr>
              <a:tr h="640080">
                <a:tc>
                  <a:txBody>
                    <a:bodyPr/>
                    <a:lstStyle/>
                    <a:p>
                      <a:pPr algn="ctr">
                        <a:lnSpc>
                          <a:spcPct val="100000"/>
                        </a:lnSpc>
                        <a:spcBef>
                          <a:spcPts val="0"/>
                        </a:spcBef>
                        <a:spcAft>
                          <a:spcPts val="0"/>
                        </a:spcAft>
                      </a:pPr>
                      <a:r>
                        <a:rPr sz="2300" b="0">
                          <a:solidFill>
                            <a:srgbClr val="123047"/>
                          </a:solidFill>
                          <a:latin typeface="Arial"/>
                        </a:rPr>
                        <a:t>F2</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2015–2020</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2021</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2022</a:t>
                      </a:r>
                    </a:p>
                  </a:txBody>
                  <a:tcPr marL="50292" marR="50292" marT="32004" marB="32004" anchor="ctr">
                    <a:solidFill>
                      <a:srgbClr val="EDF2F7"/>
                    </a:solidFill>
                  </a:tcPr>
                </a:tc>
              </a:tr>
              <a:tr h="640080">
                <a:tc>
                  <a:txBody>
                    <a:bodyPr/>
                    <a:lstStyle/>
                    <a:p>
                      <a:pPr algn="ctr">
                        <a:lnSpc>
                          <a:spcPct val="100000"/>
                        </a:lnSpc>
                        <a:spcBef>
                          <a:spcPts val="0"/>
                        </a:spcBef>
                        <a:spcAft>
                          <a:spcPts val="0"/>
                        </a:spcAft>
                      </a:pPr>
                      <a:r>
                        <a:rPr sz="2300" b="0">
                          <a:solidFill>
                            <a:srgbClr val="123047"/>
                          </a:solidFill>
                          <a:latin typeface="Arial"/>
                        </a:rPr>
                        <a:t>F3</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2015–2021</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2022</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2023</a:t>
                      </a:r>
                    </a:p>
                  </a:txBody>
                  <a:tcPr marL="50292" marR="50292" marT="32004" marB="32004" anchor="ctr">
                    <a:solidFill>
                      <a:srgbClr val="FFFFFF"/>
                    </a:solidFill>
                  </a:tcPr>
                </a:tc>
              </a:tr>
            </a:tbl>
          </a:graphicData>
        </a:graphic>
      </p:graphicFrame>
      <p:sp>
        <p:nvSpPr>
          <p:cNvPr id="7" name="TextBox 6"/>
          <p:cNvSpPr txBox="1"/>
          <p:nvPr/>
        </p:nvSpPr>
        <p:spPr>
          <a:xfrm>
            <a:off x="685800" y="4434840"/>
            <a:ext cx="10835640" cy="914400"/>
          </a:xfrm>
          <a:prstGeom prst="rect">
            <a:avLst/>
          </a:prstGeom>
          <a:noFill/>
        </p:spPr>
        <p:txBody>
          <a:bodyPr wrap="square" lIns="0" rIns="0" tIns="0" bIns="0" anchor="t">
            <a:spAutoFit/>
          </a:bodyPr>
          <a:lstStyle/>
          <a:p>
            <a:pPr algn="l">
              <a:lnSpc>
                <a:spcPct val="112000"/>
              </a:lnSpc>
              <a:spcBef>
                <a:spcPts val="0"/>
              </a:spcBef>
              <a:spcAft>
                <a:spcPts val="0"/>
              </a:spcAft>
            </a:pPr>
            <a:r>
              <a:rPr sz="2300" b="1">
                <a:solidFill>
                  <a:srgbClr val="123047"/>
                </a:solidFill>
                <a:latin typeface="Arial"/>
              </a:rPr>
              <a:t>1.075 mốc / ngày dự đoán · 114 sự kiện ≥16 mm</a:t>
            </a:r>
          </a:p>
          <a:p>
            <a:pPr algn="l">
              <a:lnSpc>
                <a:spcPct val="112000"/>
              </a:lnSpc>
              <a:spcBef>
                <a:spcPts val="0"/>
              </a:spcBef>
              <a:spcAft>
                <a:spcPts val="0"/>
              </a:spcAft>
            </a:pPr>
            <a:r>
              <a:rPr sz="2300" b="1">
                <a:solidFill>
                  <a:srgbClr val="123047"/>
                </a:solidFill>
                <a:latin typeface="Arial"/>
              </a:rPr>
              <a:t>Chỉ 37 / 15 sự kiện ≥50 / ≥100 mm: độ bất định cao.</a:t>
            </a:r>
          </a:p>
        </p:txBody>
      </p:sp>
      <p:sp>
        <p:nvSpPr>
          <p:cNvPr id="8" name="Rectangle 7"/>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50" b="1">
                <a:solidFill>
                  <a:srgbClr val="087E8B"/>
                </a:solidFill>
                <a:latin typeface="Arial"/>
              </a:rPr>
              <a:t>Ba seed không nhân ba số ngày thời tiết. Development chưa thay kiểm định cuối.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18</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Hai ngưỡng khác nhau: lượng mưa q và xác suất τ</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src/short_range_evaluation.py + ensemble_calibration_thresholds.csv • Không chọn τ bằng evaluation</a:t>
            </a:r>
          </a:p>
        </p:txBody>
      </p:sp>
      <p:sp>
        <p:nvSpPr>
          <p:cNvPr id="6" name="Rectangle 5"/>
          <p:cNvSpPr/>
          <p:nvPr/>
        </p:nvSpPr>
        <p:spPr>
          <a:xfrm>
            <a:off x="594360" y="1508760"/>
            <a:ext cx="5486400" cy="356616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36776"/>
            <a:ext cx="517550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q · định nghĩa sự kiện</a:t>
            </a:r>
          </a:p>
        </p:txBody>
      </p:sp>
      <p:sp>
        <p:nvSpPr>
          <p:cNvPr id="8" name="TextBox 7"/>
          <p:cNvSpPr txBox="1"/>
          <p:nvPr/>
        </p:nvSpPr>
        <p:spPr>
          <a:xfrm>
            <a:off x="749808" y="2304288"/>
            <a:ext cx="5175504" cy="2651760"/>
          </a:xfrm>
          <a:prstGeom prst="rect">
            <a:avLst/>
          </a:prstGeom>
          <a:noFill/>
        </p:spPr>
        <p:txBody>
          <a:bodyPr wrap="square" lIns="0" rIns="0" tIns="0" bIns="0" anchor="t">
            <a:spAutoFit/>
          </a:bodyPr>
          <a:lstStyle/>
          <a:p>
            <a:pPr algn="l">
              <a:lnSpc>
                <a:spcPct val="112000"/>
              </a:lnSpc>
              <a:spcBef>
                <a:spcPts val="0"/>
              </a:spcBef>
              <a:spcAft>
                <a:spcPts val="0"/>
              </a:spcAft>
            </a:pPr>
            <a:r>
              <a:rPr sz="2100" b="0">
                <a:solidFill>
                  <a:srgbClr val="123047"/>
                </a:solidFill>
                <a:latin typeface="Arial"/>
              </a:rPr>
              <a:t>Mưa thực vùng ≥16 mm/24h?</a:t>
            </a:r>
          </a:p>
          <a:p>
            <a:pPr algn="l">
              <a:lnSpc>
                <a:spcPct val="112000"/>
              </a:lnSpc>
              <a:spcBef>
                <a:spcPts val="0"/>
              </a:spcBef>
              <a:spcAft>
                <a:spcPts val="0"/>
              </a:spcAft>
            </a:pPr>
            <a:r>
              <a:rPr sz="2100" b="0">
                <a:solidFill>
                  <a:srgbClr val="123047"/>
                </a:solidFill>
                <a:latin typeface="Arial"/>
              </a:rPr>
              <a:t>Có → nhãn 1; không → nhãn 0</a:t>
            </a:r>
          </a:p>
          <a:p>
            <a:pPr algn="l">
              <a:lnSpc>
                <a:spcPct val="112000"/>
              </a:lnSpc>
              <a:spcBef>
                <a:spcPts val="0"/>
              </a:spcBef>
              <a:spcAft>
                <a:spcPts val="0"/>
              </a:spcAft>
            </a:pPr>
            <a:r>
              <a:rPr sz="2100" b="0">
                <a:solidFill>
                  <a:srgbClr val="123047"/>
                </a:solidFill>
                <a:latin typeface="Arial"/>
              </a:rPr>
              <a:t>50/100 mm: các mức hiếm hơn</a:t>
            </a:r>
          </a:p>
          <a:p>
            <a:pPr algn="l">
              <a:lnSpc>
                <a:spcPct val="112000"/>
              </a:lnSpc>
              <a:spcBef>
                <a:spcPts val="0"/>
              </a:spcBef>
              <a:spcAft>
                <a:spcPts val="0"/>
              </a:spcAft>
            </a:pPr>
            <a:r>
              <a:rPr sz="2100" b="0">
                <a:solidFill>
                  <a:srgbClr val="123047"/>
                </a:solidFill>
                <a:latin typeface="Arial"/>
              </a:rPr>
              <a:t>Không phải cấp cảnh báo tại điểm</a:t>
            </a:r>
          </a:p>
        </p:txBody>
      </p:sp>
      <p:sp>
        <p:nvSpPr>
          <p:cNvPr id="9" name="Rectangle 8"/>
          <p:cNvSpPr/>
          <p:nvPr/>
        </p:nvSpPr>
        <p:spPr>
          <a:xfrm>
            <a:off x="6291072" y="1508760"/>
            <a:ext cx="5303520" cy="356616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36776"/>
            <a:ext cx="499262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τ · quyết định báo có</a:t>
            </a:r>
          </a:p>
        </p:txBody>
      </p:sp>
      <p:sp>
        <p:nvSpPr>
          <p:cNvPr id="11" name="TextBox 10"/>
          <p:cNvSpPr txBox="1"/>
          <p:nvPr/>
        </p:nvSpPr>
        <p:spPr>
          <a:xfrm>
            <a:off x="6446520" y="2304288"/>
            <a:ext cx="4992624" cy="265176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Xác suất dự báo p ≥ τ?</a:t>
            </a:r>
          </a:p>
          <a:p>
            <a:pPr algn="l">
              <a:lnSpc>
                <a:spcPct val="112000"/>
              </a:lnSpc>
              <a:spcBef>
                <a:spcPts val="0"/>
              </a:spcBef>
              <a:spcAft>
                <a:spcPts val="0"/>
              </a:spcAft>
            </a:pPr>
            <a:r>
              <a:rPr sz="2200" b="0">
                <a:solidFill>
                  <a:srgbClr val="123047"/>
                </a:solidFill>
                <a:latin typeface="Arial"/>
              </a:rPr>
              <a:t>τ chọn trên calibration</a:t>
            </a:r>
          </a:p>
          <a:p>
            <a:pPr algn="l">
              <a:lnSpc>
                <a:spcPct val="112000"/>
              </a:lnSpc>
              <a:spcBef>
                <a:spcPts val="0"/>
              </a:spcBef>
              <a:spcAft>
                <a:spcPts val="0"/>
              </a:spcAft>
            </a:pPr>
            <a:r>
              <a:rPr sz="2200" b="0">
                <a:solidFill>
                  <a:srgbClr val="123047"/>
                </a:solidFill>
                <a:latin typeface="Arial"/>
              </a:rPr>
              <a:t>Giữ cố định khi chấm evaluation</a:t>
            </a:r>
          </a:p>
          <a:p>
            <a:pPr algn="l">
              <a:lnSpc>
                <a:spcPct val="112000"/>
              </a:lnSpc>
              <a:spcBef>
                <a:spcPts val="0"/>
              </a:spcBef>
              <a:spcAft>
                <a:spcPts val="0"/>
              </a:spcAft>
            </a:pPr>
            <a:r>
              <a:rPr sz="2200" b="0">
                <a:solidFill>
                  <a:srgbClr val="123047"/>
                </a:solidFill>
                <a:latin typeface="Arial"/>
              </a:rPr>
              <a:t>BSS không cần chọn τ</a:t>
            </a:r>
          </a:p>
        </p:txBody>
      </p:sp>
      <p:sp>
        <p:nvSpPr>
          <p:cNvPr id="12" name="Rectangle 11"/>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87E8B"/>
                </a:solidFill>
                <a:latin typeface="Arial"/>
              </a:rPr>
              <a:t>POD/FAR giữa hai mô hình hiện chưa ở cùng mức POD hoặc cùng mức FAR.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19</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BSS toàn ma trận: ngày 1 có ích, ngày 3 chưa vượt khí hậu</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dự án: scores_ensemble_pooled.csv • Ngưỡng 16 mm/24h • Development, chưa phải test 2025</a:t>
            </a:r>
          </a:p>
        </p:txBody>
      </p:sp>
      <p:graphicFrame>
        <p:nvGraphicFramePr>
          <p:cNvPr id="6" name="Table 5"/>
          <p:cNvGraphicFramePr>
            <a:graphicFrameLocks noGrp="1"/>
          </p:cNvGraphicFramePr>
          <p:nvPr/>
        </p:nvGraphicFramePr>
        <p:xfrm>
          <a:off x="502920" y="1508760"/>
          <a:ext cx="11201400" cy="3950208"/>
        </p:xfrm>
        <a:graphic>
          <a:graphicData uri="http://schemas.openxmlformats.org/drawingml/2006/table">
            <a:tbl>
              <a:tblPr firstRow="1" bandRow="1">
                <a:tableStyleId>{5C22544A-7EE6-4342-B048-85BDC9FD1C3A}</a:tableStyleId>
              </a:tblPr>
              <a:tblGrid>
                <a:gridCol w="640080"/>
                <a:gridCol w="1760220"/>
                <a:gridCol w="1760220"/>
                <a:gridCol w="1760220"/>
                <a:gridCol w="1760220"/>
                <a:gridCol w="1760220"/>
                <a:gridCol w="1760220"/>
              </a:tblGrid>
              <a:tr h="438912">
                <a:tc>
                  <a:txBody>
                    <a:bodyPr/>
                    <a:lstStyle/>
                    <a:p>
                      <a:pPr algn="ctr">
                        <a:lnSpc>
                          <a:spcPct val="100000"/>
                        </a:lnSpc>
                        <a:spcBef>
                          <a:spcPts val="0"/>
                        </a:spcBef>
                        <a:spcAft>
                          <a:spcPts val="0"/>
                        </a:spcAft>
                      </a:pPr>
                      <a:r>
                        <a:rPr sz="190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900" b="1">
                          <a:solidFill>
                            <a:srgbClr val="FFFFFF"/>
                          </a:solidFill>
                          <a:latin typeface="Arial"/>
                        </a:rPr>
                        <a:t>TFT N1</a:t>
                      </a:r>
                    </a:p>
                  </a:txBody>
                  <a:tcPr marL="50292" marR="50292" marT="32004" marB="32004" anchor="ctr">
                    <a:solidFill>
                      <a:srgbClr val="123047"/>
                    </a:solidFill>
                  </a:tcPr>
                </a:tc>
                <a:tc>
                  <a:txBody>
                    <a:bodyPr/>
                    <a:lstStyle/>
                    <a:p>
                      <a:pPr algn="ctr">
                        <a:lnSpc>
                          <a:spcPct val="100000"/>
                        </a:lnSpc>
                        <a:spcBef>
                          <a:spcPts val="0"/>
                        </a:spcBef>
                        <a:spcAft>
                          <a:spcPts val="0"/>
                        </a:spcAft>
                      </a:pPr>
                      <a:r>
                        <a:rPr sz="1900" b="1">
                          <a:solidFill>
                            <a:srgbClr val="FFFFFF"/>
                          </a:solidFill>
                          <a:latin typeface="Arial"/>
                        </a:rPr>
                        <a:t>TFT N2</a:t>
                      </a:r>
                    </a:p>
                  </a:txBody>
                  <a:tcPr marL="50292" marR="50292" marT="32004" marB="32004" anchor="ctr">
                    <a:solidFill>
                      <a:srgbClr val="123047"/>
                    </a:solidFill>
                  </a:tcPr>
                </a:tc>
                <a:tc>
                  <a:txBody>
                    <a:bodyPr/>
                    <a:lstStyle/>
                    <a:p>
                      <a:pPr algn="ctr">
                        <a:lnSpc>
                          <a:spcPct val="100000"/>
                        </a:lnSpc>
                        <a:spcBef>
                          <a:spcPts val="0"/>
                        </a:spcBef>
                        <a:spcAft>
                          <a:spcPts val="0"/>
                        </a:spcAft>
                      </a:pPr>
                      <a:r>
                        <a:rPr sz="1900" b="1">
                          <a:solidFill>
                            <a:srgbClr val="FFFFFF"/>
                          </a:solidFill>
                          <a:latin typeface="Arial"/>
                        </a:rPr>
                        <a:t>TFT N3</a:t>
                      </a:r>
                    </a:p>
                  </a:txBody>
                  <a:tcPr marL="50292" marR="50292" marT="32004" marB="32004" anchor="ctr">
                    <a:solidFill>
                      <a:srgbClr val="123047"/>
                    </a:solidFill>
                  </a:tcPr>
                </a:tc>
                <a:tc>
                  <a:txBody>
                    <a:bodyPr/>
                    <a:lstStyle/>
                    <a:p>
                      <a:pPr algn="ctr">
                        <a:lnSpc>
                          <a:spcPct val="100000"/>
                        </a:lnSpc>
                        <a:spcBef>
                          <a:spcPts val="0"/>
                        </a:spcBef>
                        <a:spcAft>
                          <a:spcPts val="0"/>
                        </a:spcAft>
                      </a:pPr>
                      <a:r>
                        <a:rPr sz="1900" b="1">
                          <a:solidFill>
                            <a:srgbClr val="FFFFFF"/>
                          </a:solidFill>
                          <a:latin typeface="Arial"/>
                        </a:rPr>
                        <a:t>LGBM N1</a:t>
                      </a:r>
                    </a:p>
                  </a:txBody>
                  <a:tcPr marL="50292" marR="50292" marT="32004" marB="32004" anchor="ctr">
                    <a:solidFill>
                      <a:srgbClr val="123047"/>
                    </a:solidFill>
                  </a:tcPr>
                </a:tc>
                <a:tc>
                  <a:txBody>
                    <a:bodyPr/>
                    <a:lstStyle/>
                    <a:p>
                      <a:pPr algn="ctr">
                        <a:lnSpc>
                          <a:spcPct val="100000"/>
                        </a:lnSpc>
                        <a:spcBef>
                          <a:spcPts val="0"/>
                        </a:spcBef>
                        <a:spcAft>
                          <a:spcPts val="0"/>
                        </a:spcAft>
                      </a:pPr>
                      <a:r>
                        <a:rPr sz="1900" b="1">
                          <a:solidFill>
                            <a:srgbClr val="FFFFFF"/>
                          </a:solidFill>
                          <a:latin typeface="Arial"/>
                        </a:rPr>
                        <a:t>LGBM N2</a:t>
                      </a:r>
                    </a:p>
                  </a:txBody>
                  <a:tcPr marL="50292" marR="50292" marT="32004" marB="32004" anchor="ctr">
                    <a:solidFill>
                      <a:srgbClr val="123047"/>
                    </a:solidFill>
                  </a:tcPr>
                </a:tc>
                <a:tc>
                  <a:txBody>
                    <a:bodyPr/>
                    <a:lstStyle/>
                    <a:p>
                      <a:pPr algn="ctr">
                        <a:lnSpc>
                          <a:spcPct val="100000"/>
                        </a:lnSpc>
                        <a:spcBef>
                          <a:spcPts val="0"/>
                        </a:spcBef>
                        <a:spcAft>
                          <a:spcPts val="0"/>
                        </a:spcAft>
                      </a:pPr>
                      <a:r>
                        <a:rPr sz="1900" b="1">
                          <a:solidFill>
                            <a:srgbClr val="FFFFFF"/>
                          </a:solidFill>
                          <a:latin typeface="Arial"/>
                        </a:rPr>
                        <a:t>LGBM N3</a:t>
                      </a:r>
                    </a:p>
                  </a:txBody>
                  <a:tcPr marL="50292" marR="50292" marT="32004" marB="32004" anchor="ctr">
                    <a:solidFill>
                      <a:srgbClr val="123047"/>
                    </a:solidFill>
                  </a:tcPr>
                </a:tc>
              </a:tr>
              <a:tr h="438912">
                <a:tc>
                  <a:txBody>
                    <a:bodyPr/>
                    <a:lstStyle/>
                    <a:p>
                      <a:pPr algn="ctr">
                        <a:lnSpc>
                          <a:spcPct val="100000"/>
                        </a:lnSpc>
                        <a:spcBef>
                          <a:spcPts val="0"/>
                        </a:spcBef>
                        <a:spcAft>
                          <a:spcPts val="0"/>
                        </a:spcAft>
                      </a:pPr>
                      <a:r>
                        <a:rPr sz="190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123047"/>
                          </a:solidFill>
                          <a:latin typeface="Arial"/>
                        </a:rPr>
                        <a:t>0.1355</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123047"/>
                          </a:solidFill>
                          <a:latin typeface="Arial"/>
                        </a:rPr>
                        <a:t>0.0176</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AD3434"/>
                          </a:solidFill>
                          <a:latin typeface="Arial"/>
                        </a:rPr>
                        <a:t>-0.0338</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123047"/>
                          </a:solidFill>
                          <a:latin typeface="Arial"/>
                        </a:rPr>
                        <a:t>0.1437</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AD3434"/>
                          </a:solidFill>
                          <a:latin typeface="Arial"/>
                        </a:rPr>
                        <a:t>-0.0148</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AD3434"/>
                          </a:solidFill>
                          <a:latin typeface="Arial"/>
                        </a:rPr>
                        <a:t>-0.0530</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90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0.2208</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0.0407</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AD3434"/>
                          </a:solidFill>
                          <a:latin typeface="Arial"/>
                        </a:rPr>
                        <a:t>-0.0277</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0.2645</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AD3434"/>
                          </a:solidFill>
                          <a:latin typeface="Arial"/>
                        </a:rPr>
                        <a:t>-0.0344</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AD3434"/>
                          </a:solidFill>
                          <a:latin typeface="Arial"/>
                        </a:rPr>
                        <a:t>-0.0708</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90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123047"/>
                          </a:solidFill>
                          <a:latin typeface="Arial"/>
                        </a:rPr>
                        <a:t>0.2797</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123047"/>
                          </a:solidFill>
                          <a:latin typeface="Arial"/>
                        </a:rPr>
                        <a:t>0.0474</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AD3434"/>
                          </a:solidFill>
                          <a:latin typeface="Arial"/>
                        </a:rPr>
                        <a:t>-0.0305</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123047"/>
                          </a:solidFill>
                          <a:latin typeface="Arial"/>
                        </a:rPr>
                        <a:t>0.2827</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1">
                          <a:solidFill>
                            <a:srgbClr val="087E8B"/>
                          </a:solidFill>
                          <a:latin typeface="Arial"/>
                        </a:rPr>
                        <a:t>0.0601</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AD3434"/>
                          </a:solidFill>
                          <a:latin typeface="Arial"/>
                        </a:rPr>
                        <a:t>-0.0613</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900" b="0">
                          <a:solidFill>
                            <a:srgbClr val="123047"/>
                          </a:solidFill>
                          <a:latin typeface="Arial"/>
                        </a:rPr>
                        <a:t>E3</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0.1329</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0.0267</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AD3434"/>
                          </a:solidFill>
                          <a:latin typeface="Arial"/>
                        </a:rPr>
                        <a:t>-0.0257</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0.1754</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AD3434"/>
                          </a:solidFill>
                          <a:latin typeface="Arial"/>
                        </a:rPr>
                        <a:t>-0.0377</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1">
                          <a:solidFill>
                            <a:srgbClr val="AD3434"/>
                          </a:solidFill>
                          <a:latin typeface="Arial"/>
                        </a:rPr>
                        <a:t>-0.0368</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900" b="0">
                          <a:solidFill>
                            <a:srgbClr val="123047"/>
                          </a:solidFill>
                          <a:latin typeface="Arial"/>
                        </a:rPr>
                        <a:t>E4</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123047"/>
                          </a:solidFill>
                          <a:latin typeface="Arial"/>
                        </a:rPr>
                        <a:t>0.2367</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123047"/>
                          </a:solidFill>
                          <a:latin typeface="Arial"/>
                        </a:rPr>
                        <a:t>0.0227</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AD3434"/>
                          </a:solidFill>
                          <a:latin typeface="Arial"/>
                        </a:rPr>
                        <a:t>-0.0287</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1">
                          <a:solidFill>
                            <a:srgbClr val="087E8B"/>
                          </a:solidFill>
                          <a:latin typeface="Arial"/>
                        </a:rPr>
                        <a:t>0.3146</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123047"/>
                          </a:solidFill>
                          <a:latin typeface="Arial"/>
                        </a:rPr>
                        <a:t>0.0457</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AD3434"/>
                          </a:solidFill>
                          <a:latin typeface="Arial"/>
                        </a:rPr>
                        <a:t>-0.0606</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900" b="0">
                          <a:solidFill>
                            <a:srgbClr val="123047"/>
                          </a:solidFill>
                          <a:latin typeface="Arial"/>
                        </a:rPr>
                        <a:t>E5</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0.1707</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0.0260</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AD3434"/>
                          </a:solidFill>
                          <a:latin typeface="Arial"/>
                        </a:rPr>
                        <a:t>-0.0282</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0.2819</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AD3434"/>
                          </a:solidFill>
                          <a:latin typeface="Arial"/>
                        </a:rPr>
                        <a:t>-0.0353</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AD3434"/>
                          </a:solidFill>
                          <a:latin typeface="Arial"/>
                        </a:rPr>
                        <a:t>-0.0630</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90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1">
                          <a:solidFill>
                            <a:srgbClr val="087E8B"/>
                          </a:solidFill>
                          <a:latin typeface="Arial"/>
                        </a:rPr>
                        <a:t>0.2801</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1">
                          <a:solidFill>
                            <a:srgbClr val="087E8B"/>
                          </a:solidFill>
                          <a:latin typeface="Arial"/>
                        </a:rPr>
                        <a:t>0.0537</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1">
                          <a:solidFill>
                            <a:srgbClr val="AD3434"/>
                          </a:solidFill>
                          <a:latin typeface="Arial"/>
                        </a:rPr>
                        <a:t>-0.0163</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123047"/>
                          </a:solidFill>
                          <a:latin typeface="Arial"/>
                        </a:rPr>
                        <a:t>0.3061</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123047"/>
                          </a:solidFill>
                          <a:latin typeface="Arial"/>
                        </a:rPr>
                        <a:t>0.0561</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AD3434"/>
                          </a:solidFill>
                          <a:latin typeface="Arial"/>
                        </a:rPr>
                        <a:t>-0.0498</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90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0.2463</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0.0284</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AD3434"/>
                          </a:solidFill>
                          <a:latin typeface="Arial"/>
                        </a:rPr>
                        <a:t>-0.0381</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0.3034</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0.0433</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AD3434"/>
                          </a:solidFill>
                          <a:latin typeface="Arial"/>
                        </a:rPr>
                        <a:t>-0.0749</a:t>
                      </a:r>
                    </a:p>
                  </a:txBody>
                  <a:tcPr marL="50292" marR="50292" marT="32004" marB="32004" anchor="ctr">
                    <a:solidFill>
                      <a:srgbClr val="EDF2F7"/>
                    </a:solidFill>
                  </a:tcPr>
                </a:tc>
              </a:tr>
            </a:tbl>
          </a:graphicData>
        </a:graphic>
      </p:graphicFrame>
      <p:sp>
        <p:nvSpPr>
          <p:cNvPr id="7" name="Rectangle 6"/>
          <p:cNvSpPr/>
          <p:nvPr/>
        </p:nvSpPr>
        <p:spPr>
          <a:xfrm>
            <a:off x="502920" y="5641848"/>
            <a:ext cx="11201400" cy="484632"/>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733288"/>
            <a:ext cx="10927080" cy="374904"/>
          </a:xfrm>
          <a:prstGeom prst="rect">
            <a:avLst/>
          </a:prstGeom>
          <a:noFill/>
        </p:spPr>
        <p:txBody>
          <a:bodyPr wrap="square" lIns="0" rIns="0" tIns="0" bIns="0" anchor="t">
            <a:spAutoFit/>
          </a:bodyPr>
          <a:lstStyle/>
          <a:p>
            <a:pPr algn="l">
              <a:lnSpc>
                <a:spcPct val="112000"/>
              </a:lnSpc>
              <a:spcBef>
                <a:spcPts val="0"/>
              </a:spcBef>
              <a:spcAft>
                <a:spcPts val="0"/>
              </a:spcAft>
            </a:pPr>
            <a:r>
              <a:rPr sz="1750" b="1">
                <a:solidFill>
                  <a:srgbClr val="087E8B"/>
                </a:solidFill>
                <a:latin typeface="Arial"/>
              </a:rPr>
              <a:t>Đậm: tốt nhất trong cột; đỏ: kém khí hậu. BSS 0,246 không phải accuracy 24,6%.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20</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E7: đọc POD, FAR, CSI và BSS cùng nhau</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dự án: scores_ensemble_pooled.csv • Ngưỡng 16 mm/24h • Development, chưa phải test 2025</a:t>
            </a:r>
          </a:p>
        </p:txBody>
      </p:sp>
      <p:graphicFrame>
        <p:nvGraphicFramePr>
          <p:cNvPr id="6" name="Table 5"/>
          <p:cNvGraphicFramePr>
            <a:graphicFrameLocks noGrp="1"/>
          </p:cNvGraphicFramePr>
          <p:nvPr/>
        </p:nvGraphicFramePr>
        <p:xfrm>
          <a:off x="502920" y="1645920"/>
          <a:ext cx="6492240" cy="3392424"/>
        </p:xfrm>
        <a:graphic>
          <a:graphicData uri="http://schemas.openxmlformats.org/drawingml/2006/table">
            <a:tbl>
              <a:tblPr firstRow="1" bandRow="1">
                <a:tableStyleId>{5C22544A-7EE6-4342-B048-85BDC9FD1C3A}</a:tableStyleId>
              </a:tblPr>
              <a:tblGrid>
                <a:gridCol w="548640"/>
                <a:gridCol w="1188720"/>
                <a:gridCol w="1188720"/>
                <a:gridCol w="1188720"/>
                <a:gridCol w="1188720"/>
                <a:gridCol w="1188720"/>
              </a:tblGrid>
              <a:tr h="484632">
                <a:tc>
                  <a:txBody>
                    <a:bodyPr/>
                    <a:lstStyle/>
                    <a:p>
                      <a:pPr algn="ctr">
                        <a:lnSpc>
                          <a:spcPct val="100000"/>
                        </a:lnSpc>
                        <a:spcBef>
                          <a:spcPts val="0"/>
                        </a:spcBef>
                        <a:spcAft>
                          <a:spcPts val="0"/>
                        </a:spcAft>
                      </a:pPr>
                      <a:r>
                        <a:rPr sz="1700" b="1">
                          <a:solidFill>
                            <a:srgbClr val="FFFFFF"/>
                          </a:solidFill>
                          <a:latin typeface="Arial"/>
                        </a:rPr>
                        <a:t>Ngày</a:t>
                      </a:r>
                    </a:p>
                  </a:txBody>
                  <a:tcPr marL="50292" marR="50292" marT="32004" marB="32004" anchor="ctr">
                    <a:solidFill>
                      <a:srgbClr val="123047"/>
                    </a:solidFill>
                  </a:tcPr>
                </a:tc>
                <a:tc>
                  <a:txBody>
                    <a:bodyPr/>
                    <a:lstStyle/>
                    <a:p>
                      <a:pPr algn="ctr">
                        <a:lnSpc>
                          <a:spcPct val="100000"/>
                        </a:lnSpc>
                        <a:spcBef>
                          <a:spcPts val="0"/>
                        </a:spcBef>
                        <a:spcAft>
                          <a:spcPts val="0"/>
                        </a:spcAft>
                      </a:pPr>
                      <a:r>
                        <a:rPr sz="1700" b="1">
                          <a:solidFill>
                            <a:srgbClr val="FFFFFF"/>
                          </a:solidFill>
                          <a:latin typeface="Arial"/>
                        </a:rPr>
                        <a:t>Model</a:t>
                      </a:r>
                    </a:p>
                  </a:txBody>
                  <a:tcPr marL="50292" marR="50292" marT="32004" marB="32004" anchor="ctr">
                    <a:solidFill>
                      <a:srgbClr val="123047"/>
                    </a:solidFill>
                  </a:tcPr>
                </a:tc>
                <a:tc>
                  <a:txBody>
                    <a:bodyPr/>
                    <a:lstStyle/>
                    <a:p>
                      <a:pPr algn="ctr">
                        <a:lnSpc>
                          <a:spcPct val="100000"/>
                        </a:lnSpc>
                        <a:spcBef>
                          <a:spcPts val="0"/>
                        </a:spcBef>
                        <a:spcAft>
                          <a:spcPts val="0"/>
                        </a:spcAft>
                      </a:pPr>
                      <a:r>
                        <a:rPr sz="170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700" b="1">
                          <a:solidFill>
                            <a:srgbClr val="FFFFFF"/>
                          </a:solidFill>
                          <a:latin typeface="Arial"/>
                        </a:rPr>
                        <a:t>FAR ↓</a:t>
                      </a:r>
                    </a:p>
                  </a:txBody>
                  <a:tcPr marL="50292" marR="50292" marT="32004" marB="32004" anchor="ctr">
                    <a:solidFill>
                      <a:srgbClr val="123047"/>
                    </a:solidFill>
                  </a:tcPr>
                </a:tc>
                <a:tc>
                  <a:txBody>
                    <a:bodyPr/>
                    <a:lstStyle/>
                    <a:p>
                      <a:pPr algn="ctr">
                        <a:lnSpc>
                          <a:spcPct val="100000"/>
                        </a:lnSpc>
                        <a:spcBef>
                          <a:spcPts val="0"/>
                        </a:spcBef>
                        <a:spcAft>
                          <a:spcPts val="0"/>
                        </a:spcAft>
                      </a:pPr>
                      <a:r>
                        <a:rPr sz="170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700" b="1">
                          <a:solidFill>
                            <a:srgbClr val="FFFFFF"/>
                          </a:solidFill>
                          <a:latin typeface="Arial"/>
                        </a:rPr>
                        <a:t>BSS ↑</a:t>
                      </a:r>
                    </a:p>
                  </a:txBody>
                  <a:tcPr marL="50292" marR="50292" marT="32004" marB="32004" anchor="ctr">
                    <a:solidFill>
                      <a:srgbClr val="123047"/>
                    </a:solidFill>
                  </a:tcPr>
                </a:tc>
              </a:tr>
              <a:tr h="484632">
                <a:tc>
                  <a:txBody>
                    <a:bodyPr/>
                    <a:lstStyle/>
                    <a:p>
                      <a:pPr algn="ctr">
                        <a:lnSpc>
                          <a:spcPct val="100000"/>
                        </a:lnSpc>
                        <a:spcBef>
                          <a:spcPts val="0"/>
                        </a:spcBef>
                        <a:spcAft>
                          <a:spcPts val="0"/>
                        </a:spcAft>
                      </a:pPr>
                      <a:r>
                        <a:rPr sz="1700" b="0">
                          <a:solidFill>
                            <a:srgbClr val="123047"/>
                          </a:solidFill>
                          <a:latin typeface="Arial"/>
                        </a:rPr>
                        <a:t>1</a:t>
                      </a:r>
                    </a:p>
                  </a:txBody>
                  <a:tcPr marL="50292" marR="50292" marT="32004" marB="32004" anchor="ctr">
                    <a:solidFill>
                      <a:srgbClr val="FFFFFF"/>
                    </a:solidFill>
                  </a:tcPr>
                </a:tc>
                <a:tc>
                  <a:txBody>
                    <a:bodyPr/>
                    <a:lstStyle/>
                    <a:p>
                      <a:pPr algn="ctr">
                        <a:lnSpc>
                          <a:spcPct val="100000"/>
                        </a:lnSpc>
                        <a:spcBef>
                          <a:spcPts val="0"/>
                        </a:spcBef>
                        <a:spcAft>
                          <a:spcPts val="0"/>
                        </a:spcAft>
                      </a:pPr>
                      <a:r>
                        <a:rPr sz="170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1700" b="1">
                          <a:solidFill>
                            <a:srgbClr val="087E8B"/>
                          </a:solidFill>
                          <a:latin typeface="Arial"/>
                        </a:rPr>
                        <a:t>0.640</a:t>
                      </a:r>
                    </a:p>
                  </a:txBody>
                  <a:tcPr marL="50292" marR="50292" marT="32004" marB="32004" anchor="ctr">
                    <a:solidFill>
                      <a:srgbClr val="FFFFFF"/>
                    </a:solidFill>
                  </a:tcPr>
                </a:tc>
                <a:tc>
                  <a:txBody>
                    <a:bodyPr/>
                    <a:lstStyle/>
                    <a:p>
                      <a:pPr algn="ctr">
                        <a:lnSpc>
                          <a:spcPct val="100000"/>
                        </a:lnSpc>
                        <a:spcBef>
                          <a:spcPts val="0"/>
                        </a:spcBef>
                        <a:spcAft>
                          <a:spcPts val="0"/>
                        </a:spcAft>
                      </a:pPr>
                      <a:r>
                        <a:rPr sz="1700" b="0">
                          <a:solidFill>
                            <a:srgbClr val="123047"/>
                          </a:solidFill>
                          <a:latin typeface="Arial"/>
                        </a:rPr>
                        <a:t>0.475</a:t>
                      </a:r>
                    </a:p>
                  </a:txBody>
                  <a:tcPr marL="50292" marR="50292" marT="32004" marB="32004" anchor="ctr">
                    <a:solidFill>
                      <a:srgbClr val="FFFFFF"/>
                    </a:solidFill>
                  </a:tcPr>
                </a:tc>
                <a:tc>
                  <a:txBody>
                    <a:bodyPr/>
                    <a:lstStyle/>
                    <a:p>
                      <a:pPr algn="ctr">
                        <a:lnSpc>
                          <a:spcPct val="100000"/>
                        </a:lnSpc>
                        <a:spcBef>
                          <a:spcPts val="0"/>
                        </a:spcBef>
                        <a:spcAft>
                          <a:spcPts val="0"/>
                        </a:spcAft>
                      </a:pPr>
                      <a:r>
                        <a:rPr sz="1700" b="0">
                          <a:solidFill>
                            <a:srgbClr val="123047"/>
                          </a:solidFill>
                          <a:latin typeface="Arial"/>
                        </a:rPr>
                        <a:t>0.406</a:t>
                      </a:r>
                    </a:p>
                  </a:txBody>
                  <a:tcPr marL="50292" marR="50292" marT="32004" marB="32004" anchor="ctr">
                    <a:solidFill>
                      <a:srgbClr val="FFFFFF"/>
                    </a:solidFill>
                  </a:tcPr>
                </a:tc>
                <a:tc>
                  <a:txBody>
                    <a:bodyPr/>
                    <a:lstStyle/>
                    <a:p>
                      <a:pPr algn="ctr">
                        <a:lnSpc>
                          <a:spcPct val="100000"/>
                        </a:lnSpc>
                        <a:spcBef>
                          <a:spcPts val="0"/>
                        </a:spcBef>
                        <a:spcAft>
                          <a:spcPts val="0"/>
                        </a:spcAft>
                      </a:pPr>
                      <a:r>
                        <a:rPr sz="1700" b="0">
                          <a:solidFill>
                            <a:srgbClr val="123047"/>
                          </a:solidFill>
                          <a:latin typeface="Arial"/>
                        </a:rPr>
                        <a:t>0.246</a:t>
                      </a:r>
                    </a:p>
                  </a:txBody>
                  <a:tcPr marL="50292" marR="50292" marT="32004" marB="32004" anchor="ctr">
                    <a:solidFill>
                      <a:srgbClr val="FFFFFF"/>
                    </a:solidFill>
                  </a:tcPr>
                </a:tc>
              </a:tr>
              <a:tr h="484632">
                <a:tc>
                  <a:txBody>
                    <a:bodyPr/>
                    <a:lstStyle/>
                    <a:p>
                      <a:pPr algn="ctr">
                        <a:lnSpc>
                          <a:spcPct val="100000"/>
                        </a:lnSpc>
                        <a:spcBef>
                          <a:spcPts val="0"/>
                        </a:spcBef>
                        <a:spcAft>
                          <a:spcPts val="0"/>
                        </a:spcAft>
                      </a:pPr>
                      <a:r>
                        <a:rPr sz="1700" b="0">
                          <a:solidFill>
                            <a:srgbClr val="123047"/>
                          </a:solidFill>
                          <a:latin typeface="Arial"/>
                        </a:rPr>
                        <a:t>1</a:t>
                      </a:r>
                    </a:p>
                  </a:txBody>
                  <a:tcPr marL="50292" marR="50292" marT="32004" marB="32004" anchor="ctr">
                    <a:solidFill>
                      <a:srgbClr val="EDF2F7"/>
                    </a:solidFill>
                  </a:tcPr>
                </a:tc>
                <a:tc>
                  <a:txBody>
                    <a:bodyPr/>
                    <a:lstStyle/>
                    <a:p>
                      <a:pPr algn="ctr">
                        <a:lnSpc>
                          <a:spcPct val="100000"/>
                        </a:lnSpc>
                        <a:spcBef>
                          <a:spcPts val="0"/>
                        </a:spcBef>
                        <a:spcAft>
                          <a:spcPts val="0"/>
                        </a:spcAft>
                      </a:pPr>
                      <a:r>
                        <a:rPr sz="1700" b="0">
                          <a:solidFill>
                            <a:srgbClr val="123047"/>
                          </a:solidFill>
                          <a:latin typeface="Arial"/>
                        </a:rPr>
                        <a:t>LGBM</a:t>
                      </a:r>
                    </a:p>
                  </a:txBody>
                  <a:tcPr marL="50292" marR="50292" marT="32004" marB="32004" anchor="ctr">
                    <a:solidFill>
                      <a:srgbClr val="EDF2F7"/>
                    </a:solidFill>
                  </a:tcPr>
                </a:tc>
                <a:tc>
                  <a:txBody>
                    <a:bodyPr/>
                    <a:lstStyle/>
                    <a:p>
                      <a:pPr algn="ctr">
                        <a:lnSpc>
                          <a:spcPct val="100000"/>
                        </a:lnSpc>
                        <a:spcBef>
                          <a:spcPts val="0"/>
                        </a:spcBef>
                        <a:spcAft>
                          <a:spcPts val="0"/>
                        </a:spcAft>
                      </a:pPr>
                      <a:r>
                        <a:rPr sz="1700" b="0">
                          <a:solidFill>
                            <a:srgbClr val="123047"/>
                          </a:solidFill>
                          <a:latin typeface="Arial"/>
                        </a:rPr>
                        <a:t>0.526</a:t>
                      </a:r>
                    </a:p>
                  </a:txBody>
                  <a:tcPr marL="50292" marR="50292" marT="32004" marB="32004" anchor="ctr">
                    <a:solidFill>
                      <a:srgbClr val="EDF2F7"/>
                    </a:solidFill>
                  </a:tcPr>
                </a:tc>
                <a:tc>
                  <a:txBody>
                    <a:bodyPr/>
                    <a:lstStyle/>
                    <a:p>
                      <a:pPr algn="ctr">
                        <a:lnSpc>
                          <a:spcPct val="100000"/>
                        </a:lnSpc>
                        <a:spcBef>
                          <a:spcPts val="0"/>
                        </a:spcBef>
                        <a:spcAft>
                          <a:spcPts val="0"/>
                        </a:spcAft>
                      </a:pPr>
                      <a:r>
                        <a:rPr sz="1700" b="1">
                          <a:solidFill>
                            <a:srgbClr val="087E8B"/>
                          </a:solidFill>
                          <a:latin typeface="Arial"/>
                        </a:rPr>
                        <a:t>0.348</a:t>
                      </a:r>
                    </a:p>
                  </a:txBody>
                  <a:tcPr marL="50292" marR="50292" marT="32004" marB="32004" anchor="ctr">
                    <a:solidFill>
                      <a:srgbClr val="EDF2F7"/>
                    </a:solidFill>
                  </a:tcPr>
                </a:tc>
                <a:tc>
                  <a:txBody>
                    <a:bodyPr/>
                    <a:lstStyle/>
                    <a:p>
                      <a:pPr algn="ctr">
                        <a:lnSpc>
                          <a:spcPct val="100000"/>
                        </a:lnSpc>
                        <a:spcBef>
                          <a:spcPts val="0"/>
                        </a:spcBef>
                        <a:spcAft>
                          <a:spcPts val="0"/>
                        </a:spcAft>
                      </a:pPr>
                      <a:r>
                        <a:rPr sz="1700" b="1">
                          <a:solidFill>
                            <a:srgbClr val="087E8B"/>
                          </a:solidFill>
                          <a:latin typeface="Arial"/>
                        </a:rPr>
                        <a:t>0.411</a:t>
                      </a:r>
                    </a:p>
                  </a:txBody>
                  <a:tcPr marL="50292" marR="50292" marT="32004" marB="32004" anchor="ctr">
                    <a:solidFill>
                      <a:srgbClr val="EDF2F7"/>
                    </a:solidFill>
                  </a:tcPr>
                </a:tc>
                <a:tc>
                  <a:txBody>
                    <a:bodyPr/>
                    <a:lstStyle/>
                    <a:p>
                      <a:pPr algn="ctr">
                        <a:lnSpc>
                          <a:spcPct val="100000"/>
                        </a:lnSpc>
                        <a:spcBef>
                          <a:spcPts val="0"/>
                        </a:spcBef>
                        <a:spcAft>
                          <a:spcPts val="0"/>
                        </a:spcAft>
                      </a:pPr>
                      <a:r>
                        <a:rPr sz="1700" b="1">
                          <a:solidFill>
                            <a:srgbClr val="087E8B"/>
                          </a:solidFill>
                          <a:latin typeface="Arial"/>
                        </a:rPr>
                        <a:t>0.303</a:t>
                      </a:r>
                    </a:p>
                  </a:txBody>
                  <a:tcPr marL="50292" marR="50292" marT="32004" marB="32004" anchor="ctr">
                    <a:solidFill>
                      <a:srgbClr val="EDF2F7"/>
                    </a:solidFill>
                  </a:tcPr>
                </a:tc>
              </a:tr>
              <a:tr h="484632">
                <a:tc>
                  <a:txBody>
                    <a:bodyPr/>
                    <a:lstStyle/>
                    <a:p>
                      <a:pPr algn="ctr">
                        <a:lnSpc>
                          <a:spcPct val="100000"/>
                        </a:lnSpc>
                        <a:spcBef>
                          <a:spcPts val="0"/>
                        </a:spcBef>
                        <a:spcAft>
                          <a:spcPts val="0"/>
                        </a:spcAft>
                      </a:pPr>
                      <a:r>
                        <a:rPr sz="1700" b="0">
                          <a:solidFill>
                            <a:srgbClr val="123047"/>
                          </a:solidFill>
                          <a:latin typeface="Arial"/>
                        </a:rPr>
                        <a:t>2</a:t>
                      </a:r>
                    </a:p>
                  </a:txBody>
                  <a:tcPr marL="50292" marR="50292" marT="32004" marB="32004" anchor="ctr">
                    <a:solidFill>
                      <a:srgbClr val="FFFFFF"/>
                    </a:solidFill>
                  </a:tcPr>
                </a:tc>
                <a:tc>
                  <a:txBody>
                    <a:bodyPr/>
                    <a:lstStyle/>
                    <a:p>
                      <a:pPr algn="ctr">
                        <a:lnSpc>
                          <a:spcPct val="100000"/>
                        </a:lnSpc>
                        <a:spcBef>
                          <a:spcPts val="0"/>
                        </a:spcBef>
                        <a:spcAft>
                          <a:spcPts val="0"/>
                        </a:spcAft>
                      </a:pPr>
                      <a:r>
                        <a:rPr sz="170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1700" b="1">
                          <a:solidFill>
                            <a:srgbClr val="087E8B"/>
                          </a:solidFill>
                          <a:latin typeface="Arial"/>
                        </a:rPr>
                        <a:t>0.509</a:t>
                      </a:r>
                    </a:p>
                  </a:txBody>
                  <a:tcPr marL="50292" marR="50292" marT="32004" marB="32004" anchor="ctr">
                    <a:solidFill>
                      <a:srgbClr val="FFFFFF"/>
                    </a:solidFill>
                  </a:tcPr>
                </a:tc>
                <a:tc>
                  <a:txBody>
                    <a:bodyPr/>
                    <a:lstStyle/>
                    <a:p>
                      <a:pPr algn="ctr">
                        <a:lnSpc>
                          <a:spcPct val="100000"/>
                        </a:lnSpc>
                        <a:spcBef>
                          <a:spcPts val="0"/>
                        </a:spcBef>
                        <a:spcAft>
                          <a:spcPts val="0"/>
                        </a:spcAft>
                      </a:pPr>
                      <a:r>
                        <a:rPr sz="1700" b="0">
                          <a:solidFill>
                            <a:srgbClr val="123047"/>
                          </a:solidFill>
                          <a:latin typeface="Arial"/>
                        </a:rPr>
                        <a:t>0.659</a:t>
                      </a:r>
                    </a:p>
                  </a:txBody>
                  <a:tcPr marL="50292" marR="50292" marT="32004" marB="32004" anchor="ctr">
                    <a:solidFill>
                      <a:srgbClr val="FFFFFF"/>
                    </a:solidFill>
                  </a:tcPr>
                </a:tc>
                <a:tc>
                  <a:txBody>
                    <a:bodyPr/>
                    <a:lstStyle/>
                    <a:p>
                      <a:pPr algn="ctr">
                        <a:lnSpc>
                          <a:spcPct val="100000"/>
                        </a:lnSpc>
                        <a:spcBef>
                          <a:spcPts val="0"/>
                        </a:spcBef>
                        <a:spcAft>
                          <a:spcPts val="0"/>
                        </a:spcAft>
                      </a:pPr>
                      <a:r>
                        <a:rPr sz="1700" b="0">
                          <a:solidFill>
                            <a:srgbClr val="123047"/>
                          </a:solidFill>
                          <a:latin typeface="Arial"/>
                        </a:rPr>
                        <a:t>0.257</a:t>
                      </a:r>
                    </a:p>
                  </a:txBody>
                  <a:tcPr marL="50292" marR="50292" marT="32004" marB="32004" anchor="ctr">
                    <a:solidFill>
                      <a:srgbClr val="FFFFFF"/>
                    </a:solidFill>
                  </a:tcPr>
                </a:tc>
                <a:tc>
                  <a:txBody>
                    <a:bodyPr/>
                    <a:lstStyle/>
                    <a:p>
                      <a:pPr algn="ctr">
                        <a:lnSpc>
                          <a:spcPct val="100000"/>
                        </a:lnSpc>
                        <a:spcBef>
                          <a:spcPts val="0"/>
                        </a:spcBef>
                        <a:spcAft>
                          <a:spcPts val="0"/>
                        </a:spcAft>
                      </a:pPr>
                      <a:r>
                        <a:rPr sz="1700" b="0">
                          <a:solidFill>
                            <a:srgbClr val="123047"/>
                          </a:solidFill>
                          <a:latin typeface="Arial"/>
                        </a:rPr>
                        <a:t>0.028</a:t>
                      </a:r>
                    </a:p>
                  </a:txBody>
                  <a:tcPr marL="50292" marR="50292" marT="32004" marB="32004" anchor="ctr">
                    <a:solidFill>
                      <a:srgbClr val="FFFFFF"/>
                    </a:solidFill>
                  </a:tcPr>
                </a:tc>
              </a:tr>
              <a:tr h="484632">
                <a:tc>
                  <a:txBody>
                    <a:bodyPr/>
                    <a:lstStyle/>
                    <a:p>
                      <a:pPr algn="ctr">
                        <a:lnSpc>
                          <a:spcPct val="100000"/>
                        </a:lnSpc>
                        <a:spcBef>
                          <a:spcPts val="0"/>
                        </a:spcBef>
                        <a:spcAft>
                          <a:spcPts val="0"/>
                        </a:spcAft>
                      </a:pPr>
                      <a:r>
                        <a:rPr sz="1700" b="0">
                          <a:solidFill>
                            <a:srgbClr val="123047"/>
                          </a:solidFill>
                          <a:latin typeface="Arial"/>
                        </a:rPr>
                        <a:t>2</a:t>
                      </a:r>
                    </a:p>
                  </a:txBody>
                  <a:tcPr marL="50292" marR="50292" marT="32004" marB="32004" anchor="ctr">
                    <a:solidFill>
                      <a:srgbClr val="EDF2F7"/>
                    </a:solidFill>
                  </a:tcPr>
                </a:tc>
                <a:tc>
                  <a:txBody>
                    <a:bodyPr/>
                    <a:lstStyle/>
                    <a:p>
                      <a:pPr algn="ctr">
                        <a:lnSpc>
                          <a:spcPct val="100000"/>
                        </a:lnSpc>
                        <a:spcBef>
                          <a:spcPts val="0"/>
                        </a:spcBef>
                        <a:spcAft>
                          <a:spcPts val="0"/>
                        </a:spcAft>
                      </a:pPr>
                      <a:r>
                        <a:rPr sz="1700" b="0">
                          <a:solidFill>
                            <a:srgbClr val="123047"/>
                          </a:solidFill>
                          <a:latin typeface="Arial"/>
                        </a:rPr>
                        <a:t>LGBM</a:t>
                      </a:r>
                    </a:p>
                  </a:txBody>
                  <a:tcPr marL="50292" marR="50292" marT="32004" marB="32004" anchor="ctr">
                    <a:solidFill>
                      <a:srgbClr val="EDF2F7"/>
                    </a:solidFill>
                  </a:tcPr>
                </a:tc>
                <a:tc>
                  <a:txBody>
                    <a:bodyPr/>
                    <a:lstStyle/>
                    <a:p>
                      <a:pPr algn="ctr">
                        <a:lnSpc>
                          <a:spcPct val="100000"/>
                        </a:lnSpc>
                        <a:spcBef>
                          <a:spcPts val="0"/>
                        </a:spcBef>
                        <a:spcAft>
                          <a:spcPts val="0"/>
                        </a:spcAft>
                      </a:pPr>
                      <a:r>
                        <a:rPr sz="1700" b="0">
                          <a:solidFill>
                            <a:srgbClr val="123047"/>
                          </a:solidFill>
                          <a:latin typeface="Arial"/>
                        </a:rPr>
                        <a:t>0.456</a:t>
                      </a:r>
                    </a:p>
                  </a:txBody>
                  <a:tcPr marL="50292" marR="50292" marT="32004" marB="32004" anchor="ctr">
                    <a:solidFill>
                      <a:srgbClr val="EDF2F7"/>
                    </a:solidFill>
                  </a:tcPr>
                </a:tc>
                <a:tc>
                  <a:txBody>
                    <a:bodyPr/>
                    <a:lstStyle/>
                    <a:p>
                      <a:pPr algn="ctr">
                        <a:lnSpc>
                          <a:spcPct val="100000"/>
                        </a:lnSpc>
                        <a:spcBef>
                          <a:spcPts val="0"/>
                        </a:spcBef>
                        <a:spcAft>
                          <a:spcPts val="0"/>
                        </a:spcAft>
                      </a:pPr>
                      <a:r>
                        <a:rPr sz="1700" b="1">
                          <a:solidFill>
                            <a:srgbClr val="087E8B"/>
                          </a:solidFill>
                          <a:latin typeface="Arial"/>
                        </a:rPr>
                        <a:t>0.587</a:t>
                      </a:r>
                    </a:p>
                  </a:txBody>
                  <a:tcPr marL="50292" marR="50292" marT="32004" marB="32004" anchor="ctr">
                    <a:solidFill>
                      <a:srgbClr val="EDF2F7"/>
                    </a:solidFill>
                  </a:tcPr>
                </a:tc>
                <a:tc>
                  <a:txBody>
                    <a:bodyPr/>
                    <a:lstStyle/>
                    <a:p>
                      <a:pPr algn="ctr">
                        <a:lnSpc>
                          <a:spcPct val="100000"/>
                        </a:lnSpc>
                        <a:spcBef>
                          <a:spcPts val="0"/>
                        </a:spcBef>
                        <a:spcAft>
                          <a:spcPts val="0"/>
                        </a:spcAft>
                      </a:pPr>
                      <a:r>
                        <a:rPr sz="1700" b="1">
                          <a:solidFill>
                            <a:srgbClr val="087E8B"/>
                          </a:solidFill>
                          <a:latin typeface="Arial"/>
                        </a:rPr>
                        <a:t>0.277</a:t>
                      </a:r>
                    </a:p>
                  </a:txBody>
                  <a:tcPr marL="50292" marR="50292" marT="32004" marB="32004" anchor="ctr">
                    <a:solidFill>
                      <a:srgbClr val="EDF2F7"/>
                    </a:solidFill>
                  </a:tcPr>
                </a:tc>
                <a:tc>
                  <a:txBody>
                    <a:bodyPr/>
                    <a:lstStyle/>
                    <a:p>
                      <a:pPr algn="ctr">
                        <a:lnSpc>
                          <a:spcPct val="100000"/>
                        </a:lnSpc>
                        <a:spcBef>
                          <a:spcPts val="0"/>
                        </a:spcBef>
                        <a:spcAft>
                          <a:spcPts val="0"/>
                        </a:spcAft>
                      </a:pPr>
                      <a:r>
                        <a:rPr sz="1700" b="1">
                          <a:solidFill>
                            <a:srgbClr val="087E8B"/>
                          </a:solidFill>
                          <a:latin typeface="Arial"/>
                        </a:rPr>
                        <a:t>0.043</a:t>
                      </a:r>
                    </a:p>
                  </a:txBody>
                  <a:tcPr marL="50292" marR="50292" marT="32004" marB="32004" anchor="ctr">
                    <a:solidFill>
                      <a:srgbClr val="EDF2F7"/>
                    </a:solidFill>
                  </a:tcPr>
                </a:tc>
              </a:tr>
              <a:tr h="484632">
                <a:tc>
                  <a:txBody>
                    <a:bodyPr/>
                    <a:lstStyle/>
                    <a:p>
                      <a:pPr algn="ctr">
                        <a:lnSpc>
                          <a:spcPct val="100000"/>
                        </a:lnSpc>
                        <a:spcBef>
                          <a:spcPts val="0"/>
                        </a:spcBef>
                        <a:spcAft>
                          <a:spcPts val="0"/>
                        </a:spcAft>
                      </a:pPr>
                      <a:r>
                        <a:rPr sz="1700" b="0">
                          <a:solidFill>
                            <a:srgbClr val="123047"/>
                          </a:solidFill>
                          <a:latin typeface="Arial"/>
                        </a:rPr>
                        <a:t>3</a:t>
                      </a:r>
                    </a:p>
                  </a:txBody>
                  <a:tcPr marL="50292" marR="50292" marT="32004" marB="32004" anchor="ctr">
                    <a:solidFill>
                      <a:srgbClr val="FFFFFF"/>
                    </a:solidFill>
                  </a:tcPr>
                </a:tc>
                <a:tc>
                  <a:txBody>
                    <a:bodyPr/>
                    <a:lstStyle/>
                    <a:p>
                      <a:pPr algn="ctr">
                        <a:lnSpc>
                          <a:spcPct val="100000"/>
                        </a:lnSpc>
                        <a:spcBef>
                          <a:spcPts val="0"/>
                        </a:spcBef>
                        <a:spcAft>
                          <a:spcPts val="0"/>
                        </a:spcAft>
                      </a:pPr>
                      <a:r>
                        <a:rPr sz="170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1700" b="0">
                          <a:solidFill>
                            <a:srgbClr val="123047"/>
                          </a:solidFill>
                          <a:latin typeface="Arial"/>
                        </a:rPr>
                        <a:t>0.412</a:t>
                      </a:r>
                    </a:p>
                  </a:txBody>
                  <a:tcPr marL="50292" marR="50292" marT="32004" marB="32004" anchor="ctr">
                    <a:solidFill>
                      <a:srgbClr val="FFFFFF"/>
                    </a:solidFill>
                  </a:tcPr>
                </a:tc>
                <a:tc>
                  <a:txBody>
                    <a:bodyPr/>
                    <a:lstStyle/>
                    <a:p>
                      <a:pPr algn="ctr">
                        <a:lnSpc>
                          <a:spcPct val="100000"/>
                        </a:lnSpc>
                        <a:spcBef>
                          <a:spcPts val="0"/>
                        </a:spcBef>
                        <a:spcAft>
                          <a:spcPts val="0"/>
                        </a:spcAft>
                      </a:pPr>
                      <a:r>
                        <a:rPr sz="1700" b="1">
                          <a:solidFill>
                            <a:srgbClr val="087E8B"/>
                          </a:solidFill>
                          <a:latin typeface="Arial"/>
                        </a:rPr>
                        <a:t>0.719</a:t>
                      </a:r>
                    </a:p>
                  </a:txBody>
                  <a:tcPr marL="50292" marR="50292" marT="32004" marB="32004" anchor="ctr">
                    <a:solidFill>
                      <a:srgbClr val="FFFFFF"/>
                    </a:solidFill>
                  </a:tcPr>
                </a:tc>
                <a:tc>
                  <a:txBody>
                    <a:bodyPr/>
                    <a:lstStyle/>
                    <a:p>
                      <a:pPr algn="ctr">
                        <a:lnSpc>
                          <a:spcPct val="100000"/>
                        </a:lnSpc>
                        <a:spcBef>
                          <a:spcPts val="0"/>
                        </a:spcBef>
                        <a:spcAft>
                          <a:spcPts val="0"/>
                        </a:spcAft>
                      </a:pPr>
                      <a:r>
                        <a:rPr sz="1700" b="0">
                          <a:solidFill>
                            <a:srgbClr val="123047"/>
                          </a:solidFill>
                          <a:latin typeface="Arial"/>
                        </a:rPr>
                        <a:t>0.201</a:t>
                      </a:r>
                    </a:p>
                  </a:txBody>
                  <a:tcPr marL="50292" marR="50292" marT="32004" marB="32004" anchor="ctr">
                    <a:solidFill>
                      <a:srgbClr val="FFFFFF"/>
                    </a:solidFill>
                  </a:tcPr>
                </a:tc>
                <a:tc>
                  <a:txBody>
                    <a:bodyPr/>
                    <a:lstStyle/>
                    <a:p>
                      <a:pPr algn="ctr">
                        <a:lnSpc>
                          <a:spcPct val="100000"/>
                        </a:lnSpc>
                        <a:spcBef>
                          <a:spcPts val="0"/>
                        </a:spcBef>
                        <a:spcAft>
                          <a:spcPts val="0"/>
                        </a:spcAft>
                      </a:pPr>
                      <a:r>
                        <a:rPr sz="1700" b="1">
                          <a:solidFill>
                            <a:srgbClr val="AD3434"/>
                          </a:solidFill>
                          <a:latin typeface="Arial"/>
                        </a:rPr>
                        <a:t>-0.038</a:t>
                      </a:r>
                    </a:p>
                  </a:txBody>
                  <a:tcPr marL="50292" marR="50292" marT="32004" marB="32004" anchor="ctr">
                    <a:solidFill>
                      <a:srgbClr val="FFFFFF"/>
                    </a:solidFill>
                  </a:tcPr>
                </a:tc>
              </a:tr>
              <a:tr h="484632">
                <a:tc>
                  <a:txBody>
                    <a:bodyPr/>
                    <a:lstStyle/>
                    <a:p>
                      <a:pPr algn="ctr">
                        <a:lnSpc>
                          <a:spcPct val="100000"/>
                        </a:lnSpc>
                        <a:spcBef>
                          <a:spcPts val="0"/>
                        </a:spcBef>
                        <a:spcAft>
                          <a:spcPts val="0"/>
                        </a:spcAft>
                      </a:pPr>
                      <a:r>
                        <a:rPr sz="1700" b="0">
                          <a:solidFill>
                            <a:srgbClr val="123047"/>
                          </a:solidFill>
                          <a:latin typeface="Arial"/>
                        </a:rPr>
                        <a:t>3</a:t>
                      </a:r>
                    </a:p>
                  </a:txBody>
                  <a:tcPr marL="50292" marR="50292" marT="32004" marB="32004" anchor="ctr">
                    <a:solidFill>
                      <a:srgbClr val="EDF2F7"/>
                    </a:solidFill>
                  </a:tcPr>
                </a:tc>
                <a:tc>
                  <a:txBody>
                    <a:bodyPr/>
                    <a:lstStyle/>
                    <a:p>
                      <a:pPr algn="ctr">
                        <a:lnSpc>
                          <a:spcPct val="100000"/>
                        </a:lnSpc>
                        <a:spcBef>
                          <a:spcPts val="0"/>
                        </a:spcBef>
                        <a:spcAft>
                          <a:spcPts val="0"/>
                        </a:spcAft>
                      </a:pPr>
                      <a:r>
                        <a:rPr sz="1700" b="0">
                          <a:solidFill>
                            <a:srgbClr val="123047"/>
                          </a:solidFill>
                          <a:latin typeface="Arial"/>
                        </a:rPr>
                        <a:t>LGBM</a:t>
                      </a:r>
                    </a:p>
                  </a:txBody>
                  <a:tcPr marL="50292" marR="50292" marT="32004" marB="32004" anchor="ctr">
                    <a:solidFill>
                      <a:srgbClr val="EDF2F7"/>
                    </a:solidFill>
                  </a:tcPr>
                </a:tc>
                <a:tc>
                  <a:txBody>
                    <a:bodyPr/>
                    <a:lstStyle/>
                    <a:p>
                      <a:pPr algn="ctr">
                        <a:lnSpc>
                          <a:spcPct val="100000"/>
                        </a:lnSpc>
                        <a:spcBef>
                          <a:spcPts val="0"/>
                        </a:spcBef>
                        <a:spcAft>
                          <a:spcPts val="0"/>
                        </a:spcAft>
                      </a:pPr>
                      <a:r>
                        <a:rPr sz="1700" b="1">
                          <a:solidFill>
                            <a:srgbClr val="087E8B"/>
                          </a:solidFill>
                          <a:latin typeface="Arial"/>
                        </a:rPr>
                        <a:t>0.482</a:t>
                      </a:r>
                    </a:p>
                  </a:txBody>
                  <a:tcPr marL="50292" marR="50292" marT="32004" marB="32004" anchor="ctr">
                    <a:solidFill>
                      <a:srgbClr val="EDF2F7"/>
                    </a:solidFill>
                  </a:tcPr>
                </a:tc>
                <a:tc>
                  <a:txBody>
                    <a:bodyPr/>
                    <a:lstStyle/>
                    <a:p>
                      <a:pPr algn="ctr">
                        <a:lnSpc>
                          <a:spcPct val="100000"/>
                        </a:lnSpc>
                        <a:spcBef>
                          <a:spcPts val="0"/>
                        </a:spcBef>
                        <a:spcAft>
                          <a:spcPts val="0"/>
                        </a:spcAft>
                      </a:pPr>
                      <a:r>
                        <a:rPr sz="1700" b="0">
                          <a:solidFill>
                            <a:srgbClr val="123047"/>
                          </a:solidFill>
                          <a:latin typeface="Arial"/>
                        </a:rPr>
                        <a:t>0.741</a:t>
                      </a:r>
                    </a:p>
                  </a:txBody>
                  <a:tcPr marL="50292" marR="50292" marT="32004" marB="32004" anchor="ctr">
                    <a:solidFill>
                      <a:srgbClr val="EDF2F7"/>
                    </a:solidFill>
                  </a:tcPr>
                </a:tc>
                <a:tc>
                  <a:txBody>
                    <a:bodyPr/>
                    <a:lstStyle/>
                    <a:p>
                      <a:pPr algn="ctr">
                        <a:lnSpc>
                          <a:spcPct val="100000"/>
                        </a:lnSpc>
                        <a:spcBef>
                          <a:spcPts val="0"/>
                        </a:spcBef>
                        <a:spcAft>
                          <a:spcPts val="0"/>
                        </a:spcAft>
                      </a:pPr>
                      <a:r>
                        <a:rPr sz="1700" b="1">
                          <a:solidFill>
                            <a:srgbClr val="087E8B"/>
                          </a:solidFill>
                          <a:latin typeface="Arial"/>
                        </a:rPr>
                        <a:t>0.203</a:t>
                      </a:r>
                    </a:p>
                  </a:txBody>
                  <a:tcPr marL="50292" marR="50292" marT="32004" marB="32004" anchor="ctr">
                    <a:solidFill>
                      <a:srgbClr val="EDF2F7"/>
                    </a:solidFill>
                  </a:tcPr>
                </a:tc>
                <a:tc>
                  <a:txBody>
                    <a:bodyPr/>
                    <a:lstStyle/>
                    <a:p>
                      <a:pPr algn="ctr">
                        <a:lnSpc>
                          <a:spcPct val="100000"/>
                        </a:lnSpc>
                        <a:spcBef>
                          <a:spcPts val="0"/>
                        </a:spcBef>
                        <a:spcAft>
                          <a:spcPts val="0"/>
                        </a:spcAft>
                      </a:pPr>
                      <a:r>
                        <a:rPr sz="1700" b="0">
                          <a:solidFill>
                            <a:srgbClr val="AD3434"/>
                          </a:solidFill>
                          <a:latin typeface="Arial"/>
                        </a:rPr>
                        <a:t>-0.075</a:t>
                      </a:r>
                    </a:p>
                  </a:txBody>
                  <a:tcPr marL="50292" marR="50292" marT="32004" marB="32004" anchor="ctr">
                    <a:solidFill>
                      <a:srgbClr val="EDF2F7"/>
                    </a:solidFill>
                  </a:tcPr>
                </a:tc>
              </a:tr>
            </a:tbl>
          </a:graphicData>
        </a:graphic>
      </p:graphicFrame>
      <p:pic>
        <p:nvPicPr>
          <p:cNvPr id="7" name="Picture 6" descr="performance_E7.png"/>
          <p:cNvPicPr>
            <a:picLocks noChangeAspect="1"/>
          </p:cNvPicPr>
          <p:nvPr/>
        </p:nvPicPr>
        <p:blipFill>
          <a:blip r:embed="rId3"/>
          <a:stretch>
            <a:fillRect/>
          </a:stretch>
        </p:blipFill>
        <p:spPr>
          <a:xfrm>
            <a:off x="7187184" y="1508760"/>
            <a:ext cx="4498848" cy="3822191"/>
          </a:xfrm>
          <a:prstGeom prst="rect">
            <a:avLst/>
          </a:prstGeom>
        </p:spPr>
      </p:pic>
      <p:sp>
        <p:nvSpPr>
          <p:cNvPr id="8" name="Rectangle 7"/>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750" b="1">
                <a:solidFill>
                  <a:srgbClr val="087E8B"/>
                </a:solidFill>
                <a:latin typeface="Arial"/>
              </a:rPr>
              <a:t>Đậm: điểm tốt hơn giữa hai model cùng ngày; chưa có CI cho phép so model này.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21</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Lượng mm vẫn phải báo rõ: RMSE, MAE và Bias</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dự án: scores_ensemble_pooled.csv • Ngưỡng 16 mm/24h • Development, chưa phải test 2025</a:t>
            </a:r>
          </a:p>
        </p:txBody>
      </p:sp>
      <p:graphicFrame>
        <p:nvGraphicFramePr>
          <p:cNvPr id="6" name="Table 5"/>
          <p:cNvGraphicFramePr>
            <a:graphicFrameLocks noGrp="1"/>
          </p:cNvGraphicFramePr>
          <p:nvPr/>
        </p:nvGraphicFramePr>
        <p:xfrm>
          <a:off x="502920" y="1508760"/>
          <a:ext cx="11201400" cy="3904488"/>
        </p:xfrm>
        <a:graphic>
          <a:graphicData uri="http://schemas.openxmlformats.org/drawingml/2006/table">
            <a:tbl>
              <a:tblPr firstRow="1" bandRow="1">
                <a:tableStyleId>{5C22544A-7EE6-4342-B048-85BDC9FD1C3A}</a:tableStyleId>
              </a:tblPr>
              <a:tblGrid>
                <a:gridCol w="731520"/>
                <a:gridCol w="3063240"/>
                <a:gridCol w="2468880"/>
                <a:gridCol w="2468880"/>
                <a:gridCol w="2468880"/>
              </a:tblGrid>
              <a:tr h="557784">
                <a:tc>
                  <a:txBody>
                    <a:bodyPr/>
                    <a:lstStyle/>
                    <a:p>
                      <a:pPr algn="ctr">
                        <a:lnSpc>
                          <a:spcPct val="100000"/>
                        </a:lnSpc>
                        <a:spcBef>
                          <a:spcPts val="0"/>
                        </a:spcBef>
                        <a:spcAft>
                          <a:spcPts val="0"/>
                        </a:spcAft>
                      </a:pPr>
                      <a:r>
                        <a:rPr sz="2300" b="1">
                          <a:solidFill>
                            <a:srgbClr val="FFFFFF"/>
                          </a:solidFill>
                          <a:latin typeface="Arial"/>
                        </a:rPr>
                        <a:t>Ngày</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E7</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Bias ≈0</a:t>
                      </a:r>
                    </a:p>
                  </a:txBody>
                  <a:tcPr marL="50292" marR="50292" marT="32004" marB="32004" anchor="ctr">
                    <a:solidFill>
                      <a:srgbClr val="123047"/>
                    </a:solidFill>
                  </a:tcPr>
                </a:tc>
              </a:tr>
              <a:tr h="557784">
                <a:tc>
                  <a:txBody>
                    <a:bodyPr/>
                    <a:lstStyle/>
                    <a:p>
                      <a:pPr algn="ctr">
                        <a:lnSpc>
                          <a:spcPct val="100000"/>
                        </a:lnSpc>
                        <a:spcBef>
                          <a:spcPts val="0"/>
                        </a:spcBef>
                        <a:spcAft>
                          <a:spcPts val="0"/>
                        </a:spcAft>
                      </a:pPr>
                      <a:r>
                        <a:rPr sz="2300" b="0">
                          <a:solidFill>
                            <a:srgbClr val="123047"/>
                          </a:solidFill>
                          <a:latin typeface="Arial"/>
                        </a:rPr>
                        <a:t>1</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20.361</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6.695</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-2.710</a:t>
                      </a:r>
                    </a:p>
                  </a:txBody>
                  <a:tcPr marL="50292" marR="50292" marT="32004" marB="32004" anchor="ctr">
                    <a:solidFill>
                      <a:srgbClr val="FFFFFF"/>
                    </a:solidFill>
                  </a:tcPr>
                </a:tc>
              </a:tr>
              <a:tr h="557784">
                <a:tc>
                  <a:txBody>
                    <a:bodyPr/>
                    <a:lstStyle/>
                    <a:p>
                      <a:pPr algn="ctr">
                        <a:lnSpc>
                          <a:spcPct val="100000"/>
                        </a:lnSpc>
                        <a:spcBef>
                          <a:spcPts val="0"/>
                        </a:spcBef>
                        <a:spcAft>
                          <a:spcPts val="0"/>
                        </a:spcAft>
                      </a:pPr>
                      <a:r>
                        <a:rPr sz="2300" b="0">
                          <a:solidFill>
                            <a:srgbClr val="123047"/>
                          </a:solidFill>
                          <a:latin typeface="Arial"/>
                        </a:rPr>
                        <a:t>1</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LightGBM</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1">
                          <a:solidFill>
                            <a:srgbClr val="087E8B"/>
                          </a:solidFill>
                          <a:latin typeface="Arial"/>
                        </a:rPr>
                        <a:t>17.706</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1">
                          <a:solidFill>
                            <a:srgbClr val="087E8B"/>
                          </a:solidFill>
                          <a:latin typeface="Arial"/>
                        </a:rPr>
                        <a:t>5.731</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1">
                          <a:solidFill>
                            <a:srgbClr val="087E8B"/>
                          </a:solidFill>
                          <a:latin typeface="Arial"/>
                        </a:rPr>
                        <a:t>-2.003</a:t>
                      </a:r>
                    </a:p>
                  </a:txBody>
                  <a:tcPr marL="50292" marR="50292" marT="32004" marB="32004" anchor="ctr">
                    <a:solidFill>
                      <a:srgbClr val="EDF2F7"/>
                    </a:solidFill>
                  </a:tcPr>
                </a:tc>
              </a:tr>
              <a:tr h="557784">
                <a:tc>
                  <a:txBody>
                    <a:bodyPr/>
                    <a:lstStyle/>
                    <a:p>
                      <a:pPr algn="ctr">
                        <a:lnSpc>
                          <a:spcPct val="100000"/>
                        </a:lnSpc>
                        <a:spcBef>
                          <a:spcPts val="0"/>
                        </a:spcBef>
                        <a:spcAft>
                          <a:spcPts val="0"/>
                        </a:spcAft>
                      </a:pPr>
                      <a:r>
                        <a:rPr sz="2300" b="0">
                          <a:solidFill>
                            <a:srgbClr val="123047"/>
                          </a:solidFill>
                          <a:latin typeface="Arial"/>
                        </a:rPr>
                        <a:t>2</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21.018</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7.566</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1">
                          <a:solidFill>
                            <a:srgbClr val="087E8B"/>
                          </a:solidFill>
                          <a:latin typeface="Arial"/>
                        </a:rPr>
                        <a:t>-2.105</a:t>
                      </a:r>
                    </a:p>
                  </a:txBody>
                  <a:tcPr marL="50292" marR="50292" marT="32004" marB="32004" anchor="ctr">
                    <a:solidFill>
                      <a:srgbClr val="FFFFFF"/>
                    </a:solidFill>
                  </a:tcPr>
                </a:tc>
              </a:tr>
              <a:tr h="557784">
                <a:tc>
                  <a:txBody>
                    <a:bodyPr/>
                    <a:lstStyle/>
                    <a:p>
                      <a:pPr algn="ctr">
                        <a:lnSpc>
                          <a:spcPct val="100000"/>
                        </a:lnSpc>
                        <a:spcBef>
                          <a:spcPts val="0"/>
                        </a:spcBef>
                        <a:spcAft>
                          <a:spcPts val="0"/>
                        </a:spcAft>
                      </a:pPr>
                      <a:r>
                        <a:rPr sz="2300" b="0">
                          <a:solidFill>
                            <a:srgbClr val="123047"/>
                          </a:solidFill>
                          <a:latin typeface="Arial"/>
                        </a:rPr>
                        <a:t>2</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LightGBM</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1">
                          <a:solidFill>
                            <a:srgbClr val="087E8B"/>
                          </a:solidFill>
                          <a:latin typeface="Arial"/>
                        </a:rPr>
                        <a:t>20.756</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1">
                          <a:solidFill>
                            <a:srgbClr val="087E8B"/>
                          </a:solidFill>
                          <a:latin typeface="Arial"/>
                        </a:rPr>
                        <a:t>7.238</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-2.551</a:t>
                      </a:r>
                    </a:p>
                  </a:txBody>
                  <a:tcPr marL="50292" marR="50292" marT="32004" marB="32004" anchor="ctr">
                    <a:solidFill>
                      <a:srgbClr val="EDF2F7"/>
                    </a:solidFill>
                  </a:tcPr>
                </a:tc>
              </a:tr>
              <a:tr h="557784">
                <a:tc>
                  <a:txBody>
                    <a:bodyPr/>
                    <a:lstStyle/>
                    <a:p>
                      <a:pPr algn="ctr">
                        <a:lnSpc>
                          <a:spcPct val="100000"/>
                        </a:lnSpc>
                        <a:spcBef>
                          <a:spcPts val="0"/>
                        </a:spcBef>
                        <a:spcAft>
                          <a:spcPts val="0"/>
                        </a:spcAft>
                      </a:pPr>
                      <a:r>
                        <a:rPr sz="2300" b="0">
                          <a:solidFill>
                            <a:srgbClr val="123047"/>
                          </a:solidFill>
                          <a:latin typeface="Arial"/>
                        </a:rPr>
                        <a:t>3</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1">
                          <a:solidFill>
                            <a:srgbClr val="087E8B"/>
                          </a:solidFill>
                          <a:latin typeface="Arial"/>
                        </a:rPr>
                        <a:t>21.321</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8.104</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1">
                          <a:solidFill>
                            <a:srgbClr val="087E8B"/>
                          </a:solidFill>
                          <a:latin typeface="Arial"/>
                        </a:rPr>
                        <a:t>-1.565</a:t>
                      </a:r>
                    </a:p>
                  </a:txBody>
                  <a:tcPr marL="50292" marR="50292" marT="32004" marB="32004" anchor="ctr">
                    <a:solidFill>
                      <a:srgbClr val="FFFFFF"/>
                    </a:solidFill>
                  </a:tcPr>
                </a:tc>
              </a:tr>
              <a:tr h="557784">
                <a:tc>
                  <a:txBody>
                    <a:bodyPr/>
                    <a:lstStyle/>
                    <a:p>
                      <a:pPr algn="ctr">
                        <a:lnSpc>
                          <a:spcPct val="100000"/>
                        </a:lnSpc>
                        <a:spcBef>
                          <a:spcPts val="0"/>
                        </a:spcBef>
                        <a:spcAft>
                          <a:spcPts val="0"/>
                        </a:spcAft>
                      </a:pPr>
                      <a:r>
                        <a:rPr sz="2300" b="0">
                          <a:solidFill>
                            <a:srgbClr val="123047"/>
                          </a:solidFill>
                          <a:latin typeface="Arial"/>
                        </a:rPr>
                        <a:t>3</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LightGBM</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21.742</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1">
                          <a:solidFill>
                            <a:srgbClr val="087E8B"/>
                          </a:solidFill>
                          <a:latin typeface="Arial"/>
                        </a:rPr>
                        <a:t>7.666</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-2.900</a:t>
                      </a:r>
                    </a:p>
                  </a:txBody>
                  <a:tcPr marL="50292" marR="50292" marT="32004" marB="32004" anchor="ctr">
                    <a:solidFill>
                      <a:srgbClr val="EDF2F7"/>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50" b="1">
                <a:solidFill>
                  <a:srgbClr val="087E8B"/>
                </a:solidFill>
                <a:latin typeface="Arial"/>
              </a:rPr>
              <a:t>Đơn vị mm/24h • In đậm theo cặp cùng ngày • Bias âm: dự báo thiếu.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22</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Thêm A/M có tín hiệu xác suất ngày 1; SST chưa rõ</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paired_bootstrap.csv • 20.000 paired bootstrap • Gia đình 9 phép BSS16 • Khối 7/14 ngày</a:t>
            </a:r>
          </a:p>
        </p:txBody>
      </p:sp>
      <p:pic>
        <p:nvPicPr>
          <p:cNvPr id="6" name="Picture 5" descr="primary_family_ci.png"/>
          <p:cNvPicPr>
            <a:picLocks noChangeAspect="1"/>
          </p:cNvPicPr>
          <p:nvPr/>
        </p:nvPicPr>
        <p:blipFill>
          <a:blip r:embed="rId3"/>
          <a:stretch>
            <a:fillRect/>
          </a:stretch>
        </p:blipFill>
        <p:spPr>
          <a:xfrm>
            <a:off x="502920" y="1371600"/>
            <a:ext cx="11201400" cy="4343400"/>
          </a:xfrm>
          <a:prstGeom prst="rect">
            <a:avLst/>
          </a:prstGeom>
        </p:spPr>
      </p:pic>
      <p:sp>
        <p:nvSpPr>
          <p:cNvPr id="7" name="Rectangle 6"/>
          <p:cNvSpPr/>
          <p:nvPr/>
        </p:nvSpPr>
        <p:spPr>
          <a:xfrm>
            <a:off x="502920" y="5742432"/>
            <a:ext cx="11201400" cy="41148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833872"/>
            <a:ext cx="10927080" cy="301752"/>
          </a:xfrm>
          <a:prstGeom prst="rect">
            <a:avLst/>
          </a:prstGeom>
          <a:noFill/>
        </p:spPr>
        <p:txBody>
          <a:bodyPr wrap="square" lIns="0" rIns="0" tIns="0" bIns="0" anchor="t">
            <a:spAutoFit/>
          </a:bodyPr>
          <a:lstStyle/>
          <a:p>
            <a:pPr algn="l">
              <a:lnSpc>
                <a:spcPct val="112000"/>
              </a:lnSpc>
              <a:spcBef>
                <a:spcPts val="0"/>
              </a:spcBef>
              <a:spcAft>
                <a:spcPts val="0"/>
              </a:spcAft>
            </a:pPr>
            <a:r>
              <a:rPr sz="1780" b="1">
                <a:solidFill>
                  <a:srgbClr val="087E8B"/>
                </a:solidFill>
                <a:latin typeface="Arial"/>
              </a:rPr>
              <a:t>Chỉ A/M ngày 1 có CI chính trên 0; chưa có bằng chứng tương tự ở ngày 2–3.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23</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Khả thi về tính toán; còn cổng dữ liệu và kiểm định</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PBL6 • Development 2021–2023 • Vùng 93 ô xấp xỉ • Test 2025 giữ kín</a:t>
            </a:r>
          </a:p>
        </p:txBody>
      </p:sp>
      <p:sp>
        <p:nvSpPr>
          <p:cNvPr id="6" name="Rectangle 5"/>
          <p:cNvSpPr/>
          <p:nvPr/>
        </p:nvSpPr>
        <p:spPr>
          <a:xfrm>
            <a:off x="594360" y="1508760"/>
            <a:ext cx="5486400" cy="361188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36776"/>
            <a:ext cx="517550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Đã có bằng chứng</a:t>
            </a:r>
          </a:p>
        </p:txBody>
      </p:sp>
      <p:sp>
        <p:nvSpPr>
          <p:cNvPr id="8" name="TextBox 7"/>
          <p:cNvSpPr txBox="1"/>
          <p:nvPr/>
        </p:nvSpPr>
        <p:spPr>
          <a:xfrm>
            <a:off x="749808" y="2304288"/>
            <a:ext cx="5175504" cy="269748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Đủ E0–E7; 96 lượt tái lập</a:t>
            </a:r>
          </a:p>
          <a:p>
            <a:pPr algn="l">
              <a:lnSpc>
                <a:spcPct val="112000"/>
              </a:lnSpc>
              <a:spcBef>
                <a:spcPts val="0"/>
              </a:spcBef>
              <a:spcAft>
                <a:spcPts val="0"/>
              </a:spcAft>
            </a:pPr>
            <a:r>
              <a:rPr sz="2200" b="0">
                <a:solidFill>
                  <a:srgbClr val="123047"/>
                </a:solidFill>
                <a:latin typeface="Arial"/>
              </a:rPr>
              <a:t>Tiến trình ma trận ≈28 phút</a:t>
            </a:r>
          </a:p>
          <a:p>
            <a:pPr algn="l">
              <a:lnSpc>
                <a:spcPct val="112000"/>
              </a:lnSpc>
              <a:spcBef>
                <a:spcPts val="0"/>
              </a:spcBef>
              <a:spcAft>
                <a:spcPts val="0"/>
              </a:spcAft>
            </a:pPr>
            <a:r>
              <a:rPr sz="2200" b="0">
                <a:solidFill>
                  <a:srgbClr val="123047"/>
                </a:solidFill>
                <a:latin typeface="Arial"/>
              </a:rPr>
              <a:t>Tín hiệu ngày 1 với A/M</a:t>
            </a:r>
          </a:p>
          <a:p>
            <a:pPr algn="l">
              <a:lnSpc>
                <a:spcPct val="112000"/>
              </a:lnSpc>
              <a:spcBef>
                <a:spcPts val="0"/>
              </a:spcBef>
              <a:spcAft>
                <a:spcPts val="0"/>
              </a:spcAft>
            </a:pPr>
            <a:r>
              <a:rPr sz="2200" b="0">
                <a:solidFill>
                  <a:srgbClr val="123047"/>
                </a:solidFill>
                <a:latin typeface="Arial"/>
              </a:rPr>
              <a:t>Có đối chứng và kết quả âm</a:t>
            </a:r>
          </a:p>
        </p:txBody>
      </p:sp>
      <p:sp>
        <p:nvSpPr>
          <p:cNvPr id="9" name="Rectangle 8"/>
          <p:cNvSpPr/>
          <p:nvPr/>
        </p:nvSpPr>
        <p:spPr>
          <a:xfrm>
            <a:off x="6291072" y="1508760"/>
            <a:ext cx="5303520" cy="361188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36776"/>
            <a:ext cx="499262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Việc tiếp theo</a:t>
            </a:r>
          </a:p>
        </p:txBody>
      </p:sp>
      <p:sp>
        <p:nvSpPr>
          <p:cNvPr id="11" name="TextBox 10"/>
          <p:cNvSpPr txBox="1"/>
          <p:nvPr/>
        </p:nvSpPr>
        <p:spPr>
          <a:xfrm>
            <a:off x="6446520" y="2304288"/>
            <a:ext cx="4992624" cy="269748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Chốt ranh/trọng số vùng</a:t>
            </a:r>
          </a:p>
          <a:p>
            <a:pPr algn="l">
              <a:lnSpc>
                <a:spcPct val="112000"/>
              </a:lnSpc>
              <a:spcBef>
                <a:spcPts val="0"/>
              </a:spcBef>
              <a:spcAft>
                <a:spcPts val="0"/>
              </a:spcAft>
            </a:pPr>
            <a:r>
              <a:rPr sz="2200" b="0">
                <a:solidFill>
                  <a:srgbClr val="123047"/>
                </a:solidFill>
                <a:latin typeface="Arial"/>
              </a:rPr>
              <a:t>Kiểm chứng nhãn và biến</a:t>
            </a:r>
          </a:p>
          <a:p>
            <a:pPr algn="l">
              <a:lnSpc>
                <a:spcPct val="112000"/>
              </a:lnSpc>
              <a:spcBef>
                <a:spcPts val="0"/>
              </a:spcBef>
              <a:spcAft>
                <a:spcPts val="0"/>
              </a:spcAft>
            </a:pPr>
            <a:r>
              <a:rPr sz="2200" b="0">
                <a:solidFill>
                  <a:srgbClr val="123047"/>
                </a:solidFill>
                <a:latin typeface="Arial"/>
              </a:rPr>
              <a:t>Khóa mục tiêu/metrics/ngưỡng</a:t>
            </a:r>
          </a:p>
          <a:p>
            <a:pPr algn="l">
              <a:lnSpc>
                <a:spcPct val="112000"/>
              </a:lnSpc>
              <a:spcBef>
                <a:spcPts val="0"/>
              </a:spcBef>
              <a:spcAft>
                <a:spcPts val="0"/>
              </a:spcAft>
            </a:pPr>
            <a:r>
              <a:rPr sz="2200" b="0">
                <a:solidFill>
                  <a:srgbClr val="123047"/>
                </a:solidFill>
                <a:latin typeface="Arial"/>
              </a:rPr>
              <a:t>Sau đó mới chấm năm 2025</a:t>
            </a:r>
          </a:p>
        </p:txBody>
      </p:sp>
      <p:sp>
        <p:nvSpPr>
          <p:cNvPr id="12" name="Rectangle 11"/>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AD3434"/>
                </a:solidFill>
                <a:latin typeface="Arial"/>
              </a:rPr>
              <a:t>Kết quả phát triển ≠ đã bảo đảm vận hành hoặc dự đoán tốt mọi ngày tới 72 giờ.</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24</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Thông điệp có thể dùng khi báo cáo giảng viên</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PBL6 • Development 2021–2023 • Vùng 93 ô xấp xỉ • Test 2025 giữ kín</a:t>
            </a:r>
          </a:p>
        </p:txBody>
      </p:sp>
      <p:sp>
        <p:nvSpPr>
          <p:cNvPr id="6" name="TextBox 5"/>
          <p:cNvSpPr txBox="1"/>
          <p:nvPr/>
        </p:nvSpPr>
        <p:spPr>
          <a:xfrm>
            <a:off x="685800" y="1554480"/>
            <a:ext cx="10835640" cy="3611880"/>
          </a:xfrm>
          <a:prstGeom prst="rect">
            <a:avLst/>
          </a:prstGeom>
          <a:noFill/>
        </p:spPr>
        <p:txBody>
          <a:bodyPr wrap="square" lIns="0" rIns="0" tIns="0" bIns="0" anchor="t">
            <a:spAutoFit/>
          </a:bodyPr>
          <a:lstStyle/>
          <a:p>
            <a:pPr algn="l">
              <a:lnSpc>
                <a:spcPct val="112000"/>
              </a:lnSpc>
              <a:spcBef>
                <a:spcPts val="0"/>
              </a:spcBef>
              <a:spcAft>
                <a:spcPts val="0"/>
              </a:spcAft>
            </a:pPr>
            <a:r>
              <a:rPr sz="2500" b="0">
                <a:solidFill>
                  <a:srgbClr val="123047"/>
                </a:solidFill>
                <a:latin typeface="Arial"/>
              </a:rPr>
              <a:t>1. LightGBM có cơ sở nghiên cứu mưa và là đối chứng đã huấn luyện.</a:t>
            </a:r>
          </a:p>
          <a:p>
            <a:pPr algn="l">
              <a:lnSpc>
                <a:spcPct val="112000"/>
              </a:lnSpc>
              <a:spcBef>
                <a:spcPts val="0"/>
              </a:spcBef>
              <a:spcAft>
                <a:spcPts val="0"/>
              </a:spcAft>
            </a:pPr>
          </a:p>
          <a:p>
            <a:pPr algn="l">
              <a:lnSpc>
                <a:spcPct val="112000"/>
              </a:lnSpc>
              <a:spcBef>
                <a:spcPts val="0"/>
              </a:spcBef>
              <a:spcAft>
                <a:spcPts val="0"/>
              </a:spcAft>
            </a:pPr>
            <a:r>
              <a:rPr sz="2500" b="0">
                <a:solidFill>
                  <a:srgbClr val="123047"/>
                </a:solidFill>
                <a:latin typeface="Arial"/>
              </a:rPr>
              <a:t>2. POD/FAR cần thiết, nhưng phải đi cùng CSI, BSS và sai số lượng mm.</a:t>
            </a:r>
          </a:p>
          <a:p>
            <a:pPr algn="l">
              <a:lnSpc>
                <a:spcPct val="112000"/>
              </a:lnSpc>
              <a:spcBef>
                <a:spcPts val="0"/>
              </a:spcBef>
              <a:spcAft>
                <a:spcPts val="0"/>
              </a:spcAft>
            </a:pPr>
          </a:p>
          <a:p>
            <a:pPr algn="l">
              <a:lnSpc>
                <a:spcPct val="112000"/>
              </a:lnSpc>
              <a:spcBef>
                <a:spcPts val="0"/>
              </a:spcBef>
              <a:spcAft>
                <a:spcPts val="0"/>
              </a:spcAft>
            </a:pPr>
            <a:r>
              <a:rPr sz="2500" b="0">
                <a:solidFill>
                  <a:srgbClr val="123047"/>
                </a:solidFill>
                <a:latin typeface="Arial"/>
              </a:rPr>
              <a:t>3. A/M có tín hiệu ngày 1; ngày 3 hiện chưa vượt khí hậu tham chiếu.</a:t>
            </a:r>
          </a:p>
        </p:txBody>
      </p:sp>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2000" b="1">
                <a:solidFill>
                  <a:srgbClr val="087E8B"/>
                </a:solidFill>
                <a:latin typeface="Arial"/>
              </a:rPr>
              <a:t>Phụ lục tiếp theo: đủ 48 dòng kết quả, 44 biến và nguồn sơ cấp.</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BẢNG KẾT QUẢ ĐẦY ĐỦ</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25</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1 · TFT ensemble 3 seed · đủ E0–E7</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dự án: scores_ensemble_pooled.csv • Ngưỡng 16 mm/24h • Development, chưa phải test 2025</a:t>
            </a:r>
          </a:p>
        </p:txBody>
      </p:sp>
      <p:graphicFrame>
        <p:nvGraphicFramePr>
          <p:cNvPr id="6" name="Table 5"/>
          <p:cNvGraphicFramePr>
            <a:graphicFrameLocks noGrp="1"/>
          </p:cNvGraphicFramePr>
          <p:nvPr/>
        </p:nvGraphicFramePr>
        <p:xfrm>
          <a:off x="502920" y="1508760"/>
          <a:ext cx="11201400" cy="3950208"/>
        </p:xfrm>
        <a:graphic>
          <a:graphicData uri="http://schemas.openxmlformats.org/drawingml/2006/table">
            <a:tbl>
              <a:tblPr firstRow="1" bandRow="1">
                <a:tableStyleId>{5C22544A-7EE6-4342-B048-85BDC9FD1C3A}</a:tableStyleId>
              </a:tblPr>
              <a:tblGrid>
                <a:gridCol w="576072"/>
                <a:gridCol w="1517904"/>
                <a:gridCol w="1517904"/>
                <a:gridCol w="1517904"/>
                <a:gridCol w="1517904"/>
                <a:gridCol w="1517904"/>
                <a:gridCol w="1517904"/>
                <a:gridCol w="1517904"/>
              </a:tblGrid>
              <a:tr h="438912">
                <a:tc>
                  <a:txBody>
                    <a:bodyPr/>
                    <a:lstStyle/>
                    <a:p>
                      <a:pPr algn="ctr">
                        <a:lnSpc>
                          <a:spcPct val="100000"/>
                        </a:lnSpc>
                        <a:spcBef>
                          <a:spcPts val="0"/>
                        </a:spcBef>
                        <a:spcAft>
                          <a:spcPts val="0"/>
                        </a:spcAft>
                      </a:pPr>
                      <a:r>
                        <a:rPr sz="185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FAR ↓</a:t>
                      </a:r>
                    </a:p>
                  </a:txBody>
                  <a:tcPr marL="50292" marR="50292" marT="32004" marB="32004" anchor="ctr">
                    <a:solidFill>
                      <a:srgbClr val="123047"/>
                    </a:solidFill>
                  </a:tcPr>
                </a:tc>
              </a:tr>
              <a:tr h="438912">
                <a:tc>
                  <a:txBody>
                    <a:bodyPr/>
                    <a:lstStyle/>
                    <a:p>
                      <a:pPr algn="ctr">
                        <a:lnSpc>
                          <a:spcPct val="100000"/>
                        </a:lnSpc>
                        <a:spcBef>
                          <a:spcPts val="0"/>
                        </a:spcBef>
                        <a:spcAft>
                          <a:spcPts val="0"/>
                        </a:spcAft>
                      </a:pPr>
                      <a:r>
                        <a:rPr sz="185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20.720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7.090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-2.484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0.135</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0.357</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0.570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0.511</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20.531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6.737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-2.819</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0.221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0.395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1">
                          <a:solidFill>
                            <a:srgbClr val="087E8B"/>
                          </a:solidFill>
                          <a:latin typeface="Arial"/>
                        </a:rPr>
                        <a:t>0.640</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0.493</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20.341</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6.610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-2.807</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0.280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0.403</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0.640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0.479</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20.737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7.015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-2.802</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0.133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0.344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0.579</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0.542</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20.438</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6.728</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-2.516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0.237</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0.426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0.632</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0.433</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20.578</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6.767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-2.944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0.171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0.364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0.596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0.518</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20.269</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6.575</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-2.879</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0.280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0.423</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0.553</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0.357</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20.361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6.695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-2.710</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0.246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0.406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1">
                          <a:solidFill>
                            <a:srgbClr val="087E8B"/>
                          </a:solidFill>
                          <a:latin typeface="Arial"/>
                        </a:rPr>
                        <a:t>0.640</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0.475</a:t>
                      </a:r>
                    </a:p>
                  </a:txBody>
                  <a:tcPr marL="50292" marR="50292" marT="32004" marB="32004" anchor="ctr">
                    <a:solidFill>
                      <a:srgbClr val="EDF2F7"/>
                    </a:solidFill>
                  </a:tcPr>
                </a:tc>
              </a:tr>
            </a:tbl>
          </a:graphicData>
        </a:graphic>
      </p:graphicFrame>
      <p:sp>
        <p:nvSpPr>
          <p:cNvPr id="7" name="Rectangle 6"/>
          <p:cNvSpPr/>
          <p:nvPr/>
        </p:nvSpPr>
        <p:spPr>
          <a:xfrm>
            <a:off x="502920" y="5641848"/>
            <a:ext cx="11201400" cy="484632"/>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733288"/>
            <a:ext cx="10927080" cy="374904"/>
          </a:xfrm>
          <a:prstGeom prst="rect">
            <a:avLst/>
          </a:prstGeom>
          <a:noFill/>
        </p:spPr>
        <p:txBody>
          <a:bodyPr wrap="square" lIns="0" rIns="0" tIns="0" bIns="0" anchor="t">
            <a:spAutoFit/>
          </a:bodyPr>
          <a:lstStyle/>
          <a:p>
            <a:pPr algn="l">
              <a:lnSpc>
                <a:spcPct val="112000"/>
              </a:lnSpc>
              <a:spcBef>
                <a:spcPts val="0"/>
              </a:spcBef>
              <a:spcAft>
                <a:spcPts val="0"/>
              </a:spcAft>
            </a:pPr>
            <a:r>
              <a:rPr sz="1660" b="1">
                <a:solidFill>
                  <a:srgbClr val="087E8B"/>
                </a:solidFill>
                <a:latin typeface="Arial"/>
              </a:rPr>
              <a:t>Đậm: tốt nhất trong cột ở số hiển thị, cùng đậm nếu bằng nhau; chưa là ý nghĩa thống kê.</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BẢNG KẾT QUẢ ĐẦY ĐỦ</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26</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1 · LightGBM xác định · đủ E0–E7</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dự án: scores_ensemble_pooled.csv • Ngưỡng 16 mm/24h • Development, chưa phải test 2025</a:t>
            </a:r>
          </a:p>
        </p:txBody>
      </p:sp>
      <p:graphicFrame>
        <p:nvGraphicFramePr>
          <p:cNvPr id="6" name="Table 5"/>
          <p:cNvGraphicFramePr>
            <a:graphicFrameLocks noGrp="1"/>
          </p:cNvGraphicFramePr>
          <p:nvPr/>
        </p:nvGraphicFramePr>
        <p:xfrm>
          <a:off x="502920" y="1508760"/>
          <a:ext cx="11201400" cy="3950208"/>
        </p:xfrm>
        <a:graphic>
          <a:graphicData uri="http://schemas.openxmlformats.org/drawingml/2006/table">
            <a:tbl>
              <a:tblPr firstRow="1" bandRow="1">
                <a:tableStyleId>{5C22544A-7EE6-4342-B048-85BDC9FD1C3A}</a:tableStyleId>
              </a:tblPr>
              <a:tblGrid>
                <a:gridCol w="576072"/>
                <a:gridCol w="1517904"/>
                <a:gridCol w="1517904"/>
                <a:gridCol w="1517904"/>
                <a:gridCol w="1517904"/>
                <a:gridCol w="1517904"/>
                <a:gridCol w="1517904"/>
                <a:gridCol w="1517904"/>
              </a:tblGrid>
              <a:tr h="438912">
                <a:tc>
                  <a:txBody>
                    <a:bodyPr/>
                    <a:lstStyle/>
                    <a:p>
                      <a:pPr algn="ctr">
                        <a:lnSpc>
                          <a:spcPct val="100000"/>
                        </a:lnSpc>
                        <a:spcBef>
                          <a:spcPts val="0"/>
                        </a:spcBef>
                        <a:spcAft>
                          <a:spcPts val="0"/>
                        </a:spcAft>
                      </a:pPr>
                      <a:r>
                        <a:rPr sz="185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FAR ↓</a:t>
                      </a:r>
                    </a:p>
                  </a:txBody>
                  <a:tcPr marL="50292" marR="50292" marT="32004" marB="32004" anchor="ctr">
                    <a:solidFill>
                      <a:srgbClr val="123047"/>
                    </a:solidFill>
                  </a:tcPr>
                </a:tc>
              </a:tr>
              <a:tr h="438912">
                <a:tc>
                  <a:txBody>
                    <a:bodyPr/>
                    <a:lstStyle/>
                    <a:p>
                      <a:pPr algn="ctr">
                        <a:lnSpc>
                          <a:spcPct val="100000"/>
                        </a:lnSpc>
                        <a:spcBef>
                          <a:spcPts val="0"/>
                        </a:spcBef>
                        <a:spcAft>
                          <a:spcPts val="0"/>
                        </a:spcAft>
                      </a:pPr>
                      <a:r>
                        <a:rPr sz="185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19.379</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6.474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-2.407</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0.144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0.295</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0.430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0.515</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18.205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5.963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-2.086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0.264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0.422</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0.640</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0.447</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17.701</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5.746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-2.126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0.283</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0.396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0.465</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0.274</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19.040</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6.327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-2.294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0.175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0.314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0.421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0.448</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17.775</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5.758</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-2.111</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0.315</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0.426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0.553</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0.351</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18.012</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5.940</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-2.010</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0.282</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0.413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1">
                          <a:solidFill>
                            <a:srgbClr val="087E8B"/>
                          </a:solidFill>
                          <a:latin typeface="Arial"/>
                        </a:rPr>
                        <a:t>0.649</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0.468</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17.706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5.795</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-1.976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0.306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0.409</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0.570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0.409</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17.706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1">
                          <a:solidFill>
                            <a:srgbClr val="087E8B"/>
                          </a:solidFill>
                          <a:latin typeface="Arial"/>
                        </a:rPr>
                        <a:t>5.731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-2.003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0.303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0.411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0.526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0.348</a:t>
                      </a:r>
                    </a:p>
                  </a:txBody>
                  <a:tcPr marL="50292" marR="50292" marT="32004" marB="32004" anchor="ctr">
                    <a:solidFill>
                      <a:srgbClr val="EDF2F7"/>
                    </a:solidFill>
                  </a:tcPr>
                </a:tc>
              </a:tr>
            </a:tbl>
          </a:graphicData>
        </a:graphic>
      </p:graphicFrame>
      <p:sp>
        <p:nvSpPr>
          <p:cNvPr id="7" name="Rectangle 6"/>
          <p:cNvSpPr/>
          <p:nvPr/>
        </p:nvSpPr>
        <p:spPr>
          <a:xfrm>
            <a:off x="502920" y="5641848"/>
            <a:ext cx="11201400" cy="484632"/>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733288"/>
            <a:ext cx="10927080" cy="374904"/>
          </a:xfrm>
          <a:prstGeom prst="rect">
            <a:avLst/>
          </a:prstGeom>
          <a:noFill/>
        </p:spPr>
        <p:txBody>
          <a:bodyPr wrap="square" lIns="0" rIns="0" tIns="0" bIns="0" anchor="t">
            <a:spAutoFit/>
          </a:bodyPr>
          <a:lstStyle/>
          <a:p>
            <a:pPr algn="l">
              <a:lnSpc>
                <a:spcPct val="112000"/>
              </a:lnSpc>
              <a:spcBef>
                <a:spcPts val="0"/>
              </a:spcBef>
              <a:spcAft>
                <a:spcPts val="0"/>
              </a:spcAft>
            </a:pPr>
            <a:r>
              <a:rPr sz="1660" b="1">
                <a:solidFill>
                  <a:srgbClr val="087E8B"/>
                </a:solidFill>
                <a:latin typeface="Arial"/>
              </a:rPr>
              <a:t>Đậm: tốt nhất trong cột ở số hiển thị, cùng đậm nếu bằng nhau; chưa là ý nghĩa thống kê.</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BẢNG KẾT QUẢ ĐẦY ĐỦ</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27</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2 · TFT ensemble 3 seed · đủ E0–E7</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dự án: scores_ensemble_pooled.csv • Ngưỡng 16 mm/24h • Development, chưa phải test 2025</a:t>
            </a:r>
          </a:p>
        </p:txBody>
      </p:sp>
      <p:graphicFrame>
        <p:nvGraphicFramePr>
          <p:cNvPr id="6" name="Table 5"/>
          <p:cNvGraphicFramePr>
            <a:graphicFrameLocks noGrp="1"/>
          </p:cNvGraphicFramePr>
          <p:nvPr/>
        </p:nvGraphicFramePr>
        <p:xfrm>
          <a:off x="502920" y="1508760"/>
          <a:ext cx="11201400" cy="3950208"/>
        </p:xfrm>
        <a:graphic>
          <a:graphicData uri="http://schemas.openxmlformats.org/drawingml/2006/table">
            <a:tbl>
              <a:tblPr firstRow="1" bandRow="1">
                <a:tableStyleId>{5C22544A-7EE6-4342-B048-85BDC9FD1C3A}</a:tableStyleId>
              </a:tblPr>
              <a:tblGrid>
                <a:gridCol w="576072"/>
                <a:gridCol w="1517904"/>
                <a:gridCol w="1517904"/>
                <a:gridCol w="1517904"/>
                <a:gridCol w="1517904"/>
                <a:gridCol w="1517904"/>
                <a:gridCol w="1517904"/>
                <a:gridCol w="1517904"/>
              </a:tblGrid>
              <a:tr h="438912">
                <a:tc>
                  <a:txBody>
                    <a:bodyPr/>
                    <a:lstStyle/>
                    <a:p>
                      <a:pPr algn="ctr">
                        <a:lnSpc>
                          <a:spcPct val="100000"/>
                        </a:lnSpc>
                        <a:spcBef>
                          <a:spcPts val="0"/>
                        </a:spcBef>
                        <a:spcAft>
                          <a:spcPts val="0"/>
                        </a:spcAft>
                      </a:pPr>
                      <a:r>
                        <a:rPr sz="185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FAR ↓</a:t>
                      </a:r>
                    </a:p>
                  </a:txBody>
                  <a:tcPr marL="50292" marR="50292" marT="32004" marB="32004" anchor="ctr">
                    <a:solidFill>
                      <a:srgbClr val="123047"/>
                    </a:solidFill>
                  </a:tcPr>
                </a:tc>
              </a:tr>
              <a:tr h="438912">
                <a:tc>
                  <a:txBody>
                    <a:bodyPr/>
                    <a:lstStyle/>
                    <a:p>
                      <a:pPr algn="ctr">
                        <a:lnSpc>
                          <a:spcPct val="100000"/>
                        </a:lnSpc>
                        <a:spcBef>
                          <a:spcPts val="0"/>
                        </a:spcBef>
                        <a:spcAft>
                          <a:spcPts val="0"/>
                        </a:spcAft>
                      </a:pPr>
                      <a:r>
                        <a:rPr sz="185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21.149</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7.710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-2.054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0.018</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0.252</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0.491</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0.659</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21.087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7.476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-2.349</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0.041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0.243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0.439</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0.648</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21.044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7.409</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-2.351</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0.047</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0.254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0.395</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0.583</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21.151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7.487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-2.445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0.027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0.242</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0.482</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0.673</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21.125</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7.648</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-1.980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0.023</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0.257</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0.430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0.611</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21.089</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7.521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-2.400</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0.026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0.247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0.474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0.660</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20.958</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7.354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-2.455</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0.054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0.246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0.368</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0.576</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21.018</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7.566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-2.105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0.028</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1">
                          <a:solidFill>
                            <a:srgbClr val="087E8B"/>
                          </a:solidFill>
                          <a:latin typeface="Arial"/>
                        </a:rPr>
                        <a:t>0.257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1">
                          <a:solidFill>
                            <a:srgbClr val="087E8B"/>
                          </a:solidFill>
                          <a:latin typeface="Arial"/>
                        </a:rPr>
                        <a:t>0.509</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0.659</a:t>
                      </a:r>
                    </a:p>
                  </a:txBody>
                  <a:tcPr marL="50292" marR="50292" marT="32004" marB="32004" anchor="ctr">
                    <a:solidFill>
                      <a:srgbClr val="EDF2F7"/>
                    </a:solidFill>
                  </a:tcPr>
                </a:tc>
              </a:tr>
            </a:tbl>
          </a:graphicData>
        </a:graphic>
      </p:graphicFrame>
      <p:sp>
        <p:nvSpPr>
          <p:cNvPr id="7" name="Rectangle 6"/>
          <p:cNvSpPr/>
          <p:nvPr/>
        </p:nvSpPr>
        <p:spPr>
          <a:xfrm>
            <a:off x="502920" y="5641848"/>
            <a:ext cx="11201400" cy="484632"/>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733288"/>
            <a:ext cx="10927080" cy="374904"/>
          </a:xfrm>
          <a:prstGeom prst="rect">
            <a:avLst/>
          </a:prstGeom>
          <a:noFill/>
        </p:spPr>
        <p:txBody>
          <a:bodyPr wrap="square" lIns="0" rIns="0" tIns="0" bIns="0" anchor="t">
            <a:spAutoFit/>
          </a:bodyPr>
          <a:lstStyle/>
          <a:p>
            <a:pPr algn="l">
              <a:lnSpc>
                <a:spcPct val="112000"/>
              </a:lnSpc>
              <a:spcBef>
                <a:spcPts val="0"/>
              </a:spcBef>
              <a:spcAft>
                <a:spcPts val="0"/>
              </a:spcAft>
            </a:pPr>
            <a:r>
              <a:rPr sz="1660" b="1">
                <a:solidFill>
                  <a:srgbClr val="087E8B"/>
                </a:solidFill>
                <a:latin typeface="Arial"/>
              </a:rPr>
              <a:t>Đậm: tốt nhất trong cột ở số hiển thị, cùng đậm nếu bằng nhau; chưa là ý nghĩa thống kê.</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BẢNG KẾT QUẢ ĐẦY ĐỦ</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28</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2 · LightGBM xác định · đủ E0–E7</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dự án: scores_ensemble_pooled.csv • Ngưỡng 16 mm/24h • Development, chưa phải test 2025</a:t>
            </a:r>
          </a:p>
        </p:txBody>
      </p:sp>
      <p:graphicFrame>
        <p:nvGraphicFramePr>
          <p:cNvPr id="6" name="Table 5"/>
          <p:cNvGraphicFramePr>
            <a:graphicFrameLocks noGrp="1"/>
          </p:cNvGraphicFramePr>
          <p:nvPr/>
        </p:nvGraphicFramePr>
        <p:xfrm>
          <a:off x="502920" y="1508760"/>
          <a:ext cx="11201400" cy="3950208"/>
        </p:xfrm>
        <a:graphic>
          <a:graphicData uri="http://schemas.openxmlformats.org/drawingml/2006/table">
            <a:tbl>
              <a:tblPr firstRow="1" bandRow="1">
                <a:tableStyleId>{5C22544A-7EE6-4342-B048-85BDC9FD1C3A}</a:tableStyleId>
              </a:tblPr>
              <a:tblGrid>
                <a:gridCol w="576072"/>
                <a:gridCol w="1517904"/>
                <a:gridCol w="1517904"/>
                <a:gridCol w="1517904"/>
                <a:gridCol w="1517904"/>
                <a:gridCol w="1517904"/>
                <a:gridCol w="1517904"/>
                <a:gridCol w="1517904"/>
              </a:tblGrid>
              <a:tr h="438912">
                <a:tc>
                  <a:txBody>
                    <a:bodyPr/>
                    <a:lstStyle/>
                    <a:p>
                      <a:pPr algn="ctr">
                        <a:lnSpc>
                          <a:spcPct val="100000"/>
                        </a:lnSpc>
                        <a:spcBef>
                          <a:spcPts val="0"/>
                        </a:spcBef>
                        <a:spcAft>
                          <a:spcPts val="0"/>
                        </a:spcAft>
                      </a:pPr>
                      <a:r>
                        <a:rPr sz="185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FAR ↓</a:t>
                      </a:r>
                    </a:p>
                  </a:txBody>
                  <a:tcPr marL="50292" marR="50292" marT="32004" marB="32004" anchor="ctr">
                    <a:solidFill>
                      <a:srgbClr val="123047"/>
                    </a:solidFill>
                  </a:tcPr>
                </a:tc>
              </a:tr>
              <a:tr h="438912">
                <a:tc>
                  <a:txBody>
                    <a:bodyPr/>
                    <a:lstStyle/>
                    <a:p>
                      <a:pPr algn="ctr">
                        <a:lnSpc>
                          <a:spcPct val="100000"/>
                        </a:lnSpc>
                        <a:spcBef>
                          <a:spcPts val="0"/>
                        </a:spcBef>
                        <a:spcAft>
                          <a:spcPts val="0"/>
                        </a:spcAft>
                      </a:pPr>
                      <a:r>
                        <a:rPr sz="185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21.204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7.415</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-2.701</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AD3434"/>
                          </a:solidFill>
                          <a:latin typeface="Arial"/>
                        </a:rPr>
                        <a:t>-0.015</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0.243</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0.535</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0.692</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21.374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7.502</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-2.726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AD3434"/>
                          </a:solidFill>
                          <a:latin typeface="Arial"/>
                        </a:rPr>
                        <a:t>-0.034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0.218</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0.404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0.678</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20.579</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7.093</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-2.633</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0.060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0.276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0.439</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0.573</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21.152</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7.473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-2.553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AD3434"/>
                          </a:solidFill>
                          <a:latin typeface="Arial"/>
                        </a:rPr>
                        <a:t>-0.038</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0.247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0.482</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0.665</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20.758</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7.169</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-2.661</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0.046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0.295</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0.500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0.581</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21.351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7.509</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-2.651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AD3434"/>
                          </a:solidFill>
                          <a:latin typeface="Arial"/>
                        </a:rPr>
                        <a:t>-0.035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0.252</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0.491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0.659</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20.631</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7.130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-2.592</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0.056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0.251</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0.421</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0.616</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20.756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7.238</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1">
                          <a:solidFill>
                            <a:srgbClr val="087E8B"/>
                          </a:solidFill>
                          <a:latin typeface="Arial"/>
                        </a:rPr>
                        <a:t>-2.551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0.043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0.277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0.456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0.587</a:t>
                      </a:r>
                    </a:p>
                  </a:txBody>
                  <a:tcPr marL="50292" marR="50292" marT="32004" marB="32004" anchor="ctr">
                    <a:solidFill>
                      <a:srgbClr val="EDF2F7"/>
                    </a:solidFill>
                  </a:tcPr>
                </a:tc>
              </a:tr>
            </a:tbl>
          </a:graphicData>
        </a:graphic>
      </p:graphicFrame>
      <p:sp>
        <p:nvSpPr>
          <p:cNvPr id="7" name="Rectangle 6"/>
          <p:cNvSpPr/>
          <p:nvPr/>
        </p:nvSpPr>
        <p:spPr>
          <a:xfrm>
            <a:off x="502920" y="5641848"/>
            <a:ext cx="11201400" cy="484632"/>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733288"/>
            <a:ext cx="10927080" cy="374904"/>
          </a:xfrm>
          <a:prstGeom prst="rect">
            <a:avLst/>
          </a:prstGeom>
          <a:noFill/>
        </p:spPr>
        <p:txBody>
          <a:bodyPr wrap="square" lIns="0" rIns="0" tIns="0" bIns="0" anchor="t">
            <a:spAutoFit/>
          </a:bodyPr>
          <a:lstStyle/>
          <a:p>
            <a:pPr algn="l">
              <a:lnSpc>
                <a:spcPct val="112000"/>
              </a:lnSpc>
              <a:spcBef>
                <a:spcPts val="0"/>
              </a:spcBef>
              <a:spcAft>
                <a:spcPts val="0"/>
              </a:spcAft>
            </a:pPr>
            <a:r>
              <a:rPr sz="1660" b="1">
                <a:solidFill>
                  <a:srgbClr val="087E8B"/>
                </a:solidFill>
                <a:latin typeface="Arial"/>
              </a:rPr>
              <a:t>Đậm: tốt nhất trong cột ở số hiển thị, cùng đậm nếu bằng nhau; chưa là ý nghĩa thống kê.</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BẢNG KẾT QUẢ ĐẦY ĐỦ</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29</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3 · TFT ensemble 3 seed · đủ E0–E7</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dự án: scores_ensemble_pooled.csv • Ngưỡng 16 mm/24h • Development, chưa phải test 2025</a:t>
            </a:r>
          </a:p>
        </p:txBody>
      </p:sp>
      <p:graphicFrame>
        <p:nvGraphicFramePr>
          <p:cNvPr id="6" name="Table 5"/>
          <p:cNvGraphicFramePr>
            <a:graphicFrameLocks noGrp="1"/>
          </p:cNvGraphicFramePr>
          <p:nvPr/>
        </p:nvGraphicFramePr>
        <p:xfrm>
          <a:off x="502920" y="1508760"/>
          <a:ext cx="11201400" cy="3950208"/>
        </p:xfrm>
        <a:graphic>
          <a:graphicData uri="http://schemas.openxmlformats.org/drawingml/2006/table">
            <a:tbl>
              <a:tblPr firstRow="1" bandRow="1">
                <a:tableStyleId>{5C22544A-7EE6-4342-B048-85BDC9FD1C3A}</a:tableStyleId>
              </a:tblPr>
              <a:tblGrid>
                <a:gridCol w="576072"/>
                <a:gridCol w="1517904"/>
                <a:gridCol w="1517904"/>
                <a:gridCol w="1517904"/>
                <a:gridCol w="1517904"/>
                <a:gridCol w="1517904"/>
                <a:gridCol w="1517904"/>
                <a:gridCol w="1517904"/>
              </a:tblGrid>
              <a:tr h="438912">
                <a:tc>
                  <a:txBody>
                    <a:bodyPr/>
                    <a:lstStyle/>
                    <a:p>
                      <a:pPr algn="ctr">
                        <a:lnSpc>
                          <a:spcPct val="100000"/>
                        </a:lnSpc>
                        <a:spcBef>
                          <a:spcPts val="0"/>
                        </a:spcBef>
                        <a:spcAft>
                          <a:spcPts val="0"/>
                        </a:spcAft>
                      </a:pPr>
                      <a:r>
                        <a:rPr sz="185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FAR ↓</a:t>
                      </a:r>
                    </a:p>
                  </a:txBody>
                  <a:tcPr marL="50292" marR="50292" marT="32004" marB="32004" anchor="ctr">
                    <a:solidFill>
                      <a:srgbClr val="123047"/>
                    </a:solidFill>
                  </a:tcPr>
                </a:tc>
              </a:tr>
              <a:tr h="438912">
                <a:tc>
                  <a:txBody>
                    <a:bodyPr/>
                    <a:lstStyle/>
                    <a:p>
                      <a:pPr algn="ctr">
                        <a:lnSpc>
                          <a:spcPct val="100000"/>
                        </a:lnSpc>
                        <a:spcBef>
                          <a:spcPts val="0"/>
                        </a:spcBef>
                        <a:spcAft>
                          <a:spcPts val="0"/>
                        </a:spcAft>
                      </a:pPr>
                      <a:r>
                        <a:rPr sz="185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21.292</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8.130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-1.612</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AD3434"/>
                          </a:solidFill>
                          <a:latin typeface="Arial"/>
                        </a:rPr>
                        <a:t>-0.034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0.197</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0.412</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0.725</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21.287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7.947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-1.935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AD3434"/>
                          </a:solidFill>
                          <a:latin typeface="Arial"/>
                        </a:rPr>
                        <a:t>-0.028</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1">
                          <a:solidFill>
                            <a:srgbClr val="087E8B"/>
                          </a:solidFill>
                          <a:latin typeface="Arial"/>
                        </a:rPr>
                        <a:t>0.231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1">
                          <a:solidFill>
                            <a:srgbClr val="087E8B"/>
                          </a:solidFill>
                          <a:latin typeface="Arial"/>
                        </a:rPr>
                        <a:t>0.544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0.713</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21.344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7.985</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-1.797</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AD3434"/>
                          </a:solidFill>
                          <a:latin typeface="Arial"/>
                        </a:rPr>
                        <a:t>-0.030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0.206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0.412</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0.708</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21.270</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1">
                          <a:solidFill>
                            <a:srgbClr val="087E8B"/>
                          </a:solidFill>
                          <a:latin typeface="Arial"/>
                        </a:rPr>
                        <a:t>7.849</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-2.124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AD3434"/>
                          </a:solidFill>
                          <a:latin typeface="Arial"/>
                        </a:rPr>
                        <a:t>-0.026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0.206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0.474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0.733</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21.383</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8.188</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-1.459</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AD3434"/>
                          </a:solidFill>
                          <a:latin typeface="Arial"/>
                        </a:rPr>
                        <a:t>-0.029</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0.221</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0.509</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0.718</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21.246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7.996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-1.838</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AD3434"/>
                          </a:solidFill>
                          <a:latin typeface="Arial"/>
                        </a:rPr>
                        <a:t>-0.028</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0.196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0.456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0.744</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21.237</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7.926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-1.886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AD3434"/>
                          </a:solidFill>
                          <a:latin typeface="Arial"/>
                        </a:rPr>
                        <a:t>-0.016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0.227</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0.491</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0.704</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21.321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8.104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-1.565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AD3434"/>
                          </a:solidFill>
                          <a:latin typeface="Arial"/>
                        </a:rPr>
                        <a:t>-0.038</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0.201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0.412</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0.719</a:t>
                      </a:r>
                    </a:p>
                  </a:txBody>
                  <a:tcPr marL="50292" marR="50292" marT="32004" marB="32004" anchor="ctr">
                    <a:solidFill>
                      <a:srgbClr val="EDF2F7"/>
                    </a:solidFill>
                  </a:tcPr>
                </a:tc>
              </a:tr>
            </a:tbl>
          </a:graphicData>
        </a:graphic>
      </p:graphicFrame>
      <p:sp>
        <p:nvSpPr>
          <p:cNvPr id="7" name="Rectangle 6"/>
          <p:cNvSpPr/>
          <p:nvPr/>
        </p:nvSpPr>
        <p:spPr>
          <a:xfrm>
            <a:off x="502920" y="5641848"/>
            <a:ext cx="11201400" cy="484632"/>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733288"/>
            <a:ext cx="10927080" cy="374904"/>
          </a:xfrm>
          <a:prstGeom prst="rect">
            <a:avLst/>
          </a:prstGeom>
          <a:noFill/>
        </p:spPr>
        <p:txBody>
          <a:bodyPr wrap="square" lIns="0" rIns="0" tIns="0" bIns="0" anchor="t">
            <a:spAutoFit/>
          </a:bodyPr>
          <a:lstStyle/>
          <a:p>
            <a:pPr algn="l">
              <a:lnSpc>
                <a:spcPct val="112000"/>
              </a:lnSpc>
              <a:spcBef>
                <a:spcPts val="0"/>
              </a:spcBef>
              <a:spcAft>
                <a:spcPts val="0"/>
              </a:spcAft>
            </a:pPr>
            <a:r>
              <a:rPr sz="1660" b="1">
                <a:solidFill>
                  <a:srgbClr val="087E8B"/>
                </a:solidFill>
                <a:latin typeface="Arial"/>
              </a:rPr>
              <a:t>Đậm: tốt nhất trong cột ở số hiển thị, cùng đậm nếu bằng nhau; chưa là ý nghĩa thống kê.</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BẢNG KẾT QUẢ ĐẦY ĐỦ</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30</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3 · LightGBM xác định · đủ E0–E7</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dự án: scores_ensemble_pooled.csv • Ngưỡng 16 mm/24h • Development, chưa phải test 2025</a:t>
            </a:r>
          </a:p>
        </p:txBody>
      </p:sp>
      <p:graphicFrame>
        <p:nvGraphicFramePr>
          <p:cNvPr id="6" name="Table 5"/>
          <p:cNvGraphicFramePr>
            <a:graphicFrameLocks noGrp="1"/>
          </p:cNvGraphicFramePr>
          <p:nvPr/>
        </p:nvGraphicFramePr>
        <p:xfrm>
          <a:off x="502920" y="1508760"/>
          <a:ext cx="11201400" cy="3950208"/>
        </p:xfrm>
        <a:graphic>
          <a:graphicData uri="http://schemas.openxmlformats.org/drawingml/2006/table">
            <a:tbl>
              <a:tblPr firstRow="1" bandRow="1">
                <a:tableStyleId>{5C22544A-7EE6-4342-B048-85BDC9FD1C3A}</a:tableStyleId>
              </a:tblPr>
              <a:tblGrid>
                <a:gridCol w="576072"/>
                <a:gridCol w="1517904"/>
                <a:gridCol w="1517904"/>
                <a:gridCol w="1517904"/>
                <a:gridCol w="1517904"/>
                <a:gridCol w="1517904"/>
                <a:gridCol w="1517904"/>
                <a:gridCol w="1517904"/>
              </a:tblGrid>
              <a:tr h="438912">
                <a:tc>
                  <a:txBody>
                    <a:bodyPr/>
                    <a:lstStyle/>
                    <a:p>
                      <a:pPr algn="ctr">
                        <a:lnSpc>
                          <a:spcPct val="100000"/>
                        </a:lnSpc>
                        <a:spcBef>
                          <a:spcPts val="0"/>
                        </a:spcBef>
                        <a:spcAft>
                          <a:spcPts val="0"/>
                        </a:spcAft>
                      </a:pPr>
                      <a:r>
                        <a:rPr sz="185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FAR ↓</a:t>
                      </a:r>
                    </a:p>
                  </a:txBody>
                  <a:tcPr marL="50292" marR="50292" marT="32004" marB="32004" anchor="ctr">
                    <a:solidFill>
                      <a:srgbClr val="123047"/>
                    </a:solidFill>
                  </a:tcPr>
                </a:tc>
              </a:tr>
              <a:tr h="438912">
                <a:tc>
                  <a:txBody>
                    <a:bodyPr/>
                    <a:lstStyle/>
                    <a:p>
                      <a:pPr algn="ctr">
                        <a:lnSpc>
                          <a:spcPct val="100000"/>
                        </a:lnSpc>
                        <a:spcBef>
                          <a:spcPts val="0"/>
                        </a:spcBef>
                        <a:spcAft>
                          <a:spcPts val="0"/>
                        </a:spcAft>
                      </a:pPr>
                      <a:r>
                        <a:rPr sz="185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21.637</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7.658</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-2.780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AD3434"/>
                          </a:solidFill>
                          <a:latin typeface="Arial"/>
                        </a:rPr>
                        <a:t>-0.053</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0.173</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0.430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0.775</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21.734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7.724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-2.822</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AD3434"/>
                          </a:solidFill>
                          <a:latin typeface="Arial"/>
                        </a:rPr>
                        <a:t>-0.071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1">
                          <a:solidFill>
                            <a:srgbClr val="087E8B"/>
                          </a:solidFill>
                          <a:latin typeface="Arial"/>
                        </a:rPr>
                        <a:t>0.241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0.518</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1">
                          <a:solidFill>
                            <a:srgbClr val="087E8B"/>
                          </a:solidFill>
                          <a:latin typeface="Arial"/>
                        </a:rPr>
                        <a:t>0.689</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21.759</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7.780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-2.819</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AD3434"/>
                          </a:solidFill>
                          <a:latin typeface="Arial"/>
                        </a:rPr>
                        <a:t>-0.061</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0.205</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0.482</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0.737</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21.724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7.742</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1">
                          <a:solidFill>
                            <a:srgbClr val="087E8B"/>
                          </a:solidFill>
                          <a:latin typeface="Arial"/>
                        </a:rPr>
                        <a:t>-2.719</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1">
                          <a:solidFill>
                            <a:srgbClr val="AD3434"/>
                          </a:solidFill>
                          <a:latin typeface="Arial"/>
                        </a:rPr>
                        <a:t>-0.037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0.184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0.377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0.736</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21.642</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7.689</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-2.832</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AD3434"/>
                          </a:solidFill>
                          <a:latin typeface="Arial"/>
                        </a:rPr>
                        <a:t>-0.061</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0.211</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0.518</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0.738</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21.779</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1">
                          <a:solidFill>
                            <a:srgbClr val="087E8B"/>
                          </a:solidFill>
                          <a:latin typeface="Arial"/>
                        </a:rPr>
                        <a:t>7.649</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-2.920</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AD3434"/>
                          </a:solidFill>
                          <a:latin typeface="Arial"/>
                        </a:rPr>
                        <a:t>-0.063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0.231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1">
                          <a:solidFill>
                            <a:srgbClr val="087E8B"/>
                          </a:solidFill>
                          <a:latin typeface="Arial"/>
                        </a:rPr>
                        <a:t>0.588</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0.724</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21.807</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7.733</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-2.847</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AD3434"/>
                          </a:solidFill>
                          <a:latin typeface="Arial"/>
                        </a:rPr>
                        <a:t>-0.050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0.231</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0.544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0.713</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21.742</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7.666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-2.900</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AD3434"/>
                          </a:solidFill>
                          <a:latin typeface="Arial"/>
                        </a:rPr>
                        <a:t>-0.075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0.203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0.482</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0.741</a:t>
                      </a:r>
                    </a:p>
                  </a:txBody>
                  <a:tcPr marL="50292" marR="50292" marT="32004" marB="32004" anchor="ctr">
                    <a:solidFill>
                      <a:srgbClr val="EDF2F7"/>
                    </a:solidFill>
                  </a:tcPr>
                </a:tc>
              </a:tr>
            </a:tbl>
          </a:graphicData>
        </a:graphic>
      </p:graphicFrame>
      <p:sp>
        <p:nvSpPr>
          <p:cNvPr id="7" name="Rectangle 6"/>
          <p:cNvSpPr/>
          <p:nvPr/>
        </p:nvSpPr>
        <p:spPr>
          <a:xfrm>
            <a:off x="502920" y="5641848"/>
            <a:ext cx="11201400" cy="484632"/>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733288"/>
            <a:ext cx="10927080" cy="374904"/>
          </a:xfrm>
          <a:prstGeom prst="rect">
            <a:avLst/>
          </a:prstGeom>
          <a:noFill/>
        </p:spPr>
        <p:txBody>
          <a:bodyPr wrap="square" lIns="0" rIns="0" tIns="0" bIns="0" anchor="t">
            <a:spAutoFit/>
          </a:bodyPr>
          <a:lstStyle/>
          <a:p>
            <a:pPr algn="l">
              <a:lnSpc>
                <a:spcPct val="112000"/>
              </a:lnSpc>
              <a:spcBef>
                <a:spcPts val="0"/>
              </a:spcBef>
              <a:spcAft>
                <a:spcPts val="0"/>
              </a:spcAft>
            </a:pPr>
            <a:r>
              <a:rPr sz="1660" b="1">
                <a:solidFill>
                  <a:srgbClr val="087E8B"/>
                </a:solidFill>
                <a:latin typeface="Arial"/>
              </a:rPr>
              <a:t>Đậm: tốt nhất trong cột ở số hiển thị, cùng đậm nếu bằng nhau; chưa là ý nghĩa thống kê.</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TRA CỨU ĐẶC TRƯNG</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31</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Danh mục B và A: 23 biến</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feature_catalog.csv • Có tên cột V1 và đơn vị trong Excel 18 sheet</a:t>
            </a:r>
          </a:p>
        </p:txBody>
      </p:sp>
      <p:graphicFrame>
        <p:nvGraphicFramePr>
          <p:cNvPr id="6" name="Table 5"/>
          <p:cNvGraphicFramePr>
            <a:graphicFrameLocks noGrp="1"/>
          </p:cNvGraphicFramePr>
          <p:nvPr/>
        </p:nvGraphicFramePr>
        <p:xfrm>
          <a:off x="502920" y="1463040"/>
          <a:ext cx="5486400" cy="4160520"/>
        </p:xfrm>
        <a:graphic>
          <a:graphicData uri="http://schemas.openxmlformats.org/drawingml/2006/table">
            <a:tbl>
              <a:tblPr firstRow="1" bandRow="1">
                <a:tableStyleId>{5C22544A-7EE6-4342-B048-85BDC9FD1C3A}</a:tableStyleId>
              </a:tblPr>
              <a:tblGrid>
                <a:gridCol w="566928"/>
                <a:gridCol w="3611880"/>
                <a:gridCol w="1307592"/>
              </a:tblGrid>
              <a:tr h="320040">
                <a:tc>
                  <a:txBody>
                    <a:bodyPr/>
                    <a:lstStyle/>
                    <a:p>
                      <a:pPr algn="ctr">
                        <a:lnSpc>
                          <a:spcPct val="100000"/>
                        </a:lnSpc>
                        <a:spcBef>
                          <a:spcPts val="0"/>
                        </a:spcBef>
                        <a:spcAft>
                          <a:spcPts val="0"/>
                        </a:spcAft>
                      </a:pPr>
                      <a:r>
                        <a:rPr sz="1500" b="1">
                          <a:solidFill>
                            <a:srgbClr val="FFFFFF"/>
                          </a:solidFill>
                          <a:latin typeface="Arial"/>
                        </a:rPr>
                        <a:t>Nhóm</a:t>
                      </a:r>
                    </a:p>
                  </a:txBody>
                  <a:tcPr marL="50292" marR="50292" marT="32004" marB="32004" anchor="ctr">
                    <a:solidFill>
                      <a:srgbClr val="123047"/>
                    </a:solidFill>
                  </a:tcPr>
                </a:tc>
                <a:tc>
                  <a:txBody>
                    <a:bodyPr/>
                    <a:lstStyle/>
                    <a:p>
                      <a:pPr algn="ctr">
                        <a:lnSpc>
                          <a:spcPct val="100000"/>
                        </a:lnSpc>
                        <a:spcBef>
                          <a:spcPts val="0"/>
                        </a:spcBef>
                        <a:spcAft>
                          <a:spcPts val="0"/>
                        </a:spcAft>
                      </a:pPr>
                      <a:r>
                        <a:rPr sz="1500" b="1">
                          <a:solidFill>
                            <a:srgbClr val="FFFFFF"/>
                          </a:solidFill>
                          <a:latin typeface="Arial"/>
                        </a:rPr>
                        <a:t>Biến gốc</a:t>
                      </a:r>
                    </a:p>
                  </a:txBody>
                  <a:tcPr marL="50292" marR="50292" marT="32004" marB="32004" anchor="ctr">
                    <a:solidFill>
                      <a:srgbClr val="123047"/>
                    </a:solidFill>
                  </a:tcPr>
                </a:tc>
                <a:tc>
                  <a:txBody>
                    <a:bodyPr/>
                    <a:lstStyle/>
                    <a:p>
                      <a:pPr algn="ctr">
                        <a:lnSpc>
                          <a:spcPct val="100000"/>
                        </a:lnSpc>
                        <a:spcBef>
                          <a:spcPts val="0"/>
                        </a:spcBef>
                        <a:spcAft>
                          <a:spcPts val="0"/>
                        </a:spcAft>
                      </a:pPr>
                      <a:r>
                        <a:rPr sz="1500" b="1">
                          <a:solidFill>
                            <a:srgbClr val="FFFFFF"/>
                          </a:solidFill>
                          <a:latin typeface="Arial"/>
                        </a:rPr>
                        <a:t>Đơn vị</a:t>
                      </a:r>
                    </a:p>
                  </a:txBody>
                  <a:tcPr marL="50292" marR="50292" marT="32004" marB="32004" anchor="ctr">
                    <a:solidFill>
                      <a:srgbClr val="123047"/>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t2m_c</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°C</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td2m_c</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°C</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rh2m_pct</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sp_hpa</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hPa</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mslp_hpa</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hPa</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u10</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m/s</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v10</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m/s</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sin_hour</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dimensionless</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cos_hour</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dimensionless</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sin_doy</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dimensionless</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cos_doy</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dimensionless</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cape</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J/kg</a:t>
                      </a:r>
                    </a:p>
                  </a:txBody>
                  <a:tcPr marL="50292" marR="50292" marT="32004" marB="32004" anchor="ctr">
                    <a:solidFill>
                      <a:srgbClr val="EDF2F7"/>
                    </a:solidFill>
                  </a:tcPr>
                </a:tc>
              </a:tr>
            </a:tbl>
          </a:graphicData>
        </a:graphic>
      </p:graphicFrame>
      <p:graphicFrame>
        <p:nvGraphicFramePr>
          <p:cNvPr id="7" name="Table 6"/>
          <p:cNvGraphicFramePr>
            <a:graphicFrameLocks noGrp="1"/>
          </p:cNvGraphicFramePr>
          <p:nvPr/>
        </p:nvGraphicFramePr>
        <p:xfrm>
          <a:off x="6217920" y="1463040"/>
          <a:ext cx="5486400" cy="3840480"/>
        </p:xfrm>
        <a:graphic>
          <a:graphicData uri="http://schemas.openxmlformats.org/drawingml/2006/table">
            <a:tbl>
              <a:tblPr firstRow="1" bandRow="1">
                <a:tableStyleId>{5C22544A-7EE6-4342-B048-85BDC9FD1C3A}</a:tableStyleId>
              </a:tblPr>
              <a:tblGrid>
                <a:gridCol w="566928"/>
                <a:gridCol w="3611880"/>
                <a:gridCol w="1307592"/>
              </a:tblGrid>
              <a:tr h="320040">
                <a:tc>
                  <a:txBody>
                    <a:bodyPr/>
                    <a:lstStyle/>
                    <a:p>
                      <a:pPr algn="ctr">
                        <a:lnSpc>
                          <a:spcPct val="100000"/>
                        </a:lnSpc>
                        <a:spcBef>
                          <a:spcPts val="0"/>
                        </a:spcBef>
                        <a:spcAft>
                          <a:spcPts val="0"/>
                        </a:spcAft>
                      </a:pPr>
                      <a:r>
                        <a:rPr sz="1500" b="1">
                          <a:solidFill>
                            <a:srgbClr val="FFFFFF"/>
                          </a:solidFill>
                          <a:latin typeface="Arial"/>
                        </a:rPr>
                        <a:t>Nhóm</a:t>
                      </a:r>
                    </a:p>
                  </a:txBody>
                  <a:tcPr marL="50292" marR="50292" marT="32004" marB="32004" anchor="ctr">
                    <a:solidFill>
                      <a:srgbClr val="123047"/>
                    </a:solidFill>
                  </a:tcPr>
                </a:tc>
                <a:tc>
                  <a:txBody>
                    <a:bodyPr/>
                    <a:lstStyle/>
                    <a:p>
                      <a:pPr algn="ctr">
                        <a:lnSpc>
                          <a:spcPct val="100000"/>
                        </a:lnSpc>
                        <a:spcBef>
                          <a:spcPts val="0"/>
                        </a:spcBef>
                        <a:spcAft>
                          <a:spcPts val="0"/>
                        </a:spcAft>
                      </a:pPr>
                      <a:r>
                        <a:rPr sz="1500" b="1">
                          <a:solidFill>
                            <a:srgbClr val="FFFFFF"/>
                          </a:solidFill>
                          <a:latin typeface="Arial"/>
                        </a:rPr>
                        <a:t>Biến gốc</a:t>
                      </a:r>
                    </a:p>
                  </a:txBody>
                  <a:tcPr marL="50292" marR="50292" marT="32004" marB="32004" anchor="ctr">
                    <a:solidFill>
                      <a:srgbClr val="123047"/>
                    </a:solidFill>
                  </a:tcPr>
                </a:tc>
                <a:tc>
                  <a:txBody>
                    <a:bodyPr/>
                    <a:lstStyle/>
                    <a:p>
                      <a:pPr algn="ctr">
                        <a:lnSpc>
                          <a:spcPct val="100000"/>
                        </a:lnSpc>
                        <a:spcBef>
                          <a:spcPts val="0"/>
                        </a:spcBef>
                        <a:spcAft>
                          <a:spcPts val="0"/>
                        </a:spcAft>
                      </a:pPr>
                      <a:r>
                        <a:rPr sz="1500" b="1">
                          <a:solidFill>
                            <a:srgbClr val="FFFFFF"/>
                          </a:solidFill>
                          <a:latin typeface="Arial"/>
                        </a:rPr>
                        <a:t>Đơn vị</a:t>
                      </a:r>
                    </a:p>
                  </a:txBody>
                  <a:tcPr marL="50292" marR="50292" marT="32004" marB="32004" anchor="ctr">
                    <a:solidFill>
                      <a:srgbClr val="123047"/>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cin_capped</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J/kg</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has_lfc</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0-1</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tcwv</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kg/m²</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kx</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K</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tt</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K</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blh</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tcc</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0-1</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lcc</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0-1</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mcc</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0-1</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hcc</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0-1</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swvl1</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m³/m³</a:t>
                      </a:r>
                    </a:p>
                  </a:txBody>
                  <a:tcPr marL="50292" marR="50292" marT="32004" marB="32004" anchor="ctr">
                    <a:solidFill>
                      <a:srgbClr val="FFFFFF"/>
                    </a:solidFill>
                  </a:tcPr>
                </a:tc>
              </a:tr>
            </a:tbl>
          </a:graphicData>
        </a:graphic>
      </p:graphicFrame>
      <p:sp>
        <p:nvSpPr>
          <p:cNvPr id="8" name="Rectangle 7"/>
          <p:cNvSpPr/>
          <p:nvPr/>
        </p:nvSpPr>
        <p:spPr>
          <a:xfrm>
            <a:off x="502920" y="5779008"/>
            <a:ext cx="11201400" cy="36576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870448"/>
            <a:ext cx="10927080" cy="256032"/>
          </a:xfrm>
          <a:prstGeom prst="rect">
            <a:avLst/>
          </a:prstGeom>
          <a:noFill/>
        </p:spPr>
        <p:txBody>
          <a:bodyPr wrap="square" lIns="0" rIns="0" tIns="0" bIns="0" anchor="t">
            <a:spAutoFit/>
          </a:bodyPr>
          <a:lstStyle/>
          <a:p>
            <a:pPr algn="l">
              <a:lnSpc>
                <a:spcPct val="112000"/>
              </a:lnSpc>
              <a:spcBef>
                <a:spcPts val="0"/>
              </a:spcBef>
              <a:spcAft>
                <a:spcPts val="0"/>
              </a:spcAft>
            </a:pPr>
            <a:r>
              <a:rPr sz="1400" b="1">
                <a:solidFill>
                  <a:srgbClr val="087E8B"/>
                </a:solidFill>
                <a:latin typeface="Arial"/>
              </a:rPr>
              <a:t>Xem mô tả từng biến và giới hạn nguồn ở DANH_MUC_BIEN trong Excel.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TRA CỨU ĐẶC TRƯNG</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32</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Danh mục M và C: 21 biến</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feature_catalog.csv • Có tên cột V1 và đơn vị trong Excel 18 sheet</a:t>
            </a:r>
          </a:p>
        </p:txBody>
      </p:sp>
      <p:graphicFrame>
        <p:nvGraphicFramePr>
          <p:cNvPr id="6" name="Table 5"/>
          <p:cNvGraphicFramePr>
            <a:graphicFrameLocks noGrp="1"/>
          </p:cNvGraphicFramePr>
          <p:nvPr/>
        </p:nvGraphicFramePr>
        <p:xfrm>
          <a:off x="502920" y="1463040"/>
          <a:ext cx="5486400" cy="3840480"/>
        </p:xfrm>
        <a:graphic>
          <a:graphicData uri="http://schemas.openxmlformats.org/drawingml/2006/table">
            <a:tbl>
              <a:tblPr firstRow="1" bandRow="1">
                <a:tableStyleId>{5C22544A-7EE6-4342-B048-85BDC9FD1C3A}</a:tableStyleId>
              </a:tblPr>
              <a:tblGrid>
                <a:gridCol w="566928"/>
                <a:gridCol w="3611880"/>
                <a:gridCol w="1307592"/>
              </a:tblGrid>
              <a:tr h="320040">
                <a:tc>
                  <a:txBody>
                    <a:bodyPr/>
                    <a:lstStyle/>
                    <a:p>
                      <a:pPr algn="ctr">
                        <a:lnSpc>
                          <a:spcPct val="100000"/>
                        </a:lnSpc>
                        <a:spcBef>
                          <a:spcPts val="0"/>
                        </a:spcBef>
                        <a:spcAft>
                          <a:spcPts val="0"/>
                        </a:spcAft>
                      </a:pPr>
                      <a:r>
                        <a:rPr sz="1500" b="1">
                          <a:solidFill>
                            <a:srgbClr val="FFFFFF"/>
                          </a:solidFill>
                          <a:latin typeface="Arial"/>
                        </a:rPr>
                        <a:t>Nhóm</a:t>
                      </a:r>
                    </a:p>
                  </a:txBody>
                  <a:tcPr marL="50292" marR="50292" marT="32004" marB="32004" anchor="ctr">
                    <a:solidFill>
                      <a:srgbClr val="123047"/>
                    </a:solidFill>
                  </a:tcPr>
                </a:tc>
                <a:tc>
                  <a:txBody>
                    <a:bodyPr/>
                    <a:lstStyle/>
                    <a:p>
                      <a:pPr algn="ctr">
                        <a:lnSpc>
                          <a:spcPct val="100000"/>
                        </a:lnSpc>
                        <a:spcBef>
                          <a:spcPts val="0"/>
                        </a:spcBef>
                        <a:spcAft>
                          <a:spcPts val="0"/>
                        </a:spcAft>
                      </a:pPr>
                      <a:r>
                        <a:rPr sz="1500" b="1">
                          <a:solidFill>
                            <a:srgbClr val="FFFFFF"/>
                          </a:solidFill>
                          <a:latin typeface="Arial"/>
                        </a:rPr>
                        <a:t>Biến gốc</a:t>
                      </a:r>
                    </a:p>
                  </a:txBody>
                  <a:tcPr marL="50292" marR="50292" marT="32004" marB="32004" anchor="ctr">
                    <a:solidFill>
                      <a:srgbClr val="123047"/>
                    </a:solidFill>
                  </a:tcPr>
                </a:tc>
                <a:tc>
                  <a:txBody>
                    <a:bodyPr/>
                    <a:lstStyle/>
                    <a:p>
                      <a:pPr algn="ctr">
                        <a:lnSpc>
                          <a:spcPct val="100000"/>
                        </a:lnSpc>
                        <a:spcBef>
                          <a:spcPts val="0"/>
                        </a:spcBef>
                        <a:spcAft>
                          <a:spcPts val="0"/>
                        </a:spcAft>
                      </a:pPr>
                      <a:r>
                        <a:rPr sz="1500" b="1">
                          <a:solidFill>
                            <a:srgbClr val="FFFFFF"/>
                          </a:solidFill>
                          <a:latin typeface="Arial"/>
                        </a:rPr>
                        <a:t>Đơn vị</a:t>
                      </a:r>
                    </a:p>
                  </a:txBody>
                  <a:tcPr marL="50292" marR="50292" marT="32004" marB="32004" anchor="ctr">
                    <a:solidFill>
                      <a:srgbClr val="12304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u850</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m/s</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v850</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m/s</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q850_gkg</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g/kg</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t850_c</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°C</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rh850_pct</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w850_pas</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Pa/s</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u500</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m/s</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v500</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m/s</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q500_gkg</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g/kg</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t500_c</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°C</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w500_pas</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Pa/s</a:t>
                      </a:r>
                    </a:p>
                  </a:txBody>
                  <a:tcPr marL="50292" marR="50292" marT="32004" marB="32004" anchor="ctr">
                    <a:solidFill>
                      <a:srgbClr val="FFFFFF"/>
                    </a:solidFill>
                  </a:tcPr>
                </a:tc>
              </a:tr>
            </a:tbl>
          </a:graphicData>
        </a:graphic>
      </p:graphicFrame>
      <p:graphicFrame>
        <p:nvGraphicFramePr>
          <p:cNvPr id="7" name="Table 6"/>
          <p:cNvGraphicFramePr>
            <a:graphicFrameLocks noGrp="1"/>
          </p:cNvGraphicFramePr>
          <p:nvPr/>
        </p:nvGraphicFramePr>
        <p:xfrm>
          <a:off x="6217920" y="1463040"/>
          <a:ext cx="5486400" cy="3520440"/>
        </p:xfrm>
        <a:graphic>
          <a:graphicData uri="http://schemas.openxmlformats.org/drawingml/2006/table">
            <a:tbl>
              <a:tblPr firstRow="1" bandRow="1">
                <a:tableStyleId>{5C22544A-7EE6-4342-B048-85BDC9FD1C3A}</a:tableStyleId>
              </a:tblPr>
              <a:tblGrid>
                <a:gridCol w="566928"/>
                <a:gridCol w="3611880"/>
                <a:gridCol w="1307592"/>
              </a:tblGrid>
              <a:tr h="320040">
                <a:tc>
                  <a:txBody>
                    <a:bodyPr/>
                    <a:lstStyle/>
                    <a:p>
                      <a:pPr algn="ctr">
                        <a:lnSpc>
                          <a:spcPct val="100000"/>
                        </a:lnSpc>
                        <a:spcBef>
                          <a:spcPts val="0"/>
                        </a:spcBef>
                        <a:spcAft>
                          <a:spcPts val="0"/>
                        </a:spcAft>
                      </a:pPr>
                      <a:r>
                        <a:rPr sz="1500" b="1">
                          <a:solidFill>
                            <a:srgbClr val="FFFFFF"/>
                          </a:solidFill>
                          <a:latin typeface="Arial"/>
                        </a:rPr>
                        <a:t>Nhóm</a:t>
                      </a:r>
                    </a:p>
                  </a:txBody>
                  <a:tcPr marL="50292" marR="50292" marT="32004" marB="32004" anchor="ctr">
                    <a:solidFill>
                      <a:srgbClr val="123047"/>
                    </a:solidFill>
                  </a:tcPr>
                </a:tc>
                <a:tc>
                  <a:txBody>
                    <a:bodyPr/>
                    <a:lstStyle/>
                    <a:p>
                      <a:pPr algn="ctr">
                        <a:lnSpc>
                          <a:spcPct val="100000"/>
                        </a:lnSpc>
                        <a:spcBef>
                          <a:spcPts val="0"/>
                        </a:spcBef>
                        <a:spcAft>
                          <a:spcPts val="0"/>
                        </a:spcAft>
                      </a:pPr>
                      <a:r>
                        <a:rPr sz="1500" b="1">
                          <a:solidFill>
                            <a:srgbClr val="FFFFFF"/>
                          </a:solidFill>
                          <a:latin typeface="Arial"/>
                        </a:rPr>
                        <a:t>Biến gốc</a:t>
                      </a:r>
                    </a:p>
                  </a:txBody>
                  <a:tcPr marL="50292" marR="50292" marT="32004" marB="32004" anchor="ctr">
                    <a:solidFill>
                      <a:srgbClr val="123047"/>
                    </a:solidFill>
                  </a:tcPr>
                </a:tc>
                <a:tc>
                  <a:txBody>
                    <a:bodyPr/>
                    <a:lstStyle/>
                    <a:p>
                      <a:pPr algn="ctr">
                        <a:lnSpc>
                          <a:spcPct val="100000"/>
                        </a:lnSpc>
                        <a:spcBef>
                          <a:spcPts val="0"/>
                        </a:spcBef>
                        <a:spcAft>
                          <a:spcPts val="0"/>
                        </a:spcAft>
                      </a:pPr>
                      <a:r>
                        <a:rPr sz="1500" b="1">
                          <a:solidFill>
                            <a:srgbClr val="FFFFFF"/>
                          </a:solidFill>
                          <a:latin typeface="Arial"/>
                        </a:rPr>
                        <a:t>Đơn vị</a:t>
                      </a:r>
                    </a:p>
                  </a:txBody>
                  <a:tcPr marL="50292" marR="50292" marT="32004" marB="32004" anchor="ctr">
                    <a:solidFill>
                      <a:srgbClr val="12304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shear_850_500</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m/s</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ivt_u</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kg/m/s</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ivt_v</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kg/m/s</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ivt_mag</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kg/m/s</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vimd_mmh</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mm/h</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ctx_tcwv</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kg/m²</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ctx_ivt_mag</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kg/m/s</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cold_surge_dp_hpa</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hPa</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dp_tonkin_south_hpa</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hPa</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C</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sst_region_c</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°C</a:t>
                      </a:r>
                    </a:p>
                  </a:txBody>
                  <a:tcPr marL="50292" marR="50292" marT="32004" marB="32004" anchor="ctr">
                    <a:solidFill>
                      <a:srgbClr val="EDF2F7"/>
                    </a:solidFill>
                  </a:tcPr>
                </a:tc>
              </a:tr>
            </a:tbl>
          </a:graphicData>
        </a:graphic>
      </p:graphicFrame>
      <p:sp>
        <p:nvSpPr>
          <p:cNvPr id="8" name="Rectangle 7"/>
          <p:cNvSpPr/>
          <p:nvPr/>
        </p:nvSpPr>
        <p:spPr>
          <a:xfrm>
            <a:off x="502920" y="5779008"/>
            <a:ext cx="11201400" cy="36576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870448"/>
            <a:ext cx="10927080" cy="256032"/>
          </a:xfrm>
          <a:prstGeom prst="rect">
            <a:avLst/>
          </a:prstGeom>
          <a:noFill/>
        </p:spPr>
        <p:txBody>
          <a:bodyPr wrap="square" lIns="0" rIns="0" tIns="0" bIns="0" anchor="t">
            <a:spAutoFit/>
          </a:bodyPr>
          <a:lstStyle/>
          <a:p>
            <a:pPr algn="l">
              <a:lnSpc>
                <a:spcPct val="112000"/>
              </a:lnSpc>
              <a:spcBef>
                <a:spcPts val="0"/>
              </a:spcBef>
              <a:spcAft>
                <a:spcPts val="0"/>
              </a:spcAft>
            </a:pPr>
            <a:r>
              <a:rPr sz="1400" b="1">
                <a:solidFill>
                  <a:srgbClr val="087E8B"/>
                </a:solidFill>
                <a:latin typeface="Arial"/>
              </a:rPr>
              <a:t>Xem mô tả từng biến và giới hạn nguồn ở DANH_MUC_BIEN trong Excel.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TÀI LIỆU THAM KHẢO</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33</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Nguồn ứng dụng: LightGBM đã được dùng trong mưa</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Đường dẫn trên slide có thể bấm; hồ sơ đối chiếu và giới hạn ở literature.json</a:t>
            </a:r>
          </a:p>
        </p:txBody>
      </p:sp>
      <p:sp>
        <p:nvSpPr>
          <p:cNvPr id="6" name="TextBox 5"/>
          <p:cNvSpPr txBox="1"/>
          <p:nvPr/>
        </p:nvSpPr>
        <p:spPr>
          <a:xfrm>
            <a:off x="685800" y="1435608"/>
            <a:ext cx="10835640" cy="34747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hlinkClick r:id="rId3"/>
              </a:rPr>
              <a:t>R1 · He, Zhang &amp; Chew (2022) · DOI 10.1016/j.knosys.2022.109125</a:t>
            </a:r>
          </a:p>
        </p:txBody>
      </p:sp>
      <p:sp>
        <p:nvSpPr>
          <p:cNvPr id="7" name="TextBox 6"/>
          <p:cNvSpPr txBox="1"/>
          <p:nvPr/>
        </p:nvSpPr>
        <p:spPr>
          <a:xfrm>
            <a:off x="685800" y="1837944"/>
            <a:ext cx="10835640" cy="795528"/>
          </a:xfrm>
          <a:prstGeom prst="rect">
            <a:avLst/>
          </a:prstGeom>
          <a:noFill/>
        </p:spPr>
        <p:txBody>
          <a:bodyPr wrap="square" lIns="0" rIns="0" tIns="0" bIns="0" anchor="t">
            <a:spAutoFit/>
          </a:bodyPr>
          <a:lstStyle/>
          <a:p>
            <a:pPr algn="l">
              <a:lnSpc>
                <a:spcPct val="112000"/>
              </a:lnSpc>
              <a:spcBef>
                <a:spcPts val="0"/>
              </a:spcBef>
              <a:spcAft>
                <a:spcPts val="0"/>
              </a:spcAft>
            </a:pPr>
            <a:r>
              <a:rPr sz="1800" b="0">
                <a:solidFill>
                  <a:srgbClr val="123047"/>
                </a:solidFill>
                <a:latin typeface="Arial"/>
                <a:hlinkClick r:id="rId3"/>
              </a:rPr>
              <a:t>Modeling and predicting rainfall time series using seasonal-trend decomposition and machine learning</a:t>
            </a:r>
          </a:p>
          <a:p>
            <a:pPr algn="l">
              <a:lnSpc>
                <a:spcPct val="112000"/>
              </a:lnSpc>
              <a:spcBef>
                <a:spcPts val="0"/>
              </a:spcBef>
              <a:spcAft>
                <a:spcPts val="0"/>
              </a:spcAft>
            </a:pPr>
            <a:r>
              <a:rPr sz="1800" b="0">
                <a:solidFill>
                  <a:srgbClr val="123047"/>
                </a:solidFill>
                <a:latin typeface="Arial"/>
                <a:hlinkClick r:id="rId3"/>
              </a:rPr>
              <a:t>Knowledge-Based Systems 251, 109125</a:t>
            </a:r>
          </a:p>
        </p:txBody>
      </p:sp>
      <p:sp>
        <p:nvSpPr>
          <p:cNvPr id="8" name="TextBox 7"/>
          <p:cNvSpPr txBox="1"/>
          <p:nvPr/>
        </p:nvSpPr>
        <p:spPr>
          <a:xfrm>
            <a:off x="685800" y="2825496"/>
            <a:ext cx="10835640" cy="34747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hlinkClick r:id="rId4"/>
              </a:rPr>
              <a:t>R2 · Iwase &amp; Takenawa (2024) · DOI 10.2197/ipsjjip.32.873</a:t>
            </a:r>
          </a:p>
        </p:txBody>
      </p:sp>
      <p:sp>
        <p:nvSpPr>
          <p:cNvPr id="9" name="TextBox 8"/>
          <p:cNvSpPr txBox="1"/>
          <p:nvPr/>
        </p:nvSpPr>
        <p:spPr>
          <a:xfrm>
            <a:off x="685800" y="3227832"/>
            <a:ext cx="10835640" cy="795528"/>
          </a:xfrm>
          <a:prstGeom prst="rect">
            <a:avLst/>
          </a:prstGeom>
          <a:noFill/>
        </p:spPr>
        <p:txBody>
          <a:bodyPr wrap="square" lIns="0" rIns="0" tIns="0" bIns="0" anchor="t">
            <a:spAutoFit/>
          </a:bodyPr>
          <a:lstStyle/>
          <a:p>
            <a:pPr algn="l">
              <a:lnSpc>
                <a:spcPct val="112000"/>
              </a:lnSpc>
              <a:spcBef>
                <a:spcPts val="0"/>
              </a:spcBef>
              <a:spcAft>
                <a:spcPts val="0"/>
              </a:spcAft>
            </a:pPr>
            <a:r>
              <a:rPr sz="1800" b="0">
                <a:solidFill>
                  <a:srgbClr val="123047"/>
                </a:solidFill>
                <a:latin typeface="Arial"/>
                <a:hlinkClick r:id="rId4"/>
              </a:rPr>
              <a:t>Interpolation of Mountain Weather Forecasts by Machine Learning</a:t>
            </a:r>
          </a:p>
          <a:p>
            <a:pPr algn="l">
              <a:lnSpc>
                <a:spcPct val="112000"/>
              </a:lnSpc>
              <a:spcBef>
                <a:spcPts val="0"/>
              </a:spcBef>
              <a:spcAft>
                <a:spcPts val="0"/>
              </a:spcAft>
            </a:pPr>
            <a:r>
              <a:rPr sz="1800" b="0">
                <a:solidFill>
                  <a:srgbClr val="123047"/>
                </a:solidFill>
                <a:latin typeface="Arial"/>
                <a:hlinkClick r:id="rId4"/>
              </a:rPr>
              <a:t>Journal of Information Processing 32, 873–880</a:t>
            </a:r>
          </a:p>
        </p:txBody>
      </p:sp>
      <p:sp>
        <p:nvSpPr>
          <p:cNvPr id="10" name="TextBox 9"/>
          <p:cNvSpPr txBox="1"/>
          <p:nvPr/>
        </p:nvSpPr>
        <p:spPr>
          <a:xfrm>
            <a:off x="685800" y="4215384"/>
            <a:ext cx="10835640" cy="34747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hlinkClick r:id="rId5"/>
              </a:rPr>
              <a:t>R3 · Qian &amp; Jia (2023) · DOI 10.1016/j.atmosres.2023.106961</a:t>
            </a:r>
          </a:p>
        </p:txBody>
      </p:sp>
      <p:sp>
        <p:nvSpPr>
          <p:cNvPr id="11" name="TextBox 10"/>
          <p:cNvSpPr txBox="1"/>
          <p:nvPr/>
        </p:nvSpPr>
        <p:spPr>
          <a:xfrm>
            <a:off x="685800" y="4617720"/>
            <a:ext cx="10835640" cy="795528"/>
          </a:xfrm>
          <a:prstGeom prst="rect">
            <a:avLst/>
          </a:prstGeom>
          <a:noFill/>
        </p:spPr>
        <p:txBody>
          <a:bodyPr wrap="square" lIns="0" rIns="0" tIns="0" bIns="0" anchor="t">
            <a:spAutoFit/>
          </a:bodyPr>
          <a:lstStyle/>
          <a:p>
            <a:pPr algn="l">
              <a:lnSpc>
                <a:spcPct val="112000"/>
              </a:lnSpc>
              <a:spcBef>
                <a:spcPts val="0"/>
              </a:spcBef>
              <a:spcAft>
                <a:spcPts val="0"/>
              </a:spcAft>
            </a:pPr>
            <a:r>
              <a:rPr sz="1800" b="0">
                <a:solidFill>
                  <a:srgbClr val="123047"/>
                </a:solidFill>
                <a:latin typeface="Arial"/>
                <a:hlinkClick r:id="rId5"/>
              </a:rPr>
              <a:t>Seasonal forecast of winter precipitation over China using machine learning models</a:t>
            </a:r>
          </a:p>
          <a:p>
            <a:pPr algn="l">
              <a:lnSpc>
                <a:spcPct val="112000"/>
              </a:lnSpc>
              <a:spcBef>
                <a:spcPts val="0"/>
              </a:spcBef>
              <a:spcAft>
                <a:spcPts val="0"/>
              </a:spcAft>
            </a:pPr>
            <a:r>
              <a:rPr sz="1800" b="0">
                <a:solidFill>
                  <a:srgbClr val="123047"/>
                </a:solidFill>
                <a:latin typeface="Arial"/>
                <a:hlinkClick r:id="rId5"/>
              </a:rPr>
              <a:t>Atmospheric Research 294, 106961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TÀI LIỆU THAM KHẢO</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34</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Nguồn thuật toán và kiểm chứng dự báo</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dự án: run.json, checkpoint_audit.json, scores_ensemble_pooled.csv, paired_bootstrap.csv</a:t>
            </a:r>
          </a:p>
        </p:txBody>
      </p:sp>
      <p:sp>
        <p:nvSpPr>
          <p:cNvPr id="6" name="TextBox 5"/>
          <p:cNvSpPr txBox="1"/>
          <p:nvPr/>
        </p:nvSpPr>
        <p:spPr>
          <a:xfrm>
            <a:off x="685800" y="1399032"/>
            <a:ext cx="10835640" cy="274320"/>
          </a:xfrm>
          <a:prstGeom prst="rect">
            <a:avLst/>
          </a:prstGeom>
          <a:noFill/>
        </p:spPr>
        <p:txBody>
          <a:bodyPr wrap="square" lIns="0" rIns="0" tIns="0" bIns="0" anchor="t">
            <a:spAutoFit/>
          </a:bodyPr>
          <a:lstStyle/>
          <a:p>
            <a:pPr algn="l">
              <a:lnSpc>
                <a:spcPct val="112000"/>
              </a:lnSpc>
              <a:spcBef>
                <a:spcPts val="0"/>
              </a:spcBef>
              <a:spcAft>
                <a:spcPts val="0"/>
              </a:spcAft>
            </a:pPr>
            <a:r>
              <a:rPr sz="1650" b="1">
                <a:solidFill>
                  <a:srgbClr val="087E8B"/>
                </a:solidFill>
                <a:latin typeface="Arial"/>
                <a:hlinkClick r:id="rId3"/>
              </a:rPr>
              <a:t>A1 · Ke et al. (2017)</a:t>
            </a:r>
          </a:p>
        </p:txBody>
      </p:sp>
      <p:sp>
        <p:nvSpPr>
          <p:cNvPr id="7" name="TextBox 6"/>
          <p:cNvSpPr txBox="1"/>
          <p:nvPr/>
        </p:nvSpPr>
        <p:spPr>
          <a:xfrm>
            <a:off x="685800" y="1682496"/>
            <a:ext cx="10835640" cy="384048"/>
          </a:xfrm>
          <a:prstGeom prst="rect">
            <a:avLst/>
          </a:prstGeom>
          <a:noFill/>
        </p:spPr>
        <p:txBody>
          <a:bodyPr wrap="square" lIns="0" rIns="0" tIns="0" bIns="0" anchor="t">
            <a:spAutoFit/>
          </a:bodyPr>
          <a:lstStyle/>
          <a:p>
            <a:pPr algn="l">
              <a:lnSpc>
                <a:spcPct val="112000"/>
              </a:lnSpc>
              <a:spcBef>
                <a:spcPts val="0"/>
              </a:spcBef>
              <a:spcAft>
                <a:spcPts val="0"/>
              </a:spcAft>
            </a:pPr>
            <a:r>
              <a:rPr sz="1550" b="0">
                <a:solidFill>
                  <a:srgbClr val="123047"/>
                </a:solidFill>
                <a:latin typeface="Arial"/>
                <a:hlinkClick r:id="rId3"/>
              </a:rPr>
              <a:t>LightGBM: A Highly Efficient Gradient Boosting Decision Tree</a:t>
            </a:r>
          </a:p>
        </p:txBody>
      </p:sp>
      <p:sp>
        <p:nvSpPr>
          <p:cNvPr id="8" name="TextBox 7"/>
          <p:cNvSpPr txBox="1"/>
          <p:nvPr/>
        </p:nvSpPr>
        <p:spPr>
          <a:xfrm>
            <a:off x="685800" y="2103120"/>
            <a:ext cx="10835640" cy="274320"/>
          </a:xfrm>
          <a:prstGeom prst="rect">
            <a:avLst/>
          </a:prstGeom>
          <a:noFill/>
        </p:spPr>
        <p:txBody>
          <a:bodyPr wrap="square" lIns="0" rIns="0" tIns="0" bIns="0" anchor="t">
            <a:spAutoFit/>
          </a:bodyPr>
          <a:lstStyle/>
          <a:p>
            <a:pPr algn="l">
              <a:lnSpc>
                <a:spcPct val="112000"/>
              </a:lnSpc>
              <a:spcBef>
                <a:spcPts val="0"/>
              </a:spcBef>
              <a:spcAft>
                <a:spcPts val="0"/>
              </a:spcAft>
            </a:pPr>
            <a:r>
              <a:rPr sz="1650" b="1">
                <a:solidFill>
                  <a:srgbClr val="087E8B"/>
                </a:solidFill>
                <a:latin typeface="Arial"/>
                <a:hlinkClick r:id="rId4"/>
              </a:rPr>
              <a:t>A2 · Lim et al. (2021)</a:t>
            </a:r>
          </a:p>
        </p:txBody>
      </p:sp>
      <p:sp>
        <p:nvSpPr>
          <p:cNvPr id="9" name="TextBox 8"/>
          <p:cNvSpPr txBox="1"/>
          <p:nvPr/>
        </p:nvSpPr>
        <p:spPr>
          <a:xfrm>
            <a:off x="685800" y="2386584"/>
            <a:ext cx="10835640" cy="384048"/>
          </a:xfrm>
          <a:prstGeom prst="rect">
            <a:avLst/>
          </a:prstGeom>
          <a:noFill/>
        </p:spPr>
        <p:txBody>
          <a:bodyPr wrap="square" lIns="0" rIns="0" tIns="0" bIns="0" anchor="t">
            <a:spAutoFit/>
          </a:bodyPr>
          <a:lstStyle/>
          <a:p>
            <a:pPr algn="l">
              <a:lnSpc>
                <a:spcPct val="112000"/>
              </a:lnSpc>
              <a:spcBef>
                <a:spcPts val="0"/>
              </a:spcBef>
              <a:spcAft>
                <a:spcPts val="0"/>
              </a:spcAft>
            </a:pPr>
            <a:r>
              <a:rPr sz="1550" b="0">
                <a:solidFill>
                  <a:srgbClr val="123047"/>
                </a:solidFill>
                <a:latin typeface="Arial"/>
                <a:hlinkClick r:id="rId4"/>
              </a:rPr>
              <a:t>Temporal Fusion Transformers for Interpretable Multi-horizon Time Series Forecasting</a:t>
            </a:r>
          </a:p>
        </p:txBody>
      </p:sp>
      <p:sp>
        <p:nvSpPr>
          <p:cNvPr id="10" name="TextBox 9"/>
          <p:cNvSpPr txBox="1"/>
          <p:nvPr/>
        </p:nvSpPr>
        <p:spPr>
          <a:xfrm>
            <a:off x="685800" y="2807208"/>
            <a:ext cx="10835640" cy="274320"/>
          </a:xfrm>
          <a:prstGeom prst="rect">
            <a:avLst/>
          </a:prstGeom>
          <a:noFill/>
        </p:spPr>
        <p:txBody>
          <a:bodyPr wrap="square" lIns="0" rIns="0" tIns="0" bIns="0" anchor="t">
            <a:spAutoFit/>
          </a:bodyPr>
          <a:lstStyle/>
          <a:p>
            <a:pPr algn="l">
              <a:lnSpc>
                <a:spcPct val="112000"/>
              </a:lnSpc>
              <a:spcBef>
                <a:spcPts val="0"/>
              </a:spcBef>
              <a:spcAft>
                <a:spcPts val="0"/>
              </a:spcAft>
            </a:pPr>
            <a:r>
              <a:rPr sz="1650" b="1">
                <a:solidFill>
                  <a:srgbClr val="087E8B"/>
                </a:solidFill>
                <a:latin typeface="Arial"/>
                <a:hlinkClick r:id="rId5"/>
              </a:rPr>
              <a:t>A3 · Zhou et al. (2021)</a:t>
            </a:r>
          </a:p>
        </p:txBody>
      </p:sp>
      <p:sp>
        <p:nvSpPr>
          <p:cNvPr id="11" name="TextBox 10"/>
          <p:cNvSpPr txBox="1"/>
          <p:nvPr/>
        </p:nvSpPr>
        <p:spPr>
          <a:xfrm>
            <a:off x="685800" y="3090672"/>
            <a:ext cx="10835640" cy="384048"/>
          </a:xfrm>
          <a:prstGeom prst="rect">
            <a:avLst/>
          </a:prstGeom>
          <a:noFill/>
        </p:spPr>
        <p:txBody>
          <a:bodyPr wrap="square" lIns="0" rIns="0" tIns="0" bIns="0" anchor="t">
            <a:spAutoFit/>
          </a:bodyPr>
          <a:lstStyle/>
          <a:p>
            <a:pPr algn="l">
              <a:lnSpc>
                <a:spcPct val="112000"/>
              </a:lnSpc>
              <a:spcBef>
                <a:spcPts val="0"/>
              </a:spcBef>
              <a:spcAft>
                <a:spcPts val="0"/>
              </a:spcAft>
            </a:pPr>
            <a:r>
              <a:rPr sz="1550" b="0">
                <a:solidFill>
                  <a:srgbClr val="123047"/>
                </a:solidFill>
                <a:latin typeface="Arial"/>
                <a:hlinkClick r:id="rId5"/>
              </a:rPr>
              <a:t>Informer: Beyond Efficient Transformer for Long Sequence Time-Series Forecasting</a:t>
            </a:r>
          </a:p>
        </p:txBody>
      </p:sp>
      <p:sp>
        <p:nvSpPr>
          <p:cNvPr id="12" name="TextBox 11"/>
          <p:cNvSpPr txBox="1"/>
          <p:nvPr/>
        </p:nvSpPr>
        <p:spPr>
          <a:xfrm>
            <a:off x="685800" y="3511296"/>
            <a:ext cx="10835640" cy="274320"/>
          </a:xfrm>
          <a:prstGeom prst="rect">
            <a:avLst/>
          </a:prstGeom>
          <a:noFill/>
        </p:spPr>
        <p:txBody>
          <a:bodyPr wrap="square" lIns="0" rIns="0" tIns="0" bIns="0" anchor="t">
            <a:spAutoFit/>
          </a:bodyPr>
          <a:lstStyle/>
          <a:p>
            <a:pPr algn="l">
              <a:lnSpc>
                <a:spcPct val="112000"/>
              </a:lnSpc>
              <a:spcBef>
                <a:spcPts val="0"/>
              </a:spcBef>
              <a:spcAft>
                <a:spcPts val="0"/>
              </a:spcAft>
            </a:pPr>
            <a:r>
              <a:rPr sz="1650" b="1">
                <a:solidFill>
                  <a:srgbClr val="087E8B"/>
                </a:solidFill>
                <a:latin typeface="Arial"/>
                <a:hlinkClick r:id="rId6"/>
              </a:rPr>
              <a:t>A4 · Tác giả Informer (2021)</a:t>
            </a:r>
          </a:p>
        </p:txBody>
      </p:sp>
      <p:sp>
        <p:nvSpPr>
          <p:cNvPr id="13" name="TextBox 12"/>
          <p:cNvSpPr txBox="1"/>
          <p:nvPr/>
        </p:nvSpPr>
        <p:spPr>
          <a:xfrm>
            <a:off x="685800" y="3794759"/>
            <a:ext cx="10835640" cy="384048"/>
          </a:xfrm>
          <a:prstGeom prst="rect">
            <a:avLst/>
          </a:prstGeom>
          <a:noFill/>
        </p:spPr>
        <p:txBody>
          <a:bodyPr wrap="square" lIns="0" rIns="0" tIns="0" bIns="0" anchor="t">
            <a:spAutoFit/>
          </a:bodyPr>
          <a:lstStyle/>
          <a:p>
            <a:pPr algn="l">
              <a:lnSpc>
                <a:spcPct val="112000"/>
              </a:lnSpc>
              <a:spcBef>
                <a:spcPts val="0"/>
              </a:spcBef>
              <a:spcAft>
                <a:spcPts val="0"/>
              </a:spcAft>
            </a:pPr>
            <a:r>
              <a:rPr sz="1550" b="0">
                <a:solidFill>
                  <a:srgbClr val="123047"/>
                </a:solidFill>
                <a:latin typeface="Arial"/>
                <a:hlinkClick r:id="rId6"/>
              </a:rPr>
              <a:t>Mã mô hình Informer chính thức</a:t>
            </a:r>
          </a:p>
        </p:txBody>
      </p:sp>
      <p:sp>
        <p:nvSpPr>
          <p:cNvPr id="14" name="TextBox 13"/>
          <p:cNvSpPr txBox="1"/>
          <p:nvPr/>
        </p:nvSpPr>
        <p:spPr>
          <a:xfrm>
            <a:off x="685800" y="4215384"/>
            <a:ext cx="10835640" cy="274320"/>
          </a:xfrm>
          <a:prstGeom prst="rect">
            <a:avLst/>
          </a:prstGeom>
          <a:noFill/>
        </p:spPr>
        <p:txBody>
          <a:bodyPr wrap="square" lIns="0" rIns="0" tIns="0" bIns="0" anchor="t">
            <a:spAutoFit/>
          </a:bodyPr>
          <a:lstStyle/>
          <a:p>
            <a:pPr algn="l">
              <a:lnSpc>
                <a:spcPct val="112000"/>
              </a:lnSpc>
              <a:spcBef>
                <a:spcPts val="0"/>
              </a:spcBef>
              <a:spcAft>
                <a:spcPts val="0"/>
              </a:spcAft>
            </a:pPr>
            <a:r>
              <a:rPr sz="1650" b="1">
                <a:solidFill>
                  <a:srgbClr val="087E8B"/>
                </a:solidFill>
                <a:latin typeface="Arial"/>
                <a:hlinkClick r:id="rId7"/>
              </a:rPr>
              <a:t>V1 · Pertti Nurmi (2007)</a:t>
            </a:r>
          </a:p>
        </p:txBody>
      </p:sp>
      <p:sp>
        <p:nvSpPr>
          <p:cNvPr id="15" name="TextBox 14"/>
          <p:cNvSpPr txBox="1"/>
          <p:nvPr/>
        </p:nvSpPr>
        <p:spPr>
          <a:xfrm>
            <a:off x="685800" y="4498848"/>
            <a:ext cx="10835640" cy="384048"/>
          </a:xfrm>
          <a:prstGeom prst="rect">
            <a:avLst/>
          </a:prstGeom>
          <a:noFill/>
        </p:spPr>
        <p:txBody>
          <a:bodyPr wrap="square" lIns="0" rIns="0" tIns="0" bIns="0" anchor="t">
            <a:spAutoFit/>
          </a:bodyPr>
          <a:lstStyle/>
          <a:p>
            <a:pPr algn="l">
              <a:lnSpc>
                <a:spcPct val="112000"/>
              </a:lnSpc>
              <a:spcBef>
                <a:spcPts val="0"/>
              </a:spcBef>
              <a:spcAft>
                <a:spcPts val="0"/>
              </a:spcAft>
            </a:pPr>
            <a:r>
              <a:rPr sz="1550" b="0">
                <a:solidFill>
                  <a:srgbClr val="123047"/>
                </a:solidFill>
                <a:latin typeface="Arial"/>
                <a:hlinkClick r:id="rId7"/>
              </a:rPr>
              <a:t>Verification of Categorical Forecasts</a:t>
            </a:r>
          </a:p>
        </p:txBody>
      </p:sp>
      <p:sp>
        <p:nvSpPr>
          <p:cNvPr id="16" name="TextBox 15"/>
          <p:cNvSpPr txBox="1"/>
          <p:nvPr/>
        </p:nvSpPr>
        <p:spPr>
          <a:xfrm>
            <a:off x="685800" y="4919472"/>
            <a:ext cx="10835640" cy="274320"/>
          </a:xfrm>
          <a:prstGeom prst="rect">
            <a:avLst/>
          </a:prstGeom>
          <a:noFill/>
        </p:spPr>
        <p:txBody>
          <a:bodyPr wrap="square" lIns="0" rIns="0" tIns="0" bIns="0" anchor="t">
            <a:spAutoFit/>
          </a:bodyPr>
          <a:lstStyle/>
          <a:p>
            <a:pPr algn="l">
              <a:lnSpc>
                <a:spcPct val="112000"/>
              </a:lnSpc>
              <a:spcBef>
                <a:spcPts val="0"/>
              </a:spcBef>
              <a:spcAft>
                <a:spcPts val="0"/>
              </a:spcAft>
            </a:pPr>
            <a:r>
              <a:rPr sz="1650" b="1">
                <a:solidFill>
                  <a:srgbClr val="087E8B"/>
                </a:solidFill>
                <a:latin typeface="Arial"/>
                <a:hlinkClick r:id="rId8"/>
              </a:rPr>
              <a:t>V2 · ECMWF (2026)</a:t>
            </a:r>
          </a:p>
        </p:txBody>
      </p:sp>
      <p:sp>
        <p:nvSpPr>
          <p:cNvPr id="17" name="TextBox 16"/>
          <p:cNvSpPr txBox="1"/>
          <p:nvPr/>
        </p:nvSpPr>
        <p:spPr>
          <a:xfrm>
            <a:off x="685800" y="5202936"/>
            <a:ext cx="10835640" cy="384048"/>
          </a:xfrm>
          <a:prstGeom prst="rect">
            <a:avLst/>
          </a:prstGeom>
          <a:noFill/>
        </p:spPr>
        <p:txBody>
          <a:bodyPr wrap="square" lIns="0" rIns="0" tIns="0" bIns="0" anchor="t">
            <a:spAutoFit/>
          </a:bodyPr>
          <a:lstStyle/>
          <a:p>
            <a:pPr algn="l">
              <a:lnSpc>
                <a:spcPct val="112000"/>
              </a:lnSpc>
              <a:spcBef>
                <a:spcPts val="0"/>
              </a:spcBef>
              <a:spcAft>
                <a:spcPts val="0"/>
              </a:spcAft>
            </a:pPr>
            <a:r>
              <a:rPr sz="1550" b="0">
                <a:solidFill>
                  <a:srgbClr val="123047"/>
                </a:solidFill>
                <a:latin typeface="Arial"/>
                <a:hlinkClick r:id="rId8"/>
              </a:rPr>
              <a:t>Forecast User Guide, Section 12.B: Statistical Concepts — Probabilistic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