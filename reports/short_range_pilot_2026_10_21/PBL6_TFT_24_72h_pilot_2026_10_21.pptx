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Báo cáo sơ bộ cho ngày22/10. Nghiên cứu đặc trưng, không phải app hoặc cảnh báo chính thức. Ba đầu ra là các tổng24h riêng, không phải tổng tích lũy24/48/72h. Nguồn: run.json, scores.csv, checkpoint_audit.json trong bộ báo cáo.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V1 hiện là trung bình diện tích toàn93ô, chưa là giao ranh hành chính chính xác. Chỉ kiểm kê/training2015–2023. F1 train2015–2019/cal2020/eval2021; F2 train2015–2020/cal2021/eval2022; F3 train2015–2021/cal2022/eval2023. 23 kiểm tra code đạt (12 mới và11 bộ chỉ số chung),12 lượt checkpoint tái lập đầy đủ trên thiết bị gốc. Có sai khác số học nhỏ CPU/GPU ghi trong audit.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RMSE thấp hơn là tốt hơn; giữ cả khí hậu và luôn0 làm đối chứng. Không so mm/24h với RMSE nhánh6h. RMSE mô tả độ đúng lượng mm, không thay BSS/CSI.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BSS16&gt;0 nghĩa là tốt hơn xác suất khí hậu train theo tháng/lead. Platt và ngưỡng quyết định chỉ fit calibration. Theo số gộp, E7 cảhai họ có BSS âm ở ngày3; không suy rằng mọi mô hình chỉ dùng quá khứ đều bất khả thi.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Δ=E7−E0. RMSE âm có lợi; BSS dương có lợi. CI95% pilot2.000bootstrapkhối7ngày, cố định một seed, chưa hiệu chỉnh đa so sánh. Không gọi hiệu quả từng nhóm A/M/C vì mới có E0/E7.</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Không có tuyên bố TFT thắng LightGBM hoặc V1 đã đại diện chính xác toàn địa giới. Ngày3 yếu là kết quả cần báo, không phải lý do chỉnh test. Bước tiếp theo: khóa ranh/nhãn, ba seed, factorialE0–E7, sau đó mới holdout2025. TFT không có Informer đối chứng trong pilot, không thể dùng pilot bác bỏ Informer.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Đường chéo là hiệu chỉnh hoàn hảo. Mỗi bin có số mẫu khác nhau, số đợt mưa độc lập ít. Xem reliability16.csv để đọc n từng bin. Không đọc đường vài điểm là bằng chứng chắc chắn đã hiệu chỉnh tốt.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274320"/>
            <a:ext cx="11155680" cy="640080"/>
          </a:xfrm>
          <a:prstGeom prst="rect">
            <a:avLst/>
          </a:prstGeom>
          <a:noFill/>
        </p:spPr>
        <p:txBody>
          <a:bodyPr wrap="square" lIns="0" rIns="0" tIns="0" bIns="0">
            <a:spAutoFit/>
          </a:bodyPr>
          <a:lstStyle/>
          <a:p>
            <a:pPr>
              <a:spcAft>
                <a:spcPts val="0"/>
              </a:spcAft>
              <a:defRPr sz="3000" b="1">
                <a:solidFill>
                  <a:srgbClr val="123047"/>
                </a:solidFill>
                <a:latin typeface="Arial"/>
              </a:defRPr>
            </a:pPr>
            <a:r>
              <a:t>Dự đoán mưa vùng: ngày 1, ngày 2, ngày 3</a:t>
            </a:r>
          </a:p>
        </p:txBody>
      </p:sp>
      <p:sp>
        <p:nvSpPr>
          <p:cNvPr id="3" name="TextBox 2"/>
          <p:cNvSpPr txBox="1"/>
          <p:nvPr/>
        </p:nvSpPr>
        <p:spPr>
          <a:xfrm>
            <a:off x="502920" y="6419088"/>
            <a:ext cx="11155680" cy="256032"/>
          </a:xfrm>
          <a:prstGeom prst="rect">
            <a:avLst/>
          </a:prstGeom>
          <a:noFill/>
        </p:spPr>
        <p:txBody>
          <a:bodyPr wrap="square" lIns="0" rIns="0" tIns="0" bIns="0">
            <a:spAutoFit/>
          </a:bodyPr>
          <a:lstStyle/>
          <a:p>
            <a:pPr>
              <a:spcAft>
                <a:spcPts val="0"/>
              </a:spcAft>
              <a:defRPr sz="1100" b="0">
                <a:solidFill>
                  <a:srgbClr val="516473"/>
                </a:solidFill>
                <a:latin typeface="Arial"/>
              </a:defRPr>
            </a:pPr>
            <a:r>
              <a:t>PBL6 • pilot21/10/2026 • footprint93 ô xấp xỉ • seed 42 • eval 2021–2023 • chưa mở 2025</a:t>
            </a:r>
          </a:p>
        </p:txBody>
      </p:sp>
      <p:sp>
        <p:nvSpPr>
          <p:cNvPr id="4" name="TextBox 3"/>
          <p:cNvSpPr txBox="1"/>
          <p:nvPr/>
        </p:nvSpPr>
        <p:spPr>
          <a:xfrm>
            <a:off x="594360" y="1280160"/>
            <a:ext cx="10972800" cy="685800"/>
          </a:xfrm>
          <a:prstGeom prst="rect">
            <a:avLst/>
          </a:prstGeom>
          <a:noFill/>
        </p:spPr>
        <p:txBody>
          <a:bodyPr wrap="square" lIns="0" rIns="0" tIns="0" bIns="0">
            <a:spAutoFit/>
          </a:bodyPr>
          <a:lstStyle/>
          <a:p>
            <a:pPr>
              <a:spcAft>
                <a:spcPts val="0"/>
              </a:spcAft>
              <a:defRPr sz="2700" b="1">
                <a:solidFill>
                  <a:srgbClr val="087E8B"/>
                </a:solidFill>
                <a:latin typeface="Arial"/>
              </a:defRPr>
            </a:pPr>
            <a:r>
              <a:t>7 ngày khí tượng quá khứ → TFT / LightGBM → 3 tổng mưa 24 giờ</a:t>
            </a:r>
          </a:p>
        </p:txBody>
      </p:sp>
      <p:sp>
        <p:nvSpPr>
          <p:cNvPr id="5" name="TextBox 4"/>
          <p:cNvSpPr txBox="1"/>
          <p:nvPr/>
        </p:nvSpPr>
        <p:spPr>
          <a:xfrm>
            <a:off x="685800" y="2423160"/>
            <a:ext cx="10789920" cy="2377440"/>
          </a:xfrm>
          <a:prstGeom prst="rect">
            <a:avLst/>
          </a:prstGeom>
          <a:noFill/>
        </p:spPr>
        <p:txBody>
          <a:bodyPr wrap="square" lIns="0" rIns="0" tIns="0" bIns="0">
            <a:spAutoFit/>
          </a:bodyPr>
          <a:lstStyle/>
          <a:p>
            <a:pPr>
              <a:spcAft>
                <a:spcPts val="1200"/>
              </a:spcAft>
              <a:defRPr sz="2500" b="0">
                <a:solidFill>
                  <a:srgbClr val="123047"/>
                </a:solidFill>
                <a:latin typeface="Arial"/>
              </a:defRPr>
            </a:pPr>
            <a:r>
              <a:t>Ngày 1: [t, t+24 h)</a:t>
            </a:r>
          </a:p>
          <a:p>
            <a:pPr>
              <a:spcAft>
                <a:spcPts val="1200"/>
              </a:spcAft>
              <a:defRPr sz="2500" b="0">
                <a:solidFill>
                  <a:srgbClr val="123047"/>
                </a:solidFill>
                <a:latin typeface="Arial"/>
              </a:defRPr>
            </a:pPr>
            <a:r>
              <a:t>Ngày 2: [t+24 h, t+48 h)</a:t>
            </a:r>
          </a:p>
          <a:p>
            <a:pPr>
              <a:spcAft>
                <a:spcPts val="0"/>
              </a:spcAft>
              <a:defRPr sz="2500" b="0">
                <a:solidFill>
                  <a:srgbClr val="123047"/>
                </a:solidFill>
                <a:latin typeface="Arial"/>
              </a:defRPr>
            </a:pPr>
            <a:r>
              <a:t>Ngày 3: [t+48 h, t+72 h)</a:t>
            </a:r>
          </a:p>
        </p:txBody>
      </p:sp>
      <p:sp>
        <p:nvSpPr>
          <p:cNvPr id="6" name="TextBox 5"/>
          <p:cNvSpPr txBox="1"/>
          <p:nvPr/>
        </p:nvSpPr>
        <p:spPr>
          <a:xfrm>
            <a:off x="685800" y="5074920"/>
            <a:ext cx="10789920" cy="731520"/>
          </a:xfrm>
          <a:prstGeom prst="rect">
            <a:avLst/>
          </a:prstGeom>
          <a:noFill/>
        </p:spPr>
        <p:txBody>
          <a:bodyPr wrap="square" lIns="0" rIns="0" tIns="0" bIns="0">
            <a:spAutoFit/>
          </a:bodyPr>
          <a:lstStyle/>
          <a:p>
            <a:pPr>
              <a:spcAft>
                <a:spcPts val="0"/>
              </a:spcAft>
              <a:defRPr sz="2100" b="0">
                <a:solidFill>
                  <a:srgbClr val="516473"/>
                </a:solidFill>
                <a:latin typeface="Arial"/>
              </a:defRPr>
            </a:pPr>
            <a:r>
              <a:t>Dự đoán trực tiếp trung bình vùng; decoder chỉ biết lịch, không dùng ERA5 tương lai.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274320"/>
            <a:ext cx="11155680" cy="640080"/>
          </a:xfrm>
          <a:prstGeom prst="rect">
            <a:avLst/>
          </a:prstGeom>
          <a:noFill/>
        </p:spPr>
        <p:txBody>
          <a:bodyPr wrap="square" lIns="0" rIns="0" tIns="0" bIns="0">
            <a:spAutoFit/>
          </a:bodyPr>
          <a:lstStyle/>
          <a:p>
            <a:pPr>
              <a:spcAft>
                <a:spcPts val="0"/>
              </a:spcAft>
              <a:defRPr sz="3000" b="1">
                <a:solidFill>
                  <a:srgbClr val="123047"/>
                </a:solidFill>
                <a:latin typeface="Arial"/>
              </a:defRPr>
            </a:pPr>
            <a:r>
              <a:t>Thiết kế pilot và kiểm chứng pipeline</a:t>
            </a:r>
          </a:p>
        </p:txBody>
      </p:sp>
      <p:sp>
        <p:nvSpPr>
          <p:cNvPr id="3" name="TextBox 2"/>
          <p:cNvSpPr txBox="1"/>
          <p:nvPr/>
        </p:nvSpPr>
        <p:spPr>
          <a:xfrm>
            <a:off x="502920" y="6419088"/>
            <a:ext cx="11155680" cy="256032"/>
          </a:xfrm>
          <a:prstGeom prst="rect">
            <a:avLst/>
          </a:prstGeom>
          <a:noFill/>
        </p:spPr>
        <p:txBody>
          <a:bodyPr wrap="square" lIns="0" rIns="0" tIns="0" bIns="0">
            <a:spAutoFit/>
          </a:bodyPr>
          <a:lstStyle/>
          <a:p>
            <a:pPr>
              <a:spcAft>
                <a:spcPts val="0"/>
              </a:spcAft>
              <a:defRPr sz="1100" b="0">
                <a:solidFill>
                  <a:srgbClr val="516473"/>
                </a:solidFill>
                <a:latin typeface="Arial"/>
              </a:defRPr>
            </a:pPr>
            <a:r>
              <a:t>PBL6 • pilot21/10/2026 • footprint93 ô xấp xỉ • seed 42 • eval 2021–2023 • chưa mở 2025</a:t>
            </a:r>
          </a:p>
        </p:txBody>
      </p:sp>
      <p:sp>
        <p:nvSpPr>
          <p:cNvPr id="4" name="TextBox 3"/>
          <p:cNvSpPr txBox="1"/>
          <p:nvPr/>
        </p:nvSpPr>
        <p:spPr>
          <a:xfrm>
            <a:off x="640080" y="1188720"/>
            <a:ext cx="10972800" cy="1005840"/>
          </a:xfrm>
          <a:prstGeom prst="rect">
            <a:avLst/>
          </a:prstGeom>
          <a:noFill/>
        </p:spPr>
        <p:txBody>
          <a:bodyPr wrap="square" lIns="0" rIns="0" tIns="0" bIns="0">
            <a:spAutoFit/>
          </a:bodyPr>
          <a:lstStyle/>
          <a:p>
            <a:pPr>
              <a:spcAft>
                <a:spcPts val="1200"/>
              </a:spcAft>
              <a:defRPr sz="2400" b="0">
                <a:solidFill>
                  <a:srgbClr val="123047"/>
                </a:solidFill>
                <a:latin typeface="Arial"/>
              </a:defRPr>
            </a:pPr>
            <a:r>
              <a:t>E0: 11 đặc trưng nền     |     E7: 44 đặc trưng</a:t>
            </a:r>
          </a:p>
          <a:p>
            <a:pPr>
              <a:spcAft>
                <a:spcPts val="0"/>
              </a:spcAft>
              <a:defRPr sz="2400" b="0">
                <a:solidFill>
                  <a:srgbClr val="123047"/>
                </a:solidFill>
                <a:latin typeface="Arial"/>
              </a:defRPr>
            </a:pPr>
            <a:r>
              <a:t>Cùng mask, nhãn, mốc giờ, split và nguyên liệu cho mỗi phép so.</a:t>
            </a:r>
          </a:p>
        </p:txBody>
      </p:sp>
      <p:sp>
        <p:nvSpPr>
          <p:cNvPr id="5" name="TextBox 4"/>
          <p:cNvSpPr txBox="1"/>
          <p:nvPr/>
        </p:nvSpPr>
        <p:spPr>
          <a:xfrm>
            <a:off x="640080" y="2560320"/>
            <a:ext cx="10972800" cy="2011680"/>
          </a:xfrm>
          <a:prstGeom prst="rect">
            <a:avLst/>
          </a:prstGeom>
          <a:noFill/>
        </p:spPr>
        <p:txBody>
          <a:bodyPr wrap="square" lIns="0" rIns="0" tIns="0" bIns="0">
            <a:spAutoFit/>
          </a:bodyPr>
          <a:lstStyle/>
          <a:p>
            <a:pPr>
              <a:spcAft>
                <a:spcPts val="1200"/>
              </a:spcAft>
              <a:defRPr sz="2300" b="0">
                <a:solidFill>
                  <a:srgbClr val="123047"/>
                </a:solidFill>
                <a:latin typeface="Arial"/>
              </a:defRPr>
            </a:pPr>
            <a:r>
              <a:t>Evaluation2021: 363 mẫu ngày, 33 sự kiện ≥16mm</a:t>
            </a:r>
          </a:p>
          <a:p>
            <a:pPr>
              <a:spcAft>
                <a:spcPts val="1200"/>
              </a:spcAft>
              <a:defRPr sz="2300" b="0">
                <a:solidFill>
                  <a:srgbClr val="123047"/>
                </a:solidFill>
                <a:latin typeface="Arial"/>
              </a:defRPr>
            </a:pPr>
            <a:r>
              <a:t>Evaluation2022: 349 mẫu ngày, 31 sự kiện ≥16mm</a:t>
            </a:r>
          </a:p>
          <a:p>
            <a:pPr>
              <a:spcAft>
                <a:spcPts val="0"/>
              </a:spcAft>
              <a:defRPr sz="2300" b="0">
                <a:solidFill>
                  <a:srgbClr val="123047"/>
                </a:solidFill>
                <a:latin typeface="Arial"/>
              </a:defRPr>
            </a:pPr>
            <a:r>
              <a:t>Evaluation2023: 363 mẫu ngày, 50 sự kiện ≥16mm</a:t>
            </a:r>
          </a:p>
        </p:txBody>
      </p:sp>
      <p:sp>
        <p:nvSpPr>
          <p:cNvPr id="6" name="TextBox 5"/>
          <p:cNvSpPr txBox="1"/>
          <p:nvPr/>
        </p:nvSpPr>
        <p:spPr>
          <a:xfrm>
            <a:off x="640080" y="4937760"/>
            <a:ext cx="10972800" cy="914400"/>
          </a:xfrm>
          <a:prstGeom prst="rect">
            <a:avLst/>
          </a:prstGeom>
          <a:noFill/>
        </p:spPr>
        <p:txBody>
          <a:bodyPr wrap="square" lIns="0" rIns="0" tIns="0" bIns="0">
            <a:spAutoFit/>
          </a:bodyPr>
          <a:lstStyle/>
          <a:p>
            <a:pPr>
              <a:spcAft>
                <a:spcPts val="1200"/>
              </a:spcAft>
              <a:defRPr sz="2200" b="1">
                <a:solidFill>
                  <a:srgbClr val="087E8B"/>
                </a:solidFill>
                <a:latin typeface="Arial"/>
              </a:defRPr>
            </a:pPr>
            <a:r>
              <a:t>6 lượt TFT + 6 pipeline LightGBM; một seed 42.</a:t>
            </a:r>
          </a:p>
          <a:p>
            <a:pPr>
              <a:spcAft>
                <a:spcPts val="0"/>
              </a:spcAft>
              <a:defRPr sz="2200" b="1">
                <a:solidFill>
                  <a:srgbClr val="087E8B"/>
                </a:solidFill>
                <a:latin typeface="Arial"/>
              </a:defRPr>
            </a:pPr>
            <a:r>
              <a:t>Đã nạp lại và tái lập chỉ số của cả12 lượt.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274320"/>
            <a:ext cx="11155680" cy="640080"/>
          </a:xfrm>
          <a:prstGeom prst="rect">
            <a:avLst/>
          </a:prstGeom>
          <a:noFill/>
        </p:spPr>
        <p:txBody>
          <a:bodyPr wrap="square" lIns="0" rIns="0" tIns="0" bIns="0">
            <a:spAutoFit/>
          </a:bodyPr>
          <a:lstStyle/>
          <a:p>
            <a:pPr>
              <a:spcAft>
                <a:spcPts val="0"/>
              </a:spcAft>
              <a:defRPr sz="3000" b="1">
                <a:solidFill>
                  <a:srgbClr val="123047"/>
                </a:solidFill>
                <a:latin typeface="Arial"/>
              </a:defRPr>
            </a:pPr>
            <a:r>
              <a:t>Lượng mưa: so RMSE theo ngày và năm</a:t>
            </a:r>
          </a:p>
        </p:txBody>
      </p:sp>
      <p:sp>
        <p:nvSpPr>
          <p:cNvPr id="3" name="TextBox 2"/>
          <p:cNvSpPr txBox="1"/>
          <p:nvPr/>
        </p:nvSpPr>
        <p:spPr>
          <a:xfrm>
            <a:off x="502920" y="6419088"/>
            <a:ext cx="11155680" cy="256032"/>
          </a:xfrm>
          <a:prstGeom prst="rect">
            <a:avLst/>
          </a:prstGeom>
          <a:noFill/>
        </p:spPr>
        <p:txBody>
          <a:bodyPr wrap="square" lIns="0" rIns="0" tIns="0" bIns="0">
            <a:spAutoFit/>
          </a:bodyPr>
          <a:lstStyle/>
          <a:p>
            <a:pPr>
              <a:spcAft>
                <a:spcPts val="0"/>
              </a:spcAft>
              <a:defRPr sz="1100" b="0">
                <a:solidFill>
                  <a:srgbClr val="516473"/>
                </a:solidFill>
                <a:latin typeface="Arial"/>
              </a:defRPr>
            </a:pPr>
            <a:r>
              <a:t>PBL6 • pilot21/10/2026 • footprint93 ô xấp xỉ • seed 42 • eval 2021–2023 • chưa mở 2025</a:t>
            </a:r>
          </a:p>
        </p:txBody>
      </p:sp>
      <p:pic>
        <p:nvPicPr>
          <p:cNvPr id="4" name="Picture 3" descr="rmse_by_year.png"/>
          <p:cNvPicPr>
            <a:picLocks noChangeAspect="1"/>
          </p:cNvPicPr>
          <p:nvPr/>
        </p:nvPicPr>
        <p:blipFill>
          <a:blip r:embed="rId3"/>
          <a:stretch>
            <a:fillRect/>
          </a:stretch>
        </p:blipFill>
        <p:spPr>
          <a:xfrm>
            <a:off x="457200" y="1234440"/>
            <a:ext cx="11247120" cy="3446698"/>
          </a:xfrm>
          <a:prstGeom prst="rect">
            <a:avLst/>
          </a:prstGeom>
        </p:spPr>
      </p:pic>
      <p:sp>
        <p:nvSpPr>
          <p:cNvPr id="5" name="TextBox 4"/>
          <p:cNvSpPr txBox="1"/>
          <p:nvPr/>
        </p:nvSpPr>
        <p:spPr>
          <a:xfrm>
            <a:off x="640080" y="5596128"/>
            <a:ext cx="10881360" cy="502920"/>
          </a:xfrm>
          <a:prstGeom prst="rect">
            <a:avLst/>
          </a:prstGeom>
          <a:noFill/>
        </p:spPr>
        <p:txBody>
          <a:bodyPr wrap="square" lIns="0" rIns="0" tIns="0" bIns="0">
            <a:spAutoFit/>
          </a:bodyPr>
          <a:lstStyle/>
          <a:p>
            <a:pPr>
              <a:spcAft>
                <a:spcPts val="0"/>
              </a:spcAft>
              <a:defRPr sz="1700" b="0">
                <a:solidFill>
                  <a:srgbClr val="516473"/>
                </a:solidFill>
                <a:latin typeface="Arial"/>
              </a:defRPr>
            </a:pPr>
            <a:r>
              <a:t>Kết quả hồi cứu trên nhãn GSMaP Gauge vùng; đọc cùng CI và giới hạn nhãn.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274320"/>
            <a:ext cx="11155680" cy="640080"/>
          </a:xfrm>
          <a:prstGeom prst="rect">
            <a:avLst/>
          </a:prstGeom>
          <a:noFill/>
        </p:spPr>
        <p:txBody>
          <a:bodyPr wrap="square" lIns="0" rIns="0" tIns="0" bIns="0">
            <a:spAutoFit/>
          </a:bodyPr>
          <a:lstStyle/>
          <a:p>
            <a:pPr>
              <a:spcAft>
                <a:spcPts val="0"/>
              </a:spcAft>
              <a:defRPr sz="3000" b="1">
                <a:solidFill>
                  <a:srgbClr val="123047"/>
                </a:solidFill>
                <a:latin typeface="Arial"/>
              </a:defRPr>
            </a:pPr>
            <a:r>
              <a:t>Xác suất: ngày 1 có tín hiệu, ngày 3 còn yếu</a:t>
            </a:r>
          </a:p>
        </p:txBody>
      </p:sp>
      <p:sp>
        <p:nvSpPr>
          <p:cNvPr id="3" name="TextBox 2"/>
          <p:cNvSpPr txBox="1"/>
          <p:nvPr/>
        </p:nvSpPr>
        <p:spPr>
          <a:xfrm>
            <a:off x="502920" y="6419088"/>
            <a:ext cx="11155680" cy="256032"/>
          </a:xfrm>
          <a:prstGeom prst="rect">
            <a:avLst/>
          </a:prstGeom>
          <a:noFill/>
        </p:spPr>
        <p:txBody>
          <a:bodyPr wrap="square" lIns="0" rIns="0" tIns="0" bIns="0">
            <a:spAutoFit/>
          </a:bodyPr>
          <a:lstStyle/>
          <a:p>
            <a:pPr>
              <a:spcAft>
                <a:spcPts val="0"/>
              </a:spcAft>
              <a:defRPr sz="1100" b="0">
                <a:solidFill>
                  <a:srgbClr val="516473"/>
                </a:solidFill>
                <a:latin typeface="Arial"/>
              </a:defRPr>
            </a:pPr>
            <a:r>
              <a:t>PBL6 • pilot21/10/2026 • footprint93 ô xấp xỉ • seed 42 • eval 2021–2023 • chưa mở 2025</a:t>
            </a:r>
          </a:p>
        </p:txBody>
      </p:sp>
      <p:pic>
        <p:nvPicPr>
          <p:cNvPr id="4" name="Picture 3" descr="bss_by_year.png"/>
          <p:cNvPicPr>
            <a:picLocks noChangeAspect="1"/>
          </p:cNvPicPr>
          <p:nvPr/>
        </p:nvPicPr>
        <p:blipFill>
          <a:blip r:embed="rId3"/>
          <a:stretch>
            <a:fillRect/>
          </a:stretch>
        </p:blipFill>
        <p:spPr>
          <a:xfrm>
            <a:off x="457200" y="1234440"/>
            <a:ext cx="11247120" cy="3446698"/>
          </a:xfrm>
          <a:prstGeom prst="rect">
            <a:avLst/>
          </a:prstGeom>
        </p:spPr>
      </p:pic>
      <p:sp>
        <p:nvSpPr>
          <p:cNvPr id="5" name="TextBox 4"/>
          <p:cNvSpPr txBox="1"/>
          <p:nvPr/>
        </p:nvSpPr>
        <p:spPr>
          <a:xfrm>
            <a:off x="640080" y="5596128"/>
            <a:ext cx="10881360" cy="502920"/>
          </a:xfrm>
          <a:prstGeom prst="rect">
            <a:avLst/>
          </a:prstGeom>
          <a:noFill/>
        </p:spPr>
        <p:txBody>
          <a:bodyPr wrap="square" lIns="0" rIns="0" tIns="0" bIns="0">
            <a:spAutoFit/>
          </a:bodyPr>
          <a:lstStyle/>
          <a:p>
            <a:pPr>
              <a:spcAft>
                <a:spcPts val="0"/>
              </a:spcAft>
              <a:defRPr sz="1700" b="0">
                <a:solidFill>
                  <a:srgbClr val="516473"/>
                </a:solidFill>
                <a:latin typeface="Arial"/>
              </a:defRPr>
            </a:pPr>
            <a:r>
              <a:t>Kết quả hồi cứu trên nhãn GSMaP Gauge vùng; đọc cùng CI và giới hạn nhãn.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274320"/>
            <a:ext cx="11155680" cy="640080"/>
          </a:xfrm>
          <a:prstGeom prst="rect">
            <a:avLst/>
          </a:prstGeom>
          <a:noFill/>
        </p:spPr>
        <p:txBody>
          <a:bodyPr wrap="square" lIns="0" rIns="0" tIns="0" bIns="0">
            <a:spAutoFit/>
          </a:bodyPr>
          <a:lstStyle/>
          <a:p>
            <a:pPr>
              <a:spcAft>
                <a:spcPts val="0"/>
              </a:spcAft>
              <a:defRPr sz="3000" b="1">
                <a:solidFill>
                  <a:srgbClr val="123047"/>
                </a:solidFill>
                <a:latin typeface="Arial"/>
              </a:defRPr>
            </a:pPr>
            <a:r>
              <a:t>Thêm đặc trưng: điểm ước lượng và bất định</a:t>
            </a:r>
          </a:p>
        </p:txBody>
      </p:sp>
      <p:sp>
        <p:nvSpPr>
          <p:cNvPr id="3" name="TextBox 2"/>
          <p:cNvSpPr txBox="1"/>
          <p:nvPr/>
        </p:nvSpPr>
        <p:spPr>
          <a:xfrm>
            <a:off x="502920" y="6419088"/>
            <a:ext cx="11155680" cy="256032"/>
          </a:xfrm>
          <a:prstGeom prst="rect">
            <a:avLst/>
          </a:prstGeom>
          <a:noFill/>
        </p:spPr>
        <p:txBody>
          <a:bodyPr wrap="square" lIns="0" rIns="0" tIns="0" bIns="0">
            <a:spAutoFit/>
          </a:bodyPr>
          <a:lstStyle/>
          <a:p>
            <a:pPr>
              <a:spcAft>
                <a:spcPts val="0"/>
              </a:spcAft>
              <a:defRPr sz="1100" b="0">
                <a:solidFill>
                  <a:srgbClr val="516473"/>
                </a:solidFill>
                <a:latin typeface="Arial"/>
              </a:defRPr>
            </a:pPr>
            <a:r>
              <a:t>PBL6 • pilot21/10/2026 • footprint93 ô xấp xỉ • seed 42 • eval 2021–2023 • chưa mở 2025</a:t>
            </a:r>
          </a:p>
        </p:txBody>
      </p:sp>
      <p:pic>
        <p:nvPicPr>
          <p:cNvPr id="4" name="Picture 3" descr="feature_effect_ci.png"/>
          <p:cNvPicPr>
            <a:picLocks noChangeAspect="1"/>
          </p:cNvPicPr>
          <p:nvPr/>
        </p:nvPicPr>
        <p:blipFill>
          <a:blip r:embed="rId3"/>
          <a:stretch>
            <a:fillRect/>
          </a:stretch>
        </p:blipFill>
        <p:spPr>
          <a:xfrm>
            <a:off x="457200" y="1234440"/>
            <a:ext cx="11247120" cy="3537401"/>
          </a:xfrm>
          <a:prstGeom prst="rect">
            <a:avLst/>
          </a:prstGeom>
        </p:spPr>
      </p:pic>
      <p:sp>
        <p:nvSpPr>
          <p:cNvPr id="5" name="TextBox 4"/>
          <p:cNvSpPr txBox="1"/>
          <p:nvPr/>
        </p:nvSpPr>
        <p:spPr>
          <a:xfrm>
            <a:off x="640080" y="5596128"/>
            <a:ext cx="10881360" cy="502920"/>
          </a:xfrm>
          <a:prstGeom prst="rect">
            <a:avLst/>
          </a:prstGeom>
          <a:noFill/>
        </p:spPr>
        <p:txBody>
          <a:bodyPr wrap="square" lIns="0" rIns="0" tIns="0" bIns="0">
            <a:spAutoFit/>
          </a:bodyPr>
          <a:lstStyle/>
          <a:p>
            <a:pPr>
              <a:spcAft>
                <a:spcPts val="0"/>
              </a:spcAft>
              <a:defRPr sz="1700" b="0">
                <a:solidFill>
                  <a:srgbClr val="516473"/>
                </a:solidFill>
                <a:latin typeface="Arial"/>
              </a:defRPr>
            </a:pPr>
            <a:r>
              <a:t>Kết quả hồi cứu trên nhãn GSMaP Gauge vùng; đọc cùng CI và giới hạn nhãn.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274320"/>
            <a:ext cx="11155680" cy="640080"/>
          </a:xfrm>
          <a:prstGeom prst="rect">
            <a:avLst/>
          </a:prstGeom>
          <a:noFill/>
        </p:spPr>
        <p:txBody>
          <a:bodyPr wrap="square" lIns="0" rIns="0" tIns="0" bIns="0">
            <a:spAutoFit/>
          </a:bodyPr>
          <a:lstStyle/>
          <a:p>
            <a:pPr>
              <a:spcAft>
                <a:spcPts val="0"/>
              </a:spcAft>
              <a:defRPr sz="3000" b="1">
                <a:solidFill>
                  <a:srgbClr val="123047"/>
                </a:solidFill>
                <a:latin typeface="Arial"/>
              </a:defRPr>
            </a:pPr>
            <a:r>
              <a:t>Điều có thể báo cáo và việc tiếp theo</a:t>
            </a:r>
          </a:p>
        </p:txBody>
      </p:sp>
      <p:sp>
        <p:nvSpPr>
          <p:cNvPr id="3" name="TextBox 2"/>
          <p:cNvSpPr txBox="1"/>
          <p:nvPr/>
        </p:nvSpPr>
        <p:spPr>
          <a:xfrm>
            <a:off x="502920" y="6419088"/>
            <a:ext cx="11155680" cy="256032"/>
          </a:xfrm>
          <a:prstGeom prst="rect">
            <a:avLst/>
          </a:prstGeom>
          <a:noFill/>
        </p:spPr>
        <p:txBody>
          <a:bodyPr wrap="square" lIns="0" rIns="0" tIns="0" bIns="0">
            <a:spAutoFit/>
          </a:bodyPr>
          <a:lstStyle/>
          <a:p>
            <a:pPr>
              <a:spcAft>
                <a:spcPts val="0"/>
              </a:spcAft>
              <a:defRPr sz="1100" b="0">
                <a:solidFill>
                  <a:srgbClr val="516473"/>
                </a:solidFill>
                <a:latin typeface="Arial"/>
              </a:defRPr>
            </a:pPr>
            <a:r>
              <a:t>PBL6 • pilot21/10/2026 • footprint93 ô xấp xỉ • seed 42 • eval 2021–2023 • chưa mở 2025</a:t>
            </a:r>
          </a:p>
        </p:txBody>
      </p:sp>
      <p:sp>
        <p:nvSpPr>
          <p:cNvPr id="4" name="TextBox 3"/>
          <p:cNvSpPr txBox="1"/>
          <p:nvPr/>
        </p:nvSpPr>
        <p:spPr>
          <a:xfrm>
            <a:off x="640080" y="1234440"/>
            <a:ext cx="10972800" cy="2788920"/>
          </a:xfrm>
          <a:prstGeom prst="rect">
            <a:avLst/>
          </a:prstGeom>
          <a:noFill/>
        </p:spPr>
        <p:txBody>
          <a:bodyPr wrap="square" lIns="0" rIns="0" tIns="0" bIns="0">
            <a:spAutoFit/>
          </a:bodyPr>
          <a:lstStyle/>
          <a:p>
            <a:pPr>
              <a:spcAft>
                <a:spcPts val="1200"/>
              </a:spcAft>
              <a:defRPr sz="2200" b="0">
                <a:solidFill>
                  <a:srgbClr val="123047"/>
                </a:solidFill>
                <a:latin typeface="Arial"/>
              </a:defRPr>
            </a:pPr>
            <a:r>
              <a:t>Ngày 1, E7: BSS LightGBM=0.303; TFT=0.220.</a:t>
            </a:r>
          </a:p>
          <a:p>
            <a:pPr>
              <a:spcAft>
                <a:spcPts val="1200"/>
              </a:spcAft>
              <a:defRPr sz="2200" b="0">
                <a:solidFill>
                  <a:srgbClr val="123047"/>
                </a:solidFill>
                <a:latin typeface="Arial"/>
              </a:defRPr>
            </a:pPr>
            <a:r>
              <a:t>Ngày 1: RMSE LightGBM=17.71; TFT=20.39mm/24 h.</a:t>
            </a:r>
          </a:p>
          <a:p>
            <a:pPr>
              <a:spcAft>
                <a:spcPts val="1200"/>
              </a:spcAft>
              <a:defRPr sz="2200" b="0">
                <a:solidFill>
                  <a:srgbClr val="123047"/>
                </a:solidFill>
                <a:latin typeface="Arial"/>
              </a:defRPr>
            </a:pPr>
            <a:r>
              <a:t>Ngày 3, E7: BSS LightGBM=-0.075; TFT=-0.047.</a:t>
            </a:r>
          </a:p>
          <a:p>
            <a:pPr>
              <a:spcAft>
                <a:spcPts val="0"/>
              </a:spcAft>
              <a:defRPr sz="2200" b="0">
                <a:solidFill>
                  <a:srgbClr val="123047"/>
                </a:solidFill>
                <a:latin typeface="Arial"/>
              </a:defRPr>
            </a:pPr>
            <a:r>
              <a:t>Mới là pilot một seed; chưa chứng minh TFT tốt hơn đối chứng.</a:t>
            </a:r>
          </a:p>
        </p:txBody>
      </p:sp>
      <p:sp>
        <p:nvSpPr>
          <p:cNvPr id="5" name="TextBox 4"/>
          <p:cNvSpPr txBox="1"/>
          <p:nvPr/>
        </p:nvSpPr>
        <p:spPr>
          <a:xfrm>
            <a:off x="640080" y="4389120"/>
            <a:ext cx="10972800" cy="1371600"/>
          </a:xfrm>
          <a:prstGeom prst="rect">
            <a:avLst/>
          </a:prstGeom>
          <a:noFill/>
        </p:spPr>
        <p:txBody>
          <a:bodyPr wrap="square" lIns="0" rIns="0" tIns="0" bIns="0">
            <a:spAutoFit/>
          </a:bodyPr>
          <a:lstStyle/>
          <a:p>
            <a:pPr>
              <a:spcAft>
                <a:spcPts val="1200"/>
              </a:spcAft>
              <a:defRPr sz="2200" b="1">
                <a:solidFill>
                  <a:srgbClr val="087E8B"/>
                </a:solidFill>
                <a:latin typeface="Arial"/>
              </a:defRPr>
            </a:pPr>
            <a:r>
              <a:t>Còn thiếu: giao ranh chính xác, kiểm chứng nhãn độc lập đầy đủ, nhiều seed và E0–E7.</a:t>
            </a:r>
          </a:p>
          <a:p>
            <a:pPr>
              <a:spcAft>
                <a:spcPts val="0"/>
              </a:spcAft>
              <a:defRPr sz="2200" b="1">
                <a:solidFill>
                  <a:srgbClr val="087E8B"/>
                </a:solidFill>
                <a:latin typeface="Arial"/>
              </a:defRPr>
            </a:pPr>
            <a:r>
              <a:t>Giữ kín2025; chưa có kết luận vận hành hoặc cảnh báo.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274320"/>
            <a:ext cx="11155680" cy="640080"/>
          </a:xfrm>
          <a:prstGeom prst="rect">
            <a:avLst/>
          </a:prstGeom>
          <a:noFill/>
        </p:spPr>
        <p:txBody>
          <a:bodyPr wrap="square" lIns="0" rIns="0" tIns="0" bIns="0">
            <a:spAutoFit/>
          </a:bodyPr>
          <a:lstStyle/>
          <a:p>
            <a:pPr>
              <a:spcAft>
                <a:spcPts val="0"/>
              </a:spcAft>
              <a:defRPr sz="3000" b="1">
                <a:solidFill>
                  <a:srgbClr val="123047"/>
                </a:solidFill>
                <a:latin typeface="Arial"/>
              </a:defRPr>
            </a:pPr>
            <a:r>
              <a:t>Dự phòng: reliability xác suất mưa ≥16 mm/24 h</a:t>
            </a:r>
          </a:p>
        </p:txBody>
      </p:sp>
      <p:sp>
        <p:nvSpPr>
          <p:cNvPr id="3" name="TextBox 2"/>
          <p:cNvSpPr txBox="1"/>
          <p:nvPr/>
        </p:nvSpPr>
        <p:spPr>
          <a:xfrm>
            <a:off x="502920" y="6419088"/>
            <a:ext cx="11155680" cy="256032"/>
          </a:xfrm>
          <a:prstGeom prst="rect">
            <a:avLst/>
          </a:prstGeom>
          <a:noFill/>
        </p:spPr>
        <p:txBody>
          <a:bodyPr wrap="square" lIns="0" rIns="0" tIns="0" bIns="0">
            <a:spAutoFit/>
          </a:bodyPr>
          <a:lstStyle/>
          <a:p>
            <a:pPr>
              <a:spcAft>
                <a:spcPts val="0"/>
              </a:spcAft>
              <a:defRPr sz="1100" b="0">
                <a:solidFill>
                  <a:srgbClr val="516473"/>
                </a:solidFill>
                <a:latin typeface="Arial"/>
              </a:defRPr>
            </a:pPr>
            <a:r>
              <a:t>PBL6 • pilot21/10/2026 • footprint93 ô xấp xỉ • seed 42 • eval 2021–2023 • chưa mở 2025</a:t>
            </a:r>
          </a:p>
        </p:txBody>
      </p:sp>
      <p:pic>
        <p:nvPicPr>
          <p:cNvPr id="4" name="Picture 3" descr="reliability16.png"/>
          <p:cNvPicPr>
            <a:picLocks noChangeAspect="1"/>
          </p:cNvPicPr>
          <p:nvPr/>
        </p:nvPicPr>
        <p:blipFill>
          <a:blip r:embed="rId3"/>
          <a:stretch>
            <a:fillRect/>
          </a:stretch>
        </p:blipFill>
        <p:spPr>
          <a:xfrm>
            <a:off x="457200" y="1280160"/>
            <a:ext cx="11247120" cy="3355995"/>
          </a:xfrm>
          <a:prstGeom prst="rect">
            <a:avLst/>
          </a:prstGeom>
        </p:spPr>
      </p:pic>
      <p:sp>
        <p:nvSpPr>
          <p:cNvPr id="5" name="TextBox 4"/>
          <p:cNvSpPr txBox="1"/>
          <p:nvPr/>
        </p:nvSpPr>
        <p:spPr>
          <a:xfrm>
            <a:off x="640080" y="5486400"/>
            <a:ext cx="10972800" cy="548640"/>
          </a:xfrm>
          <a:prstGeom prst="rect">
            <a:avLst/>
          </a:prstGeom>
          <a:noFill/>
        </p:spPr>
        <p:txBody>
          <a:bodyPr wrap="square" lIns="0" rIns="0" tIns="0" bIns="0">
            <a:spAutoFit/>
          </a:bodyPr>
          <a:lstStyle/>
          <a:p>
            <a:pPr>
              <a:spcAft>
                <a:spcPts val="0"/>
              </a:spcAft>
              <a:defRPr sz="1800" b="0">
                <a:solidFill>
                  <a:srgbClr val="516473"/>
                </a:solidFill>
                <a:latin typeface="Arial"/>
              </a:defRPr>
            </a:pPr>
            <a:r>
              <a:t>Bảng số mẫu từng bin nằm trong reliability16.csv; hình không thay khoảng tin cậy.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