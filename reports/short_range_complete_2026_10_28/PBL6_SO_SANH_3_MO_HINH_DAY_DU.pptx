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Đã hoàn thành 72 TFT, 24 pipeline LightGBM và 72 Informer. Informer gồm 18 lượt E0/E7 cũ giữ nguyên và 54 lượt E1–E6 mới, cùng giao thức. Tất cả vẫn là đánh giá phát triển trên footprint xấp xỉ; chưa mở test 2025.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Một lần phát hành lúc 07 giờ Việt Nam tạo ba số lượng mưa trung bình vùng. Ngày 1 là khoảng 0–24 giờ, ngày 2 là 24–48 giờ, ngày 3 là 48–72 giờ. Ví dụ 12, 35, 5 mm chỉ là minh họa. Không cộng 93 giá trị mm để làm nhãn vùng; lấy trung bình theo diện tích rồi cộng 24 giờ. Dự đoán một số trung bình vùng không suy ra tất cả xã hoặc ô đều nhận lượng mưa đó.</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Đầu vào gồm khí tượng quá khứ từ ERA5 và đại lượng suy ra; lịch được tính từ timestamp. Nhãn là y_region_gc_mm từ GSMaP Gauge, tổng hợp theo diện tích các ô rồi cộng 24 giờ. Mưa ERA5 không phải nhãn trong nhánh ngày. Độ đầy đủ hoặc checksum không bảo đảm biến khí tượng hay nhãn vệ tinh chính xác về vật lý. Các biến SST/bối cảnh/chênh áp có hỗ trợ không gian riêng theo mã dựng nguồn, không phải mọi trường đều là 93 phép đo độc lập.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Lấy 168 giờ khí tượng trước thời điểm phát hành, tính trung bình theo khối 6 giờ, thành 28 bước. Với F biến, tensor quá khứ có dạng N×28×F. Decoder chỉ nhận 12 bước lịch tương lai với 4 biến lịch; không nhận ERA5 ở giờ cần dự đoán. Đầu lượng mưa gồm 3 số, đầu sự kiện gồm 3 ngày nhân 3 ngưỡng. Mọi cấu hình dùng mask chung E7: đủ lịch sử và nhãn 72 giờ, không thay mẫu khi bớt biến.</a:t>
            </a:r>
          </a:p>
          <a:p>
            <a:r>
              <a:t>TFT và Informer dùng chuỗi 28 bước; LightGBM dùng các thống kê của cùng cửa sổ lịch sử. Cùng nguyên liệu không đồng nghĩa cùng biểu diễn hoặc chỉ khác kiến trúc.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Đọc B là thông tin nền gần mặt đất và lịch; A bổ sung điều kiện đối lưu/mây/lớp biên/đất; M bổ sung hoàn lưu và dòng ẩm trên cao; C bổ sung nhiệt độ biển. Đây là bảng mô tả đầy đủ theo yêu cầu, còn tên 44 cột ở phụ lục. A/M cũng có các thông tin liên quan độ ẩm nên không độc lập hoàn toàn; không lặp cột không có nghĩa không tương quan. SST hiện chỉ một biến vùng biển, chưa phải cả ENSO/MJO.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E có ba pipeline LightGBM xác định, chín TFT và chín Informer = ba năm nhân ba seed cho mỗi mạng. Đủ 168 lượt mô hình/pipeline; không có nghĩa số ngày thời tiết tăng theo seed. Độc lập phát lại đủ 72 checkpoint Informer, giữ nguyên 96 lượt TFT/LightGBM đã kiểm chứng.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Một mạng neural bắt đầu từ các trọng số ngẫu nhiên, thứ tự lấy mẫu và các thao tác ngẫu nhiên trong huấn luyện. Seed là số đặt trạng thái ngẫu nhiên để quản lý các lần chạy. Seed42/43/44 là ba nhãn đã chọn trước, không phải năm dữ liệu hay ba tỉnh. Mỗi lần vẫn dùng cùng dữ liệu, nhóm biến và cấu hình. Chạy ba lần giúp kiểm tra kết quả có quá phụ thuộc một khởi tạo may mắn không. Ví dụ 9,12,15mm là minh họa cách trung bình dự đoán, không phải kết quả thật.</a:t>
            </a:r>
          </a:p>
          <a:p>
            <a:r>
              <a:t>Cả TFT và Informer đều dùng seed 42/43/44. LightGBM hiện không bagging/feature sampling nên không nhân ba lượt xác định giống nhau.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ngày là ba đầu ra của một mô hình tại một lần dự báo. Ba seed là ba lần huấn luyện cùng cấu hình. Ba lượt chia thời gian là ba đợt đánh giá trên các năm 2021/2022/2023, với tập huấn luyện và hiệu chỉnh riêng của từng đợt. Vì thế mỗi E có 3×3=9 lượt TFT, tám E có 72 lượt. LightGBM hiện chạy xác định nên có 3 lượt mỗi E. Thêm seed không nhân ba số ngày mưa độc lập.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LightGBM là đối chứng cây mạnh, TFT học trọng số biến và chuỗi, Informer là đối chứng attention. Đây là lý do chọn thử; kết quả thực nghiệm mới cho biết mô hình nào phù hợp. Không gọi TFT thắng hoặc Informer không khả thi chỉ từ tên kiến trúc.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mô hình cùng nguồn khí tượng quá khứ, lịch, vùng, nhãn, mẫu và chia thời gian. TFT/Informer dùng chuỗi, LightGBM tóm tắt lịch sử thành bảng. Loss và cách học không hoàn toàn giống nhau; vì vậy đây là so ba pipeline, không cô lập riêng kiến trúc.</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R1 là nghiên cứu mưa ngày kế tiếp tại Cairns, trong đó LightGBM học thành phần dư của mô hình lai. R2 dùng LightGBM cho lượng mưa tại vùng núi Nhật Bản với forecast lân cận và quan trắc. R3 nghiên cứu dự đoán mùa, nên chỉ hỗ trợ bối cảnh phương pháp. Những bài này chứng minh thuật toán đã được dùng trong nghiên cứu giáng thủy, không chứng minh cấu hình của nhóm tốt ở Đà Nẵng. Không nhập điểm giữa các bài vì khác nhãn, hạn và không gian. Phân biệt cơ sở thuật toán A1 với cơ sở ứng dụng R1/R2.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Lượng mm, xác suất và quyết định là ba sản phẩm liên quan nhưng khác nhau. RMSE/MAE/Bias đo lượng. BS/BSS đánh giá xác suất với nhãn sự kiện 0/1. CSI/POD/FAR đo quyết định có/không sau khi chọn ngưỡng xác suất. BSS tốt không tự bảo đảm RMSE tốt; POD cao không bảo đảm ít báo nhầm. Tập dữ liệu ít sự kiện làm accuracy dễ bị ngày khô chi phối. Đầu lượng mưa và xác suất hiện không thuộc một phân phối duy nhất, nên không thay CSI của hai loại đầu ra cho nhau.</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Đọc từng hàng để biết con số đang đo lượng mưa, xác suất hay quyết định. RMSE/MAE/Bias có đơn vị mm/24h. BS là sai số xác suất, BSS là cải thiện BS so khí hậu. CSI/POD/FAR lấy từ số trúng, bỏ sót và báo nhầm. Không so các con số khác đơn vị với nhau. POD cao cần xem FAR; BSS cao chưa tự suy ra lượng mm tốt. Các ví dụ tính cụ thể ở các slide ngay sau.</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Nhãn [0,10,40] mm và dự đoán [0,15,25] mm tạo lỗi [0,+5,-15] mm. MAE=(0+5+15)/3=6,67 mm. RMSE=sqrt((0+25+225)/3)=9,13 mm. Bias=(0+5-15)/3=−3,33 mm. RMSE phạt lỗi 15 mm mạnh, MAE mô tả trung bình trị tuyệt đối và Bias chỉ ra xu hướng thiếu. Bias có thể triệt tiêu khi có lỗi dương/âm, vì vậy gần 0 chưa bảo đảm tốt. Đây là tổng mưa 24 giờ trung bình vùng, không so trực tiếp với RMSE giờ hoặc tại điểm.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Với o=1 khi mưa đạt ngưỡng và o=0 khi không, Brier score là trung bình (p-o)^2. Nếu sự kiện xảy ra, dự báo 0,8 có lỗi 0,04, dự báo 0,2 có lỗi 0,64. BSS=1-BS_model/BS_ref. Ví dụ BS_model=0,06 và BS_ref=0,08 thì BSS=0,25, tương đương giảm 25% lỗi Brier so tham chiếu, không phải 25% ngày đúng. Khí hậu trong dự án học từ train theo tháng/lead. BSS có thể âm; nó không đo sai số mm và không cần ngưỡng quyết định tau. Reliability là chẩn đoán bổ sung, không thay BSS.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100 ngày có 10 ngày đạt ngưỡng. Báo trúng 7, bỏ sót 3, báo nhầm 5 và đúng không sự kiện 85. POD=7/(7+3)=0.700. FAR=5/(7+5)=0.417. CSI=7/(7+3+5)=0.467. FAR chia cho tổng lần báo có, khác false positive rate chia cho tổng ngày không sự kiện. Không báo lần nào thì FAR không xác định, không tự điền 0. Nếu luôn báo khô, accuracy đạt 90% nhưng không bắt được một sự kiện nào.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POD 0,4 nghĩa là bắt 40 trong 100 sự kiện thực. Ví dụ tự tạo 300 ngày có 100 sự kiện: A và B cùng trúng 40, bỏ sót 60 nhưng A báo nhầm 10 và B báo nhầm 160. Cùng POD 0,4 nhưng FAR và CSI rất khác. Vì vậy không có kết luận tốt chỉ từ số 0,4. Trong bài toán khó, mức này có thể hữu ích nếu hơn đối chứng và đáp ứng đánh đổi báo nhầm; cần ngữ cảnh trước khi kết luận.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P1 nghiên cứu IFS/WRF trên Việt Nam, phần 4.3 bàn ngưỡng 25 mm/24h. Có mô tả POD 0,3–0,4 trong bản đồ, nhưng cũng có trạm vùng R6 đạt 0,5–0,7. Không có phát biểu 0,4 là chuẩn chung. P2 là đánh giá ước lượng IMERG theo giờ, nơi POD tối đa 0,4 cùng FAR tối thiểu 0,6 được tác giả nhận xét phát hiện thấp. Dùng hai nguồn để kiểm tra cách diễn giải, không xếp hạng dự án tốt hơn hai bài. Ngưỡng, không gian, nhãn và quy tắc của dự án khác.</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E7 ngày 1 có 114 sự kiện và 961 ngày không có sự kiện. Cả ba dùng quyết định xác suất với ngưỡng chọn riêng trên calibration. TFT bắt nhiều nhất, LightGBM báo nhầm ít nhất, Informer nằm giữa về POD/FAR và có CSI cao nhất. Không phải so ở cùng mức FAR.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Giao thức hiện có gia đình kiểm định chính cho BSS16 và báo CSI. Giữ giao thức để không đổi mục tiêu theo điểm đẹp. POD/FAR là chẩn đoán bắt buộc cạnh CSI; lượng mm phải xuất hiện rõ bằng RMSE/MAE/Bias vì đó là đầu ra nghiên cứu. Nếu bài báo xác định cải thiện lượng mm là câu hỏi chính, cần chốt tiêu chí định lượng trước holdout, không dùng BSS như bằng chứng duy nhất. Nếu mục tiêu là cảnh báo ít bỏ sót, đặt yêu cầu POD và đánh đổi FAR từ nhu cầu sử dụng, chọn ngưỡng trên calibration rồi khóa. Không có một thứ tự phổ quát chỉ do dự báo là ngắn hạn.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 học scaler, mô hình và khí hậu. Calibration chọn epoch/iteration, hiệu chỉnh xác suất và ngưỡng, nên không phải một tập đánh giá độc lập. Evaluation của ba fold là 2021–2023 và đã được xem trong development. Có 1075 mốc mỗi lead, 114 sự kiện 16, 37 sự kiện 50, 15 sự kiện 100. Ba lead có ngày mưa trùng nhau, không cộng thành số đợt độc lập. Nếu đổi ranh/nhãn, phải chạy lại phần phát triển trước khóa thiết kế. Không lấy kết quả 2026 để chọn mô hình chấm 2025.</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Ngưỡng q=16/50/100 mm xác định nhãn sự kiện từ lượng mưa vùng. Ngưỡng tau xác định báo có từ xác suất. Calibration hiện chọn tau bằng CSI; các điểm POD/FAR trong bảng là ở những ngưỡng đó, không phải tại cùng POD hoặc cùng FAR giữa hai mô hình. Khi hạ tau, có thể bắt thêm sự kiện và thêm báo nhầm; FAR không nhất thiết đơn điệu trong mẫu hữu hạn. BS/BSS không cần tau. CSI từ đầu lượng mưa&gt;=q là amount_CSI, khác CSI chính từ xác suất&gt;=tau. Các ngưỡng mưa là giao thức nghiên cứu, không tự là cấp cảnh báo từng xã.</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Cùng dự đoán E7 ngày 1 và cùng 114 sự kiện. Nếu báo có khi lượng mm dự đoán ≥16, TFT trúng 67 và báo nhầm 48, POD 0,588. Nếu dùng đầu xác suất ≥tau đã chọn trên tập hiệu chỉnh, TFT trúng 73 và báo nhầm 66, POD 0,640. Con số 0,640 đúng với quy tắc thứ hai; chưa đồng nghĩa tốt hơn chỉ vì cao hơn. Đây là chẩn đoán bổ sung trên dự đoán đã có, không chọn lại ngưỡng từ tập đánh giá và không thay chỉ số chính.</a:t>
            </a:r>
          </a:p>
          <a:p>
            <a:r>
              <a:t>Slide này minh họa hai quy tắc của cùng TFT, không xếp hạng mô hình. Phép so mô hình đặt đủ ba ở bảng E7 tiếp theo.</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hàng đặt đủ LightGBM/TFT/Informer trong cùng E/ngày. BSS dương hơn khí hậu, âm kém khí hậu. Đậm chỉ là điểm cao nhất trong hàng, không tự là ý nghĩa thống kê. Các khoảng tin cậy mới là mô tả phát triển, chưa kiểm định cuối hoặc hiệu chỉnh nhiều phép.</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hàng đặt đủ LightGBM/TFT/Informer trong cùng E/ngày. BSS dương hơn khí hậu, âm kém khí hậu. Đậm chỉ là điểm cao nhất trong hàng, không tự là ý nghĩa thống kê. Các khoảng tin cậy mới là mô tả phát triển, chưa kiểm định cuối hoặc hiệu chỉnh nhiều phép.</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hàng đặt đủ LightGBM/TFT/Informer trong cùng E/ngày. BSS dương hơn khí hậu, âm kém khí hậu. Đậm chỉ là điểm cao nhất trong hàng, không tự là ý nghĩa thống kê. Các khoảng tin cậy mới là mô tả phát triển, chưa kiểm định cuối hoặc hiệu chỉnh nhiều phép.</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Cùng 44 biến gốc, 1075 mẫu, ba năm đánh giá và nhãn mưa vùng; sự kiện từ 16 mm/24h. TFT/Informer trung bình ba seed; LightGBM xác định. Ngưỡng xác suất chọn trên calibration. Đậm là điểm tốt nhất ở độ chính xác hiển thị, không phải kết quả kiểm định.</a:t>
            </a:r>
          </a:p>
          <a:p>
            <a:r>
              <a:t>LightGBM tốt hơn về RMSE, MAE, BSS và FAR. Informer có CSI cao nhất; TFT có POD cao nhất.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Cùng 44 biến gốc, 1075 mẫu, ba năm đánh giá và nhãn mưa vùng; sự kiện từ 16 mm/24h. TFT/Informer trung bình ba seed; LightGBM xác định. Ngưỡng xác suất chọn trên calibration. Đậm là điểm tốt nhất ở độ chính xác hiển thị, không phải kết quả kiểm định.</a:t>
            </a:r>
          </a:p>
          <a:p>
            <a:r>
              <a:t>LightGBM tốt hơn ở nhiều chỉ số; TFT có POD cao nhất. Mọi BSS đều dương nhưng chỉ còn khoảng 0,025–0,043.</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Cùng 44 biến gốc, 1075 mẫu, ba năm đánh giá và nhãn mưa vùng; sự kiện từ 16 mm/24h. TFT/Informer trung bình ba seed; LightGBM xác định. Ngưỡng xác suất chọn trên calibration. Đậm là điểm tốt nhất ở độ chính xác hiển thị, không phải kết quả kiểm định.</a:t>
            </a:r>
          </a:p>
          <a:p>
            <a:r>
              <a:t>Cả ba BSS đều âm: chưa vượt khí hậu về xác suất. Một chỉ số tốt hơn không đủ để kết luận dự báo ngày 3 đã tốt.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ô là điểm BSS và CI95% từ lấy mẫu lại các đợt ngày trong từng năm. Khoảng hoàn toàn trên 0 hỗ trợ kỹ năng dương trong phân tích mô tả; chứa 0 chưa phân biệt rõ với khí hậu. Không dùng việc hai CI giao nhau để thay CI chênh lệch. Các CI chênh lệch theo cặp của ba mô hình được xuất riêng; chưa hiệu chỉnh nhiều phép hoặc bao trùm bất định nhãn/huấn luyện.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ô là BSS khi thêm riêng một nhóm trừ BSS nền E0, cùng mô hình và ngày 1. A=E1, M=E2, C=E3. Đây là CI95% điểm của phân tích phát triển đã xem trước, không hiệu chỉnh nhiều phép. Phép thử TFT chính với gia đình chín CI đồng thời vẫn giữ nguyên ở slide sau. Không đồng nhất CI95% mới với CI99,44% chính.</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Giữ nguyên phép thử TFT chính đã đăng ký: A/M ngày 1 có CI điều chỉnh gia đình chín phép trên 0, SST chưa có. Informer giờ đã đủ E1–E6; bảng ba mô hình bổ sung dùng CI95% mô tả, không thay phép thử TFT chính hoặc biến phân tích khám phá thành holdout.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Đã bổ sung đủ 54 lượt Informer và dùng lại 18 lượt E0/E7. Có đủ ma trận ba mô hình nhưng chưa hoàn tất giao ranh, QC nhãn hoặc kiểm tra 1h/3h/6h. Các CI mới có điều kiện trên mô hình đã fit; không bao trùm toàn bộ bất định nhãn/huấn luyện. Chưa mở test 2025.</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Giữ kết luận trung thực trên E7: LightGBM tốt hơn theo RMSE/BSS/FAR ngày 1, Informer CSI cao nhất, TFT POD cao nhất. Cả ba E7 ngày 3 BSS âm. Đã đủ E0–E7 của cả ba; xem ma trận để biết thêm biến có lợi ở đâu, không chọn mô hình chỉ từ một điểm đẹp hoặc kết luận vượt holdout.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Trong script LOCAL, hàm evaluate báo POD/FAR cho tổng 6 giờ đạt 10 mm cùng CSI/RMSE/MAE. Notebook Tweedie bổ sung chỉ số 1 giờ, 3/6 giờ và max giờ. Tuy nhiên early stopping của hai tệp được rà soát so RMSE phần tử trên đầu ra giờ; tên biến val_rmse_6h không tự làm nó thành RMSE tổng 6 giờ. evaluate xác suất trong notebook ghi BS và CSI_prob ở p&gt;=0.5, dù docstring nhắc BSS. Do đó không đồng nhất bảng báo cáo POD/FAR với việc tối ưu POD/FAR, hoặc BS với BSS. Phạm vi audit là commit này, chưa xác nhận mã riêng chưa push của thành viên.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đủ LightGBM/TFT/Informer cho từng E/ngày. Đậm xét trong cùng E và độ chính xác hiển thị; Bias gần 0 tốt hơn, các metric khác theo mũi tên. Không có ô Informer thiếu. Toàn năm ở bảng này, chi tiết mùa/năm/ngưỡng trong Excel/CSV. Đậm chưa chứng minh khác biệt có ý nghĩa thống kê.</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đủ LightGBM/TFT/Informer cho từng E/ngày. Đậm xét trong cùng E và độ chính xác hiển thị; Bias gần 0 tốt hơn, các metric khác theo mũi tên. Không có ô Informer thiếu. Toàn năm ở bảng này, chi tiết mùa/năm/ngưỡng trong Excel/CSV. Đậm chưa chứng minh khác biệt có ý nghĩa thống kê.</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đủ LightGBM/TFT/Informer cho từng E/ngày. Đậm xét trong cùng E và độ chính xác hiển thị; Bias gần 0 tốt hơn, các metric khác theo mũi tên. Không có ô Informer thiếu. Toàn năm ở bảng này, chi tiết mùa/năm/ngưỡng trong Excel/CSV. Đậm chưa chứng minh khác biệt có ý nghĩa thống kê.</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đủ LightGBM/TFT/Informer cho từng E/ngày. Đậm xét trong cùng E và độ chính xác hiển thị; Bias gần 0 tốt hơn, các metric khác theo mũi tên. Không có ô Informer thiếu. Toàn năm ở bảng này, chi tiết mùa/năm/ngưỡng trong Excel/CSV. Đậm chưa chứng minh khác biệt có ý nghĩa thống kê.</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đủ LightGBM/TFT/Informer cho từng E/ngày. Đậm xét trong cùng E và độ chính xác hiển thị; Bias gần 0 tốt hơn, các metric khác theo mũi tên. Không có ô Informer thiếu. Toàn năm ở bảng này, chi tiết mùa/năm/ngưỡng trong Excel/CSV. Đậm chưa chứng minh khác biệt có ý nghĩa thống kê.</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đủ LightGBM/TFT/Informer cho từng E/ngày. Đậm xét trong cùng E và độ chính xác hiển thị; Bias gần 0 tốt hơn, các metric khác theo mũi tên. Không có ô Informer thiếu. Toàn năm ở bảng này, chi tiết mùa/năm/ngưỡng trong Excel/CSV. Đậm chưa chứng minh khác biệt có ý nghĩa thống kê.</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đủ LightGBM/TFT/Informer cho từng E/ngày. Đậm xét trong cùng E và độ chính xác hiển thị; Bias gần 0 tốt hơn, các metric khác theo mũi tên. Không có ô Informer thiếu. Toàn năm ở bảng này, chi tiết mùa/năm/ngưỡng trong Excel/CSV. Đậm chưa chứng minh khác biệt có ý nghĩa thống kê.</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đủ LightGBM/TFT/Informer cho từng E/ngày. Đậm xét trong cùng E và độ chính xác hiển thị; Bias gần 0 tốt hơn, các metric khác theo mũi tên. Không có ô Informer thiếu. Toàn năm ở bảng này, chi tiết mùa/năm/ngưỡng trong Excel/CSV. Đậm chưa chứng minh khác biệt có ý nghĩa thống kê.</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đủ LightGBM/TFT/Informer cho từng E/ngày. Đậm xét trong cùng E và độ chính xác hiển thị; Bias gần 0 tốt hơn, các metric khác theo mũi tên. Không có ô Informer thiếu. Toàn năm ở bảng này, chi tiết mùa/năm/ngưỡng trong Excel/CSV. Đậm chưa chứng minh khác biệt có ý nghĩa thống kê.</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Tên biến giữ đúng theo feature_catalog.csv. Trường khí tượng V1 thường có tiền tố mean__; lịch không có tiền tố. Mỗi nhóm là danh mục cột, không độc lập thống kê. CIN NaNđược mã hóa 500 và has_lfc được dựng theo nguồn, cần audit vật lý; hữu hạn không tự bảo đảm đúng. Các trường context/SST/chênh áp có miền không gian riêng. Không suy ra93 quan trắc ERA5độc lập từ lưới đích0,1 độ.</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Tên biến giữ đúng theo feature_catalog.csv. Trường khí tượng V1 thường có tiền tố mean__; lịch không có tiền tố. Mỗi nhóm là danh mục cột, không độc lập thống kê. CIN NaNđược mã hóa 500 và has_lfc được dựng theo nguồn, cần audit vật lý; hữu hạn không tự bảo đảm đúng. Các trường context/SST/chênh áp có miền không gian riêng. Không suy ra93 quan trắc ERA5độc lập từ lưới đích0,1 độ.</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nguồn sơ cấp được đối chiếu đến ngày 21/10/2026. R1 và R3được đọc qua phần công khai từ nhà xuất bản; không khẳng định đã audit full text phương pháp. R2 có trang bài báo và PDF chính thức. Không sao chép PDF hoặc điểm của paper vào repo. Đây là cơ sở chọn phép thử, không là bảo đảm kết quả cho Việt Nam.</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 làpaper thuật toán LightGBM, A2 TFT, A3/A4 Informer. V1 làhướng dẫn kiểm chứng phân loại, V2 làkiểm chứng xác suất. Các nhận định áp dụng cho dữ liệu28 bước/vùng xấp xỉ là suy luận của dự án, không trích như kết luận bài gốc. Chi tiết lịch sử nhánh dev được đóng dấu bằng commit và SHA; không chấm lại mô hình hoặc mở 2025 trong lượt làm slide.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Nguồn P1 là bài gốc trên nhà xuất bản và bản lưu tại KIT. Không sao chép PDF vào Git. Nguồn P2 là ước lượng, không phải dự báo, được ghi đúng giới hạn. V3 là hướng dẫn nhóm kiểm chứng dự báo, không áp chuẩn 0,4 chung. A5 là mã attention tác giả để đối chiếu công thức queries trong subclass pilot mới.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hyperlink" Target="https://www.sciencedirect.com/science/article/pii/S095070512200555X" TargetMode="External"/><Relationship Id="rId4" Type="http://schemas.openxmlformats.org/officeDocument/2006/relationships/hyperlink" Target="https://www.jstage.jst.go.jp/article/ipsjjip/32/0/32_873/_article/-char/en" TargetMode="External"/><Relationship Id="rId5" Type="http://schemas.openxmlformats.org/officeDocument/2006/relationships/hyperlink" Target="https://www.sciencedirect.com/science/article/abs/pii/S0169809523003587"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hyperlink" Target="https://proceedings.neurips.cc/paper_files/paper/2017/hash/6449f44a102fde848669bdd9eb6b76fa-Abstract.html" TargetMode="External"/><Relationship Id="rId4" Type="http://schemas.openxmlformats.org/officeDocument/2006/relationships/hyperlink" Target="https://arxiv.org/abs/1912.09363" TargetMode="External"/><Relationship Id="rId5" Type="http://schemas.openxmlformats.org/officeDocument/2006/relationships/hyperlink" Target="https://ojs.aaai.org/index.php/AAAI/article/view/17325" TargetMode="External"/><Relationship Id="rId6" Type="http://schemas.openxmlformats.org/officeDocument/2006/relationships/hyperlink" Target="https://github.com/zhouhaoyi/Informer2020/blob/main/models/model.py" TargetMode="External"/><Relationship Id="rId7" Type="http://schemas.openxmlformats.org/officeDocument/2006/relationships/hyperlink" Target="https://www.ecmwf.int/sites/default/files/elibrary/2007/15490-verification-categorical-forecasts.pdf" TargetMode="External"/><Relationship Id="rId8" Type="http://schemas.openxmlformats.org/officeDocument/2006/relationships/hyperlink" Target="https://confluence.ecmwf.int/spaces/FUG/pages/673551875/Section%2B12.B%2BStatistical%2BConcepts%2B-%2BProbabilistic%2BData"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hyperlink" Target="https://www.mdpi.com/2073-4433/16/2/224" TargetMode="External"/><Relationship Id="rId4" Type="http://schemas.openxmlformats.org/officeDocument/2006/relationships/hyperlink" Target="https://www.mdpi.com/2072-4292/14/4/928" TargetMode="External"/><Relationship Id="rId5" Type="http://schemas.openxmlformats.org/officeDocument/2006/relationships/hyperlink" Target="https://jwgfvr.github.io/forecastverification/" TargetMode="External"/><Relationship Id="rId6" Type="http://schemas.openxmlformats.org/officeDocument/2006/relationships/hyperlink" Target="https://raw.githubusercontent.com/zhouhaoyi/Informer2020/main/models/attn.py"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SO SÁNH BA MÔ HÌNH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01</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Đặc trưng nào giúp dự đoán mưa vùng?</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Cùng mẫu 2021–2023 • q=16 mm/24h • Vùng 93 ô xấp xỉ • Chưa chấm 2025</a:t>
            </a:r>
          </a:p>
        </p:txBody>
      </p:sp>
      <p:sp>
        <p:nvSpPr>
          <p:cNvPr id="6" name="TextBox 5"/>
          <p:cNvSpPr txBox="1"/>
          <p:nvPr/>
        </p:nvSpPr>
        <p:spPr>
          <a:xfrm>
            <a:off x="640080" y="1508760"/>
            <a:ext cx="10927080" cy="914400"/>
          </a:xfrm>
          <a:prstGeom prst="rect">
            <a:avLst/>
          </a:prstGeom>
          <a:noFill/>
        </p:spPr>
        <p:txBody>
          <a:bodyPr wrap="square" lIns="0" rIns="0" tIns="0" bIns="0" anchor="t">
            <a:spAutoFit/>
          </a:bodyPr>
          <a:lstStyle/>
          <a:p>
            <a:pPr algn="l">
              <a:lnSpc>
                <a:spcPct val="112000"/>
              </a:lnSpc>
              <a:spcBef>
                <a:spcPts val="0"/>
              </a:spcBef>
              <a:spcAft>
                <a:spcPts val="0"/>
              </a:spcAft>
            </a:pPr>
            <a:r>
              <a:rPr sz="2500" b="0">
                <a:solidFill>
                  <a:srgbClr val="123047"/>
                </a:solidFill>
                <a:latin typeface="Arial"/>
              </a:rPr>
              <a:t>LightGBM · TFT · Informer — ba ngày dự đoán</a:t>
            </a:r>
          </a:p>
          <a:p>
            <a:pPr algn="l">
              <a:lnSpc>
                <a:spcPct val="112000"/>
              </a:lnSpc>
              <a:spcBef>
                <a:spcPts val="0"/>
              </a:spcBef>
              <a:spcAft>
                <a:spcPts val="0"/>
              </a:spcAft>
            </a:pPr>
            <a:r>
              <a:rPr sz="2500" b="0">
                <a:solidFill>
                  <a:srgbClr val="123047"/>
                </a:solidFill>
                <a:latin typeface="Arial"/>
              </a:rPr>
              <a:t>Cùng điều kiện đánh giá, đọc đủ lượng mm và xác suất</a:t>
            </a:r>
          </a:p>
        </p:txBody>
      </p:sp>
      <p:sp>
        <p:nvSpPr>
          <p:cNvPr id="7" name="Rectangle 6"/>
          <p:cNvSpPr/>
          <p:nvPr/>
        </p:nvSpPr>
        <p:spPr>
          <a:xfrm>
            <a:off x="502920" y="2788920"/>
            <a:ext cx="3611880" cy="233172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2916936"/>
            <a:ext cx="330098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Đã chạy</a:t>
            </a:r>
          </a:p>
        </p:txBody>
      </p:sp>
      <p:sp>
        <p:nvSpPr>
          <p:cNvPr id="9" name="TextBox 8"/>
          <p:cNvSpPr txBox="1"/>
          <p:nvPr/>
        </p:nvSpPr>
        <p:spPr>
          <a:xfrm>
            <a:off x="658368" y="3584448"/>
            <a:ext cx="3300984" cy="1417319"/>
          </a:xfrm>
          <a:prstGeom prst="rect">
            <a:avLst/>
          </a:prstGeom>
          <a:noFill/>
        </p:spPr>
        <p:txBody>
          <a:bodyPr wrap="square" lIns="0" rIns="0" tIns="0" bIns="0" anchor="t">
            <a:spAutoFit/>
          </a:bodyPr>
          <a:lstStyle/>
          <a:p>
            <a:pPr algn="l">
              <a:lnSpc>
                <a:spcPct val="112000"/>
              </a:lnSpc>
              <a:spcBef>
                <a:spcPts val="0"/>
              </a:spcBef>
              <a:spcAft>
                <a:spcPts val="0"/>
              </a:spcAft>
            </a:pPr>
            <a:r>
              <a:rPr sz="2000" b="0">
                <a:solidFill>
                  <a:srgbClr val="123047"/>
                </a:solidFill>
                <a:latin typeface="Arial"/>
              </a:rPr>
              <a:t>TFT: 72 lượt, đủ E0–E7</a:t>
            </a:r>
          </a:p>
          <a:p>
            <a:pPr algn="l">
              <a:lnSpc>
                <a:spcPct val="112000"/>
              </a:lnSpc>
              <a:spcBef>
                <a:spcPts val="0"/>
              </a:spcBef>
              <a:spcAft>
                <a:spcPts val="0"/>
              </a:spcAft>
            </a:pPr>
            <a:r>
              <a:rPr sz="2000" b="0">
                <a:solidFill>
                  <a:srgbClr val="123047"/>
                </a:solidFill>
                <a:latin typeface="Arial"/>
              </a:rPr>
              <a:t>LightGBM: 24 pipeline</a:t>
            </a:r>
          </a:p>
          <a:p>
            <a:pPr algn="l">
              <a:lnSpc>
                <a:spcPct val="112000"/>
              </a:lnSpc>
              <a:spcBef>
                <a:spcPts val="0"/>
              </a:spcBef>
              <a:spcAft>
                <a:spcPts val="0"/>
              </a:spcAft>
            </a:pPr>
            <a:r>
              <a:rPr sz="2000" b="0">
                <a:solidFill>
                  <a:srgbClr val="123047"/>
                </a:solidFill>
                <a:latin typeface="Arial"/>
              </a:rPr>
              <a:t>Informer: 72 lượt, đủ E0–E7</a:t>
            </a:r>
          </a:p>
        </p:txBody>
      </p:sp>
      <p:sp>
        <p:nvSpPr>
          <p:cNvPr id="10" name="Rectangle 9"/>
          <p:cNvSpPr/>
          <p:nvPr/>
        </p:nvSpPr>
        <p:spPr>
          <a:xfrm>
            <a:off x="4297680" y="2788920"/>
            <a:ext cx="3611880" cy="233172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53128" y="2916936"/>
            <a:ext cx="330098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Cần kiểm chứng</a:t>
            </a:r>
          </a:p>
        </p:txBody>
      </p:sp>
      <p:sp>
        <p:nvSpPr>
          <p:cNvPr id="12" name="TextBox 11"/>
          <p:cNvSpPr txBox="1"/>
          <p:nvPr/>
        </p:nvSpPr>
        <p:spPr>
          <a:xfrm>
            <a:off x="4453128" y="3584448"/>
            <a:ext cx="3300984" cy="1417319"/>
          </a:xfrm>
          <a:prstGeom prst="rect">
            <a:avLst/>
          </a:prstGeom>
          <a:noFill/>
        </p:spPr>
        <p:txBody>
          <a:bodyPr wrap="square" lIns="0" rIns="0" tIns="0" bIns="0" anchor="t">
            <a:spAutoFit/>
          </a:bodyPr>
          <a:lstStyle/>
          <a:p>
            <a:pPr algn="l">
              <a:lnSpc>
                <a:spcPct val="112000"/>
              </a:lnSpc>
              <a:spcBef>
                <a:spcPts val="0"/>
              </a:spcBef>
              <a:spcAft>
                <a:spcPts val="0"/>
              </a:spcAft>
            </a:pPr>
            <a:r>
              <a:rPr sz="2000" b="0">
                <a:solidFill>
                  <a:srgbClr val="123047"/>
                </a:solidFill>
                <a:latin typeface="Arial"/>
              </a:rPr>
              <a:t>Ranh vùng và chất lượng nhãn</a:t>
            </a:r>
          </a:p>
          <a:p>
            <a:pPr algn="l">
              <a:lnSpc>
                <a:spcPct val="112000"/>
              </a:lnSpc>
              <a:spcBef>
                <a:spcPts val="0"/>
              </a:spcBef>
              <a:spcAft>
                <a:spcPts val="0"/>
              </a:spcAft>
            </a:pPr>
            <a:r>
              <a:rPr sz="2000" b="0">
                <a:solidFill>
                  <a:srgbClr val="123047"/>
                </a:solidFill>
                <a:latin typeface="Arial"/>
              </a:rPr>
              <a:t>Độ bền của các kết quả</a:t>
            </a:r>
          </a:p>
          <a:p>
            <a:pPr algn="l">
              <a:lnSpc>
                <a:spcPct val="112000"/>
              </a:lnSpc>
              <a:spcBef>
                <a:spcPts val="0"/>
              </a:spcBef>
              <a:spcAft>
                <a:spcPts val="0"/>
              </a:spcAft>
            </a:pPr>
            <a:r>
              <a:rPr sz="2000" b="0">
                <a:solidFill>
                  <a:srgbClr val="123047"/>
                </a:solidFill>
                <a:latin typeface="Arial"/>
              </a:rPr>
              <a:t>Chưa mở test 2025</a:t>
            </a:r>
          </a:p>
        </p:txBody>
      </p:sp>
      <p:sp>
        <p:nvSpPr>
          <p:cNvPr id="13" name="Rectangle 12"/>
          <p:cNvSpPr/>
          <p:nvPr/>
        </p:nvSpPr>
        <p:spPr>
          <a:xfrm>
            <a:off x="8092440" y="2788920"/>
            <a:ext cx="3611880" cy="233172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47888" y="2916936"/>
            <a:ext cx="330098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Cách đọc</a:t>
            </a:r>
          </a:p>
        </p:txBody>
      </p:sp>
      <p:sp>
        <p:nvSpPr>
          <p:cNvPr id="15" name="TextBox 14"/>
          <p:cNvSpPr txBox="1"/>
          <p:nvPr/>
        </p:nvSpPr>
        <p:spPr>
          <a:xfrm>
            <a:off x="8247888" y="3584448"/>
            <a:ext cx="3300984" cy="1417319"/>
          </a:xfrm>
          <a:prstGeom prst="rect">
            <a:avLst/>
          </a:prstGeom>
          <a:noFill/>
        </p:spPr>
        <p:txBody>
          <a:bodyPr wrap="square" lIns="0" rIns="0" tIns="0" bIns="0" anchor="t">
            <a:spAutoFit/>
          </a:bodyPr>
          <a:lstStyle/>
          <a:p>
            <a:pPr algn="l">
              <a:lnSpc>
                <a:spcPct val="112000"/>
              </a:lnSpc>
              <a:spcBef>
                <a:spcPts val="0"/>
              </a:spcBef>
              <a:spcAft>
                <a:spcPts val="0"/>
              </a:spcAft>
            </a:pPr>
            <a:r>
              <a:rPr sz="2000" b="0">
                <a:solidFill>
                  <a:srgbClr val="123047"/>
                </a:solidFill>
                <a:latin typeface="Arial"/>
              </a:rPr>
              <a:t>So ba mô hình cùng E/ngày</a:t>
            </a:r>
          </a:p>
          <a:p>
            <a:pPr algn="l">
              <a:lnSpc>
                <a:spcPct val="112000"/>
              </a:lnSpc>
              <a:spcBef>
                <a:spcPts val="0"/>
              </a:spcBef>
              <a:spcAft>
                <a:spcPts val="0"/>
              </a:spcAft>
            </a:pPr>
            <a:r>
              <a:rPr sz="2000" b="0">
                <a:solidFill>
                  <a:srgbClr val="123047"/>
                </a:solidFill>
                <a:latin typeface="Arial"/>
              </a:rPr>
              <a:t>Thêm biến: so trong mô hình</a:t>
            </a:r>
          </a:p>
          <a:p>
            <a:pPr algn="l">
              <a:lnSpc>
                <a:spcPct val="112000"/>
              </a:lnSpc>
              <a:spcBef>
                <a:spcPts val="0"/>
              </a:spcBef>
              <a:spcAft>
                <a:spcPts val="0"/>
              </a:spcAft>
            </a:pPr>
            <a:r>
              <a:rPr sz="2000" b="0">
                <a:solidFill>
                  <a:srgbClr val="123047"/>
                </a:solidFill>
                <a:latin typeface="Arial"/>
              </a:rPr>
              <a:t>Đậm chưa là ý nghĩa thống kê</a:t>
            </a:r>
          </a:p>
        </p:txBody>
      </p:sp>
      <p:sp>
        <p:nvSpPr>
          <p:cNvPr id="16" name="Rectangle 15"/>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50" b="1">
                <a:solidFill>
                  <a:srgbClr val="087E8B"/>
                </a:solidFill>
                <a:latin typeface="Arial"/>
              </a:rPr>
              <a:t>E7 ngày 1: LightGBM tốt hơn về RMSE/BSS/FAR; Informer về CSI; TFT về POD.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02</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Đầu ra: ba tổng mưa 24 giờ riêng của cả vùng</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PBL6 • Đánh giá 2021–2023 • Vùng 93 ô xấp xỉ • Test 2025 giữ kín</a:t>
            </a:r>
          </a:p>
        </p:txBody>
      </p:sp>
      <p:pic>
        <p:nvPicPr>
          <p:cNvPr id="6" name="Picture 5" descr="target_timeline.png"/>
          <p:cNvPicPr>
            <a:picLocks noChangeAspect="1"/>
          </p:cNvPicPr>
          <p:nvPr/>
        </p:nvPicPr>
        <p:blipFill>
          <a:blip r:embed="rId3"/>
          <a:stretch>
            <a:fillRect/>
          </a:stretch>
        </p:blipFill>
        <p:spPr>
          <a:xfrm>
            <a:off x="502920" y="1508760"/>
            <a:ext cx="11201400" cy="2889504"/>
          </a:xfrm>
          <a:prstGeom prst="rect">
            <a:avLst/>
          </a:prstGeom>
        </p:spPr>
      </p:pic>
      <p:sp>
        <p:nvSpPr>
          <p:cNvPr id="7" name="TextBox 6"/>
          <p:cNvSpPr txBox="1"/>
          <p:nvPr/>
        </p:nvSpPr>
        <p:spPr>
          <a:xfrm>
            <a:off x="685800" y="4590288"/>
            <a:ext cx="10835640" cy="868680"/>
          </a:xfrm>
          <a:prstGeom prst="rect">
            <a:avLst/>
          </a:prstGeom>
          <a:noFill/>
        </p:spPr>
        <p:txBody>
          <a:bodyPr wrap="square" lIns="0" rIns="0" tIns="0" bIns="0" anchor="t">
            <a:spAutoFit/>
          </a:bodyPr>
          <a:lstStyle/>
          <a:p>
            <a:pPr algn="l">
              <a:lnSpc>
                <a:spcPct val="112000"/>
              </a:lnSpc>
              <a:spcBef>
                <a:spcPts val="0"/>
              </a:spcBef>
              <a:spcAft>
                <a:spcPts val="0"/>
              </a:spcAft>
            </a:pPr>
            <a:r>
              <a:rPr sz="2200" b="0">
                <a:solidFill>
                  <a:srgbClr val="123047"/>
                </a:solidFill>
                <a:latin typeface="Arial"/>
              </a:rPr>
              <a:t>Ví dụ minh họa: [12, 35, 5] mm/24h cho ba ngày.</a:t>
            </a:r>
          </a:p>
          <a:p>
            <a:pPr algn="l">
              <a:lnSpc>
                <a:spcPct val="112000"/>
              </a:lnSpc>
              <a:spcBef>
                <a:spcPts val="0"/>
              </a:spcBef>
              <a:spcAft>
                <a:spcPts val="0"/>
              </a:spcAft>
            </a:pPr>
            <a:r>
              <a:rPr sz="2200" b="0">
                <a:solidFill>
                  <a:srgbClr val="123047"/>
                </a:solidFill>
                <a:latin typeface="Arial"/>
              </a:rPr>
              <a:t>Một mẫu đại diện cho một mốc của vùng; không phải một ô.</a:t>
            </a:r>
          </a:p>
        </p:txBody>
      </p:sp>
      <p:sp>
        <p:nvSpPr>
          <p:cNvPr id="8" name="Rectangle 7"/>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087E8B"/>
                </a:solidFill>
                <a:latin typeface="Arial"/>
              </a:rPr>
              <a:t>Ngày 2/3 không phải tổng tích lũy 48/72 giờ; chưa có đầu ra từng giờ.</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03</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Dữ liệu: ERA5 làm đầu vào, GSMaP Gauge làm nhãn</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PBL6 • Đánh giá 2021–2023 • Vùng 93 ô xấp xỉ • Test 2025 giữ kín</a:t>
            </a:r>
          </a:p>
        </p:txBody>
      </p:sp>
      <p:sp>
        <p:nvSpPr>
          <p:cNvPr id="6" name="Rectangle 5"/>
          <p:cNvSpPr/>
          <p:nvPr/>
        </p:nvSpPr>
        <p:spPr>
          <a:xfrm>
            <a:off x="594360" y="1508760"/>
            <a:ext cx="5486400" cy="3355848"/>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36776"/>
            <a:ext cx="517550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Đầu vào trước giờ phát hành</a:t>
            </a:r>
          </a:p>
        </p:txBody>
      </p:sp>
      <p:sp>
        <p:nvSpPr>
          <p:cNvPr id="8" name="TextBox 7"/>
          <p:cNvSpPr txBox="1"/>
          <p:nvPr/>
        </p:nvSpPr>
        <p:spPr>
          <a:xfrm>
            <a:off x="749808" y="2304288"/>
            <a:ext cx="5175504" cy="2441448"/>
          </a:xfrm>
          <a:prstGeom prst="rect">
            <a:avLst/>
          </a:prstGeom>
          <a:noFill/>
        </p:spPr>
        <p:txBody>
          <a:bodyPr wrap="square" lIns="0" rIns="0" tIns="0" bIns="0" anchor="t">
            <a:spAutoFit/>
          </a:bodyPr>
          <a:lstStyle/>
          <a:p>
            <a:pPr algn="l">
              <a:lnSpc>
                <a:spcPct val="112000"/>
              </a:lnSpc>
              <a:spcBef>
                <a:spcPts val="0"/>
              </a:spcBef>
              <a:spcAft>
                <a:spcPts val="0"/>
              </a:spcAft>
            </a:pPr>
            <a:r>
              <a:rPr sz="2300" b="0">
                <a:solidFill>
                  <a:srgbClr val="123047"/>
                </a:solidFill>
                <a:latin typeface="Arial"/>
              </a:rPr>
              <a:t>Nhiệt độ, ẩm, gió, áp suất…</a:t>
            </a:r>
          </a:p>
          <a:p>
            <a:pPr algn="l">
              <a:lnSpc>
                <a:spcPct val="112000"/>
              </a:lnSpc>
              <a:spcBef>
                <a:spcPts val="0"/>
              </a:spcBef>
              <a:spcAft>
                <a:spcPts val="0"/>
              </a:spcAft>
            </a:pPr>
            <a:r>
              <a:rPr sz="2300" b="0">
                <a:solidFill>
                  <a:srgbClr val="123047"/>
                </a:solidFill>
                <a:latin typeface="Arial"/>
              </a:rPr>
              <a:t>Đối lưu, mây, dòng ẩm, SST</a:t>
            </a:r>
          </a:p>
          <a:p>
            <a:pPr algn="l">
              <a:lnSpc>
                <a:spcPct val="112000"/>
              </a:lnSpc>
              <a:spcBef>
                <a:spcPts val="0"/>
              </a:spcBef>
              <a:spcAft>
                <a:spcPts val="0"/>
              </a:spcAft>
            </a:pPr>
            <a:r>
              <a:rPr sz="2300" b="0">
                <a:solidFill>
                  <a:srgbClr val="123047"/>
                </a:solidFill>
                <a:latin typeface="Arial"/>
              </a:rPr>
              <a:t>Lịch trong năm và trong ngày</a:t>
            </a:r>
          </a:p>
          <a:p>
            <a:pPr algn="l">
              <a:lnSpc>
                <a:spcPct val="112000"/>
              </a:lnSpc>
              <a:spcBef>
                <a:spcPts val="0"/>
              </a:spcBef>
              <a:spcAft>
                <a:spcPts val="0"/>
              </a:spcAft>
            </a:pPr>
            <a:r>
              <a:rPr sz="2300" b="0">
                <a:solidFill>
                  <a:srgbClr val="123047"/>
                </a:solidFill>
                <a:latin typeface="Arial"/>
              </a:rPr>
              <a:t>Hiện không dùng mưa quá khứ</a:t>
            </a:r>
          </a:p>
        </p:txBody>
      </p:sp>
      <p:sp>
        <p:nvSpPr>
          <p:cNvPr id="9" name="Rectangle 8"/>
          <p:cNvSpPr/>
          <p:nvPr/>
        </p:nvSpPr>
        <p:spPr>
          <a:xfrm>
            <a:off x="6291072" y="1508760"/>
            <a:ext cx="5303520" cy="3355848"/>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36776"/>
            <a:ext cx="499262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Nhãn và phạm vi</a:t>
            </a:r>
          </a:p>
        </p:txBody>
      </p:sp>
      <p:sp>
        <p:nvSpPr>
          <p:cNvPr id="11" name="TextBox 10"/>
          <p:cNvSpPr txBox="1"/>
          <p:nvPr/>
        </p:nvSpPr>
        <p:spPr>
          <a:xfrm>
            <a:off x="6446520" y="2304288"/>
            <a:ext cx="4992624" cy="2441448"/>
          </a:xfrm>
          <a:prstGeom prst="rect">
            <a:avLst/>
          </a:prstGeom>
          <a:noFill/>
        </p:spPr>
        <p:txBody>
          <a:bodyPr wrap="square" lIns="0" rIns="0" tIns="0" bIns="0" anchor="t">
            <a:spAutoFit/>
          </a:bodyPr>
          <a:lstStyle/>
          <a:p>
            <a:pPr algn="l">
              <a:lnSpc>
                <a:spcPct val="112000"/>
              </a:lnSpc>
              <a:spcBef>
                <a:spcPts val="0"/>
              </a:spcBef>
              <a:spcAft>
                <a:spcPts val="0"/>
              </a:spcAft>
            </a:pPr>
            <a:r>
              <a:rPr sz="2200" b="0">
                <a:solidFill>
                  <a:srgbClr val="123047"/>
                </a:solidFill>
                <a:latin typeface="Arial"/>
              </a:rPr>
              <a:t>GSMaP Gauge → mưa vùng</a:t>
            </a:r>
          </a:p>
          <a:p>
            <a:pPr algn="l">
              <a:lnSpc>
                <a:spcPct val="112000"/>
              </a:lnSpc>
              <a:spcBef>
                <a:spcPts val="0"/>
              </a:spcBef>
              <a:spcAft>
                <a:spcPts val="0"/>
              </a:spcAft>
            </a:pPr>
            <a:r>
              <a:rPr sz="2200" b="0">
                <a:solidFill>
                  <a:srgbClr val="123047"/>
                </a:solidFill>
                <a:latin typeface="Arial"/>
              </a:rPr>
              <a:t>93 ô, tổng hợp trước mô hình</a:t>
            </a:r>
          </a:p>
          <a:p>
            <a:pPr algn="l">
              <a:lnSpc>
                <a:spcPct val="112000"/>
              </a:lnSpc>
              <a:spcBef>
                <a:spcPts val="0"/>
              </a:spcBef>
              <a:spcAft>
                <a:spcPts val="0"/>
              </a:spcAft>
            </a:pPr>
            <a:r>
              <a:rPr sz="2200" b="0">
                <a:solidFill>
                  <a:srgbClr val="123047"/>
                </a:solidFill>
                <a:latin typeface="Arial"/>
              </a:rPr>
              <a:t>Diện tích toàn ô ≈11.074 km²</a:t>
            </a:r>
          </a:p>
          <a:p>
            <a:pPr algn="l">
              <a:lnSpc>
                <a:spcPct val="112000"/>
              </a:lnSpc>
              <a:spcBef>
                <a:spcPts val="0"/>
              </a:spcBef>
              <a:spcAft>
                <a:spcPts val="0"/>
              </a:spcAft>
            </a:pPr>
            <a:r>
              <a:rPr sz="2200" b="0">
                <a:solidFill>
                  <a:srgbClr val="123047"/>
                </a:solidFill>
                <a:latin typeface="Arial"/>
              </a:rPr>
              <a:t>Footprint xấp xỉ Đà Nẵng mới</a:t>
            </a:r>
          </a:p>
        </p:txBody>
      </p:sp>
      <p:sp>
        <p:nvSpPr>
          <p:cNvPr id="12" name="Rectangle 11"/>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AD3434"/>
                </a:solidFill>
                <a:latin typeface="Arial"/>
              </a:rPr>
              <a:t>Chưa có giao ranh hành chính chính xác; nhãn vệ tinh vẫn có sai số.</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04</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Đầu vào của ba mô hình được tạo thế nào?</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PBL6 • Đánh giá 2021–2023 • Vùng 93 ô xấp xỉ • Test 2025 giữ kín</a:t>
            </a:r>
          </a:p>
        </p:txBody>
      </p:sp>
      <p:graphicFrame>
        <p:nvGraphicFramePr>
          <p:cNvPr id="6" name="Table 5"/>
          <p:cNvGraphicFramePr>
            <a:graphicFrameLocks noGrp="1"/>
          </p:cNvGraphicFramePr>
          <p:nvPr/>
        </p:nvGraphicFramePr>
        <p:xfrm>
          <a:off x="502920" y="1508760"/>
          <a:ext cx="11201400" cy="3566160"/>
        </p:xfrm>
        <a:graphic>
          <a:graphicData uri="http://schemas.openxmlformats.org/drawingml/2006/table">
            <a:tbl>
              <a:tblPr firstRow="1" bandRow="1">
                <a:tableStyleId>{5C22544A-7EE6-4342-B048-85BDC9FD1C3A}</a:tableStyleId>
              </a:tblPr>
              <a:tblGrid>
                <a:gridCol w="1005840"/>
                <a:gridCol w="5212080"/>
                <a:gridCol w="4983480"/>
              </a:tblGrid>
              <a:tr h="713232">
                <a:tc>
                  <a:txBody>
                    <a:bodyPr/>
                    <a:lstStyle/>
                    <a:p>
                      <a:pPr algn="ctr">
                        <a:lnSpc>
                          <a:spcPct val="100000"/>
                        </a:lnSpc>
                        <a:spcBef>
                          <a:spcPts val="0"/>
                        </a:spcBef>
                        <a:spcAft>
                          <a:spcPts val="0"/>
                        </a:spcAft>
                      </a:pPr>
                      <a:r>
                        <a:rPr sz="2200" b="1">
                          <a:solidFill>
                            <a:srgbClr val="FFFFFF"/>
                          </a:solidFill>
                          <a:latin typeface="Arial"/>
                        </a:rPr>
                        <a:t>Bước</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Thao tác</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Kết quả</a:t>
                      </a:r>
                    </a:p>
                  </a:txBody>
                  <a:tcPr marL="50292" marR="50292" marT="32004" marB="32004" anchor="ctr">
                    <a:solidFill>
                      <a:srgbClr val="123047"/>
                    </a:solidFill>
                  </a:tcPr>
                </a:tc>
              </a:tr>
              <a:tr h="713232">
                <a:tc>
                  <a:txBody>
                    <a:bodyPr/>
                    <a:lstStyle/>
                    <a:p>
                      <a:pPr algn="ctr">
                        <a:lnSpc>
                          <a:spcPct val="100000"/>
                        </a:lnSpc>
                        <a:spcBef>
                          <a:spcPts val="0"/>
                        </a:spcBef>
                        <a:spcAft>
                          <a:spcPts val="0"/>
                        </a:spcAft>
                      </a:pPr>
                      <a:r>
                        <a:rPr sz="2200" b="0">
                          <a:solidFill>
                            <a:srgbClr val="123047"/>
                          </a:solidFill>
                          <a:latin typeface="Arial"/>
                        </a:rPr>
                        <a:t>1</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Tổng hợp ô → vùng</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Một chuỗi vùng</a:t>
                      </a:r>
                    </a:p>
                  </a:txBody>
                  <a:tcPr marL="50292" marR="50292" marT="32004" marB="32004" anchor="ctr">
                    <a:solidFill>
                      <a:srgbClr val="FFFFFF"/>
                    </a:solidFill>
                  </a:tcPr>
                </a:tc>
              </a:tr>
              <a:tr h="713232">
                <a:tc>
                  <a:txBody>
                    <a:bodyPr/>
                    <a:lstStyle/>
                    <a:p>
                      <a:pPr algn="ctr">
                        <a:lnSpc>
                          <a:spcPct val="100000"/>
                        </a:lnSpc>
                        <a:spcBef>
                          <a:spcPts val="0"/>
                        </a:spcBef>
                        <a:spcAft>
                          <a:spcPts val="0"/>
                        </a:spcAft>
                      </a:pPr>
                      <a:r>
                        <a:rPr sz="2200" b="0">
                          <a:solidFill>
                            <a:srgbClr val="123047"/>
                          </a:solidFill>
                          <a:latin typeface="Arial"/>
                        </a:rPr>
                        <a:t>2</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168 giờ quá khứ → gộp 6 giờ</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28 bước × F biến</a:t>
                      </a:r>
                    </a:p>
                  </a:txBody>
                  <a:tcPr marL="50292" marR="50292" marT="32004" marB="32004" anchor="ctr">
                    <a:solidFill>
                      <a:srgbClr val="EDF2F7"/>
                    </a:solidFill>
                  </a:tcPr>
                </a:tc>
              </a:tr>
              <a:tr h="713232">
                <a:tc>
                  <a:txBody>
                    <a:bodyPr/>
                    <a:lstStyle/>
                    <a:p>
                      <a:pPr algn="ctr">
                        <a:lnSpc>
                          <a:spcPct val="100000"/>
                        </a:lnSpc>
                        <a:spcBef>
                          <a:spcPts val="0"/>
                        </a:spcBef>
                        <a:spcAft>
                          <a:spcPts val="0"/>
                        </a:spcAft>
                      </a:pPr>
                      <a:r>
                        <a:rPr sz="2200" b="0">
                          <a:solidFill>
                            <a:srgbClr val="123047"/>
                          </a:solidFill>
                          <a:latin typeface="Arial"/>
                        </a:rPr>
                        <a:t>3</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Thêm lịch tương lai đã biết</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12 bước × 4 biến lịch</a:t>
                      </a:r>
                    </a:p>
                  </a:txBody>
                  <a:tcPr marL="50292" marR="50292" marT="32004" marB="32004" anchor="ctr">
                    <a:solidFill>
                      <a:srgbClr val="FFFFFF"/>
                    </a:solidFill>
                  </a:tcPr>
                </a:tc>
              </a:tr>
              <a:tr h="713232">
                <a:tc>
                  <a:txBody>
                    <a:bodyPr/>
                    <a:lstStyle/>
                    <a:p>
                      <a:pPr algn="ctr">
                        <a:lnSpc>
                          <a:spcPct val="100000"/>
                        </a:lnSpc>
                        <a:spcBef>
                          <a:spcPts val="0"/>
                        </a:spcBef>
                        <a:spcAft>
                          <a:spcPts val="0"/>
                        </a:spcAft>
                      </a:pPr>
                      <a:r>
                        <a:rPr sz="2200" b="0">
                          <a:solidFill>
                            <a:srgbClr val="123047"/>
                          </a:solidFill>
                          <a:latin typeface="Arial"/>
                        </a:rPr>
                        <a:t>4</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Ba mô hình dự đoán lượng + xác suất</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3 lượng mm + 9 xác suất</a:t>
                      </a:r>
                    </a:p>
                  </a:txBody>
                  <a:tcPr marL="50292" marR="50292" marT="32004" marB="32004" anchor="ctr">
                    <a:solidFill>
                      <a:srgbClr val="EDF2F7"/>
                    </a:solidFill>
                  </a:tcPr>
                </a:tc>
              </a:tr>
            </a:tbl>
          </a:graphicData>
        </a:graphic>
      </p:graphicFrame>
      <p:sp>
        <p:nvSpPr>
          <p:cNvPr id="7" name="TextBox 6"/>
          <p:cNvSpPr txBox="1"/>
          <p:nvPr/>
        </p:nvSpPr>
        <p:spPr>
          <a:xfrm>
            <a:off x="685800" y="5230368"/>
            <a:ext cx="10881360" cy="694944"/>
          </a:xfrm>
          <a:prstGeom prst="rect">
            <a:avLst/>
          </a:prstGeom>
          <a:noFill/>
        </p:spPr>
        <p:txBody>
          <a:bodyPr wrap="square" lIns="0" rIns="0" tIns="0" bIns="0" anchor="t">
            <a:spAutoFit/>
          </a:bodyPr>
          <a:lstStyle/>
          <a:p>
            <a:pPr algn="l">
              <a:lnSpc>
                <a:spcPct val="112000"/>
              </a:lnSpc>
              <a:spcBef>
                <a:spcPts val="0"/>
              </a:spcBef>
              <a:spcAft>
                <a:spcPts val="0"/>
              </a:spcAft>
            </a:pPr>
            <a:r>
              <a:rPr sz="2000" b="0">
                <a:solidFill>
                  <a:srgbClr val="123047"/>
                </a:solidFill>
                <a:latin typeface="Arial"/>
              </a:rPr>
              <a:t>E0: F=11; E7: F=44. Cùng các mốc hợp lệ cho mọi E.</a:t>
            </a:r>
          </a:p>
          <a:p>
            <a:pPr algn="l">
              <a:lnSpc>
                <a:spcPct val="112000"/>
              </a:lnSpc>
              <a:spcBef>
                <a:spcPts val="0"/>
              </a:spcBef>
              <a:spcAft>
                <a:spcPts val="0"/>
              </a:spcAft>
            </a:pPr>
            <a:r>
              <a:rPr sz="2000" b="0">
                <a:solidFill>
                  <a:srgbClr val="123047"/>
                </a:solidFill>
                <a:latin typeface="Arial"/>
              </a:rPr>
              <a:t>ERA5 hồi cứu chưa chứng minh dữ liệu đến kịp lúc chạy thật.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GIẢI THÍCH VÀ KẾT QUẢ</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05</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Bốn nhóm biến: bao gồm những thông tin gì?</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Nguồn: feature_groups.json và feature_catalog.csv • Số biến là số cột gốc, không phải số nguồn độc lập</a:t>
            </a:r>
          </a:p>
        </p:txBody>
      </p:sp>
      <p:graphicFrame>
        <p:nvGraphicFramePr>
          <p:cNvPr id="6" name="Table 5"/>
          <p:cNvGraphicFramePr>
            <a:graphicFrameLocks noGrp="1"/>
          </p:cNvGraphicFramePr>
          <p:nvPr/>
        </p:nvGraphicFramePr>
        <p:xfrm>
          <a:off x="502920" y="1335024"/>
          <a:ext cx="11201400" cy="4732015"/>
        </p:xfrm>
        <a:graphic>
          <a:graphicData uri="http://schemas.openxmlformats.org/drawingml/2006/table">
            <a:tbl>
              <a:tblPr firstRow="1" bandRow="1">
                <a:tableStyleId>{5C22544A-7EE6-4342-B048-85BDC9FD1C3A}</a:tableStyleId>
              </a:tblPr>
              <a:tblGrid>
                <a:gridCol w="2880360"/>
                <a:gridCol w="914400"/>
                <a:gridCol w="7406640"/>
              </a:tblGrid>
              <a:tr h="946403">
                <a:tc>
                  <a:txBody>
                    <a:bodyPr/>
                    <a:lstStyle/>
                    <a:p>
                      <a:pPr algn="ctr">
                        <a:lnSpc>
                          <a:spcPct val="100000"/>
                        </a:lnSpc>
                        <a:spcBef>
                          <a:spcPts val="0"/>
                        </a:spcBef>
                        <a:spcAft>
                          <a:spcPts val="0"/>
                        </a:spcAft>
                      </a:pPr>
                      <a:r>
                        <a:rPr sz="1720" b="1">
                          <a:solidFill>
                            <a:srgbClr val="FFFFFF"/>
                          </a:solidFill>
                          <a:latin typeface="Arial"/>
                        </a:rPr>
                        <a:t>Nhóm</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Số biến</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Bao gồm những thông tin gì?</a:t>
                      </a:r>
                    </a:p>
                  </a:txBody>
                  <a:tcPr marL="50292" marR="50292" marT="32004" marB="32004" anchor="ctr">
                    <a:solidFill>
                      <a:srgbClr val="123047"/>
                    </a:solidFill>
                  </a:tcPr>
                </a:tc>
              </a:tr>
              <a:tr h="946403">
                <a:tc>
                  <a:txBody>
                    <a:bodyPr/>
                    <a:lstStyle/>
                    <a:p>
                      <a:pPr algn="ctr">
                        <a:lnSpc>
                          <a:spcPct val="100000"/>
                        </a:lnSpc>
                        <a:spcBef>
                          <a:spcPts val="0"/>
                        </a:spcBef>
                        <a:spcAft>
                          <a:spcPts val="0"/>
                        </a:spcAft>
                      </a:pPr>
                      <a:r>
                        <a:rPr sz="1720" b="0">
                          <a:solidFill>
                            <a:srgbClr val="123047"/>
                          </a:solidFill>
                          <a:latin typeface="Arial"/>
                        </a:rPr>
                        <a:t>B — Nền</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11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Nhiệt độ, điểm sương, độ ẩm gần mặt đất; áp suất bề mặt và mực biển; hai thành phần gió 10 m; bốn biến mã hóa giờ và ngày trong năm</a:t>
                      </a:r>
                    </a:p>
                  </a:txBody>
                  <a:tcPr marL="50292" marR="50292" marT="32004" marB="32004" anchor="ctr">
                    <a:solidFill>
                      <a:srgbClr val="FFFFFF"/>
                    </a:solidFill>
                  </a:tcPr>
                </a:tc>
              </a:tr>
              <a:tr h="946403">
                <a:tc>
                  <a:txBody>
                    <a:bodyPr/>
                    <a:lstStyle/>
                    <a:p>
                      <a:pPr algn="ctr">
                        <a:lnSpc>
                          <a:spcPct val="100000"/>
                        </a:lnSpc>
                        <a:spcBef>
                          <a:spcPts val="0"/>
                        </a:spcBef>
                        <a:spcAft>
                          <a:spcPts val="0"/>
                        </a:spcAft>
                      </a:pPr>
                      <a:r>
                        <a:rPr sz="1720" b="0">
                          <a:solidFill>
                            <a:srgbClr val="123047"/>
                          </a:solidFill>
                          <a:latin typeface="Arial"/>
                        </a:rPr>
                        <a:t>A — Đối lưu, mây, lớp biên, đất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12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CAPE, CIN, has_lfc, hơi nước cột TCWV, K-index, Total Totals, độ cao lớp biên, bốn loại độ che phủ mây và độ ẩm đất lớp 1</a:t>
                      </a:r>
                    </a:p>
                  </a:txBody>
                  <a:tcPr marL="50292" marR="50292" marT="32004" marB="32004" anchor="ctr">
                    <a:solidFill>
                      <a:srgbClr val="EDF2F7"/>
                    </a:solidFill>
                  </a:tcPr>
                </a:tc>
              </a:tr>
              <a:tr h="946403">
                <a:tc>
                  <a:txBody>
                    <a:bodyPr/>
                    <a:lstStyle/>
                    <a:p>
                      <a:pPr algn="ctr">
                        <a:lnSpc>
                          <a:spcPct val="100000"/>
                        </a:lnSpc>
                        <a:spcBef>
                          <a:spcPts val="0"/>
                        </a:spcBef>
                        <a:spcAft>
                          <a:spcPts val="0"/>
                        </a:spcAft>
                      </a:pPr>
                      <a:r>
                        <a:rPr sz="1720" b="0">
                          <a:solidFill>
                            <a:srgbClr val="123047"/>
                          </a:solidFill>
                          <a:latin typeface="Arial"/>
                        </a:rPr>
                        <a:t>M — Hoàn lưu và vận chuyển ẩm</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20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Gió, độ ẩm, nhiệt độ, chuyển động thẳng đứng ở 850/500 hPa; đứt gió; dòng vận chuyển ẩm IVT; phân kỳ dòng ẩm; bối cảnh hơi nước/dòng ẩm; hai biến chênh áp</a:t>
                      </a:r>
                    </a:p>
                  </a:txBody>
                  <a:tcPr marL="50292" marR="50292" marT="32004" marB="32004" anchor="ctr">
                    <a:solidFill>
                      <a:srgbClr val="FFFFFF"/>
                    </a:solidFill>
                  </a:tcPr>
                </a:tc>
              </a:tr>
              <a:tr h="946403">
                <a:tc>
                  <a:txBody>
                    <a:bodyPr/>
                    <a:lstStyle/>
                    <a:p>
                      <a:pPr algn="ctr">
                        <a:lnSpc>
                          <a:spcPct val="100000"/>
                        </a:lnSpc>
                        <a:spcBef>
                          <a:spcPts val="0"/>
                        </a:spcBef>
                        <a:spcAft>
                          <a:spcPts val="0"/>
                        </a:spcAft>
                      </a:pPr>
                      <a:r>
                        <a:rPr sz="1720" b="0">
                          <a:solidFill>
                            <a:srgbClr val="123047"/>
                          </a:solidFill>
                          <a:latin typeface="Arial"/>
                        </a:rPr>
                        <a:t>C — Nhiệt độ biển</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SST trung bình tại hộp biển đã chọn</a:t>
                      </a:r>
                    </a:p>
                  </a:txBody>
                  <a:tcPr marL="50292" marR="50292" marT="32004" marB="32004" anchor="ctr">
                    <a:solidFill>
                      <a:srgbClr val="EDF2F7"/>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SO SÁNH BA MÔ HÌNH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06</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Đã hoàn thành E0–E7 cho cả ba mô hình</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Cùng mẫu 2021–2023 • q=16 mm/24h • Vùng 93 ô xấp xỉ • Chưa chấm 2025</a:t>
            </a:r>
          </a:p>
        </p:txBody>
      </p:sp>
      <p:graphicFrame>
        <p:nvGraphicFramePr>
          <p:cNvPr id="6" name="Table 5"/>
          <p:cNvGraphicFramePr>
            <a:graphicFrameLocks noGrp="1"/>
          </p:cNvGraphicFramePr>
          <p:nvPr/>
        </p:nvGraphicFramePr>
        <p:xfrm>
          <a:off x="502920" y="1444752"/>
          <a:ext cx="11201400" cy="3950208"/>
        </p:xfrm>
        <a:graphic>
          <a:graphicData uri="http://schemas.openxmlformats.org/drawingml/2006/table">
            <a:tbl>
              <a:tblPr firstRow="1" bandRow="1">
                <a:tableStyleId>{5C22544A-7EE6-4342-B048-85BDC9FD1C3A}</a:tableStyleId>
              </a:tblPr>
              <a:tblGrid>
                <a:gridCol w="640080"/>
                <a:gridCol w="1920240"/>
                <a:gridCol w="731520"/>
                <a:gridCol w="2743200"/>
                <a:gridCol w="2377440"/>
                <a:gridCol w="2788920"/>
              </a:tblGrid>
              <a:tr h="438912">
                <a:tc>
                  <a:txBody>
                    <a:bodyPr/>
                    <a:lstStyle/>
                    <a:p>
                      <a:pPr algn="ctr">
                        <a:lnSpc>
                          <a:spcPct val="100000"/>
                        </a:lnSpc>
                        <a:spcBef>
                          <a:spcPts val="0"/>
                        </a:spcBef>
                        <a:spcAft>
                          <a:spcPts val="0"/>
                        </a:spcAft>
                      </a:pPr>
                      <a:r>
                        <a:rPr sz="1800" b="1">
                          <a:solidFill>
                            <a:srgbClr val="FFFFFF"/>
                          </a:solidFill>
                          <a:latin typeface="Arial"/>
                        </a:rPr>
                        <a:t>E</a:t>
                      </a:r>
                    </a:p>
                  </a:txBody>
                  <a:tcPr marL="50292" marR="50292" marT="32004" marB="32004" anchor="ctr">
                    <a:solidFill>
                      <a:srgbClr val="123047"/>
                    </a:solidFill>
                  </a:tcPr>
                </a:tc>
                <a:tc>
                  <a:txBody>
                    <a:bodyPr/>
                    <a:lstStyle/>
                    <a:p>
                      <a:pPr algn="ctr">
                        <a:lnSpc>
                          <a:spcPct val="100000"/>
                        </a:lnSpc>
                        <a:spcBef>
                          <a:spcPts val="0"/>
                        </a:spcBef>
                        <a:spcAft>
                          <a:spcPts val="0"/>
                        </a:spcAft>
                      </a:pPr>
                      <a:r>
                        <a:rPr sz="1800" b="1">
                          <a:solidFill>
                            <a:srgbClr val="FFFFFF"/>
                          </a:solidFill>
                          <a:latin typeface="Arial"/>
                        </a:rPr>
                        <a:t>Nhóm biến</a:t>
                      </a:r>
                    </a:p>
                  </a:txBody>
                  <a:tcPr marL="50292" marR="50292" marT="32004" marB="32004" anchor="ctr">
                    <a:solidFill>
                      <a:srgbClr val="123047"/>
                    </a:solidFill>
                  </a:tcPr>
                </a:tc>
                <a:tc>
                  <a:txBody>
                    <a:bodyPr/>
                    <a:lstStyle/>
                    <a:p>
                      <a:pPr algn="ctr">
                        <a:lnSpc>
                          <a:spcPct val="100000"/>
                        </a:lnSpc>
                        <a:spcBef>
                          <a:spcPts val="0"/>
                        </a:spcBef>
                        <a:spcAft>
                          <a:spcPts val="0"/>
                        </a:spcAft>
                      </a:pPr>
                      <a:r>
                        <a:rPr sz="1800" b="1">
                          <a:solidFill>
                            <a:srgbClr val="FFFFFF"/>
                          </a:solidFill>
                          <a:latin typeface="Arial"/>
                        </a:rPr>
                        <a:t>Biến</a:t>
                      </a:r>
                    </a:p>
                  </a:txBody>
                  <a:tcPr marL="50292" marR="50292" marT="32004" marB="32004" anchor="ctr">
                    <a:solidFill>
                      <a:srgbClr val="123047"/>
                    </a:solidFill>
                  </a:tcPr>
                </a:tc>
                <a:tc>
                  <a:txBody>
                    <a:bodyPr/>
                    <a:lstStyle/>
                    <a:p>
                      <a:pPr algn="ctr">
                        <a:lnSpc>
                          <a:spcPct val="100000"/>
                        </a:lnSpc>
                        <a:spcBef>
                          <a:spcPts val="0"/>
                        </a:spcBef>
                        <a:spcAft>
                          <a:spcPts val="0"/>
                        </a:spcAft>
                      </a:pPr>
                      <a:r>
                        <a:rPr sz="1800" b="1">
                          <a:solidFill>
                            <a:srgbClr val="FFFFFF"/>
                          </a:solidFill>
                          <a:latin typeface="Arial"/>
                        </a:rPr>
                        <a:t>LightGBM</a:t>
                      </a:r>
                    </a:p>
                  </a:txBody>
                  <a:tcPr marL="50292" marR="50292" marT="32004" marB="32004" anchor="ctr">
                    <a:solidFill>
                      <a:srgbClr val="123047"/>
                    </a:solidFill>
                  </a:tcPr>
                </a:tc>
                <a:tc>
                  <a:txBody>
                    <a:bodyPr/>
                    <a:lstStyle/>
                    <a:p>
                      <a:pPr algn="ctr">
                        <a:lnSpc>
                          <a:spcPct val="100000"/>
                        </a:lnSpc>
                        <a:spcBef>
                          <a:spcPts val="0"/>
                        </a:spcBef>
                        <a:spcAft>
                          <a:spcPts val="0"/>
                        </a:spcAft>
                      </a:pPr>
                      <a:r>
                        <a:rPr sz="1800" b="1">
                          <a:solidFill>
                            <a:srgbClr val="FFFFFF"/>
                          </a:solidFill>
                          <a:latin typeface="Arial"/>
                        </a:rPr>
                        <a:t>TFT</a:t>
                      </a:r>
                    </a:p>
                  </a:txBody>
                  <a:tcPr marL="50292" marR="50292" marT="32004" marB="32004" anchor="ctr">
                    <a:solidFill>
                      <a:srgbClr val="123047"/>
                    </a:solidFill>
                  </a:tcPr>
                </a:tc>
                <a:tc>
                  <a:txBody>
                    <a:bodyPr/>
                    <a:lstStyle/>
                    <a:p>
                      <a:pPr algn="ctr">
                        <a:lnSpc>
                          <a:spcPct val="100000"/>
                        </a:lnSpc>
                        <a:spcBef>
                          <a:spcPts val="0"/>
                        </a:spcBef>
                        <a:spcAft>
                          <a:spcPts val="0"/>
                        </a:spcAft>
                      </a:pPr>
                      <a:r>
                        <a:rPr sz="1800" b="1">
                          <a:solidFill>
                            <a:srgbClr val="FFFFFF"/>
                          </a:solidFill>
                          <a:latin typeface="Arial"/>
                        </a:rPr>
                        <a:t>Informer</a:t>
                      </a:r>
                    </a:p>
                  </a:txBody>
                  <a:tcPr marL="50292" marR="50292" marT="32004" marB="32004" anchor="ctr">
                    <a:solidFill>
                      <a:srgbClr val="123047"/>
                    </a:solidFill>
                  </a:tcPr>
                </a:tc>
              </a:tr>
              <a:tr h="438912">
                <a:tc>
                  <a:txBody>
                    <a:bodyPr/>
                    <a:lstStyle/>
                    <a:p>
                      <a:pPr algn="ctr">
                        <a:lnSpc>
                          <a:spcPct val="100000"/>
                        </a:lnSpc>
                        <a:spcBef>
                          <a:spcPts val="0"/>
                        </a:spcBef>
                        <a:spcAft>
                          <a:spcPts val="0"/>
                        </a:spcAft>
                      </a:pPr>
                      <a:r>
                        <a:rPr sz="1800" b="0">
                          <a:solidFill>
                            <a:srgbClr val="123047"/>
                          </a:solidFill>
                          <a:latin typeface="Arial"/>
                        </a:rPr>
                        <a:t>E0</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B</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11</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3</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9</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9</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00" b="0">
                          <a:solidFill>
                            <a:srgbClr val="123047"/>
                          </a:solidFill>
                          <a:latin typeface="Arial"/>
                        </a:rPr>
                        <a:t>E1</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B+A</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23</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3</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9</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9</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800" b="0">
                          <a:solidFill>
                            <a:srgbClr val="123047"/>
                          </a:solidFill>
                          <a:latin typeface="Arial"/>
                        </a:rPr>
                        <a:t>E2</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B+M</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31</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3</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9</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9</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00" b="0">
                          <a:solidFill>
                            <a:srgbClr val="123047"/>
                          </a:solidFill>
                          <a:latin typeface="Arial"/>
                        </a:rPr>
                        <a:t>E3</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B+C</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12</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3</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9</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9</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800" b="0">
                          <a:solidFill>
                            <a:srgbClr val="123047"/>
                          </a:solidFill>
                          <a:latin typeface="Arial"/>
                        </a:rPr>
                        <a:t>E4</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B+A+M</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43</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3</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9</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9</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00" b="0">
                          <a:solidFill>
                            <a:srgbClr val="123047"/>
                          </a:solidFill>
                          <a:latin typeface="Arial"/>
                        </a:rPr>
                        <a:t>E5</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B+A+C</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24</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3</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9</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9</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800" b="0">
                          <a:solidFill>
                            <a:srgbClr val="123047"/>
                          </a:solidFill>
                          <a:latin typeface="Arial"/>
                        </a:rPr>
                        <a:t>E6</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B+M+C</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32</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3</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9</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9</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00" b="0">
                          <a:solidFill>
                            <a:srgbClr val="123047"/>
                          </a:solidFill>
                          <a:latin typeface="Arial"/>
                        </a:rPr>
                        <a:t>E7</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B+A+M+C</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44</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3</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9</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9</a:t>
                      </a:r>
                    </a:p>
                  </a:txBody>
                  <a:tcPr marL="50292" marR="50292" marT="32004" marB="32004" anchor="ctr">
                    <a:solidFill>
                      <a:srgbClr val="EDF2F7"/>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087E8B"/>
                </a:solidFill>
                <a:latin typeface="Arial"/>
              </a:rPr>
              <a:t>Đã có: 72 TFT + 24 pipeline LightGBM + 72 Informer = 168 lượt.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GIẢI THÍCH VÀ KẾT QUẢ</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07</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3 seed = train cùng một cấu hình 3 lần</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Seed dùng trong ma trận TFT: 42, 43, 44 • Không tạo thêm dữ liệu thời tiết</a:t>
            </a:r>
          </a:p>
        </p:txBody>
      </p:sp>
      <p:graphicFrame>
        <p:nvGraphicFramePr>
          <p:cNvPr id="6" name="Table 5"/>
          <p:cNvGraphicFramePr>
            <a:graphicFrameLocks noGrp="1"/>
          </p:cNvGraphicFramePr>
          <p:nvPr/>
        </p:nvGraphicFramePr>
        <p:xfrm>
          <a:off x="502920" y="1508760"/>
          <a:ext cx="11201400" cy="2633472"/>
        </p:xfrm>
        <a:graphic>
          <a:graphicData uri="http://schemas.openxmlformats.org/drawingml/2006/table">
            <a:tbl>
              <a:tblPr firstRow="1" bandRow="1">
                <a:tableStyleId>{5C22544A-7EE6-4342-B048-85BDC9FD1C3A}</a:tableStyleId>
              </a:tblPr>
              <a:tblGrid>
                <a:gridCol w="2011680"/>
                <a:gridCol w="4892040"/>
                <a:gridCol w="4297680"/>
              </a:tblGrid>
              <a:tr h="658368">
                <a:tc>
                  <a:txBody>
                    <a:bodyPr/>
                    <a:lstStyle/>
                    <a:p>
                      <a:pPr algn="ctr">
                        <a:lnSpc>
                          <a:spcPct val="100000"/>
                        </a:lnSpc>
                        <a:spcBef>
                          <a:spcPts val="0"/>
                        </a:spcBef>
                        <a:spcAft>
                          <a:spcPts val="0"/>
                        </a:spcAft>
                      </a:pPr>
                      <a:r>
                        <a:rPr sz="2100" b="1">
                          <a:solidFill>
                            <a:srgbClr val="FFFFFF"/>
                          </a:solidFill>
                          <a:latin typeface="Arial"/>
                        </a:rPr>
                        <a:t>Lần train</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Giữ nguyên</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Thay đổi ngẫu nhiên</a:t>
                      </a:r>
                    </a:p>
                  </a:txBody>
                  <a:tcPr marL="50292" marR="50292" marT="32004" marB="32004" anchor="ctr">
                    <a:solidFill>
                      <a:srgbClr val="123047"/>
                    </a:solidFill>
                  </a:tcPr>
                </a:tc>
              </a:tr>
              <a:tr h="658368">
                <a:tc>
                  <a:txBody>
                    <a:bodyPr/>
                    <a:lstStyle/>
                    <a:p>
                      <a:pPr algn="ctr">
                        <a:lnSpc>
                          <a:spcPct val="100000"/>
                        </a:lnSpc>
                        <a:spcBef>
                          <a:spcPts val="0"/>
                        </a:spcBef>
                        <a:spcAft>
                          <a:spcPts val="0"/>
                        </a:spcAft>
                      </a:pPr>
                      <a:r>
                        <a:rPr sz="2100" b="0">
                          <a:solidFill>
                            <a:srgbClr val="123047"/>
                          </a:solidFill>
                          <a:latin typeface="Arial"/>
                        </a:rPr>
                        <a:t>Seed 42</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Dữ liệu, nhãn, nhóm biến, cấu hình</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Khởi tạo mạng, thứ tự mẫu…</a:t>
                      </a:r>
                    </a:p>
                  </a:txBody>
                  <a:tcPr marL="50292" marR="50292" marT="32004" marB="32004" anchor="ctr">
                    <a:solidFill>
                      <a:srgbClr val="FFFFFF"/>
                    </a:solidFill>
                  </a:tcPr>
                </a:tc>
              </a:tr>
              <a:tr h="658368">
                <a:tc>
                  <a:txBody>
                    <a:bodyPr/>
                    <a:lstStyle/>
                    <a:p>
                      <a:pPr algn="ctr">
                        <a:lnSpc>
                          <a:spcPct val="100000"/>
                        </a:lnSpc>
                        <a:spcBef>
                          <a:spcPts val="0"/>
                        </a:spcBef>
                        <a:spcAft>
                          <a:spcPts val="0"/>
                        </a:spcAft>
                      </a:pPr>
                      <a:r>
                        <a:rPr sz="2100" b="0">
                          <a:solidFill>
                            <a:srgbClr val="123047"/>
                          </a:solidFill>
                          <a:latin typeface="Arial"/>
                        </a:rPr>
                        <a:t>Seed 43</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Dữ liệu, nhãn, nhóm biến, cấu hình</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Khởi tạo mạng, thứ tự mẫu…</a:t>
                      </a:r>
                    </a:p>
                  </a:txBody>
                  <a:tcPr marL="50292" marR="50292" marT="32004" marB="32004" anchor="ctr">
                    <a:solidFill>
                      <a:srgbClr val="EDF2F7"/>
                    </a:solidFill>
                  </a:tcPr>
                </a:tc>
              </a:tr>
              <a:tr h="658368">
                <a:tc>
                  <a:txBody>
                    <a:bodyPr/>
                    <a:lstStyle/>
                    <a:p>
                      <a:pPr algn="ctr">
                        <a:lnSpc>
                          <a:spcPct val="100000"/>
                        </a:lnSpc>
                        <a:spcBef>
                          <a:spcPts val="0"/>
                        </a:spcBef>
                        <a:spcAft>
                          <a:spcPts val="0"/>
                        </a:spcAft>
                      </a:pPr>
                      <a:r>
                        <a:rPr sz="2100" b="0">
                          <a:solidFill>
                            <a:srgbClr val="123047"/>
                          </a:solidFill>
                          <a:latin typeface="Arial"/>
                        </a:rPr>
                        <a:t>Seed 44</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Dữ liệu, nhãn, nhóm biến, cấu hình</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Khởi tạo mạng, thứ tự mẫu…</a:t>
                      </a:r>
                    </a:p>
                  </a:txBody>
                  <a:tcPr marL="50292" marR="50292" marT="32004" marB="32004" anchor="ctr">
                    <a:solidFill>
                      <a:srgbClr val="FFFFFF"/>
                    </a:solidFill>
                  </a:tcPr>
                </a:tc>
              </a:tr>
            </a:tbl>
          </a:graphicData>
        </a:graphic>
      </p:graphicFrame>
      <p:sp>
        <p:nvSpPr>
          <p:cNvPr id="7" name="TextBox 6"/>
          <p:cNvSpPr txBox="1"/>
          <p:nvPr/>
        </p:nvSpPr>
        <p:spPr>
          <a:xfrm>
            <a:off x="685800" y="4370832"/>
            <a:ext cx="10835640" cy="914400"/>
          </a:xfrm>
          <a:prstGeom prst="rect">
            <a:avLst/>
          </a:prstGeom>
          <a:noFill/>
        </p:spPr>
        <p:txBody>
          <a:bodyPr wrap="square" lIns="0" rIns="0" tIns="0" bIns="0" anchor="t">
            <a:spAutoFit/>
          </a:bodyPr>
          <a:lstStyle/>
          <a:p>
            <a:pPr algn="l">
              <a:lnSpc>
                <a:spcPct val="112000"/>
              </a:lnSpc>
              <a:spcBef>
                <a:spcPts val="0"/>
              </a:spcBef>
              <a:spcAft>
                <a:spcPts val="0"/>
              </a:spcAft>
            </a:pPr>
            <a:r>
              <a:rPr sz="2200" b="0">
                <a:solidFill>
                  <a:srgbClr val="123047"/>
                </a:solidFill>
                <a:latin typeface="Arial"/>
              </a:rPr>
              <a:t>Ví dụ minh họa: cùng một ngày, ba lần dự đoán 9, 12, 15 mm.</a:t>
            </a:r>
          </a:p>
          <a:p>
            <a:pPr algn="l">
              <a:lnSpc>
                <a:spcPct val="112000"/>
              </a:lnSpc>
              <a:spcBef>
                <a:spcPts val="0"/>
              </a:spcBef>
              <a:spcAft>
                <a:spcPts val="0"/>
              </a:spcAft>
            </a:pPr>
            <a:r>
              <a:rPr sz="2200" b="0">
                <a:solidFill>
                  <a:srgbClr val="123047"/>
                </a:solidFill>
                <a:latin typeface="Arial"/>
              </a:rPr>
              <a:t>Lấy trung bình dự đoán → </a:t>
            </a:r>
            <a:r>
              <a:rPr sz="2200" b="1">
                <a:solidFill>
                  <a:srgbClr val="123047"/>
                </a:solidFill>
                <a:latin typeface="Arial"/>
              </a:rPr>
              <a:t>12 mm</a:t>
            </a:r>
            <a:r>
              <a:rPr sz="2200" b="0">
                <a:solidFill>
                  <a:srgbClr val="123047"/>
                </a:solidFill>
                <a:latin typeface="Arial"/>
              </a:rPr>
              <a:t>; không chọn lần có điểm đẹp nhất.</a:t>
            </a:r>
          </a:p>
        </p:txBody>
      </p:sp>
      <p:sp>
        <p:nvSpPr>
          <p:cNvPr id="8" name="Rectangle 7"/>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50" b="1">
                <a:solidFill>
                  <a:srgbClr val="087E8B"/>
                </a:solidFill>
                <a:latin typeface="Arial"/>
              </a:rPr>
              <a:t>Kết quả TFT/Informer đang báo là trung bình dự đoán ba seed; metric được tính lại sau đó.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GIẢI THÍCH VÀ KẾT QUẢ</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08</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3 ngày, 3 seed và 3 lượt chia thời gian khác nhau</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Mỗi ngày dự đoán vẫn có 1.075 mốc đánh giá; không biến thành 3.225 ngày độc lập</a:t>
            </a:r>
          </a:p>
        </p:txBody>
      </p:sp>
      <p:graphicFrame>
        <p:nvGraphicFramePr>
          <p:cNvPr id="6" name="Table 5"/>
          <p:cNvGraphicFramePr>
            <a:graphicFrameLocks noGrp="1"/>
          </p:cNvGraphicFramePr>
          <p:nvPr/>
        </p:nvGraphicFramePr>
        <p:xfrm>
          <a:off x="502920" y="1508760"/>
          <a:ext cx="11201400" cy="2999232"/>
        </p:xfrm>
        <a:graphic>
          <a:graphicData uri="http://schemas.openxmlformats.org/drawingml/2006/table">
            <a:tbl>
              <a:tblPr firstRow="1" bandRow="1">
                <a:tableStyleId>{5C22544A-7EE6-4342-B048-85BDC9FD1C3A}</a:tableStyleId>
              </a:tblPr>
              <a:tblGrid>
                <a:gridCol w="3383280"/>
                <a:gridCol w="7818120"/>
              </a:tblGrid>
              <a:tr h="749808">
                <a:tc>
                  <a:txBody>
                    <a:bodyPr/>
                    <a:lstStyle/>
                    <a:p>
                      <a:pPr algn="ctr">
                        <a:lnSpc>
                          <a:spcPct val="100000"/>
                        </a:lnSpc>
                        <a:spcBef>
                          <a:spcPts val="0"/>
                        </a:spcBef>
                        <a:spcAft>
                          <a:spcPts val="0"/>
                        </a:spcAft>
                      </a:pPr>
                      <a:r>
                        <a:rPr sz="2200" b="1">
                          <a:solidFill>
                            <a:srgbClr val="FFFFFF"/>
                          </a:solidFill>
                          <a:latin typeface="Arial"/>
                        </a:rPr>
                        <a:t>Số “3” nào?</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Ý nghĩa</a:t>
                      </a:r>
                    </a:p>
                  </a:txBody>
                  <a:tcPr marL="50292" marR="50292" marT="32004" marB="32004" anchor="ctr">
                    <a:solidFill>
                      <a:srgbClr val="123047"/>
                    </a:solidFill>
                  </a:tcPr>
                </a:tc>
              </a:tr>
              <a:tr h="749808">
                <a:tc>
                  <a:txBody>
                    <a:bodyPr/>
                    <a:lstStyle/>
                    <a:p>
                      <a:pPr algn="ctr">
                        <a:lnSpc>
                          <a:spcPct val="100000"/>
                        </a:lnSpc>
                        <a:spcBef>
                          <a:spcPts val="0"/>
                        </a:spcBef>
                        <a:spcAft>
                          <a:spcPts val="0"/>
                        </a:spcAft>
                      </a:pPr>
                      <a:r>
                        <a:rPr sz="2200" b="0">
                          <a:solidFill>
                            <a:srgbClr val="123047"/>
                          </a:solidFill>
                          <a:latin typeface="Arial"/>
                        </a:rPr>
                        <a:t>3 ngày dự đoán</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Một mô hình trả lượng mưa ngày 1, ngày 2 và ngày 3</a:t>
                      </a:r>
                    </a:p>
                  </a:txBody>
                  <a:tcPr marL="50292" marR="50292" marT="32004" marB="32004" anchor="ctr">
                    <a:solidFill>
                      <a:srgbClr val="FFFFFF"/>
                    </a:solidFill>
                  </a:tcPr>
                </a:tc>
              </a:tr>
              <a:tr h="749808">
                <a:tc>
                  <a:txBody>
                    <a:bodyPr/>
                    <a:lstStyle/>
                    <a:p>
                      <a:pPr algn="ctr">
                        <a:lnSpc>
                          <a:spcPct val="100000"/>
                        </a:lnSpc>
                        <a:spcBef>
                          <a:spcPts val="0"/>
                        </a:spcBef>
                        <a:spcAft>
                          <a:spcPts val="0"/>
                        </a:spcAft>
                      </a:pPr>
                      <a:r>
                        <a:rPr sz="2200" b="0">
                          <a:solidFill>
                            <a:srgbClr val="123047"/>
                          </a:solidFill>
                          <a:latin typeface="Arial"/>
                        </a:rPr>
                        <a:t>3 seed</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Cùng cấu hình train ba lần: seed 42, 43, 44</a:t>
                      </a:r>
                    </a:p>
                  </a:txBody>
                  <a:tcPr marL="50292" marR="50292" marT="32004" marB="32004" anchor="ctr">
                    <a:solidFill>
                      <a:srgbClr val="EDF2F7"/>
                    </a:solidFill>
                  </a:tcPr>
                </a:tc>
              </a:tr>
              <a:tr h="749808">
                <a:tc>
                  <a:txBody>
                    <a:bodyPr/>
                    <a:lstStyle/>
                    <a:p>
                      <a:pPr algn="ctr">
                        <a:lnSpc>
                          <a:spcPct val="100000"/>
                        </a:lnSpc>
                        <a:spcBef>
                          <a:spcPts val="0"/>
                        </a:spcBef>
                        <a:spcAft>
                          <a:spcPts val="0"/>
                        </a:spcAft>
                      </a:pPr>
                      <a:r>
                        <a:rPr sz="2200" b="0">
                          <a:solidFill>
                            <a:srgbClr val="123047"/>
                          </a:solidFill>
                          <a:latin typeface="Arial"/>
                        </a:rPr>
                        <a:t>3 lượt chia thời gian</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Lần lượt đánh giá năm 2021, 2022 và 2023</a:t>
                      </a:r>
                    </a:p>
                  </a:txBody>
                  <a:tcPr marL="50292" marR="50292" marT="32004" marB="32004" anchor="ctr">
                    <a:solidFill>
                      <a:srgbClr val="FFFFFF"/>
                    </a:solidFill>
                  </a:tcPr>
                </a:tc>
              </a:tr>
            </a:tbl>
          </a:graphicData>
        </a:graphic>
      </p:graphicFrame>
      <p:sp>
        <p:nvSpPr>
          <p:cNvPr id="7" name="TextBox 6"/>
          <p:cNvSpPr txBox="1"/>
          <p:nvPr/>
        </p:nvSpPr>
        <p:spPr>
          <a:xfrm>
            <a:off x="685800" y="4663440"/>
            <a:ext cx="10835640" cy="1143000"/>
          </a:xfrm>
          <a:prstGeom prst="rect">
            <a:avLst/>
          </a:prstGeom>
          <a:noFill/>
        </p:spPr>
        <p:txBody>
          <a:bodyPr wrap="square" lIns="0" rIns="0" tIns="0" bIns="0" anchor="t">
            <a:spAutoFit/>
          </a:bodyPr>
          <a:lstStyle/>
          <a:p>
            <a:pPr algn="l">
              <a:lnSpc>
                <a:spcPct val="112000"/>
              </a:lnSpc>
              <a:spcBef>
                <a:spcPts val="0"/>
              </a:spcBef>
              <a:spcAft>
                <a:spcPts val="0"/>
              </a:spcAft>
            </a:pPr>
            <a:r>
              <a:rPr sz="2300" b="0">
                <a:solidFill>
                  <a:srgbClr val="123047"/>
                </a:solidFill>
                <a:latin typeface="Arial"/>
              </a:rPr>
              <a:t>Mỗi E: 3 seed × 3 lượt chia = </a:t>
            </a:r>
            <a:r>
              <a:rPr sz="2300" b="1">
                <a:solidFill>
                  <a:srgbClr val="123047"/>
                </a:solidFill>
                <a:latin typeface="Arial"/>
              </a:rPr>
              <a:t>9 lượt TFT</a:t>
            </a:r>
            <a:r>
              <a:rPr sz="2300" b="0">
                <a:solidFill>
                  <a:srgbClr val="123047"/>
                </a:solidFill>
                <a:latin typeface="Arial"/>
              </a:rPr>
              <a:t>.</a:t>
            </a:r>
          </a:p>
          <a:p>
            <a:pPr algn="l">
              <a:lnSpc>
                <a:spcPct val="112000"/>
              </a:lnSpc>
              <a:spcBef>
                <a:spcPts val="0"/>
              </a:spcBef>
              <a:spcAft>
                <a:spcPts val="0"/>
              </a:spcAft>
            </a:pPr>
            <a:r>
              <a:rPr sz="2300" b="0">
                <a:solidFill>
                  <a:srgbClr val="123047"/>
                </a:solidFill>
                <a:latin typeface="Arial"/>
              </a:rPr>
              <a:t>TFT đủ tám E: </a:t>
            </a:r>
            <a:r>
              <a:rPr sz="2300" b="1">
                <a:solidFill>
                  <a:srgbClr val="123047"/>
                </a:solidFill>
                <a:latin typeface="Arial"/>
              </a:rPr>
              <a:t>72 lượt</a:t>
            </a:r>
            <a:r>
              <a:rPr sz="2300" b="0">
                <a:solidFill>
                  <a:srgbClr val="123047"/>
                </a:solidFill>
                <a:latin typeface="Arial"/>
              </a:rPr>
              <a:t>; LightGBM: </a:t>
            </a:r>
            <a:r>
              <a:rPr sz="2300" b="1">
                <a:solidFill>
                  <a:srgbClr val="123047"/>
                </a:solidFill>
                <a:latin typeface="Arial"/>
              </a:rPr>
              <a:t>24 pipeline</a:t>
            </a:r>
            <a:r>
              <a:rPr sz="2300" b="0">
                <a:solidFill>
                  <a:srgbClr val="123047"/>
                </a:solidFill>
                <a:latin typeface="Arial"/>
              </a:rPr>
              <a:t>.</a:t>
            </a:r>
          </a:p>
          <a:p>
            <a:pPr algn="l">
              <a:lnSpc>
                <a:spcPct val="112000"/>
              </a:lnSpc>
              <a:spcBef>
                <a:spcPts val="0"/>
              </a:spcBef>
              <a:spcAft>
                <a:spcPts val="0"/>
              </a:spcAft>
            </a:pPr>
            <a:r>
              <a:rPr sz="2300" b="0">
                <a:solidFill>
                  <a:srgbClr val="123047"/>
                </a:solidFill>
                <a:latin typeface="Arial"/>
              </a:rPr>
              <a:t>Informer đủ tám E: 8 × 9 = </a:t>
            </a:r>
            <a:r>
              <a:rPr sz="2300" b="1">
                <a:solidFill>
                  <a:srgbClr val="123047"/>
                </a:solidFill>
                <a:latin typeface="Arial"/>
              </a:rPr>
              <a:t>72 lượt</a:t>
            </a:r>
            <a:r>
              <a:rPr sz="2300" b="0">
                <a:solidFill>
                  <a:srgbClr val="123047"/>
                </a:solidFill>
                <a:latin typeface="Arial"/>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SO SÁNH BA MÔ HÌNH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09</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Vì sao cùng thử LightGBM, TFT và Informer?</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Cùng mẫu 2021–2023 • q=16 mm/24h • Vùng 93 ô xấp xỉ • Chưa chấm 2025</a:t>
            </a:r>
          </a:p>
        </p:txBody>
      </p:sp>
      <p:sp>
        <p:nvSpPr>
          <p:cNvPr id="6" name="Rectangle 5"/>
          <p:cNvSpPr/>
          <p:nvPr/>
        </p:nvSpPr>
        <p:spPr>
          <a:xfrm>
            <a:off x="502920" y="1600200"/>
            <a:ext cx="3611880" cy="361188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728216"/>
            <a:ext cx="330098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LightGBM</a:t>
            </a:r>
          </a:p>
        </p:txBody>
      </p:sp>
      <p:sp>
        <p:nvSpPr>
          <p:cNvPr id="8" name="TextBox 7"/>
          <p:cNvSpPr txBox="1"/>
          <p:nvPr/>
        </p:nvSpPr>
        <p:spPr>
          <a:xfrm>
            <a:off x="658368" y="2395728"/>
            <a:ext cx="3300984" cy="2697480"/>
          </a:xfrm>
          <a:prstGeom prst="rect">
            <a:avLst/>
          </a:prstGeom>
          <a:noFill/>
        </p:spPr>
        <p:txBody>
          <a:bodyPr wrap="square" lIns="0" rIns="0" tIns="0" bIns="0" anchor="t">
            <a:spAutoFit/>
          </a:bodyPr>
          <a:lstStyle/>
          <a:p>
            <a:pPr algn="l">
              <a:lnSpc>
                <a:spcPct val="112000"/>
              </a:lnSpc>
              <a:spcBef>
                <a:spcPts val="0"/>
              </a:spcBef>
              <a:spcAft>
                <a:spcPts val="0"/>
              </a:spcAft>
            </a:pPr>
            <a:r>
              <a:rPr sz="2200" b="0">
                <a:solidFill>
                  <a:srgbClr val="123047"/>
                </a:solidFill>
                <a:latin typeface="Arial"/>
              </a:rPr>
              <a:t>Cây tăng cường</a:t>
            </a:r>
          </a:p>
          <a:p>
            <a:pPr algn="l">
              <a:lnSpc>
                <a:spcPct val="112000"/>
              </a:lnSpc>
              <a:spcBef>
                <a:spcPts val="0"/>
              </a:spcBef>
              <a:spcAft>
                <a:spcPts val="0"/>
              </a:spcAft>
            </a:pPr>
            <a:r>
              <a:rPr sz="2200" b="0">
                <a:solidFill>
                  <a:srgbClr val="123047"/>
                </a:solidFill>
                <a:latin typeface="Arial"/>
              </a:rPr>
              <a:t>Học từ bảng thống kê quá khứ</a:t>
            </a:r>
          </a:p>
          <a:p>
            <a:pPr algn="l">
              <a:lnSpc>
                <a:spcPct val="112000"/>
              </a:lnSpc>
              <a:spcBef>
                <a:spcPts val="0"/>
              </a:spcBef>
              <a:spcAft>
                <a:spcPts val="0"/>
              </a:spcAft>
            </a:pPr>
            <a:r>
              <a:rPr sz="2200" b="0">
                <a:solidFill>
                  <a:srgbClr val="123047"/>
                </a:solidFill>
                <a:latin typeface="Arial"/>
              </a:rPr>
              <a:t>Mô hình tham chiếu</a:t>
            </a:r>
          </a:p>
          <a:p>
            <a:pPr algn="l">
              <a:lnSpc>
                <a:spcPct val="112000"/>
              </a:lnSpc>
              <a:spcBef>
                <a:spcPts val="0"/>
              </a:spcBef>
              <a:spcAft>
                <a:spcPts val="0"/>
              </a:spcAft>
            </a:pPr>
            <a:r>
              <a:rPr sz="2200" b="0">
                <a:solidFill>
                  <a:srgbClr val="123047"/>
                </a:solidFill>
                <a:latin typeface="Arial"/>
              </a:rPr>
              <a:t>Đã đủ E0–E7</a:t>
            </a:r>
          </a:p>
        </p:txBody>
      </p:sp>
      <p:sp>
        <p:nvSpPr>
          <p:cNvPr id="9" name="Rectangle 8"/>
          <p:cNvSpPr/>
          <p:nvPr/>
        </p:nvSpPr>
        <p:spPr>
          <a:xfrm>
            <a:off x="4297680" y="1600200"/>
            <a:ext cx="3611880" cy="361188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53128" y="1728216"/>
            <a:ext cx="330098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TFT</a:t>
            </a:r>
          </a:p>
        </p:txBody>
      </p:sp>
      <p:sp>
        <p:nvSpPr>
          <p:cNvPr id="11" name="TextBox 10"/>
          <p:cNvSpPr txBox="1"/>
          <p:nvPr/>
        </p:nvSpPr>
        <p:spPr>
          <a:xfrm>
            <a:off x="4453128" y="2395728"/>
            <a:ext cx="3300984" cy="2697480"/>
          </a:xfrm>
          <a:prstGeom prst="rect">
            <a:avLst/>
          </a:prstGeom>
          <a:noFill/>
        </p:spPr>
        <p:txBody>
          <a:bodyPr wrap="square" lIns="0" rIns="0" tIns="0" bIns="0" anchor="t">
            <a:spAutoFit/>
          </a:bodyPr>
          <a:lstStyle/>
          <a:p>
            <a:pPr algn="l">
              <a:lnSpc>
                <a:spcPct val="112000"/>
              </a:lnSpc>
              <a:spcBef>
                <a:spcPts val="0"/>
              </a:spcBef>
              <a:spcAft>
                <a:spcPts val="0"/>
              </a:spcAft>
            </a:pPr>
            <a:r>
              <a:rPr sz="2200" b="0">
                <a:solidFill>
                  <a:srgbClr val="123047"/>
                </a:solidFill>
                <a:latin typeface="Arial"/>
              </a:rPr>
              <a:t>Chọn biến, gating, LSTM</a:t>
            </a:r>
          </a:p>
          <a:p>
            <a:pPr algn="l">
              <a:lnSpc>
                <a:spcPct val="112000"/>
              </a:lnSpc>
              <a:spcBef>
                <a:spcPts val="0"/>
              </a:spcBef>
              <a:spcAft>
                <a:spcPts val="0"/>
              </a:spcAft>
            </a:pPr>
            <a:r>
              <a:rPr sz="2200" b="0">
                <a:solidFill>
                  <a:srgbClr val="123047"/>
                </a:solidFill>
                <a:latin typeface="Arial"/>
              </a:rPr>
              <a:t>Kết hợp attention</a:t>
            </a:r>
          </a:p>
          <a:p>
            <a:pPr algn="l">
              <a:lnSpc>
                <a:spcPct val="112000"/>
              </a:lnSpc>
              <a:spcBef>
                <a:spcPts val="0"/>
              </a:spcBef>
              <a:spcAft>
                <a:spcPts val="0"/>
              </a:spcAft>
            </a:pPr>
            <a:r>
              <a:rPr sz="2200" b="0">
                <a:solidFill>
                  <a:srgbClr val="123047"/>
                </a:solidFill>
                <a:latin typeface="Arial"/>
              </a:rPr>
              <a:t>Nhiều hạn đầu ra</a:t>
            </a:r>
          </a:p>
          <a:p>
            <a:pPr algn="l">
              <a:lnSpc>
                <a:spcPct val="112000"/>
              </a:lnSpc>
              <a:spcBef>
                <a:spcPts val="0"/>
              </a:spcBef>
              <a:spcAft>
                <a:spcPts val="0"/>
              </a:spcAft>
            </a:pPr>
            <a:r>
              <a:rPr sz="2200" b="0">
                <a:solidFill>
                  <a:srgbClr val="123047"/>
                </a:solidFill>
                <a:latin typeface="Arial"/>
              </a:rPr>
              <a:t>Đã đủ E0–E7</a:t>
            </a:r>
          </a:p>
        </p:txBody>
      </p:sp>
      <p:sp>
        <p:nvSpPr>
          <p:cNvPr id="12" name="Rectangle 11"/>
          <p:cNvSpPr/>
          <p:nvPr/>
        </p:nvSpPr>
        <p:spPr>
          <a:xfrm>
            <a:off x="8092440" y="1600200"/>
            <a:ext cx="3611880" cy="361188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7888" y="1728216"/>
            <a:ext cx="330098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Informer</a:t>
            </a:r>
          </a:p>
        </p:txBody>
      </p:sp>
      <p:sp>
        <p:nvSpPr>
          <p:cNvPr id="14" name="TextBox 13"/>
          <p:cNvSpPr txBox="1"/>
          <p:nvPr/>
        </p:nvSpPr>
        <p:spPr>
          <a:xfrm>
            <a:off x="8247888" y="2395728"/>
            <a:ext cx="3300984" cy="2697480"/>
          </a:xfrm>
          <a:prstGeom prst="rect">
            <a:avLst/>
          </a:prstGeom>
          <a:noFill/>
        </p:spPr>
        <p:txBody>
          <a:bodyPr wrap="square" lIns="0" rIns="0" tIns="0" bIns="0" anchor="t">
            <a:spAutoFit/>
          </a:bodyPr>
          <a:lstStyle/>
          <a:p>
            <a:pPr algn="l">
              <a:lnSpc>
                <a:spcPct val="112000"/>
              </a:lnSpc>
              <a:spcBef>
                <a:spcPts val="0"/>
              </a:spcBef>
              <a:spcAft>
                <a:spcPts val="0"/>
              </a:spcAft>
            </a:pPr>
            <a:r>
              <a:rPr sz="2200" b="0">
                <a:solidFill>
                  <a:srgbClr val="123047"/>
                </a:solidFill>
                <a:latin typeface="Arial"/>
              </a:rPr>
              <a:t>Attention, ProbSparse</a:t>
            </a:r>
          </a:p>
          <a:p>
            <a:pPr algn="l">
              <a:lnSpc>
                <a:spcPct val="112000"/>
              </a:lnSpc>
              <a:spcBef>
                <a:spcPts val="0"/>
              </a:spcBef>
              <a:spcAft>
                <a:spcPts val="0"/>
              </a:spcAft>
            </a:pPr>
            <a:r>
              <a:rPr sz="2200" b="0">
                <a:solidFill>
                  <a:srgbClr val="123047"/>
                </a:solidFill>
                <a:latin typeface="Arial"/>
              </a:rPr>
              <a:t>Có thông tin thời gian</a:t>
            </a:r>
          </a:p>
          <a:p>
            <a:pPr algn="l">
              <a:lnSpc>
                <a:spcPct val="112000"/>
              </a:lnSpc>
              <a:spcBef>
                <a:spcPts val="0"/>
              </a:spcBef>
              <a:spcAft>
                <a:spcPts val="0"/>
              </a:spcAft>
            </a:pPr>
            <a:r>
              <a:rPr sz="2200" b="0">
                <a:solidFill>
                  <a:srgbClr val="123047"/>
                </a:solidFill>
                <a:latin typeface="Arial"/>
              </a:rPr>
              <a:t>Đã chạy được cùng dữ liệu</a:t>
            </a:r>
          </a:p>
          <a:p>
            <a:pPr algn="l">
              <a:lnSpc>
                <a:spcPct val="112000"/>
              </a:lnSpc>
              <a:spcBef>
                <a:spcPts val="0"/>
              </a:spcBef>
              <a:spcAft>
                <a:spcPts val="0"/>
              </a:spcAft>
            </a:pPr>
            <a:r>
              <a:rPr sz="2200" b="0">
                <a:solidFill>
                  <a:srgbClr val="123047"/>
                </a:solidFill>
                <a:latin typeface="Arial"/>
              </a:rPr>
              <a:t>Đã đủ E0–E7</a:t>
            </a:r>
          </a:p>
        </p:txBody>
      </p:sp>
      <p:sp>
        <p:nvSpPr>
          <p:cNvPr id="15" name="Rectangle 14"/>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087E8B"/>
                </a:solidFill>
                <a:latin typeface="Arial"/>
              </a:rPr>
              <a:t>TFT và Informer hiện đều là bản điều chỉnh cho bài toán vùng, chưa tuning.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SO SÁNH BA MÔ HÌNH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10</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Cùng thông tin đầu vào, khác cách biểu diễn và học</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Cùng mẫu 2021–2023 • q=16 mm/24h • Vùng 93 ô xấp xỉ • Chưa chấm 2025</a:t>
            </a:r>
          </a:p>
        </p:txBody>
      </p:sp>
      <p:graphicFrame>
        <p:nvGraphicFramePr>
          <p:cNvPr id="6" name="Table 5"/>
          <p:cNvGraphicFramePr>
            <a:graphicFrameLocks noGrp="1"/>
          </p:cNvGraphicFramePr>
          <p:nvPr/>
        </p:nvGraphicFramePr>
        <p:xfrm>
          <a:off x="502920" y="1508760"/>
          <a:ext cx="11201400" cy="3950208"/>
        </p:xfrm>
        <a:graphic>
          <a:graphicData uri="http://schemas.openxmlformats.org/drawingml/2006/table">
            <a:tbl>
              <a:tblPr firstRow="1" bandRow="1">
                <a:tableStyleId>{5C22544A-7EE6-4342-B048-85BDC9FD1C3A}</a:tableStyleId>
              </a:tblPr>
              <a:tblGrid>
                <a:gridCol w="2148840"/>
                <a:gridCol w="3017520"/>
                <a:gridCol w="3017520"/>
                <a:gridCol w="3017520"/>
              </a:tblGrid>
              <a:tr h="658368">
                <a:tc>
                  <a:txBody>
                    <a:bodyPr/>
                    <a:lstStyle/>
                    <a:p>
                      <a:pPr algn="ctr">
                        <a:lnSpc>
                          <a:spcPct val="100000"/>
                        </a:lnSpc>
                        <a:spcBef>
                          <a:spcPts val="0"/>
                        </a:spcBef>
                        <a:spcAft>
                          <a:spcPts val="0"/>
                        </a:spcAft>
                      </a:pPr>
                      <a:r>
                        <a:rPr sz="2000" b="1">
                          <a:solidFill>
                            <a:srgbClr val="FFFFFF"/>
                          </a:solidFill>
                          <a:latin typeface="Arial"/>
                        </a:rPr>
                        <a:t>Nội dung</a:t>
                      </a:r>
                    </a:p>
                  </a:txBody>
                  <a:tcPr marL="50292" marR="50292" marT="32004" marB="32004" anchor="ctr">
                    <a:solidFill>
                      <a:srgbClr val="123047"/>
                    </a:solidFill>
                  </a:tcPr>
                </a:tc>
                <a:tc>
                  <a:txBody>
                    <a:bodyPr/>
                    <a:lstStyle/>
                    <a:p>
                      <a:pPr algn="ctr">
                        <a:lnSpc>
                          <a:spcPct val="100000"/>
                        </a:lnSpc>
                        <a:spcBef>
                          <a:spcPts val="0"/>
                        </a:spcBef>
                        <a:spcAft>
                          <a:spcPts val="0"/>
                        </a:spcAft>
                      </a:pPr>
                      <a:r>
                        <a:rPr sz="2000" b="1">
                          <a:solidFill>
                            <a:srgbClr val="FFFFFF"/>
                          </a:solidFill>
                          <a:latin typeface="Arial"/>
                        </a:rPr>
                        <a:t>LightGBM</a:t>
                      </a:r>
                    </a:p>
                  </a:txBody>
                  <a:tcPr marL="50292" marR="50292" marT="32004" marB="32004" anchor="ctr">
                    <a:solidFill>
                      <a:srgbClr val="123047"/>
                    </a:solidFill>
                  </a:tcPr>
                </a:tc>
                <a:tc>
                  <a:txBody>
                    <a:bodyPr/>
                    <a:lstStyle/>
                    <a:p>
                      <a:pPr algn="ctr">
                        <a:lnSpc>
                          <a:spcPct val="100000"/>
                        </a:lnSpc>
                        <a:spcBef>
                          <a:spcPts val="0"/>
                        </a:spcBef>
                        <a:spcAft>
                          <a:spcPts val="0"/>
                        </a:spcAft>
                      </a:pPr>
                      <a:r>
                        <a:rPr sz="2000" b="1">
                          <a:solidFill>
                            <a:srgbClr val="FFFFFF"/>
                          </a:solidFill>
                          <a:latin typeface="Arial"/>
                        </a:rPr>
                        <a:t>TFT</a:t>
                      </a:r>
                    </a:p>
                  </a:txBody>
                  <a:tcPr marL="50292" marR="50292" marT="32004" marB="32004" anchor="ctr">
                    <a:solidFill>
                      <a:srgbClr val="123047"/>
                    </a:solidFill>
                  </a:tcPr>
                </a:tc>
                <a:tc>
                  <a:txBody>
                    <a:bodyPr/>
                    <a:lstStyle/>
                    <a:p>
                      <a:pPr algn="ctr">
                        <a:lnSpc>
                          <a:spcPct val="100000"/>
                        </a:lnSpc>
                        <a:spcBef>
                          <a:spcPts val="0"/>
                        </a:spcBef>
                        <a:spcAft>
                          <a:spcPts val="0"/>
                        </a:spcAft>
                      </a:pPr>
                      <a:r>
                        <a:rPr sz="2000" b="1">
                          <a:solidFill>
                            <a:srgbClr val="FFFFFF"/>
                          </a:solidFill>
                          <a:latin typeface="Arial"/>
                        </a:rPr>
                        <a:t>Informer</a:t>
                      </a:r>
                    </a:p>
                  </a:txBody>
                  <a:tcPr marL="50292" marR="50292" marT="32004" marB="32004" anchor="ctr">
                    <a:solidFill>
                      <a:srgbClr val="123047"/>
                    </a:solidFill>
                  </a:tcPr>
                </a:tc>
              </a:tr>
              <a:tr h="658368">
                <a:tc>
                  <a:txBody>
                    <a:bodyPr/>
                    <a:lstStyle/>
                    <a:p>
                      <a:pPr algn="ctr">
                        <a:lnSpc>
                          <a:spcPct val="100000"/>
                        </a:lnSpc>
                        <a:spcBef>
                          <a:spcPts val="0"/>
                        </a:spcBef>
                        <a:spcAft>
                          <a:spcPts val="0"/>
                        </a:spcAft>
                      </a:pPr>
                      <a:r>
                        <a:rPr sz="2000" b="0">
                          <a:solidFill>
                            <a:srgbClr val="123047"/>
                          </a:solidFill>
                          <a:latin typeface="Arial"/>
                        </a:rPr>
                        <a:t>Nguyên liệu</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Quá khứ + lịch</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Quá khứ + lịch</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Quá khứ + lịch</a:t>
                      </a:r>
                    </a:p>
                  </a:txBody>
                  <a:tcPr marL="50292" marR="50292" marT="32004" marB="32004" anchor="ctr">
                    <a:solidFill>
                      <a:srgbClr val="FFFFFF"/>
                    </a:solidFill>
                  </a:tcPr>
                </a:tc>
              </a:tr>
              <a:tr h="658368">
                <a:tc>
                  <a:txBody>
                    <a:bodyPr/>
                    <a:lstStyle/>
                    <a:p>
                      <a:pPr algn="ctr">
                        <a:lnSpc>
                          <a:spcPct val="100000"/>
                        </a:lnSpc>
                        <a:spcBef>
                          <a:spcPts val="0"/>
                        </a:spcBef>
                        <a:spcAft>
                          <a:spcPts val="0"/>
                        </a:spcAft>
                      </a:pPr>
                      <a:r>
                        <a:rPr sz="2000" b="0">
                          <a:solidFill>
                            <a:srgbClr val="123047"/>
                          </a:solidFill>
                          <a:latin typeface="Arial"/>
                        </a:rPr>
                        <a:t>Biểu diễn</a:t>
                      </a:r>
                    </a:p>
                  </a:txBody>
                  <a:tcPr marL="50292" marR="50292" marT="32004" marB="32004" anchor="ctr">
                    <a:solidFill>
                      <a:srgbClr val="EDF2F7"/>
                    </a:solidFill>
                  </a:tcPr>
                </a:tc>
                <a:tc>
                  <a:txBody>
                    <a:bodyPr/>
                    <a:lstStyle/>
                    <a:p>
                      <a:pPr algn="ctr">
                        <a:lnSpc>
                          <a:spcPct val="100000"/>
                        </a:lnSpc>
                        <a:spcBef>
                          <a:spcPts val="0"/>
                        </a:spcBef>
                        <a:spcAft>
                          <a:spcPts val="0"/>
                        </a:spcAft>
                      </a:pPr>
                      <a:r>
                        <a:rPr sz="2000" b="0">
                          <a:solidFill>
                            <a:srgbClr val="123047"/>
                          </a:solidFill>
                          <a:latin typeface="Arial"/>
                        </a:rPr>
                        <a:t>Thống kê lịch sử</a:t>
                      </a:r>
                    </a:p>
                  </a:txBody>
                  <a:tcPr marL="50292" marR="50292" marT="32004" marB="32004" anchor="ctr">
                    <a:solidFill>
                      <a:srgbClr val="EDF2F7"/>
                    </a:solidFill>
                  </a:tcPr>
                </a:tc>
                <a:tc>
                  <a:txBody>
                    <a:bodyPr/>
                    <a:lstStyle/>
                    <a:p>
                      <a:pPr algn="ctr">
                        <a:lnSpc>
                          <a:spcPct val="100000"/>
                        </a:lnSpc>
                        <a:spcBef>
                          <a:spcPts val="0"/>
                        </a:spcBef>
                        <a:spcAft>
                          <a:spcPts val="0"/>
                        </a:spcAft>
                      </a:pPr>
                      <a:r>
                        <a:rPr sz="2000" b="0">
                          <a:solidFill>
                            <a:srgbClr val="123047"/>
                          </a:solidFill>
                          <a:latin typeface="Arial"/>
                        </a:rPr>
                        <a:t>Chuỗi 28 bước</a:t>
                      </a:r>
                    </a:p>
                  </a:txBody>
                  <a:tcPr marL="50292" marR="50292" marT="32004" marB="32004" anchor="ctr">
                    <a:solidFill>
                      <a:srgbClr val="EDF2F7"/>
                    </a:solidFill>
                  </a:tcPr>
                </a:tc>
                <a:tc>
                  <a:txBody>
                    <a:bodyPr/>
                    <a:lstStyle/>
                    <a:p>
                      <a:pPr algn="ctr">
                        <a:lnSpc>
                          <a:spcPct val="100000"/>
                        </a:lnSpc>
                        <a:spcBef>
                          <a:spcPts val="0"/>
                        </a:spcBef>
                        <a:spcAft>
                          <a:spcPts val="0"/>
                        </a:spcAft>
                      </a:pPr>
                      <a:r>
                        <a:rPr sz="2000" b="0">
                          <a:solidFill>
                            <a:srgbClr val="123047"/>
                          </a:solidFill>
                          <a:latin typeface="Arial"/>
                        </a:rPr>
                        <a:t>Chuỗi 28 bước</a:t>
                      </a:r>
                    </a:p>
                  </a:txBody>
                  <a:tcPr marL="50292" marR="50292" marT="32004" marB="32004" anchor="ctr">
                    <a:solidFill>
                      <a:srgbClr val="EDF2F7"/>
                    </a:solidFill>
                  </a:tcPr>
                </a:tc>
              </a:tr>
              <a:tr h="658368">
                <a:tc>
                  <a:txBody>
                    <a:bodyPr/>
                    <a:lstStyle/>
                    <a:p>
                      <a:pPr algn="ctr">
                        <a:lnSpc>
                          <a:spcPct val="100000"/>
                        </a:lnSpc>
                        <a:spcBef>
                          <a:spcPts val="0"/>
                        </a:spcBef>
                        <a:spcAft>
                          <a:spcPts val="0"/>
                        </a:spcAft>
                      </a:pPr>
                      <a:r>
                        <a:rPr sz="2000" b="0">
                          <a:solidFill>
                            <a:srgbClr val="123047"/>
                          </a:solidFill>
                          <a:latin typeface="Arial"/>
                        </a:rPr>
                        <a:t>Cách học</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Cây tăng cường</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VSN/LSTM/attention</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ProbSparse/decoder</a:t>
                      </a:r>
                    </a:p>
                  </a:txBody>
                  <a:tcPr marL="50292" marR="50292" marT="32004" marB="32004" anchor="ctr">
                    <a:solidFill>
                      <a:srgbClr val="FFFFFF"/>
                    </a:solidFill>
                  </a:tcPr>
                </a:tc>
              </a:tr>
              <a:tr h="658368">
                <a:tc>
                  <a:txBody>
                    <a:bodyPr/>
                    <a:lstStyle/>
                    <a:p>
                      <a:pPr algn="ctr">
                        <a:lnSpc>
                          <a:spcPct val="100000"/>
                        </a:lnSpc>
                        <a:spcBef>
                          <a:spcPts val="0"/>
                        </a:spcBef>
                        <a:spcAft>
                          <a:spcPts val="0"/>
                        </a:spcAft>
                      </a:pPr>
                      <a:r>
                        <a:rPr sz="2000" b="0">
                          <a:solidFill>
                            <a:srgbClr val="123047"/>
                          </a:solidFill>
                          <a:latin typeface="Arial"/>
                        </a:rPr>
                        <a:t>Lặp huấn luyện</a:t>
                      </a:r>
                    </a:p>
                  </a:txBody>
                  <a:tcPr marL="50292" marR="50292" marT="32004" marB="32004" anchor="ctr">
                    <a:solidFill>
                      <a:srgbClr val="EDF2F7"/>
                    </a:solidFill>
                  </a:tcPr>
                </a:tc>
                <a:tc>
                  <a:txBody>
                    <a:bodyPr/>
                    <a:lstStyle/>
                    <a:p>
                      <a:pPr algn="ctr">
                        <a:lnSpc>
                          <a:spcPct val="100000"/>
                        </a:lnSpc>
                        <a:spcBef>
                          <a:spcPts val="0"/>
                        </a:spcBef>
                        <a:spcAft>
                          <a:spcPts val="0"/>
                        </a:spcAft>
                      </a:pPr>
                      <a:r>
                        <a:rPr sz="2000" b="0">
                          <a:solidFill>
                            <a:srgbClr val="123047"/>
                          </a:solidFill>
                          <a:latin typeface="Arial"/>
                        </a:rPr>
                        <a:t>Xác định</a:t>
                      </a:r>
                    </a:p>
                  </a:txBody>
                  <a:tcPr marL="50292" marR="50292" marT="32004" marB="32004" anchor="ctr">
                    <a:solidFill>
                      <a:srgbClr val="EDF2F7"/>
                    </a:solidFill>
                  </a:tcPr>
                </a:tc>
                <a:tc>
                  <a:txBody>
                    <a:bodyPr/>
                    <a:lstStyle/>
                    <a:p>
                      <a:pPr algn="ctr">
                        <a:lnSpc>
                          <a:spcPct val="100000"/>
                        </a:lnSpc>
                        <a:spcBef>
                          <a:spcPts val="0"/>
                        </a:spcBef>
                        <a:spcAft>
                          <a:spcPts val="0"/>
                        </a:spcAft>
                      </a:pPr>
                      <a:r>
                        <a:rPr sz="2000" b="0">
                          <a:solidFill>
                            <a:srgbClr val="123047"/>
                          </a:solidFill>
                          <a:latin typeface="Arial"/>
                        </a:rPr>
                        <a:t>Ba seed</a:t>
                      </a:r>
                    </a:p>
                  </a:txBody>
                  <a:tcPr marL="50292" marR="50292" marT="32004" marB="32004" anchor="ctr">
                    <a:solidFill>
                      <a:srgbClr val="EDF2F7"/>
                    </a:solidFill>
                  </a:tcPr>
                </a:tc>
                <a:tc>
                  <a:txBody>
                    <a:bodyPr/>
                    <a:lstStyle/>
                    <a:p>
                      <a:pPr algn="ctr">
                        <a:lnSpc>
                          <a:spcPct val="100000"/>
                        </a:lnSpc>
                        <a:spcBef>
                          <a:spcPts val="0"/>
                        </a:spcBef>
                        <a:spcAft>
                          <a:spcPts val="0"/>
                        </a:spcAft>
                      </a:pPr>
                      <a:r>
                        <a:rPr sz="2000" b="0">
                          <a:solidFill>
                            <a:srgbClr val="123047"/>
                          </a:solidFill>
                          <a:latin typeface="Arial"/>
                        </a:rPr>
                        <a:t>Ba seed</a:t>
                      </a:r>
                    </a:p>
                  </a:txBody>
                  <a:tcPr marL="50292" marR="50292" marT="32004" marB="32004" anchor="ctr">
                    <a:solidFill>
                      <a:srgbClr val="EDF2F7"/>
                    </a:solidFill>
                  </a:tcPr>
                </a:tc>
              </a:tr>
              <a:tr h="658368">
                <a:tc>
                  <a:txBody>
                    <a:bodyPr/>
                    <a:lstStyle/>
                    <a:p>
                      <a:pPr algn="ctr">
                        <a:lnSpc>
                          <a:spcPct val="100000"/>
                        </a:lnSpc>
                        <a:spcBef>
                          <a:spcPts val="0"/>
                        </a:spcBef>
                        <a:spcAft>
                          <a:spcPts val="0"/>
                        </a:spcAft>
                      </a:pPr>
                      <a:r>
                        <a:rPr sz="2000" b="0">
                          <a:solidFill>
                            <a:srgbClr val="123047"/>
                          </a:solidFill>
                          <a:latin typeface="Arial"/>
                        </a:rPr>
                        <a:t>Đầu ra chấm</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mm và xác suất</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mm và xác suất</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mm và xác suất</a:t>
                      </a:r>
                    </a:p>
                  </a:txBody>
                  <a:tcPr marL="50292" marR="50292" marT="32004" marB="32004" anchor="ctr">
                    <a:solidFill>
                      <a:srgbClr val="FFFFFF"/>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50" b="1">
                <a:solidFill>
                  <a:srgbClr val="087E8B"/>
                </a:solidFill>
                <a:latin typeface="Arial"/>
              </a:rPr>
              <a:t>Cùng mẫu/nhãn/hạn; không quy mọi khác biệt điểm số riêng cho kiến trúc.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11</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LightGBM có cơ sở ứng dụng trong dự đoán mưa</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Nguồn sơ cấp [R1–R3]; tiêu đề, DOI và giới hạn ở phụ lục tài liệu tham khảo</a:t>
            </a:r>
          </a:p>
        </p:txBody>
      </p:sp>
      <p:graphicFrame>
        <p:nvGraphicFramePr>
          <p:cNvPr id="6" name="Table 5"/>
          <p:cNvGraphicFramePr>
            <a:graphicFrameLocks noGrp="1"/>
          </p:cNvGraphicFramePr>
          <p:nvPr/>
        </p:nvGraphicFramePr>
        <p:xfrm>
          <a:off x="502920" y="1508760"/>
          <a:ext cx="11201400" cy="3730752"/>
        </p:xfrm>
        <a:graphic>
          <a:graphicData uri="http://schemas.openxmlformats.org/drawingml/2006/table">
            <a:tbl>
              <a:tblPr firstRow="1" bandRow="1">
                <a:tableStyleId>{5C22544A-7EE6-4342-B048-85BDC9FD1C3A}</a:tableStyleId>
              </a:tblPr>
              <a:tblGrid>
                <a:gridCol w="2880360"/>
                <a:gridCol w="4297680"/>
                <a:gridCol w="4023360"/>
              </a:tblGrid>
              <a:tr h="932688">
                <a:tc>
                  <a:txBody>
                    <a:bodyPr/>
                    <a:lstStyle/>
                    <a:p>
                      <a:pPr algn="ctr">
                        <a:lnSpc>
                          <a:spcPct val="100000"/>
                        </a:lnSpc>
                        <a:spcBef>
                          <a:spcPts val="0"/>
                        </a:spcBef>
                        <a:spcAft>
                          <a:spcPts val="0"/>
                        </a:spcAft>
                      </a:pPr>
                      <a:r>
                        <a:rPr sz="1800" b="1">
                          <a:solidFill>
                            <a:srgbClr val="FFFFFF"/>
                          </a:solidFill>
                          <a:latin typeface="Arial"/>
                        </a:rPr>
                        <a:t>Nghiên cứu</a:t>
                      </a:r>
                    </a:p>
                  </a:txBody>
                  <a:tcPr marL="50292" marR="50292" marT="32004" marB="32004" anchor="ctr">
                    <a:solidFill>
                      <a:srgbClr val="123047"/>
                    </a:solidFill>
                  </a:tcPr>
                </a:tc>
                <a:tc>
                  <a:txBody>
                    <a:bodyPr/>
                    <a:lstStyle/>
                    <a:p>
                      <a:pPr algn="ctr">
                        <a:lnSpc>
                          <a:spcPct val="100000"/>
                        </a:lnSpc>
                        <a:spcBef>
                          <a:spcPts val="0"/>
                        </a:spcBef>
                        <a:spcAft>
                          <a:spcPts val="0"/>
                        </a:spcAft>
                      </a:pPr>
                      <a:r>
                        <a:rPr sz="1800" b="1">
                          <a:solidFill>
                            <a:srgbClr val="FFFFFF"/>
                          </a:solidFill>
                          <a:latin typeface="Arial"/>
                        </a:rPr>
                        <a:t>LightGBM làm gì?</a:t>
                      </a:r>
                    </a:p>
                  </a:txBody>
                  <a:tcPr marL="50292" marR="50292" marT="32004" marB="32004" anchor="ctr">
                    <a:solidFill>
                      <a:srgbClr val="123047"/>
                    </a:solidFill>
                  </a:tcPr>
                </a:tc>
                <a:tc>
                  <a:txBody>
                    <a:bodyPr/>
                    <a:lstStyle/>
                    <a:p>
                      <a:pPr algn="ctr">
                        <a:lnSpc>
                          <a:spcPct val="100000"/>
                        </a:lnSpc>
                        <a:spcBef>
                          <a:spcPts val="0"/>
                        </a:spcBef>
                        <a:spcAft>
                          <a:spcPts val="0"/>
                        </a:spcAft>
                      </a:pPr>
                      <a:r>
                        <a:rPr sz="1800" b="1">
                          <a:solidFill>
                            <a:srgbClr val="FFFFFF"/>
                          </a:solidFill>
                          <a:latin typeface="Arial"/>
                        </a:rPr>
                        <a:t>Giới hạn khi vận dụng</a:t>
                      </a:r>
                    </a:p>
                  </a:txBody>
                  <a:tcPr marL="50292" marR="50292" marT="32004" marB="32004" anchor="ctr">
                    <a:solidFill>
                      <a:srgbClr val="123047"/>
                    </a:solidFill>
                  </a:tcPr>
                </a:tc>
              </a:tr>
              <a:tr h="932688">
                <a:tc>
                  <a:txBody>
                    <a:bodyPr/>
                    <a:lstStyle/>
                    <a:p>
                      <a:pPr algn="ctr">
                        <a:lnSpc>
                          <a:spcPct val="100000"/>
                        </a:lnSpc>
                        <a:spcBef>
                          <a:spcPts val="0"/>
                        </a:spcBef>
                        <a:spcAft>
                          <a:spcPts val="0"/>
                        </a:spcAft>
                      </a:pPr>
                      <a:r>
                        <a:rPr sz="1800" b="0">
                          <a:solidFill>
                            <a:srgbClr val="123047"/>
                          </a:solidFill>
                          <a:latin typeface="Arial"/>
                        </a:rPr>
                        <a:t>R1 · He và cs.</a:t>
                      </a:r>
                    </a:p>
                    <a:p>
                      <a:pPr algn="ctr">
                        <a:lnSpc>
                          <a:spcPct val="100000"/>
                        </a:lnSpc>
                        <a:spcBef>
                          <a:spcPts val="0"/>
                        </a:spcBef>
                        <a:spcAft>
                          <a:spcPts val="0"/>
                        </a:spcAft>
                      </a:pPr>
                      <a:r>
                        <a:rPr sz="1800" b="0">
                          <a:solidFill>
                            <a:srgbClr val="123047"/>
                          </a:solidFill>
                          <a:latin typeface="Arial"/>
                        </a:rPr>
                        <a:t>2022 · KBS</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Học phần dư trong mô hình lai</a:t>
                      </a:r>
                    </a:p>
                    <a:p>
                      <a:pPr algn="ctr">
                        <a:lnSpc>
                          <a:spcPct val="100000"/>
                        </a:lnSpc>
                        <a:spcBef>
                          <a:spcPts val="0"/>
                        </a:spcBef>
                        <a:spcAft>
                          <a:spcPts val="0"/>
                        </a:spcAft>
                      </a:pPr>
                      <a:r>
                        <a:rPr sz="1800" b="0">
                          <a:solidFill>
                            <a:srgbClr val="123047"/>
                          </a:solidFill>
                          <a:latin typeface="Arial"/>
                        </a:rPr>
                        <a:t>dự đoán mưa ngày kế tiếp</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Cairns; có mưa quá khứ;</a:t>
                      </a:r>
                    </a:p>
                    <a:p>
                      <a:pPr algn="ctr">
                        <a:lnSpc>
                          <a:spcPct val="100000"/>
                        </a:lnSpc>
                        <a:spcBef>
                          <a:spcPts val="0"/>
                        </a:spcBef>
                        <a:spcAft>
                          <a:spcPts val="0"/>
                        </a:spcAft>
                      </a:pPr>
                      <a:r>
                        <a:rPr sz="1800" b="0">
                          <a:solidFill>
                            <a:srgbClr val="123047"/>
                          </a:solidFill>
                          <a:latin typeface="Arial"/>
                        </a:rPr>
                        <a:t>không phải cây đơn lẻ</a:t>
                      </a:r>
                    </a:p>
                  </a:txBody>
                  <a:tcPr marL="50292" marR="50292" marT="32004" marB="32004" anchor="ctr">
                    <a:solidFill>
                      <a:srgbClr val="FFFFFF"/>
                    </a:solidFill>
                  </a:tcPr>
                </a:tc>
              </a:tr>
              <a:tr h="932688">
                <a:tc>
                  <a:txBody>
                    <a:bodyPr/>
                    <a:lstStyle/>
                    <a:p>
                      <a:pPr algn="ctr">
                        <a:lnSpc>
                          <a:spcPct val="100000"/>
                        </a:lnSpc>
                        <a:spcBef>
                          <a:spcPts val="0"/>
                        </a:spcBef>
                        <a:spcAft>
                          <a:spcPts val="0"/>
                        </a:spcAft>
                      </a:pPr>
                      <a:r>
                        <a:rPr sz="1800" b="0">
                          <a:solidFill>
                            <a:srgbClr val="123047"/>
                          </a:solidFill>
                          <a:latin typeface="Arial"/>
                        </a:rPr>
                        <a:t>R2 · Iwase &amp; Takenawa</a:t>
                      </a:r>
                    </a:p>
                    <a:p>
                      <a:pPr algn="ctr">
                        <a:lnSpc>
                          <a:spcPct val="100000"/>
                        </a:lnSpc>
                        <a:spcBef>
                          <a:spcPts val="0"/>
                        </a:spcBef>
                        <a:spcAft>
                          <a:spcPts val="0"/>
                        </a:spcAft>
                      </a:pPr>
                      <a:r>
                        <a:rPr sz="1800" b="0">
                          <a:solidFill>
                            <a:srgbClr val="123047"/>
                          </a:solidFill>
                          <a:latin typeface="Arial"/>
                        </a:rPr>
                        <a:t>2024 · JIP</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Dự đoán lượng mưa vùng núi</a:t>
                      </a:r>
                    </a:p>
                    <a:p>
                      <a:pPr algn="ctr">
                        <a:lnSpc>
                          <a:spcPct val="100000"/>
                        </a:lnSpc>
                        <a:spcBef>
                          <a:spcPts val="0"/>
                        </a:spcBef>
                        <a:spcAft>
                          <a:spcPts val="0"/>
                        </a:spcAft>
                      </a:pPr>
                      <a:r>
                        <a:rPr sz="1800" b="0">
                          <a:solidFill>
                            <a:srgbClr val="123047"/>
                          </a:solidFill>
                          <a:latin typeface="Arial"/>
                        </a:rPr>
                        <a:t>từ forecast và quan trắc</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Dự đoán tại điểm;</a:t>
                      </a:r>
                    </a:p>
                    <a:p>
                      <a:pPr algn="ctr">
                        <a:lnSpc>
                          <a:spcPct val="100000"/>
                        </a:lnSpc>
                        <a:spcBef>
                          <a:spcPts val="0"/>
                        </a:spcBef>
                        <a:spcAft>
                          <a:spcPts val="0"/>
                        </a:spcAft>
                      </a:pPr>
                      <a:r>
                        <a:rPr sz="1800" b="0">
                          <a:solidFill>
                            <a:srgbClr val="123047"/>
                          </a:solidFill>
                          <a:latin typeface="Arial"/>
                        </a:rPr>
                        <a:t>có forecast đầu vào</a:t>
                      </a:r>
                    </a:p>
                  </a:txBody>
                  <a:tcPr marL="50292" marR="50292" marT="32004" marB="32004" anchor="ctr">
                    <a:solidFill>
                      <a:srgbClr val="EDF2F7"/>
                    </a:solidFill>
                  </a:tcPr>
                </a:tc>
              </a:tr>
              <a:tr h="932688">
                <a:tc>
                  <a:txBody>
                    <a:bodyPr/>
                    <a:lstStyle/>
                    <a:p>
                      <a:pPr algn="ctr">
                        <a:lnSpc>
                          <a:spcPct val="100000"/>
                        </a:lnSpc>
                        <a:spcBef>
                          <a:spcPts val="0"/>
                        </a:spcBef>
                        <a:spcAft>
                          <a:spcPts val="0"/>
                        </a:spcAft>
                      </a:pPr>
                      <a:r>
                        <a:rPr sz="1800" b="0">
                          <a:solidFill>
                            <a:srgbClr val="123047"/>
                          </a:solidFill>
                          <a:latin typeface="Arial"/>
                        </a:rPr>
                        <a:t>R3 · Qian &amp; Jia</a:t>
                      </a:r>
                    </a:p>
                    <a:p>
                      <a:pPr algn="ctr">
                        <a:lnSpc>
                          <a:spcPct val="100000"/>
                        </a:lnSpc>
                        <a:spcBef>
                          <a:spcPts val="0"/>
                        </a:spcBef>
                        <a:spcAft>
                          <a:spcPts val="0"/>
                        </a:spcAft>
                      </a:pPr>
                      <a:r>
                        <a:rPr sz="1800" b="0">
                          <a:solidFill>
                            <a:srgbClr val="123047"/>
                          </a:solidFill>
                          <a:latin typeface="Arial"/>
                        </a:rPr>
                        <a:t>2023 · Atmos. Research</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Dự đoán giáng thủy mùa đông</a:t>
                      </a:r>
                    </a:p>
                    <a:p>
                      <a:pPr algn="ctr">
                        <a:lnSpc>
                          <a:spcPct val="100000"/>
                        </a:lnSpc>
                        <a:spcBef>
                          <a:spcPts val="0"/>
                        </a:spcBef>
                        <a:spcAft>
                          <a:spcPts val="0"/>
                        </a:spcAft>
                      </a:pPr>
                      <a:r>
                        <a:rPr sz="1800" b="0">
                          <a:solidFill>
                            <a:srgbClr val="123047"/>
                          </a:solidFill>
                          <a:latin typeface="Arial"/>
                        </a:rPr>
                        <a:t>bằng LightGBM/XGBoost</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Hạn mùa; không chứng minh</a:t>
                      </a:r>
                    </a:p>
                    <a:p>
                      <a:pPr algn="ctr">
                        <a:lnSpc>
                          <a:spcPct val="100000"/>
                        </a:lnSpc>
                        <a:spcBef>
                          <a:spcPts val="0"/>
                        </a:spcBef>
                        <a:spcAft>
                          <a:spcPts val="0"/>
                        </a:spcAft>
                      </a:pPr>
                      <a:r>
                        <a:rPr sz="1800" b="0">
                          <a:solidFill>
                            <a:srgbClr val="123047"/>
                          </a:solidFill>
                          <a:latin typeface="Arial"/>
                        </a:rPr>
                        <a:t>kỹ năng ở 24–72 giờ</a:t>
                      </a:r>
                    </a:p>
                  </a:txBody>
                  <a:tcPr marL="50292" marR="50292" marT="32004" marB="32004" anchor="ctr">
                    <a:solidFill>
                      <a:srgbClr val="FFFFFF"/>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087E8B"/>
                </a:solidFill>
                <a:latin typeface="Arial"/>
              </a:rPr>
              <a:t>Paper tạo cơ sở thử nghiệm; kết quả cùng giao thức mới quyết định giá trị.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12</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Ba câu hỏi đánh giá cần ba nhóm chỉ số</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[V1] Kiểm chứng sự kiện • [V2] Kiểm chứng xác suất • src/short_range_evaluation.py</a:t>
            </a:r>
          </a:p>
        </p:txBody>
      </p:sp>
      <p:sp>
        <p:nvSpPr>
          <p:cNvPr id="6" name="Rectangle 5"/>
          <p:cNvSpPr/>
          <p:nvPr/>
        </p:nvSpPr>
        <p:spPr>
          <a:xfrm>
            <a:off x="594360" y="1572768"/>
            <a:ext cx="3520440" cy="333756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700784"/>
            <a:ext cx="320954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1 · Lượng mưa</a:t>
            </a:r>
          </a:p>
        </p:txBody>
      </p:sp>
      <p:sp>
        <p:nvSpPr>
          <p:cNvPr id="8" name="TextBox 7"/>
          <p:cNvSpPr txBox="1"/>
          <p:nvPr/>
        </p:nvSpPr>
        <p:spPr>
          <a:xfrm>
            <a:off x="749808" y="2368296"/>
            <a:ext cx="3209544" cy="2423160"/>
          </a:xfrm>
          <a:prstGeom prst="rect">
            <a:avLst/>
          </a:prstGeom>
          <a:noFill/>
        </p:spPr>
        <p:txBody>
          <a:bodyPr wrap="square" lIns="0" rIns="0" tIns="0" bIns="0" anchor="t">
            <a:spAutoFit/>
          </a:bodyPr>
          <a:lstStyle/>
          <a:p>
            <a:pPr algn="l">
              <a:lnSpc>
                <a:spcPct val="112000"/>
              </a:lnSpc>
              <a:spcBef>
                <a:spcPts val="0"/>
              </a:spcBef>
              <a:spcAft>
                <a:spcPts val="0"/>
              </a:spcAft>
            </a:pPr>
            <a:r>
              <a:rPr sz="2200" b="0">
                <a:solidFill>
                  <a:srgbClr val="123047"/>
                </a:solidFill>
                <a:latin typeface="Arial"/>
              </a:rPr>
              <a:t>Sai bao nhiêu mm?</a:t>
            </a:r>
          </a:p>
          <a:p>
            <a:pPr algn="l">
              <a:lnSpc>
                <a:spcPct val="112000"/>
              </a:lnSpc>
              <a:spcBef>
                <a:spcPts val="0"/>
              </a:spcBef>
              <a:spcAft>
                <a:spcPts val="0"/>
              </a:spcAft>
            </a:pPr>
            <a:r>
              <a:rPr sz="2200" b="0">
                <a:solidFill>
                  <a:srgbClr val="123047"/>
                </a:solidFill>
                <a:latin typeface="Arial"/>
              </a:rPr>
              <a:t>RMSE: chú ý lỗi lớn</a:t>
            </a:r>
          </a:p>
          <a:p>
            <a:pPr algn="l">
              <a:lnSpc>
                <a:spcPct val="112000"/>
              </a:lnSpc>
              <a:spcBef>
                <a:spcPts val="0"/>
              </a:spcBef>
              <a:spcAft>
                <a:spcPts val="0"/>
              </a:spcAft>
            </a:pPr>
            <a:r>
              <a:rPr sz="2200" b="0">
                <a:solidFill>
                  <a:srgbClr val="123047"/>
                </a:solidFill>
                <a:latin typeface="Arial"/>
              </a:rPr>
              <a:t>MAE: lỗi tuyệt đối</a:t>
            </a:r>
          </a:p>
          <a:p>
            <a:pPr algn="l">
              <a:lnSpc>
                <a:spcPct val="112000"/>
              </a:lnSpc>
              <a:spcBef>
                <a:spcPts val="0"/>
              </a:spcBef>
              <a:spcAft>
                <a:spcPts val="0"/>
              </a:spcAft>
            </a:pPr>
            <a:r>
              <a:rPr sz="2200" b="0">
                <a:solidFill>
                  <a:srgbClr val="123047"/>
                </a:solidFill>
                <a:latin typeface="Arial"/>
              </a:rPr>
              <a:t>Bias: thừa hay thiếu</a:t>
            </a:r>
          </a:p>
        </p:txBody>
      </p:sp>
      <p:sp>
        <p:nvSpPr>
          <p:cNvPr id="9" name="Rectangle 8"/>
          <p:cNvSpPr/>
          <p:nvPr/>
        </p:nvSpPr>
        <p:spPr>
          <a:xfrm>
            <a:off x="4315968" y="1572768"/>
            <a:ext cx="3520440" cy="333756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71416" y="1700784"/>
            <a:ext cx="320954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2 · Xác suất</a:t>
            </a:r>
          </a:p>
        </p:txBody>
      </p:sp>
      <p:sp>
        <p:nvSpPr>
          <p:cNvPr id="11" name="TextBox 10"/>
          <p:cNvSpPr txBox="1"/>
          <p:nvPr/>
        </p:nvSpPr>
        <p:spPr>
          <a:xfrm>
            <a:off x="4471416" y="2368296"/>
            <a:ext cx="3209544" cy="2423160"/>
          </a:xfrm>
          <a:prstGeom prst="rect">
            <a:avLst/>
          </a:prstGeom>
          <a:noFill/>
        </p:spPr>
        <p:txBody>
          <a:bodyPr wrap="square" lIns="0" rIns="0" tIns="0" bIns="0" anchor="t">
            <a:spAutoFit/>
          </a:bodyPr>
          <a:lstStyle/>
          <a:p>
            <a:pPr algn="l">
              <a:lnSpc>
                <a:spcPct val="112000"/>
              </a:lnSpc>
              <a:spcBef>
                <a:spcPts val="0"/>
              </a:spcBef>
              <a:spcAft>
                <a:spcPts val="0"/>
              </a:spcAft>
            </a:pPr>
            <a:r>
              <a:rPr sz="2100" b="0">
                <a:solidFill>
                  <a:srgbClr val="123047"/>
                </a:solidFill>
                <a:latin typeface="Arial"/>
              </a:rPr>
              <a:t>Xác suất có ích không?</a:t>
            </a:r>
          </a:p>
          <a:p>
            <a:pPr algn="l">
              <a:lnSpc>
                <a:spcPct val="112000"/>
              </a:lnSpc>
              <a:spcBef>
                <a:spcPts val="0"/>
              </a:spcBef>
              <a:spcAft>
                <a:spcPts val="0"/>
              </a:spcAft>
            </a:pPr>
            <a:r>
              <a:rPr sz="2100" b="0">
                <a:solidFill>
                  <a:srgbClr val="123047"/>
                </a:solidFill>
                <a:latin typeface="Arial"/>
              </a:rPr>
              <a:t>BS: lỗi xác suất</a:t>
            </a:r>
          </a:p>
          <a:p>
            <a:pPr algn="l">
              <a:lnSpc>
                <a:spcPct val="112000"/>
              </a:lnSpc>
              <a:spcBef>
                <a:spcPts val="0"/>
              </a:spcBef>
              <a:spcAft>
                <a:spcPts val="0"/>
              </a:spcAft>
            </a:pPr>
            <a:r>
              <a:rPr sz="2100" b="0">
                <a:solidFill>
                  <a:srgbClr val="123047"/>
                </a:solidFill>
                <a:latin typeface="Arial"/>
              </a:rPr>
              <a:t>BSS: hơn khí hậu?</a:t>
            </a:r>
          </a:p>
          <a:p>
            <a:pPr algn="l">
              <a:lnSpc>
                <a:spcPct val="112000"/>
              </a:lnSpc>
              <a:spcBef>
                <a:spcPts val="0"/>
              </a:spcBef>
              <a:spcAft>
                <a:spcPts val="0"/>
              </a:spcAft>
            </a:pPr>
            <a:r>
              <a:rPr sz="2100" b="0">
                <a:solidFill>
                  <a:srgbClr val="123047"/>
                </a:solidFill>
                <a:latin typeface="Arial"/>
              </a:rPr>
              <a:t>Reliability: có đúng mức?</a:t>
            </a:r>
          </a:p>
        </p:txBody>
      </p:sp>
      <p:sp>
        <p:nvSpPr>
          <p:cNvPr id="12" name="Rectangle 11"/>
          <p:cNvSpPr/>
          <p:nvPr/>
        </p:nvSpPr>
        <p:spPr>
          <a:xfrm>
            <a:off x="8037575" y="1572768"/>
            <a:ext cx="3520440" cy="333756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3" y="1700784"/>
            <a:ext cx="320954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3 · Quyết định</a:t>
            </a:r>
          </a:p>
        </p:txBody>
      </p:sp>
      <p:sp>
        <p:nvSpPr>
          <p:cNvPr id="14" name="TextBox 13"/>
          <p:cNvSpPr txBox="1"/>
          <p:nvPr/>
        </p:nvSpPr>
        <p:spPr>
          <a:xfrm>
            <a:off x="8193023" y="2368296"/>
            <a:ext cx="3209544" cy="2423160"/>
          </a:xfrm>
          <a:prstGeom prst="rect">
            <a:avLst/>
          </a:prstGeom>
          <a:noFill/>
        </p:spPr>
        <p:txBody>
          <a:bodyPr wrap="square" lIns="0" rIns="0" tIns="0" bIns="0" anchor="t">
            <a:spAutoFit/>
          </a:bodyPr>
          <a:lstStyle/>
          <a:p>
            <a:pPr algn="l">
              <a:lnSpc>
                <a:spcPct val="112000"/>
              </a:lnSpc>
              <a:spcBef>
                <a:spcPts val="0"/>
              </a:spcBef>
              <a:spcAft>
                <a:spcPts val="0"/>
              </a:spcAft>
            </a:pPr>
            <a:r>
              <a:rPr sz="2000" b="0">
                <a:solidFill>
                  <a:srgbClr val="123047"/>
                </a:solidFill>
                <a:latin typeface="Arial"/>
              </a:rPr>
              <a:t>Báo có/không thế nào?</a:t>
            </a:r>
          </a:p>
          <a:p>
            <a:pPr algn="l">
              <a:lnSpc>
                <a:spcPct val="112000"/>
              </a:lnSpc>
              <a:spcBef>
                <a:spcPts val="0"/>
              </a:spcBef>
              <a:spcAft>
                <a:spcPts val="0"/>
              </a:spcAft>
            </a:pPr>
            <a:r>
              <a:rPr sz="2000" b="0">
                <a:solidFill>
                  <a:srgbClr val="123047"/>
                </a:solidFill>
                <a:latin typeface="Arial"/>
              </a:rPr>
              <a:t>POD: bắt được bao nhiêu</a:t>
            </a:r>
          </a:p>
          <a:p>
            <a:pPr algn="l">
              <a:lnSpc>
                <a:spcPct val="112000"/>
              </a:lnSpc>
              <a:spcBef>
                <a:spcPts val="0"/>
              </a:spcBef>
              <a:spcAft>
                <a:spcPts val="0"/>
              </a:spcAft>
            </a:pPr>
            <a:r>
              <a:rPr sz="2000" b="0">
                <a:solidFill>
                  <a:srgbClr val="123047"/>
                </a:solidFill>
                <a:latin typeface="Arial"/>
              </a:rPr>
              <a:t>FAR: báo nhầm bao nhiêu</a:t>
            </a:r>
          </a:p>
          <a:p>
            <a:pPr algn="l">
              <a:lnSpc>
                <a:spcPct val="112000"/>
              </a:lnSpc>
              <a:spcBef>
                <a:spcPts val="0"/>
              </a:spcBef>
              <a:spcAft>
                <a:spcPts val="0"/>
              </a:spcAft>
            </a:pPr>
            <a:r>
              <a:rPr sz="2000" b="0">
                <a:solidFill>
                  <a:srgbClr val="123047"/>
                </a:solidFill>
                <a:latin typeface="Arial"/>
              </a:rPr>
              <a:t>CSI: tổng hợp ba số đếm</a:t>
            </a:r>
          </a:p>
        </p:txBody>
      </p:sp>
      <p:sp>
        <p:nvSpPr>
          <p:cNvPr id="15" name="Rectangle 14"/>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50" b="1">
                <a:solidFill>
                  <a:srgbClr val="087E8B"/>
                </a:solidFill>
                <a:latin typeface="Arial"/>
              </a:rPr>
              <a:t>RMSE/MAE nhỏ hơn; Bias gần 0; BSS/CSI/POD lớn hơn; FAR nhỏ hơn.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GIẢI THÍCH VÀ KẾT QUẢ</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13</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Bảng metrics: ý nghĩa, vì sao dùng và chiều tốt</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H: báo trúng · M: bỏ sót · F: báo nhầm • RMSE/MAE/Bias: mm/24h; các chỉ số còn lại không có đơn vị mm</a:t>
            </a:r>
          </a:p>
        </p:txBody>
      </p:sp>
      <p:graphicFrame>
        <p:nvGraphicFramePr>
          <p:cNvPr id="6" name="Table 5"/>
          <p:cNvGraphicFramePr>
            <a:graphicFrameLocks noGrp="1"/>
          </p:cNvGraphicFramePr>
          <p:nvPr/>
        </p:nvGraphicFramePr>
        <p:xfrm>
          <a:off x="502920" y="1389888"/>
          <a:ext cx="11201400" cy="4649715"/>
        </p:xfrm>
        <a:graphic>
          <a:graphicData uri="http://schemas.openxmlformats.org/drawingml/2006/table">
            <a:tbl>
              <a:tblPr firstRow="1" bandRow="1">
                <a:tableStyleId>{5C22544A-7EE6-4342-B048-85BDC9FD1C3A}</a:tableStyleId>
              </a:tblPr>
              <a:tblGrid>
                <a:gridCol w="914400"/>
                <a:gridCol w="3794760"/>
                <a:gridCol w="4800600"/>
                <a:gridCol w="1691640"/>
              </a:tblGrid>
              <a:tr h="516635">
                <a:tc>
                  <a:txBody>
                    <a:bodyPr/>
                    <a:lstStyle/>
                    <a:p>
                      <a:pPr algn="ctr">
                        <a:lnSpc>
                          <a:spcPct val="100000"/>
                        </a:lnSpc>
                        <a:spcBef>
                          <a:spcPts val="0"/>
                        </a:spcBef>
                        <a:spcAft>
                          <a:spcPts val="0"/>
                        </a:spcAft>
                      </a:pPr>
                      <a:r>
                        <a:rPr sz="1660" b="1">
                          <a:solidFill>
                            <a:srgbClr val="FFFFFF"/>
                          </a:solidFill>
                          <a:latin typeface="Arial"/>
                        </a:rPr>
                        <a:t>Chỉ số</a:t>
                      </a:r>
                    </a:p>
                  </a:txBody>
                  <a:tcPr marL="50292" marR="50292" marT="32004" marB="32004" anchor="ctr">
                    <a:solidFill>
                      <a:srgbClr val="123047"/>
                    </a:solidFill>
                  </a:tcPr>
                </a:tc>
                <a:tc>
                  <a:txBody>
                    <a:bodyPr/>
                    <a:lstStyle/>
                    <a:p>
                      <a:pPr algn="ctr">
                        <a:lnSpc>
                          <a:spcPct val="100000"/>
                        </a:lnSpc>
                        <a:spcBef>
                          <a:spcPts val="0"/>
                        </a:spcBef>
                        <a:spcAft>
                          <a:spcPts val="0"/>
                        </a:spcAft>
                      </a:pPr>
                      <a:r>
                        <a:rPr sz="1660" b="1">
                          <a:solidFill>
                            <a:srgbClr val="FFFFFF"/>
                          </a:solidFill>
                          <a:latin typeface="Arial"/>
                        </a:rPr>
                        <a:t>Ý nghĩa dễ hiểu</a:t>
                      </a:r>
                    </a:p>
                  </a:txBody>
                  <a:tcPr marL="50292" marR="50292" marT="32004" marB="32004" anchor="ctr">
                    <a:solidFill>
                      <a:srgbClr val="123047"/>
                    </a:solidFill>
                  </a:tcPr>
                </a:tc>
                <a:tc>
                  <a:txBody>
                    <a:bodyPr/>
                    <a:lstStyle/>
                    <a:p>
                      <a:pPr algn="ctr">
                        <a:lnSpc>
                          <a:spcPct val="100000"/>
                        </a:lnSpc>
                        <a:spcBef>
                          <a:spcPts val="0"/>
                        </a:spcBef>
                        <a:spcAft>
                          <a:spcPts val="0"/>
                        </a:spcAft>
                      </a:pPr>
                      <a:r>
                        <a:rPr sz="1660" b="1">
                          <a:solidFill>
                            <a:srgbClr val="FFFFFF"/>
                          </a:solidFill>
                          <a:latin typeface="Arial"/>
                        </a:rPr>
                        <a:t>Vì sao dùng?</a:t>
                      </a:r>
                    </a:p>
                  </a:txBody>
                  <a:tcPr marL="50292" marR="50292" marT="32004" marB="32004" anchor="ctr">
                    <a:solidFill>
                      <a:srgbClr val="123047"/>
                    </a:solidFill>
                  </a:tcPr>
                </a:tc>
                <a:tc>
                  <a:txBody>
                    <a:bodyPr/>
                    <a:lstStyle/>
                    <a:p>
                      <a:pPr algn="ctr">
                        <a:lnSpc>
                          <a:spcPct val="100000"/>
                        </a:lnSpc>
                        <a:spcBef>
                          <a:spcPts val="0"/>
                        </a:spcBef>
                        <a:spcAft>
                          <a:spcPts val="0"/>
                        </a:spcAft>
                      </a:pPr>
                      <a:r>
                        <a:rPr sz="1660" b="1">
                          <a:solidFill>
                            <a:srgbClr val="FFFFFF"/>
                          </a:solidFill>
                          <a:latin typeface="Arial"/>
                        </a:rPr>
                        <a:t>Chiều tốt</a:t>
                      </a:r>
                    </a:p>
                  </a:txBody>
                  <a:tcPr marL="50292" marR="50292" marT="32004" marB="32004" anchor="ctr">
                    <a:solidFill>
                      <a:srgbClr val="123047"/>
                    </a:solidFill>
                  </a:tcPr>
                </a:tc>
              </a:tr>
              <a:tr h="516635">
                <a:tc>
                  <a:txBody>
                    <a:bodyPr/>
                    <a:lstStyle/>
                    <a:p>
                      <a:pPr algn="ctr">
                        <a:lnSpc>
                          <a:spcPct val="100000"/>
                        </a:lnSpc>
                        <a:spcBef>
                          <a:spcPts val="0"/>
                        </a:spcBef>
                        <a:spcAft>
                          <a:spcPts val="0"/>
                        </a:spcAft>
                      </a:pPr>
                      <a:r>
                        <a:rPr sz="1660" b="1">
                          <a:solidFill>
                            <a:srgbClr val="123047"/>
                          </a:solidFill>
                          <a:latin typeface="Arial"/>
                        </a:rPr>
                        <a:t>RMSE</a:t>
                      </a:r>
                    </a:p>
                  </a:txBody>
                  <a:tcPr marL="50292" marR="50292" marT="32004" marB="32004" anchor="ctr">
                    <a:solidFill>
                      <a:srgbClr val="FFFFFF"/>
                    </a:solidFill>
                  </a:tcPr>
                </a:tc>
                <a:tc>
                  <a:txBody>
                    <a:bodyPr/>
                    <a:lstStyle/>
                    <a:p>
                      <a:pPr algn="ctr">
                        <a:lnSpc>
                          <a:spcPct val="100000"/>
                        </a:lnSpc>
                        <a:spcBef>
                          <a:spcPts val="0"/>
                        </a:spcBef>
                        <a:spcAft>
                          <a:spcPts val="0"/>
                        </a:spcAft>
                      </a:pPr>
                      <a:r>
                        <a:rPr sz="1660" b="0">
                          <a:solidFill>
                            <a:srgbClr val="123047"/>
                          </a:solidFill>
                          <a:latin typeface="Arial"/>
                        </a:rPr>
                        <a:t>Sai số lượng mưa, phạt mạnh lỗi lớn</a:t>
                      </a:r>
                    </a:p>
                  </a:txBody>
                  <a:tcPr marL="50292" marR="50292" marT="32004" marB="32004" anchor="ctr">
                    <a:solidFill>
                      <a:srgbClr val="FFFFFF"/>
                    </a:solidFill>
                  </a:tcPr>
                </a:tc>
                <a:tc>
                  <a:txBody>
                    <a:bodyPr/>
                    <a:lstStyle/>
                    <a:p>
                      <a:pPr algn="ctr">
                        <a:lnSpc>
                          <a:spcPct val="100000"/>
                        </a:lnSpc>
                        <a:spcBef>
                          <a:spcPts val="0"/>
                        </a:spcBef>
                        <a:spcAft>
                          <a:spcPts val="0"/>
                        </a:spcAft>
                      </a:pPr>
                      <a:r>
                        <a:rPr sz="1660" b="0">
                          <a:solidFill>
                            <a:srgbClr val="123047"/>
                          </a:solidFill>
                          <a:latin typeface="Arial"/>
                        </a:rPr>
                        <a:t>Không để những ngày dự đoán sai nặng bị che khuất</a:t>
                      </a:r>
                    </a:p>
                  </a:txBody>
                  <a:tcPr marL="50292" marR="50292" marT="32004" marB="32004" anchor="ctr">
                    <a:solidFill>
                      <a:srgbClr val="FFFFFF"/>
                    </a:solidFill>
                  </a:tcPr>
                </a:tc>
                <a:tc>
                  <a:txBody>
                    <a:bodyPr/>
                    <a:lstStyle/>
                    <a:p>
                      <a:pPr algn="ctr">
                        <a:lnSpc>
                          <a:spcPct val="100000"/>
                        </a:lnSpc>
                        <a:spcBef>
                          <a:spcPts val="0"/>
                        </a:spcBef>
                        <a:spcAft>
                          <a:spcPts val="0"/>
                        </a:spcAft>
                      </a:pPr>
                      <a:r>
                        <a:rPr sz="1660" b="0">
                          <a:solidFill>
                            <a:srgbClr val="123047"/>
                          </a:solidFill>
                          <a:latin typeface="Arial"/>
                        </a:rPr>
                        <a:t>Nhỏ hơn</a:t>
                      </a:r>
                    </a:p>
                  </a:txBody>
                  <a:tcPr marL="50292" marR="50292" marT="32004" marB="32004" anchor="ctr">
                    <a:solidFill>
                      <a:srgbClr val="FFFFFF"/>
                    </a:solidFill>
                  </a:tcPr>
                </a:tc>
              </a:tr>
              <a:tr h="516635">
                <a:tc>
                  <a:txBody>
                    <a:bodyPr/>
                    <a:lstStyle/>
                    <a:p>
                      <a:pPr algn="ctr">
                        <a:lnSpc>
                          <a:spcPct val="100000"/>
                        </a:lnSpc>
                        <a:spcBef>
                          <a:spcPts val="0"/>
                        </a:spcBef>
                        <a:spcAft>
                          <a:spcPts val="0"/>
                        </a:spcAft>
                      </a:pPr>
                      <a:r>
                        <a:rPr sz="1660" b="1">
                          <a:solidFill>
                            <a:srgbClr val="123047"/>
                          </a:solidFill>
                          <a:latin typeface="Arial"/>
                        </a:rPr>
                        <a:t>MAE</a:t>
                      </a:r>
                    </a:p>
                  </a:txBody>
                  <a:tcPr marL="50292" marR="50292" marT="32004" marB="32004" anchor="ctr">
                    <a:solidFill>
                      <a:srgbClr val="EDF2F7"/>
                    </a:solidFill>
                  </a:tcPr>
                </a:tc>
                <a:tc>
                  <a:txBody>
                    <a:bodyPr/>
                    <a:lstStyle/>
                    <a:p>
                      <a:pPr algn="ctr">
                        <a:lnSpc>
                          <a:spcPct val="100000"/>
                        </a:lnSpc>
                        <a:spcBef>
                          <a:spcPts val="0"/>
                        </a:spcBef>
                        <a:spcAft>
                          <a:spcPts val="0"/>
                        </a:spcAft>
                      </a:pPr>
                      <a:r>
                        <a:rPr sz="1660" b="0">
                          <a:solidFill>
                            <a:srgbClr val="123047"/>
                          </a:solidFill>
                          <a:latin typeface="Arial"/>
                        </a:rPr>
                        <a:t>Trung bình sai lệch tuyệt đối bao nhiêu mm</a:t>
                      </a:r>
                    </a:p>
                  </a:txBody>
                  <a:tcPr marL="50292" marR="50292" marT="32004" marB="32004" anchor="ctr">
                    <a:solidFill>
                      <a:srgbClr val="EDF2F7"/>
                    </a:solidFill>
                  </a:tcPr>
                </a:tc>
                <a:tc>
                  <a:txBody>
                    <a:bodyPr/>
                    <a:lstStyle/>
                    <a:p>
                      <a:pPr algn="ctr">
                        <a:lnSpc>
                          <a:spcPct val="100000"/>
                        </a:lnSpc>
                        <a:spcBef>
                          <a:spcPts val="0"/>
                        </a:spcBef>
                        <a:spcAft>
                          <a:spcPts val="0"/>
                        </a:spcAft>
                      </a:pPr>
                      <a:r>
                        <a:rPr sz="1660" b="0">
                          <a:solidFill>
                            <a:srgbClr val="123047"/>
                          </a:solidFill>
                          <a:latin typeface="Arial"/>
                        </a:rPr>
                        <a:t>Dễ đọc mức sai số lượng mưa</a:t>
                      </a:r>
                    </a:p>
                  </a:txBody>
                  <a:tcPr marL="50292" marR="50292" marT="32004" marB="32004" anchor="ctr">
                    <a:solidFill>
                      <a:srgbClr val="EDF2F7"/>
                    </a:solidFill>
                  </a:tcPr>
                </a:tc>
                <a:tc>
                  <a:txBody>
                    <a:bodyPr/>
                    <a:lstStyle/>
                    <a:p>
                      <a:pPr algn="ctr">
                        <a:lnSpc>
                          <a:spcPct val="100000"/>
                        </a:lnSpc>
                        <a:spcBef>
                          <a:spcPts val="0"/>
                        </a:spcBef>
                        <a:spcAft>
                          <a:spcPts val="0"/>
                        </a:spcAft>
                      </a:pPr>
                      <a:r>
                        <a:rPr sz="1660" b="0">
                          <a:solidFill>
                            <a:srgbClr val="123047"/>
                          </a:solidFill>
                          <a:latin typeface="Arial"/>
                        </a:rPr>
                        <a:t>Nhỏ hơn</a:t>
                      </a:r>
                    </a:p>
                  </a:txBody>
                  <a:tcPr marL="50292" marR="50292" marT="32004" marB="32004" anchor="ctr">
                    <a:solidFill>
                      <a:srgbClr val="EDF2F7"/>
                    </a:solidFill>
                  </a:tcPr>
                </a:tc>
              </a:tr>
              <a:tr h="516635">
                <a:tc>
                  <a:txBody>
                    <a:bodyPr/>
                    <a:lstStyle/>
                    <a:p>
                      <a:pPr algn="ctr">
                        <a:lnSpc>
                          <a:spcPct val="100000"/>
                        </a:lnSpc>
                        <a:spcBef>
                          <a:spcPts val="0"/>
                        </a:spcBef>
                        <a:spcAft>
                          <a:spcPts val="0"/>
                        </a:spcAft>
                      </a:pPr>
                      <a:r>
                        <a:rPr sz="1660" b="1">
                          <a:solidFill>
                            <a:srgbClr val="123047"/>
                          </a:solidFill>
                          <a:latin typeface="Arial"/>
                        </a:rPr>
                        <a:t>Bias</a:t>
                      </a:r>
                    </a:p>
                  </a:txBody>
                  <a:tcPr marL="50292" marR="50292" marT="32004" marB="32004" anchor="ctr">
                    <a:solidFill>
                      <a:srgbClr val="FFFFFF"/>
                    </a:solidFill>
                  </a:tcPr>
                </a:tc>
                <a:tc>
                  <a:txBody>
                    <a:bodyPr/>
                    <a:lstStyle/>
                    <a:p>
                      <a:pPr algn="ctr">
                        <a:lnSpc>
                          <a:spcPct val="100000"/>
                        </a:lnSpc>
                        <a:spcBef>
                          <a:spcPts val="0"/>
                        </a:spcBef>
                        <a:spcAft>
                          <a:spcPts val="0"/>
                        </a:spcAft>
                      </a:pPr>
                      <a:r>
                        <a:rPr sz="1660" b="0">
                          <a:solidFill>
                            <a:srgbClr val="123047"/>
                          </a:solidFill>
                          <a:latin typeface="Arial"/>
                        </a:rPr>
                        <a:t>Trung bình dự báo thừa hay thiếu</a:t>
                      </a:r>
                    </a:p>
                  </a:txBody>
                  <a:tcPr marL="50292" marR="50292" marT="32004" marB="32004" anchor="ctr">
                    <a:solidFill>
                      <a:srgbClr val="FFFFFF"/>
                    </a:solidFill>
                  </a:tcPr>
                </a:tc>
                <a:tc>
                  <a:txBody>
                    <a:bodyPr/>
                    <a:lstStyle/>
                    <a:p>
                      <a:pPr algn="ctr">
                        <a:lnSpc>
                          <a:spcPct val="100000"/>
                        </a:lnSpc>
                        <a:spcBef>
                          <a:spcPts val="0"/>
                        </a:spcBef>
                        <a:spcAft>
                          <a:spcPts val="0"/>
                        </a:spcAft>
                      </a:pPr>
                      <a:r>
                        <a:rPr sz="1660" b="0">
                          <a:solidFill>
                            <a:srgbClr val="123047"/>
                          </a:solidFill>
                          <a:latin typeface="Arial"/>
                        </a:rPr>
                        <a:t>Phát hiện xu hướng dự báo thiếu hoặc thừa mưa</a:t>
                      </a:r>
                    </a:p>
                  </a:txBody>
                  <a:tcPr marL="50292" marR="50292" marT="32004" marB="32004" anchor="ctr">
                    <a:solidFill>
                      <a:srgbClr val="FFFFFF"/>
                    </a:solidFill>
                  </a:tcPr>
                </a:tc>
                <a:tc>
                  <a:txBody>
                    <a:bodyPr/>
                    <a:lstStyle/>
                    <a:p>
                      <a:pPr algn="ctr">
                        <a:lnSpc>
                          <a:spcPct val="100000"/>
                        </a:lnSpc>
                        <a:spcBef>
                          <a:spcPts val="0"/>
                        </a:spcBef>
                        <a:spcAft>
                          <a:spcPts val="0"/>
                        </a:spcAft>
                      </a:pPr>
                      <a:r>
                        <a:rPr sz="1660" b="0">
                          <a:solidFill>
                            <a:srgbClr val="123047"/>
                          </a:solidFill>
                          <a:latin typeface="Arial"/>
                        </a:rPr>
                        <a:t>Gần 0</a:t>
                      </a:r>
                    </a:p>
                  </a:txBody>
                  <a:tcPr marL="50292" marR="50292" marT="32004" marB="32004" anchor="ctr">
                    <a:solidFill>
                      <a:srgbClr val="FFFFFF"/>
                    </a:solidFill>
                  </a:tcPr>
                </a:tc>
              </a:tr>
              <a:tr h="516635">
                <a:tc>
                  <a:txBody>
                    <a:bodyPr/>
                    <a:lstStyle/>
                    <a:p>
                      <a:pPr algn="ctr">
                        <a:lnSpc>
                          <a:spcPct val="100000"/>
                        </a:lnSpc>
                        <a:spcBef>
                          <a:spcPts val="0"/>
                        </a:spcBef>
                        <a:spcAft>
                          <a:spcPts val="0"/>
                        </a:spcAft>
                      </a:pPr>
                      <a:r>
                        <a:rPr sz="1660" b="1">
                          <a:solidFill>
                            <a:srgbClr val="123047"/>
                          </a:solidFill>
                          <a:latin typeface="Arial"/>
                        </a:rPr>
                        <a:t>BS</a:t>
                      </a:r>
                    </a:p>
                  </a:txBody>
                  <a:tcPr marL="50292" marR="50292" marT="32004" marB="32004" anchor="ctr">
                    <a:solidFill>
                      <a:srgbClr val="EDF2F7"/>
                    </a:solidFill>
                  </a:tcPr>
                </a:tc>
                <a:tc>
                  <a:txBody>
                    <a:bodyPr/>
                    <a:lstStyle/>
                    <a:p>
                      <a:pPr algn="ctr">
                        <a:lnSpc>
                          <a:spcPct val="100000"/>
                        </a:lnSpc>
                        <a:spcBef>
                          <a:spcPts val="0"/>
                        </a:spcBef>
                        <a:spcAft>
                          <a:spcPts val="0"/>
                        </a:spcAft>
                      </a:pPr>
                      <a:r>
                        <a:rPr sz="1660" b="0">
                          <a:solidFill>
                            <a:srgbClr val="123047"/>
                          </a:solidFill>
                          <a:latin typeface="Arial"/>
                        </a:rPr>
                        <a:t>Sai số của xác suất dự báo</a:t>
                      </a:r>
                    </a:p>
                  </a:txBody>
                  <a:tcPr marL="50292" marR="50292" marT="32004" marB="32004" anchor="ctr">
                    <a:solidFill>
                      <a:srgbClr val="EDF2F7"/>
                    </a:solidFill>
                  </a:tcPr>
                </a:tc>
                <a:tc>
                  <a:txBody>
                    <a:bodyPr/>
                    <a:lstStyle/>
                    <a:p>
                      <a:pPr algn="ctr">
                        <a:lnSpc>
                          <a:spcPct val="100000"/>
                        </a:lnSpc>
                        <a:spcBef>
                          <a:spcPts val="0"/>
                        </a:spcBef>
                        <a:spcAft>
                          <a:spcPts val="0"/>
                        </a:spcAft>
                      </a:pPr>
                      <a:r>
                        <a:rPr sz="1660" b="0">
                          <a:solidFill>
                            <a:srgbClr val="123047"/>
                          </a:solidFill>
                          <a:latin typeface="Arial"/>
                        </a:rPr>
                        <a:t>Chấm toàn bộ xác suất, chưa cần chọn ngưỡng báo có/không</a:t>
                      </a:r>
                    </a:p>
                  </a:txBody>
                  <a:tcPr marL="50292" marR="50292" marT="32004" marB="32004" anchor="ctr">
                    <a:solidFill>
                      <a:srgbClr val="EDF2F7"/>
                    </a:solidFill>
                  </a:tcPr>
                </a:tc>
                <a:tc>
                  <a:txBody>
                    <a:bodyPr/>
                    <a:lstStyle/>
                    <a:p>
                      <a:pPr algn="ctr">
                        <a:lnSpc>
                          <a:spcPct val="100000"/>
                        </a:lnSpc>
                        <a:spcBef>
                          <a:spcPts val="0"/>
                        </a:spcBef>
                        <a:spcAft>
                          <a:spcPts val="0"/>
                        </a:spcAft>
                      </a:pPr>
                      <a:r>
                        <a:rPr sz="1660" b="0">
                          <a:solidFill>
                            <a:srgbClr val="123047"/>
                          </a:solidFill>
                          <a:latin typeface="Arial"/>
                        </a:rPr>
                        <a:t>Nhỏ hơn</a:t>
                      </a:r>
                    </a:p>
                  </a:txBody>
                  <a:tcPr marL="50292" marR="50292" marT="32004" marB="32004" anchor="ctr">
                    <a:solidFill>
                      <a:srgbClr val="EDF2F7"/>
                    </a:solidFill>
                  </a:tcPr>
                </a:tc>
              </a:tr>
              <a:tr h="516635">
                <a:tc>
                  <a:txBody>
                    <a:bodyPr/>
                    <a:lstStyle/>
                    <a:p>
                      <a:pPr algn="ctr">
                        <a:lnSpc>
                          <a:spcPct val="100000"/>
                        </a:lnSpc>
                        <a:spcBef>
                          <a:spcPts val="0"/>
                        </a:spcBef>
                        <a:spcAft>
                          <a:spcPts val="0"/>
                        </a:spcAft>
                      </a:pPr>
                      <a:r>
                        <a:rPr sz="1660" b="1">
                          <a:solidFill>
                            <a:srgbClr val="123047"/>
                          </a:solidFill>
                          <a:latin typeface="Arial"/>
                        </a:rPr>
                        <a:t>BSS</a:t>
                      </a:r>
                    </a:p>
                  </a:txBody>
                  <a:tcPr marL="50292" marR="50292" marT="32004" marB="32004" anchor="ctr">
                    <a:solidFill>
                      <a:srgbClr val="FFFFFF"/>
                    </a:solidFill>
                  </a:tcPr>
                </a:tc>
                <a:tc>
                  <a:txBody>
                    <a:bodyPr/>
                    <a:lstStyle/>
                    <a:p>
                      <a:pPr algn="ctr">
                        <a:lnSpc>
                          <a:spcPct val="100000"/>
                        </a:lnSpc>
                        <a:spcBef>
                          <a:spcPts val="0"/>
                        </a:spcBef>
                        <a:spcAft>
                          <a:spcPts val="0"/>
                        </a:spcAft>
                      </a:pPr>
                      <a:r>
                        <a:rPr sz="1660" b="0">
                          <a:solidFill>
                            <a:srgbClr val="123047"/>
                          </a:solidFill>
                          <a:latin typeface="Arial"/>
                        </a:rPr>
                        <a:t>BS cải thiện bao nhiêu so với khí hậu tham chiếu</a:t>
                      </a:r>
                    </a:p>
                  </a:txBody>
                  <a:tcPr marL="50292" marR="50292" marT="32004" marB="32004" anchor="ctr">
                    <a:solidFill>
                      <a:srgbClr val="FFFFFF"/>
                    </a:solidFill>
                  </a:tcPr>
                </a:tc>
                <a:tc>
                  <a:txBody>
                    <a:bodyPr/>
                    <a:lstStyle/>
                    <a:p>
                      <a:pPr algn="ctr">
                        <a:lnSpc>
                          <a:spcPct val="100000"/>
                        </a:lnSpc>
                        <a:spcBef>
                          <a:spcPts val="0"/>
                        </a:spcBef>
                        <a:spcAft>
                          <a:spcPts val="0"/>
                        </a:spcAft>
                      </a:pPr>
                      <a:r>
                        <a:rPr sz="1660" b="0">
                          <a:solidFill>
                            <a:srgbClr val="123047"/>
                          </a:solidFill>
                          <a:latin typeface="Arial"/>
                        </a:rPr>
                        <a:t>Kiểm tra có hơn cách dự báo theo mùa đơn giản không</a:t>
                      </a:r>
                    </a:p>
                  </a:txBody>
                  <a:tcPr marL="50292" marR="50292" marT="32004" marB="32004" anchor="ctr">
                    <a:solidFill>
                      <a:srgbClr val="FFFFFF"/>
                    </a:solidFill>
                  </a:tcPr>
                </a:tc>
                <a:tc>
                  <a:txBody>
                    <a:bodyPr/>
                    <a:lstStyle/>
                    <a:p>
                      <a:pPr algn="ctr">
                        <a:lnSpc>
                          <a:spcPct val="100000"/>
                        </a:lnSpc>
                        <a:spcBef>
                          <a:spcPts val="0"/>
                        </a:spcBef>
                        <a:spcAft>
                          <a:spcPts val="0"/>
                        </a:spcAft>
                      </a:pPr>
                      <a:r>
                        <a:rPr sz="1660" b="0">
                          <a:solidFill>
                            <a:srgbClr val="123047"/>
                          </a:solidFill>
                          <a:latin typeface="Arial"/>
                        </a:rPr>
                        <a:t>Lớn hơn</a:t>
                      </a:r>
                    </a:p>
                  </a:txBody>
                  <a:tcPr marL="50292" marR="50292" marT="32004" marB="32004" anchor="ctr">
                    <a:solidFill>
                      <a:srgbClr val="FFFFFF"/>
                    </a:solidFill>
                  </a:tcPr>
                </a:tc>
              </a:tr>
              <a:tr h="516635">
                <a:tc>
                  <a:txBody>
                    <a:bodyPr/>
                    <a:lstStyle/>
                    <a:p>
                      <a:pPr algn="ctr">
                        <a:lnSpc>
                          <a:spcPct val="100000"/>
                        </a:lnSpc>
                        <a:spcBef>
                          <a:spcPts val="0"/>
                        </a:spcBef>
                        <a:spcAft>
                          <a:spcPts val="0"/>
                        </a:spcAft>
                      </a:pPr>
                      <a:r>
                        <a:rPr sz="1660" b="1">
                          <a:solidFill>
                            <a:srgbClr val="123047"/>
                          </a:solidFill>
                          <a:latin typeface="Arial"/>
                        </a:rPr>
                        <a:t>CSI</a:t>
                      </a:r>
                    </a:p>
                  </a:txBody>
                  <a:tcPr marL="50292" marR="50292" marT="32004" marB="32004" anchor="ctr">
                    <a:solidFill>
                      <a:srgbClr val="EDF2F7"/>
                    </a:solidFill>
                  </a:tcPr>
                </a:tc>
                <a:tc>
                  <a:txBody>
                    <a:bodyPr/>
                    <a:lstStyle/>
                    <a:p>
                      <a:pPr algn="ctr">
                        <a:lnSpc>
                          <a:spcPct val="100000"/>
                        </a:lnSpc>
                        <a:spcBef>
                          <a:spcPts val="0"/>
                        </a:spcBef>
                        <a:spcAft>
                          <a:spcPts val="0"/>
                        </a:spcAft>
                      </a:pPr>
                      <a:r>
                        <a:rPr sz="1660" b="0">
                          <a:solidFill>
                            <a:srgbClr val="123047"/>
                          </a:solidFill>
                          <a:latin typeface="Arial"/>
                        </a:rPr>
                        <a:t>H / (H + M + F)</a:t>
                      </a:r>
                    </a:p>
                  </a:txBody>
                  <a:tcPr marL="50292" marR="50292" marT="32004" marB="32004" anchor="ctr">
                    <a:solidFill>
                      <a:srgbClr val="EDF2F7"/>
                    </a:solidFill>
                  </a:tcPr>
                </a:tc>
                <a:tc>
                  <a:txBody>
                    <a:bodyPr/>
                    <a:lstStyle/>
                    <a:p>
                      <a:pPr algn="ctr">
                        <a:lnSpc>
                          <a:spcPct val="100000"/>
                        </a:lnSpc>
                        <a:spcBef>
                          <a:spcPts val="0"/>
                        </a:spcBef>
                        <a:spcAft>
                          <a:spcPts val="0"/>
                        </a:spcAft>
                      </a:pPr>
                      <a:r>
                        <a:rPr sz="1660" b="0">
                          <a:solidFill>
                            <a:srgbClr val="123047"/>
                          </a:solidFill>
                          <a:latin typeface="Arial"/>
                        </a:rPr>
                        <a:t>Cân nhắc đồng thời báo trúng, bỏ sót và báo nhầm</a:t>
                      </a:r>
                    </a:p>
                  </a:txBody>
                  <a:tcPr marL="50292" marR="50292" marT="32004" marB="32004" anchor="ctr">
                    <a:solidFill>
                      <a:srgbClr val="EDF2F7"/>
                    </a:solidFill>
                  </a:tcPr>
                </a:tc>
                <a:tc>
                  <a:txBody>
                    <a:bodyPr/>
                    <a:lstStyle/>
                    <a:p>
                      <a:pPr algn="ctr">
                        <a:lnSpc>
                          <a:spcPct val="100000"/>
                        </a:lnSpc>
                        <a:spcBef>
                          <a:spcPts val="0"/>
                        </a:spcBef>
                        <a:spcAft>
                          <a:spcPts val="0"/>
                        </a:spcAft>
                      </a:pPr>
                      <a:r>
                        <a:rPr sz="1660" b="0">
                          <a:solidFill>
                            <a:srgbClr val="123047"/>
                          </a:solidFill>
                          <a:latin typeface="Arial"/>
                        </a:rPr>
                        <a:t>Lớn hơn</a:t>
                      </a:r>
                    </a:p>
                  </a:txBody>
                  <a:tcPr marL="50292" marR="50292" marT="32004" marB="32004" anchor="ctr">
                    <a:solidFill>
                      <a:srgbClr val="EDF2F7"/>
                    </a:solidFill>
                  </a:tcPr>
                </a:tc>
              </a:tr>
              <a:tr h="516635">
                <a:tc>
                  <a:txBody>
                    <a:bodyPr/>
                    <a:lstStyle/>
                    <a:p>
                      <a:pPr algn="ctr">
                        <a:lnSpc>
                          <a:spcPct val="100000"/>
                        </a:lnSpc>
                        <a:spcBef>
                          <a:spcPts val="0"/>
                        </a:spcBef>
                        <a:spcAft>
                          <a:spcPts val="0"/>
                        </a:spcAft>
                      </a:pPr>
                      <a:r>
                        <a:rPr sz="1660" b="1">
                          <a:solidFill>
                            <a:srgbClr val="123047"/>
                          </a:solidFill>
                          <a:latin typeface="Arial"/>
                        </a:rPr>
                        <a:t>POD</a:t>
                      </a:r>
                    </a:p>
                  </a:txBody>
                  <a:tcPr marL="50292" marR="50292" marT="32004" marB="32004" anchor="ctr">
                    <a:solidFill>
                      <a:srgbClr val="FFFFFF"/>
                    </a:solidFill>
                  </a:tcPr>
                </a:tc>
                <a:tc>
                  <a:txBody>
                    <a:bodyPr/>
                    <a:lstStyle/>
                    <a:p>
                      <a:pPr algn="ctr">
                        <a:lnSpc>
                          <a:spcPct val="100000"/>
                        </a:lnSpc>
                        <a:spcBef>
                          <a:spcPts val="0"/>
                        </a:spcBef>
                        <a:spcAft>
                          <a:spcPts val="0"/>
                        </a:spcAft>
                      </a:pPr>
                      <a:r>
                        <a:rPr sz="1660" b="0">
                          <a:solidFill>
                            <a:srgbClr val="123047"/>
                          </a:solidFill>
                          <a:latin typeface="Arial"/>
                        </a:rPr>
                        <a:t>H / (H + M)</a:t>
                      </a:r>
                    </a:p>
                  </a:txBody>
                  <a:tcPr marL="50292" marR="50292" marT="32004" marB="32004" anchor="ctr">
                    <a:solidFill>
                      <a:srgbClr val="FFFFFF"/>
                    </a:solidFill>
                  </a:tcPr>
                </a:tc>
                <a:tc>
                  <a:txBody>
                    <a:bodyPr/>
                    <a:lstStyle/>
                    <a:p>
                      <a:pPr algn="ctr">
                        <a:lnSpc>
                          <a:spcPct val="100000"/>
                        </a:lnSpc>
                        <a:spcBef>
                          <a:spcPts val="0"/>
                        </a:spcBef>
                        <a:spcAft>
                          <a:spcPts val="0"/>
                        </a:spcAft>
                      </a:pPr>
                      <a:r>
                        <a:rPr sz="1660" b="0">
                          <a:solidFill>
                            <a:srgbClr val="123047"/>
                          </a:solidFill>
                          <a:latin typeface="Arial"/>
                        </a:rPr>
                        <a:t>Bắt được bao nhiêu sự kiện thực tế</a:t>
                      </a:r>
                    </a:p>
                  </a:txBody>
                  <a:tcPr marL="50292" marR="50292" marT="32004" marB="32004" anchor="ctr">
                    <a:solidFill>
                      <a:srgbClr val="FFFFFF"/>
                    </a:solidFill>
                  </a:tcPr>
                </a:tc>
                <a:tc>
                  <a:txBody>
                    <a:bodyPr/>
                    <a:lstStyle/>
                    <a:p>
                      <a:pPr algn="ctr">
                        <a:lnSpc>
                          <a:spcPct val="100000"/>
                        </a:lnSpc>
                        <a:spcBef>
                          <a:spcPts val="0"/>
                        </a:spcBef>
                        <a:spcAft>
                          <a:spcPts val="0"/>
                        </a:spcAft>
                      </a:pPr>
                      <a:r>
                        <a:rPr sz="1660" b="0">
                          <a:solidFill>
                            <a:srgbClr val="123047"/>
                          </a:solidFill>
                          <a:latin typeface="Arial"/>
                        </a:rPr>
                        <a:t>Lớn hơn</a:t>
                      </a:r>
                    </a:p>
                  </a:txBody>
                  <a:tcPr marL="50292" marR="50292" marT="32004" marB="32004" anchor="ctr">
                    <a:solidFill>
                      <a:srgbClr val="FFFFFF"/>
                    </a:solidFill>
                  </a:tcPr>
                </a:tc>
              </a:tr>
              <a:tr h="516635">
                <a:tc>
                  <a:txBody>
                    <a:bodyPr/>
                    <a:lstStyle/>
                    <a:p>
                      <a:pPr algn="ctr">
                        <a:lnSpc>
                          <a:spcPct val="100000"/>
                        </a:lnSpc>
                        <a:spcBef>
                          <a:spcPts val="0"/>
                        </a:spcBef>
                        <a:spcAft>
                          <a:spcPts val="0"/>
                        </a:spcAft>
                      </a:pPr>
                      <a:r>
                        <a:rPr sz="1660" b="1">
                          <a:solidFill>
                            <a:srgbClr val="123047"/>
                          </a:solidFill>
                          <a:latin typeface="Arial"/>
                        </a:rPr>
                        <a:t>FAR</a:t>
                      </a:r>
                    </a:p>
                  </a:txBody>
                  <a:tcPr marL="50292" marR="50292" marT="32004" marB="32004" anchor="ctr">
                    <a:solidFill>
                      <a:srgbClr val="EDF2F7"/>
                    </a:solidFill>
                  </a:tcPr>
                </a:tc>
                <a:tc>
                  <a:txBody>
                    <a:bodyPr/>
                    <a:lstStyle/>
                    <a:p>
                      <a:pPr algn="ctr">
                        <a:lnSpc>
                          <a:spcPct val="100000"/>
                        </a:lnSpc>
                        <a:spcBef>
                          <a:spcPts val="0"/>
                        </a:spcBef>
                        <a:spcAft>
                          <a:spcPts val="0"/>
                        </a:spcAft>
                      </a:pPr>
                      <a:r>
                        <a:rPr sz="1660" b="0">
                          <a:solidFill>
                            <a:srgbClr val="123047"/>
                          </a:solidFill>
                          <a:latin typeface="Arial"/>
                        </a:rPr>
                        <a:t>F / (H + F)</a:t>
                      </a:r>
                    </a:p>
                  </a:txBody>
                  <a:tcPr marL="50292" marR="50292" marT="32004" marB="32004" anchor="ctr">
                    <a:solidFill>
                      <a:srgbClr val="EDF2F7"/>
                    </a:solidFill>
                  </a:tcPr>
                </a:tc>
                <a:tc>
                  <a:txBody>
                    <a:bodyPr/>
                    <a:lstStyle/>
                    <a:p>
                      <a:pPr algn="ctr">
                        <a:lnSpc>
                          <a:spcPct val="100000"/>
                        </a:lnSpc>
                        <a:spcBef>
                          <a:spcPts val="0"/>
                        </a:spcBef>
                        <a:spcAft>
                          <a:spcPts val="0"/>
                        </a:spcAft>
                      </a:pPr>
                      <a:r>
                        <a:rPr sz="1660" b="0">
                          <a:solidFill>
                            <a:srgbClr val="123047"/>
                          </a:solidFill>
                          <a:latin typeface="Arial"/>
                        </a:rPr>
                        <a:t>Trong các lần báo có, bao nhiêu lần bị nhầm</a:t>
                      </a:r>
                    </a:p>
                  </a:txBody>
                  <a:tcPr marL="50292" marR="50292" marT="32004" marB="32004" anchor="ctr">
                    <a:solidFill>
                      <a:srgbClr val="EDF2F7"/>
                    </a:solidFill>
                  </a:tcPr>
                </a:tc>
                <a:tc>
                  <a:txBody>
                    <a:bodyPr/>
                    <a:lstStyle/>
                    <a:p>
                      <a:pPr algn="ctr">
                        <a:lnSpc>
                          <a:spcPct val="100000"/>
                        </a:lnSpc>
                        <a:spcBef>
                          <a:spcPts val="0"/>
                        </a:spcBef>
                        <a:spcAft>
                          <a:spcPts val="0"/>
                        </a:spcAft>
                      </a:pPr>
                      <a:r>
                        <a:rPr sz="1660" b="0">
                          <a:solidFill>
                            <a:srgbClr val="123047"/>
                          </a:solidFill>
                          <a:latin typeface="Arial"/>
                        </a:rPr>
                        <a:t>Nhỏ hơn</a:t>
                      </a:r>
                    </a:p>
                  </a:txBody>
                  <a:tcPr marL="50292" marR="50292" marT="32004" marB="32004" anchor="ctr">
                    <a:solidFill>
                      <a:srgbClr val="EDF2F7"/>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14</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Lượng mưa: vì sao cần cả RMSE, MAE và Bias?</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Ví dụ tự tạo để giải thích; không phải kết quả mô hình</a:t>
            </a:r>
          </a:p>
        </p:txBody>
      </p:sp>
      <p:graphicFrame>
        <p:nvGraphicFramePr>
          <p:cNvPr id="6" name="Table 5"/>
          <p:cNvGraphicFramePr>
            <a:graphicFrameLocks noGrp="1"/>
          </p:cNvGraphicFramePr>
          <p:nvPr/>
        </p:nvGraphicFramePr>
        <p:xfrm>
          <a:off x="502920" y="1508760"/>
          <a:ext cx="11201400" cy="2304288"/>
        </p:xfrm>
        <a:graphic>
          <a:graphicData uri="http://schemas.openxmlformats.org/drawingml/2006/table">
            <a:tbl>
              <a:tblPr firstRow="1" bandRow="1">
                <a:tableStyleId>{5C22544A-7EE6-4342-B048-85BDC9FD1C3A}</a:tableStyleId>
              </a:tblPr>
              <a:tblGrid>
                <a:gridCol w="3657600"/>
                <a:gridCol w="2514600"/>
                <a:gridCol w="2514600"/>
                <a:gridCol w="2514600"/>
              </a:tblGrid>
              <a:tr h="576072">
                <a:tc>
                  <a:txBody>
                    <a:bodyPr/>
                    <a:lstStyle/>
                    <a:p>
                      <a:pPr algn="ctr">
                        <a:lnSpc>
                          <a:spcPct val="100000"/>
                        </a:lnSpc>
                        <a:spcBef>
                          <a:spcPts val="0"/>
                        </a:spcBef>
                        <a:spcAft>
                          <a:spcPts val="0"/>
                        </a:spcAft>
                      </a:pPr>
                      <a:r>
                        <a:rPr sz="2300" b="1">
                          <a:solidFill>
                            <a:srgbClr val="FFFFFF"/>
                          </a:solidFill>
                          <a:latin typeface="Arial"/>
                        </a:rPr>
                        <a:t>Ví dụ 3 ngày</a:t>
                      </a:r>
                    </a:p>
                  </a:txBody>
                  <a:tcPr marL="50292" marR="50292" marT="32004" marB="32004" anchor="ctr">
                    <a:solidFill>
                      <a:srgbClr val="123047"/>
                    </a:solidFill>
                  </a:tcPr>
                </a:tc>
                <a:tc>
                  <a:txBody>
                    <a:bodyPr/>
                    <a:lstStyle/>
                    <a:p>
                      <a:pPr algn="ctr">
                        <a:lnSpc>
                          <a:spcPct val="100000"/>
                        </a:lnSpc>
                        <a:spcBef>
                          <a:spcPts val="0"/>
                        </a:spcBef>
                        <a:spcAft>
                          <a:spcPts val="0"/>
                        </a:spcAft>
                      </a:pPr>
                      <a:r>
                        <a:rPr sz="2300" b="1">
                          <a:solidFill>
                            <a:srgbClr val="FFFFFF"/>
                          </a:solidFill>
                          <a:latin typeface="Arial"/>
                        </a:rPr>
                        <a:t>Ngày A</a:t>
                      </a:r>
                    </a:p>
                  </a:txBody>
                  <a:tcPr marL="50292" marR="50292" marT="32004" marB="32004" anchor="ctr">
                    <a:solidFill>
                      <a:srgbClr val="123047"/>
                    </a:solidFill>
                  </a:tcPr>
                </a:tc>
                <a:tc>
                  <a:txBody>
                    <a:bodyPr/>
                    <a:lstStyle/>
                    <a:p>
                      <a:pPr algn="ctr">
                        <a:lnSpc>
                          <a:spcPct val="100000"/>
                        </a:lnSpc>
                        <a:spcBef>
                          <a:spcPts val="0"/>
                        </a:spcBef>
                        <a:spcAft>
                          <a:spcPts val="0"/>
                        </a:spcAft>
                      </a:pPr>
                      <a:r>
                        <a:rPr sz="2300" b="1">
                          <a:solidFill>
                            <a:srgbClr val="FFFFFF"/>
                          </a:solidFill>
                          <a:latin typeface="Arial"/>
                        </a:rPr>
                        <a:t>Ngày B</a:t>
                      </a:r>
                    </a:p>
                  </a:txBody>
                  <a:tcPr marL="50292" marR="50292" marT="32004" marB="32004" anchor="ctr">
                    <a:solidFill>
                      <a:srgbClr val="123047"/>
                    </a:solidFill>
                  </a:tcPr>
                </a:tc>
                <a:tc>
                  <a:txBody>
                    <a:bodyPr/>
                    <a:lstStyle/>
                    <a:p>
                      <a:pPr algn="ctr">
                        <a:lnSpc>
                          <a:spcPct val="100000"/>
                        </a:lnSpc>
                        <a:spcBef>
                          <a:spcPts val="0"/>
                        </a:spcBef>
                        <a:spcAft>
                          <a:spcPts val="0"/>
                        </a:spcAft>
                      </a:pPr>
                      <a:r>
                        <a:rPr sz="2300" b="1">
                          <a:solidFill>
                            <a:srgbClr val="FFFFFF"/>
                          </a:solidFill>
                          <a:latin typeface="Arial"/>
                        </a:rPr>
                        <a:t>Ngày C</a:t>
                      </a:r>
                    </a:p>
                  </a:txBody>
                  <a:tcPr marL="50292" marR="50292" marT="32004" marB="32004" anchor="ctr">
                    <a:solidFill>
                      <a:srgbClr val="123047"/>
                    </a:solidFill>
                  </a:tcPr>
                </a:tc>
              </a:tr>
              <a:tr h="576072">
                <a:tc>
                  <a:txBody>
                    <a:bodyPr/>
                    <a:lstStyle/>
                    <a:p>
                      <a:pPr algn="ctr">
                        <a:lnSpc>
                          <a:spcPct val="100000"/>
                        </a:lnSpc>
                        <a:spcBef>
                          <a:spcPts val="0"/>
                        </a:spcBef>
                        <a:spcAft>
                          <a:spcPts val="0"/>
                        </a:spcAft>
                      </a:pPr>
                      <a:r>
                        <a:rPr sz="2300" b="0">
                          <a:solidFill>
                            <a:srgbClr val="123047"/>
                          </a:solidFill>
                          <a:latin typeface="Arial"/>
                        </a:rPr>
                        <a:t>Mưa nhãn y (mm)</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0</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10</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40</a:t>
                      </a:r>
                    </a:p>
                  </a:txBody>
                  <a:tcPr marL="50292" marR="50292" marT="32004" marB="32004" anchor="ctr">
                    <a:solidFill>
                      <a:srgbClr val="FFFFFF"/>
                    </a:solidFill>
                  </a:tcPr>
                </a:tc>
              </a:tr>
              <a:tr h="576072">
                <a:tc>
                  <a:txBody>
                    <a:bodyPr/>
                    <a:lstStyle/>
                    <a:p>
                      <a:pPr algn="ctr">
                        <a:lnSpc>
                          <a:spcPct val="100000"/>
                        </a:lnSpc>
                        <a:spcBef>
                          <a:spcPts val="0"/>
                        </a:spcBef>
                        <a:spcAft>
                          <a:spcPts val="0"/>
                        </a:spcAft>
                      </a:pPr>
                      <a:r>
                        <a:rPr sz="2300" b="0">
                          <a:solidFill>
                            <a:srgbClr val="123047"/>
                          </a:solidFill>
                          <a:latin typeface="Arial"/>
                        </a:rPr>
                        <a:t>Dự đoán f (mm)</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0">
                          <a:solidFill>
                            <a:srgbClr val="123047"/>
                          </a:solidFill>
                          <a:latin typeface="Arial"/>
                        </a:rPr>
                        <a:t>0</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0">
                          <a:solidFill>
                            <a:srgbClr val="123047"/>
                          </a:solidFill>
                          <a:latin typeface="Arial"/>
                        </a:rPr>
                        <a:t>15</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0">
                          <a:solidFill>
                            <a:srgbClr val="123047"/>
                          </a:solidFill>
                          <a:latin typeface="Arial"/>
                        </a:rPr>
                        <a:t>25</a:t>
                      </a:r>
                    </a:p>
                  </a:txBody>
                  <a:tcPr marL="50292" marR="50292" marT="32004" marB="32004" anchor="ctr">
                    <a:solidFill>
                      <a:srgbClr val="EDF2F7"/>
                    </a:solidFill>
                  </a:tcPr>
                </a:tc>
              </a:tr>
              <a:tr h="576072">
                <a:tc>
                  <a:txBody>
                    <a:bodyPr/>
                    <a:lstStyle/>
                    <a:p>
                      <a:pPr algn="ctr">
                        <a:lnSpc>
                          <a:spcPct val="100000"/>
                        </a:lnSpc>
                        <a:spcBef>
                          <a:spcPts val="0"/>
                        </a:spcBef>
                        <a:spcAft>
                          <a:spcPts val="0"/>
                        </a:spcAft>
                      </a:pPr>
                      <a:r>
                        <a:rPr sz="2300" b="0">
                          <a:solidFill>
                            <a:srgbClr val="123047"/>
                          </a:solidFill>
                          <a:latin typeface="Arial"/>
                        </a:rPr>
                        <a:t>Sai số f−y (mm)</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0</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+5</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−15</a:t>
                      </a:r>
                    </a:p>
                  </a:txBody>
                  <a:tcPr marL="50292" marR="50292" marT="32004" marB="32004" anchor="ctr">
                    <a:solidFill>
                      <a:srgbClr val="FFFFFF"/>
                    </a:solidFill>
                  </a:tcPr>
                </a:tc>
              </a:tr>
            </a:tbl>
          </a:graphicData>
        </a:graphic>
      </p:graphicFrame>
      <p:sp>
        <p:nvSpPr>
          <p:cNvPr id="7" name="TextBox 6"/>
          <p:cNvSpPr txBox="1"/>
          <p:nvPr/>
        </p:nvSpPr>
        <p:spPr>
          <a:xfrm>
            <a:off x="685800" y="4160520"/>
            <a:ext cx="10835640" cy="1042415"/>
          </a:xfrm>
          <a:prstGeom prst="rect">
            <a:avLst/>
          </a:prstGeom>
          <a:noFill/>
        </p:spPr>
        <p:txBody>
          <a:bodyPr wrap="square" lIns="0" rIns="0" tIns="0" bIns="0" anchor="t">
            <a:spAutoFit/>
          </a:bodyPr>
          <a:lstStyle/>
          <a:p>
            <a:pPr algn="l">
              <a:lnSpc>
                <a:spcPct val="112000"/>
              </a:lnSpc>
              <a:spcBef>
                <a:spcPts val="0"/>
              </a:spcBef>
              <a:spcAft>
                <a:spcPts val="0"/>
              </a:spcAft>
            </a:pPr>
            <a:r>
              <a:rPr sz="2100" b="0">
                <a:solidFill>
                  <a:srgbClr val="123047"/>
                </a:solidFill>
                <a:latin typeface="Arial"/>
              </a:rPr>
              <a:t>MAE = trung bình |f−y| = </a:t>
            </a:r>
            <a:r>
              <a:rPr sz="2100" b="1">
                <a:solidFill>
                  <a:srgbClr val="123047"/>
                </a:solidFill>
                <a:latin typeface="Arial"/>
              </a:rPr>
              <a:t>6,67 mm</a:t>
            </a:r>
          </a:p>
          <a:p>
            <a:pPr algn="l">
              <a:lnSpc>
                <a:spcPct val="112000"/>
              </a:lnSpc>
              <a:spcBef>
                <a:spcPts val="0"/>
              </a:spcBef>
              <a:spcAft>
                <a:spcPts val="0"/>
              </a:spcAft>
            </a:pPr>
            <a:r>
              <a:rPr sz="2100" b="0">
                <a:solidFill>
                  <a:srgbClr val="123047"/>
                </a:solidFill>
                <a:latin typeface="Arial"/>
              </a:rPr>
              <a:t>RMSE = căn trung bình (f−y)² = </a:t>
            </a:r>
            <a:r>
              <a:rPr sz="2100" b="1">
                <a:solidFill>
                  <a:srgbClr val="123047"/>
                </a:solidFill>
                <a:latin typeface="Arial"/>
              </a:rPr>
              <a:t>9,13 mm</a:t>
            </a:r>
          </a:p>
          <a:p>
            <a:pPr algn="l">
              <a:lnSpc>
                <a:spcPct val="112000"/>
              </a:lnSpc>
              <a:spcBef>
                <a:spcPts val="0"/>
              </a:spcBef>
              <a:spcAft>
                <a:spcPts val="0"/>
              </a:spcAft>
            </a:pPr>
            <a:r>
              <a:rPr sz="2100" b="0">
                <a:solidFill>
                  <a:srgbClr val="123047"/>
                </a:solidFill>
                <a:latin typeface="Arial"/>
              </a:rPr>
              <a:t>Bias = trung bình (f−y) = </a:t>
            </a:r>
            <a:r>
              <a:rPr sz="2100" b="1">
                <a:solidFill>
                  <a:srgbClr val="123047"/>
                </a:solidFill>
                <a:latin typeface="Arial"/>
              </a:rPr>
              <a:t>−3,33 mm</a:t>
            </a:r>
            <a:r>
              <a:rPr sz="2100" b="0">
                <a:solidFill>
                  <a:srgbClr val="123047"/>
                </a:solidFill>
                <a:latin typeface="Arial"/>
              </a:rPr>
              <a:t>: dự đoán thiếu</a:t>
            </a:r>
          </a:p>
        </p:txBody>
      </p:sp>
      <p:sp>
        <p:nvSpPr>
          <p:cNvPr id="8" name="Rectangle 7"/>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rPr>
              <a:t>Bias có thể triệt tiêu lỗi dương/âm; một chỉ số riêng không mô tả đủ sai số lượng.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15</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Xác suất: BSS so với khí hậu, không phải accuracy</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Định nghĩa BS/BSS [V2]; số minh họa tự tạo</a:t>
            </a:r>
          </a:p>
        </p:txBody>
      </p:sp>
      <p:sp>
        <p:nvSpPr>
          <p:cNvPr id="6" name="Rectangle 5"/>
          <p:cNvSpPr/>
          <p:nvPr/>
        </p:nvSpPr>
        <p:spPr>
          <a:xfrm>
            <a:off x="594360" y="1508760"/>
            <a:ext cx="5486400" cy="361188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36776"/>
            <a:ext cx="517550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BS · lỗi xác suất</a:t>
            </a:r>
          </a:p>
        </p:txBody>
      </p:sp>
      <p:sp>
        <p:nvSpPr>
          <p:cNvPr id="8" name="TextBox 7"/>
          <p:cNvSpPr txBox="1"/>
          <p:nvPr/>
        </p:nvSpPr>
        <p:spPr>
          <a:xfrm>
            <a:off x="749808" y="2304288"/>
            <a:ext cx="5175504" cy="2697480"/>
          </a:xfrm>
          <a:prstGeom prst="rect">
            <a:avLst/>
          </a:prstGeom>
          <a:noFill/>
        </p:spPr>
        <p:txBody>
          <a:bodyPr wrap="square" lIns="0" rIns="0" tIns="0" bIns="0" anchor="t">
            <a:spAutoFit/>
          </a:bodyPr>
          <a:lstStyle/>
          <a:p>
            <a:pPr algn="l">
              <a:lnSpc>
                <a:spcPct val="112000"/>
              </a:lnSpc>
              <a:spcBef>
                <a:spcPts val="0"/>
              </a:spcBef>
              <a:spcAft>
                <a:spcPts val="0"/>
              </a:spcAft>
            </a:pPr>
            <a:r>
              <a:rPr sz="2100" b="0">
                <a:solidFill>
                  <a:srgbClr val="123047"/>
                </a:solidFill>
                <a:latin typeface="Arial"/>
              </a:rPr>
              <a:t>Nhãn o: 1 nếu mưa đạt ngưỡng</a:t>
            </a:r>
          </a:p>
          <a:p>
            <a:pPr algn="l">
              <a:lnSpc>
                <a:spcPct val="112000"/>
              </a:lnSpc>
              <a:spcBef>
                <a:spcPts val="0"/>
              </a:spcBef>
              <a:spcAft>
                <a:spcPts val="0"/>
              </a:spcAft>
            </a:pPr>
            <a:r>
              <a:rPr sz="2100" b="0">
                <a:solidFill>
                  <a:srgbClr val="123047"/>
                </a:solidFill>
                <a:latin typeface="Arial"/>
              </a:rPr>
              <a:t>BS = trung bình (p−o)²</a:t>
            </a:r>
          </a:p>
          <a:p>
            <a:pPr algn="l">
              <a:lnSpc>
                <a:spcPct val="112000"/>
              </a:lnSpc>
              <a:spcBef>
                <a:spcPts val="0"/>
              </a:spcBef>
              <a:spcAft>
                <a:spcPts val="0"/>
              </a:spcAft>
            </a:pPr>
            <a:r>
              <a:rPr sz="2100" b="0">
                <a:solidFill>
                  <a:srgbClr val="123047"/>
                </a:solidFill>
                <a:latin typeface="Arial"/>
              </a:rPr>
              <a:t>Thực có mưa: p=0,8 → lỗi 0,04</a:t>
            </a:r>
          </a:p>
          <a:p>
            <a:pPr algn="l">
              <a:lnSpc>
                <a:spcPct val="112000"/>
              </a:lnSpc>
              <a:spcBef>
                <a:spcPts val="0"/>
              </a:spcBef>
              <a:spcAft>
                <a:spcPts val="0"/>
              </a:spcAft>
            </a:pPr>
            <a:r>
              <a:rPr sz="2100" b="0">
                <a:solidFill>
                  <a:srgbClr val="123047"/>
                </a:solidFill>
                <a:latin typeface="Arial"/>
              </a:rPr>
              <a:t>Thực có mưa: p=0,2 → lỗi 0,64</a:t>
            </a:r>
          </a:p>
        </p:txBody>
      </p:sp>
      <p:sp>
        <p:nvSpPr>
          <p:cNvPr id="9" name="Rectangle 8"/>
          <p:cNvSpPr/>
          <p:nvPr/>
        </p:nvSpPr>
        <p:spPr>
          <a:xfrm>
            <a:off x="6291072" y="1508760"/>
            <a:ext cx="5303520" cy="361188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36776"/>
            <a:ext cx="499262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BSS · hơn khí hậu bao nhiêu?</a:t>
            </a:r>
          </a:p>
        </p:txBody>
      </p:sp>
      <p:sp>
        <p:nvSpPr>
          <p:cNvPr id="11" name="TextBox 10"/>
          <p:cNvSpPr txBox="1"/>
          <p:nvPr/>
        </p:nvSpPr>
        <p:spPr>
          <a:xfrm>
            <a:off x="6446520" y="2304288"/>
            <a:ext cx="4992624" cy="2697480"/>
          </a:xfrm>
          <a:prstGeom prst="rect">
            <a:avLst/>
          </a:prstGeom>
          <a:noFill/>
        </p:spPr>
        <p:txBody>
          <a:bodyPr wrap="square" lIns="0" rIns="0" tIns="0" bIns="0" anchor="t">
            <a:spAutoFit/>
          </a:bodyPr>
          <a:lstStyle/>
          <a:p>
            <a:pPr algn="l">
              <a:lnSpc>
                <a:spcPct val="112000"/>
              </a:lnSpc>
              <a:spcBef>
                <a:spcPts val="0"/>
              </a:spcBef>
              <a:spcAft>
                <a:spcPts val="0"/>
              </a:spcAft>
            </a:pPr>
            <a:r>
              <a:rPr sz="2000" b="0">
                <a:solidFill>
                  <a:srgbClr val="123047"/>
                </a:solidFill>
                <a:latin typeface="Arial"/>
              </a:rPr>
              <a:t>BSS = 1 − BS / BS_khí_hậu</a:t>
            </a:r>
          </a:p>
          <a:p>
            <a:pPr algn="l">
              <a:lnSpc>
                <a:spcPct val="112000"/>
              </a:lnSpc>
              <a:spcBef>
                <a:spcPts val="0"/>
              </a:spcBef>
              <a:spcAft>
                <a:spcPts val="0"/>
              </a:spcAft>
            </a:pPr>
            <a:r>
              <a:rPr sz="2000" b="0">
                <a:solidFill>
                  <a:srgbClr val="123047"/>
                </a:solidFill>
                <a:latin typeface="Arial"/>
              </a:rPr>
              <a:t>Ví dụ: 1 − 0,06/0,08 = 0,25</a:t>
            </a:r>
          </a:p>
          <a:p>
            <a:pPr algn="l">
              <a:lnSpc>
                <a:spcPct val="112000"/>
              </a:lnSpc>
              <a:spcBef>
                <a:spcPts val="0"/>
              </a:spcBef>
              <a:spcAft>
                <a:spcPts val="0"/>
              </a:spcAft>
            </a:pPr>
            <a:r>
              <a:rPr sz="2000" b="0">
                <a:solidFill>
                  <a:srgbClr val="123047"/>
                </a:solidFill>
                <a:latin typeface="Arial"/>
              </a:rPr>
              <a:t>Giảm 25% lỗi Brier so tham chiếu</a:t>
            </a:r>
          </a:p>
          <a:p>
            <a:pPr algn="l">
              <a:lnSpc>
                <a:spcPct val="112000"/>
              </a:lnSpc>
              <a:spcBef>
                <a:spcPts val="0"/>
              </a:spcBef>
              <a:spcAft>
                <a:spcPts val="0"/>
              </a:spcAft>
            </a:pPr>
            <a:r>
              <a:rPr sz="2000" b="0">
                <a:solidFill>
                  <a:srgbClr val="123047"/>
                </a:solidFill>
                <a:latin typeface="Arial"/>
              </a:rPr>
              <a:t>Dương: hơn; âm: kém tham chiếu</a:t>
            </a:r>
          </a:p>
        </p:txBody>
      </p:sp>
      <p:sp>
        <p:nvSpPr>
          <p:cNvPr id="12" name="Rectangle 11"/>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50" b="1">
                <a:solidFill>
                  <a:srgbClr val="087E8B"/>
                </a:solidFill>
                <a:latin typeface="Arial"/>
              </a:rPr>
              <a:t>BSS = 0,25 không có nghĩa dự đoán đúng 25% số ngày; không có đơn vị mm.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16</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POD, FAR, CSI: cùng xuất phát từ bảng đếm</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Công thức [V1]; ví dụ tự tạo, không phải kết quả mô hình</a:t>
            </a:r>
          </a:p>
        </p:txBody>
      </p:sp>
      <p:graphicFrame>
        <p:nvGraphicFramePr>
          <p:cNvPr id="6" name="Table 5"/>
          <p:cNvGraphicFramePr>
            <a:graphicFrameLocks noGrp="1"/>
          </p:cNvGraphicFramePr>
          <p:nvPr/>
        </p:nvGraphicFramePr>
        <p:xfrm>
          <a:off x="502920" y="1508760"/>
          <a:ext cx="11201400" cy="2276856"/>
        </p:xfrm>
        <a:graphic>
          <a:graphicData uri="http://schemas.openxmlformats.org/drawingml/2006/table">
            <a:tbl>
              <a:tblPr firstRow="1" bandRow="1">
                <a:tableStyleId>{5C22544A-7EE6-4342-B048-85BDC9FD1C3A}</a:tableStyleId>
              </a:tblPr>
              <a:tblGrid>
                <a:gridCol w="3657600"/>
                <a:gridCol w="3771900"/>
                <a:gridCol w="3771900"/>
              </a:tblGrid>
              <a:tr h="758952">
                <a:tc>
                  <a:txBody>
                    <a:bodyPr/>
                    <a:lstStyle/>
                    <a:p>
                      <a:pPr algn="ctr">
                        <a:lnSpc>
                          <a:spcPct val="100000"/>
                        </a:lnSpc>
                        <a:spcBef>
                          <a:spcPts val="0"/>
                        </a:spcBef>
                        <a:spcAft>
                          <a:spcPts val="0"/>
                        </a:spcAft>
                      </a:pPr>
                      <a:r>
                        <a:rPr sz="2200" b="1">
                          <a:solidFill>
                            <a:srgbClr val="FFFFFF"/>
                          </a:solidFill>
                          <a:latin typeface="Arial"/>
                        </a:rPr>
                        <a:t>Ví dụ 100 ngày</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Thực có sự kiện</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Thực không có</a:t>
                      </a:r>
                    </a:p>
                  </a:txBody>
                  <a:tcPr marL="50292" marR="50292" marT="32004" marB="32004" anchor="ctr">
                    <a:solidFill>
                      <a:srgbClr val="123047"/>
                    </a:solidFill>
                  </a:tcPr>
                </a:tc>
              </a:tr>
              <a:tr h="758952">
                <a:tc>
                  <a:txBody>
                    <a:bodyPr/>
                    <a:lstStyle/>
                    <a:p>
                      <a:pPr algn="ctr">
                        <a:lnSpc>
                          <a:spcPct val="100000"/>
                        </a:lnSpc>
                        <a:spcBef>
                          <a:spcPts val="0"/>
                        </a:spcBef>
                        <a:spcAft>
                          <a:spcPts val="0"/>
                        </a:spcAft>
                      </a:pPr>
                      <a:r>
                        <a:rPr sz="2200" b="0">
                          <a:solidFill>
                            <a:srgbClr val="123047"/>
                          </a:solidFill>
                          <a:latin typeface="Arial"/>
                        </a:rPr>
                        <a:t>Mô hình báo có</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H = 7 · báo trúng</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F = 5 · báo nhầm</a:t>
                      </a:r>
                    </a:p>
                  </a:txBody>
                  <a:tcPr marL="50292" marR="50292" marT="32004" marB="32004" anchor="ctr">
                    <a:solidFill>
                      <a:srgbClr val="FFFFFF"/>
                    </a:solidFill>
                  </a:tcPr>
                </a:tc>
              </a:tr>
              <a:tr h="758952">
                <a:tc>
                  <a:txBody>
                    <a:bodyPr/>
                    <a:lstStyle/>
                    <a:p>
                      <a:pPr algn="ctr">
                        <a:lnSpc>
                          <a:spcPct val="100000"/>
                        </a:lnSpc>
                        <a:spcBef>
                          <a:spcPts val="0"/>
                        </a:spcBef>
                        <a:spcAft>
                          <a:spcPts val="0"/>
                        </a:spcAft>
                      </a:pPr>
                      <a:r>
                        <a:rPr sz="2200" b="0">
                          <a:solidFill>
                            <a:srgbClr val="123047"/>
                          </a:solidFill>
                          <a:latin typeface="Arial"/>
                        </a:rPr>
                        <a:t>Mô hình báo không</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M = 3 · bỏ sót</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TN = 85 · đúng không</a:t>
                      </a:r>
                    </a:p>
                  </a:txBody>
                  <a:tcPr marL="50292" marR="50292" marT="32004" marB="32004" anchor="ctr">
                    <a:solidFill>
                      <a:srgbClr val="EDF2F7"/>
                    </a:solidFill>
                  </a:tcPr>
                </a:tc>
              </a:tr>
            </a:tbl>
          </a:graphicData>
        </a:graphic>
      </p:graphicFrame>
      <p:sp>
        <p:nvSpPr>
          <p:cNvPr id="7" name="TextBox 6"/>
          <p:cNvSpPr txBox="1"/>
          <p:nvPr/>
        </p:nvSpPr>
        <p:spPr>
          <a:xfrm>
            <a:off x="685800" y="4133087"/>
            <a:ext cx="10789920" cy="1097280"/>
          </a:xfrm>
          <a:prstGeom prst="rect">
            <a:avLst/>
          </a:prstGeom>
          <a:noFill/>
        </p:spPr>
        <p:txBody>
          <a:bodyPr wrap="square" lIns="0" rIns="0" tIns="0" bIns="0" anchor="t">
            <a:spAutoFit/>
          </a:bodyPr>
          <a:lstStyle/>
          <a:p>
            <a:pPr algn="l">
              <a:lnSpc>
                <a:spcPct val="112000"/>
              </a:lnSpc>
              <a:spcBef>
                <a:spcPts val="0"/>
              </a:spcBef>
              <a:spcAft>
                <a:spcPts val="0"/>
              </a:spcAft>
            </a:pPr>
            <a:r>
              <a:rPr sz="2300" b="0">
                <a:solidFill>
                  <a:srgbClr val="123047"/>
                </a:solidFill>
                <a:latin typeface="Arial"/>
              </a:rPr>
              <a:t>POD = H/(H+M) = 0,700       FAR = F/(H+F) = 0,417</a:t>
            </a:r>
          </a:p>
          <a:p>
            <a:pPr algn="l">
              <a:lnSpc>
                <a:spcPct val="112000"/>
              </a:lnSpc>
              <a:spcBef>
                <a:spcPts val="0"/>
              </a:spcBef>
              <a:spcAft>
                <a:spcPts val="0"/>
              </a:spcAft>
            </a:pPr>
            <a:r>
              <a:rPr sz="2300" b="0">
                <a:solidFill>
                  <a:srgbClr val="123047"/>
                </a:solidFill>
                <a:latin typeface="Arial"/>
              </a:rPr>
              <a:t>CSI = H/(H+M+F) = 0,467       FAR khác FPR = F/(F+TN)</a:t>
            </a:r>
          </a:p>
        </p:txBody>
      </p:sp>
      <p:sp>
        <p:nvSpPr>
          <p:cNvPr id="8" name="Rectangle 7"/>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AD3434"/>
                </a:solidFill>
                <a:latin typeface="Arial"/>
              </a:rPr>
              <a:t>Luôn báo khô có accuracy 90% trong ví dụ; POD = 0 và CSI = 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GIẢI THÍCH VÀ KẾT QUẢ</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17</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POD = 0,4 có tự động được coi là tốt không?</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Ví dụ tự tạo: 300 ngày, 100 sự kiện • Hướng dẫn: JWGFVR Forecast Verification [V3]</a:t>
            </a:r>
          </a:p>
        </p:txBody>
      </p:sp>
      <p:graphicFrame>
        <p:nvGraphicFramePr>
          <p:cNvPr id="6" name="Table 5"/>
          <p:cNvGraphicFramePr>
            <a:graphicFrameLocks noGrp="1"/>
          </p:cNvGraphicFramePr>
          <p:nvPr/>
        </p:nvGraphicFramePr>
        <p:xfrm>
          <a:off x="502920" y="1508760"/>
          <a:ext cx="11201400" cy="2194560"/>
        </p:xfrm>
        <a:graphic>
          <a:graphicData uri="http://schemas.openxmlformats.org/drawingml/2006/table">
            <a:tbl>
              <a:tblPr firstRow="1" bandRow="1">
                <a:tableStyleId>{5C22544A-7EE6-4342-B048-85BDC9FD1C3A}</a:tableStyleId>
              </a:tblPr>
              <a:tblGrid>
                <a:gridCol w="2286000"/>
                <a:gridCol w="1371600"/>
                <a:gridCol w="1371600"/>
                <a:gridCol w="1371600"/>
                <a:gridCol w="1600200"/>
                <a:gridCol w="1600200"/>
                <a:gridCol w="1600200"/>
              </a:tblGrid>
              <a:tr h="731520">
                <a:tc>
                  <a:txBody>
                    <a:bodyPr/>
                    <a:lstStyle/>
                    <a:p>
                      <a:pPr algn="ctr">
                        <a:lnSpc>
                          <a:spcPct val="100000"/>
                        </a:lnSpc>
                        <a:spcBef>
                          <a:spcPts val="0"/>
                        </a:spcBef>
                        <a:spcAft>
                          <a:spcPts val="0"/>
                        </a:spcAft>
                      </a:pPr>
                      <a:r>
                        <a:rPr sz="2200" b="1">
                          <a:solidFill>
                            <a:srgbClr val="FFFFFF"/>
                          </a:solidFill>
                          <a:latin typeface="Arial"/>
                        </a:rPr>
                        <a:t>Ví dụ</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Trúng</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Bỏ sót</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Báo nhầm</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FAR ↓</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CSI ↑</a:t>
                      </a:r>
                    </a:p>
                  </a:txBody>
                  <a:tcPr marL="50292" marR="50292" marT="32004" marB="32004" anchor="ctr">
                    <a:solidFill>
                      <a:srgbClr val="123047"/>
                    </a:solidFill>
                  </a:tcPr>
                </a:tc>
              </a:tr>
              <a:tr h="731520">
                <a:tc>
                  <a:txBody>
                    <a:bodyPr/>
                    <a:lstStyle/>
                    <a:p>
                      <a:pPr algn="ctr">
                        <a:lnSpc>
                          <a:spcPct val="100000"/>
                        </a:lnSpc>
                        <a:spcBef>
                          <a:spcPts val="0"/>
                        </a:spcBef>
                        <a:spcAft>
                          <a:spcPts val="0"/>
                        </a:spcAft>
                      </a:pPr>
                      <a:r>
                        <a:rPr sz="2200" b="0">
                          <a:solidFill>
                            <a:srgbClr val="123047"/>
                          </a:solidFill>
                          <a:latin typeface="Arial"/>
                        </a:rPr>
                        <a:t>A</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40</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60</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10</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1">
                          <a:solidFill>
                            <a:srgbClr val="123047"/>
                          </a:solidFill>
                          <a:latin typeface="Arial"/>
                        </a:rPr>
                        <a:t>0,400</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1">
                          <a:solidFill>
                            <a:srgbClr val="087E8B"/>
                          </a:solidFill>
                          <a:latin typeface="Arial"/>
                        </a:rPr>
                        <a:t>0,200</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0,364</a:t>
                      </a:r>
                    </a:p>
                  </a:txBody>
                  <a:tcPr marL="50292" marR="50292" marT="32004" marB="32004" anchor="ctr">
                    <a:solidFill>
                      <a:srgbClr val="FFFFFF"/>
                    </a:solidFill>
                  </a:tcPr>
                </a:tc>
              </a:tr>
              <a:tr h="731520">
                <a:tc>
                  <a:txBody>
                    <a:bodyPr/>
                    <a:lstStyle/>
                    <a:p>
                      <a:pPr algn="ctr">
                        <a:lnSpc>
                          <a:spcPct val="100000"/>
                        </a:lnSpc>
                        <a:spcBef>
                          <a:spcPts val="0"/>
                        </a:spcBef>
                        <a:spcAft>
                          <a:spcPts val="0"/>
                        </a:spcAft>
                      </a:pPr>
                      <a:r>
                        <a:rPr sz="2200" b="0">
                          <a:solidFill>
                            <a:srgbClr val="123047"/>
                          </a:solidFill>
                          <a:latin typeface="Arial"/>
                        </a:rPr>
                        <a:t>B</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40</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60</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160</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1">
                          <a:solidFill>
                            <a:srgbClr val="123047"/>
                          </a:solidFill>
                          <a:latin typeface="Arial"/>
                        </a:rPr>
                        <a:t>0,400</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1">
                          <a:solidFill>
                            <a:srgbClr val="AD3434"/>
                          </a:solidFill>
                          <a:latin typeface="Arial"/>
                        </a:rPr>
                        <a:t>0,800</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0,154</a:t>
                      </a:r>
                    </a:p>
                  </a:txBody>
                  <a:tcPr marL="50292" marR="50292" marT="32004" marB="32004" anchor="ctr">
                    <a:solidFill>
                      <a:srgbClr val="EDF2F7"/>
                    </a:solidFill>
                  </a:tcPr>
                </a:tc>
              </a:tr>
            </a:tbl>
          </a:graphicData>
        </a:graphic>
      </p:graphicFrame>
      <p:sp>
        <p:nvSpPr>
          <p:cNvPr id="7" name="TextBox 6"/>
          <p:cNvSpPr txBox="1"/>
          <p:nvPr/>
        </p:nvSpPr>
        <p:spPr>
          <a:xfrm>
            <a:off x="685800" y="4069080"/>
            <a:ext cx="10835640" cy="1051560"/>
          </a:xfrm>
          <a:prstGeom prst="rect">
            <a:avLst/>
          </a:prstGeom>
          <a:noFill/>
        </p:spPr>
        <p:txBody>
          <a:bodyPr wrap="square" lIns="0" rIns="0" tIns="0" bIns="0" anchor="t">
            <a:spAutoFit/>
          </a:bodyPr>
          <a:lstStyle/>
          <a:p>
            <a:pPr algn="l">
              <a:lnSpc>
                <a:spcPct val="112000"/>
              </a:lnSpc>
              <a:spcBef>
                <a:spcPts val="0"/>
              </a:spcBef>
              <a:spcAft>
                <a:spcPts val="0"/>
              </a:spcAft>
            </a:pPr>
            <a:r>
              <a:rPr sz="2400" b="0">
                <a:solidFill>
                  <a:srgbClr val="123047"/>
                </a:solidFill>
                <a:latin typeface="Arial"/>
              </a:rPr>
              <a:t>Cùng bắt </a:t>
            </a:r>
            <a:r>
              <a:rPr sz="2400" b="1">
                <a:solidFill>
                  <a:srgbClr val="123047"/>
                </a:solidFill>
                <a:latin typeface="Arial"/>
              </a:rPr>
              <a:t>40/100 sự kiện</a:t>
            </a:r>
            <a:r>
              <a:rPr sz="2400" b="0">
                <a:solidFill>
                  <a:srgbClr val="123047"/>
                </a:solidFill>
                <a:latin typeface="Arial"/>
              </a:rPr>
              <a:t>, nhưng số báo nhầm rất khác.</a:t>
            </a:r>
          </a:p>
          <a:p>
            <a:pPr algn="l">
              <a:lnSpc>
                <a:spcPct val="112000"/>
              </a:lnSpc>
              <a:spcBef>
                <a:spcPts val="0"/>
              </a:spcBef>
              <a:spcAft>
                <a:spcPts val="0"/>
              </a:spcAft>
            </a:pPr>
            <a:r>
              <a:rPr sz="2400" b="0">
                <a:solidFill>
                  <a:srgbClr val="123047"/>
                </a:solidFill>
                <a:latin typeface="Arial"/>
              </a:rPr>
              <a:t>Muốn đánh giá tốt hay chưa: xem FAR, CSI và mô hình đối chứng.</a:t>
            </a:r>
          </a:p>
        </p:txBody>
      </p:sp>
      <p:sp>
        <p:nvSpPr>
          <p:cNvPr id="8" name="Rectangle 7"/>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80" b="1">
                <a:solidFill>
                  <a:srgbClr val="AD3434"/>
                </a:solidFill>
                <a:latin typeface="Arial"/>
              </a:rPr>
              <a:t>0,4 là mức phát hiện 40%; chưa phải một “tem đạt chuẩn” cho mọi nghiên cứu.</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GIẢI THÍCH VÀ KẾT QUẢ</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18</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Paper có POD khoảng 0,4: phải đọc trong ngữ cảnh</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Nguồn sơ cấp: [P1] Atmosphere 2025, 16, 224, §4.3 • [P2] Remote Sensing 2022, 14, 928, đánh giá giờ</a:t>
            </a:r>
          </a:p>
        </p:txBody>
      </p:sp>
      <p:graphicFrame>
        <p:nvGraphicFramePr>
          <p:cNvPr id="6" name="Table 5"/>
          <p:cNvGraphicFramePr>
            <a:graphicFrameLocks noGrp="1"/>
          </p:cNvGraphicFramePr>
          <p:nvPr/>
        </p:nvGraphicFramePr>
        <p:xfrm>
          <a:off x="502920" y="1508760"/>
          <a:ext cx="11201399" cy="3099813"/>
        </p:xfrm>
        <a:graphic>
          <a:graphicData uri="http://schemas.openxmlformats.org/drawingml/2006/table">
            <a:tbl>
              <a:tblPr firstRow="1" bandRow="1">
                <a:tableStyleId>{5C22544A-7EE6-4342-B048-85BDC9FD1C3A}</a:tableStyleId>
              </a:tblPr>
              <a:tblGrid>
                <a:gridCol w="2834640"/>
                <a:gridCol w="4389120"/>
                <a:gridCol w="3977639"/>
              </a:tblGrid>
              <a:tr h="1033271">
                <a:tc>
                  <a:txBody>
                    <a:bodyPr/>
                    <a:lstStyle/>
                    <a:p>
                      <a:pPr algn="ctr">
                        <a:lnSpc>
                          <a:spcPct val="100000"/>
                        </a:lnSpc>
                        <a:spcBef>
                          <a:spcPts val="0"/>
                        </a:spcBef>
                        <a:spcAft>
                          <a:spcPts val="0"/>
                        </a:spcAft>
                      </a:pPr>
                      <a:r>
                        <a:rPr sz="2000" b="1">
                          <a:solidFill>
                            <a:srgbClr val="FFFFFF"/>
                          </a:solidFill>
                          <a:latin typeface="Arial"/>
                        </a:rPr>
                        <a:t>Nguồn</a:t>
                      </a:r>
                    </a:p>
                  </a:txBody>
                  <a:tcPr marL="50292" marR="50292" marT="32004" marB="32004" anchor="ctr">
                    <a:solidFill>
                      <a:srgbClr val="123047"/>
                    </a:solidFill>
                  </a:tcPr>
                </a:tc>
                <a:tc>
                  <a:txBody>
                    <a:bodyPr/>
                    <a:lstStyle/>
                    <a:p>
                      <a:pPr algn="ctr">
                        <a:lnSpc>
                          <a:spcPct val="100000"/>
                        </a:lnSpc>
                        <a:spcBef>
                          <a:spcPts val="0"/>
                        </a:spcBef>
                        <a:spcAft>
                          <a:spcPts val="0"/>
                        </a:spcAft>
                      </a:pPr>
                      <a:r>
                        <a:rPr sz="2000" b="1">
                          <a:solidFill>
                            <a:srgbClr val="FFFFFF"/>
                          </a:solidFill>
                          <a:latin typeface="Arial"/>
                        </a:rPr>
                        <a:t>Điểm cần đọc</a:t>
                      </a:r>
                    </a:p>
                  </a:txBody>
                  <a:tcPr marL="50292" marR="50292" marT="32004" marB="32004" anchor="ctr">
                    <a:solidFill>
                      <a:srgbClr val="123047"/>
                    </a:solidFill>
                  </a:tcPr>
                </a:tc>
                <a:tc>
                  <a:txBody>
                    <a:bodyPr/>
                    <a:lstStyle/>
                    <a:p>
                      <a:pPr algn="ctr">
                        <a:lnSpc>
                          <a:spcPct val="100000"/>
                        </a:lnSpc>
                        <a:spcBef>
                          <a:spcPts val="0"/>
                        </a:spcBef>
                        <a:spcAft>
                          <a:spcPts val="0"/>
                        </a:spcAft>
                      </a:pPr>
                      <a:r>
                        <a:rPr sz="2000" b="1">
                          <a:solidFill>
                            <a:srgbClr val="FFFFFF"/>
                          </a:solidFill>
                          <a:latin typeface="Arial"/>
                        </a:rPr>
                        <a:t>Không được suy ra</a:t>
                      </a:r>
                    </a:p>
                  </a:txBody>
                  <a:tcPr marL="50292" marR="50292" marT="32004" marB="32004" anchor="ctr">
                    <a:solidFill>
                      <a:srgbClr val="123047"/>
                    </a:solidFill>
                  </a:tcPr>
                </a:tc>
              </a:tr>
              <a:tr h="1033271">
                <a:tc>
                  <a:txBody>
                    <a:bodyPr/>
                    <a:lstStyle/>
                    <a:p>
                      <a:pPr algn="ctr">
                        <a:lnSpc>
                          <a:spcPct val="100000"/>
                        </a:lnSpc>
                        <a:spcBef>
                          <a:spcPts val="0"/>
                        </a:spcBef>
                        <a:spcAft>
                          <a:spcPts val="0"/>
                        </a:spcAft>
                      </a:pPr>
                      <a:r>
                        <a:rPr sz="2000" b="0">
                          <a:solidFill>
                            <a:srgbClr val="123047"/>
                          </a:solidFill>
                          <a:latin typeface="Arial"/>
                        </a:rPr>
                        <a:t>P1 · Việt Nam</a:t>
                      </a:r>
                    </a:p>
                    <a:p>
                      <a:pPr algn="ctr">
                        <a:lnSpc>
                          <a:spcPct val="100000"/>
                        </a:lnSpc>
                        <a:spcBef>
                          <a:spcPts val="0"/>
                        </a:spcBef>
                        <a:spcAft>
                          <a:spcPts val="0"/>
                        </a:spcAft>
                      </a:pPr>
                      <a:r>
                        <a:rPr sz="2000" b="0">
                          <a:solidFill>
                            <a:srgbClr val="123047"/>
                          </a:solidFill>
                          <a:latin typeface="Arial"/>
                        </a:rPr>
                        <a:t>IFS/WRF · 2025</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Có POD khoảng 0,3–0,4;</a:t>
                      </a:r>
                    </a:p>
                    <a:p>
                      <a:pPr algn="ctr">
                        <a:lnSpc>
                          <a:spcPct val="100000"/>
                        </a:lnSpc>
                        <a:spcBef>
                          <a:spcPts val="0"/>
                        </a:spcBef>
                        <a:spcAft>
                          <a:spcPts val="0"/>
                        </a:spcAft>
                      </a:pPr>
                      <a:r>
                        <a:rPr sz="2000" b="0">
                          <a:solidFill>
                            <a:srgbClr val="123047"/>
                          </a:solidFill>
                          <a:latin typeface="Arial"/>
                        </a:rPr>
                        <a:t>một số trạm đạt 0,5–0,7</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POD 0,4 là chuẩn chung;</a:t>
                      </a:r>
                    </a:p>
                    <a:p>
                      <a:pPr algn="ctr">
                        <a:lnSpc>
                          <a:spcPct val="100000"/>
                        </a:lnSpc>
                        <a:spcBef>
                          <a:spcPts val="0"/>
                        </a:spcBef>
                        <a:spcAft>
                          <a:spcPts val="0"/>
                        </a:spcAft>
                      </a:pPr>
                      <a:r>
                        <a:rPr sz="2000" b="0">
                          <a:solidFill>
                            <a:srgbClr val="123047"/>
                          </a:solidFill>
                          <a:latin typeface="Arial"/>
                        </a:rPr>
                        <a:t>dự án POD 0,64 đã thắng paper</a:t>
                      </a:r>
                    </a:p>
                  </a:txBody>
                  <a:tcPr marL="50292" marR="50292" marT="32004" marB="32004" anchor="ctr">
                    <a:solidFill>
                      <a:srgbClr val="FFFFFF"/>
                    </a:solidFill>
                  </a:tcPr>
                </a:tc>
              </a:tr>
              <a:tr h="1033271">
                <a:tc>
                  <a:txBody>
                    <a:bodyPr/>
                    <a:lstStyle/>
                    <a:p>
                      <a:pPr algn="ctr">
                        <a:lnSpc>
                          <a:spcPct val="100000"/>
                        </a:lnSpc>
                        <a:spcBef>
                          <a:spcPts val="0"/>
                        </a:spcBef>
                        <a:spcAft>
                          <a:spcPts val="0"/>
                        </a:spcAft>
                      </a:pPr>
                      <a:r>
                        <a:rPr sz="2000" b="0">
                          <a:solidFill>
                            <a:srgbClr val="123047"/>
                          </a:solidFill>
                          <a:latin typeface="Arial"/>
                        </a:rPr>
                        <a:t>P2 · IMERG</a:t>
                      </a:r>
                    </a:p>
                    <a:p>
                      <a:pPr algn="ctr">
                        <a:lnSpc>
                          <a:spcPct val="100000"/>
                        </a:lnSpc>
                        <a:spcBef>
                          <a:spcPts val="0"/>
                        </a:spcBef>
                        <a:spcAft>
                          <a:spcPts val="0"/>
                        </a:spcAft>
                      </a:pPr>
                      <a:r>
                        <a:rPr sz="2000" b="0">
                          <a:solidFill>
                            <a:srgbClr val="123047"/>
                          </a:solidFill>
                          <a:latin typeface="Arial"/>
                        </a:rPr>
                        <a:t>Bắc Trung Quốc · 2022</a:t>
                      </a:r>
                    </a:p>
                  </a:txBody>
                  <a:tcPr marL="50292" marR="50292" marT="32004" marB="32004" anchor="ctr">
                    <a:solidFill>
                      <a:srgbClr val="EDF2F7"/>
                    </a:solidFill>
                  </a:tcPr>
                </a:tc>
                <a:tc>
                  <a:txBody>
                    <a:bodyPr/>
                    <a:lstStyle/>
                    <a:p>
                      <a:pPr algn="ctr">
                        <a:lnSpc>
                          <a:spcPct val="100000"/>
                        </a:lnSpc>
                        <a:spcBef>
                          <a:spcPts val="0"/>
                        </a:spcBef>
                        <a:spcAft>
                          <a:spcPts val="0"/>
                        </a:spcAft>
                      </a:pPr>
                      <a:r>
                        <a:rPr sz="2000" b="0">
                          <a:solidFill>
                            <a:srgbClr val="123047"/>
                          </a:solidFill>
                          <a:latin typeface="Arial"/>
                        </a:rPr>
                        <a:t>POD tối đa ≈0,4 cùng FAR ≥0,6;</a:t>
                      </a:r>
                    </a:p>
                    <a:p>
                      <a:pPr algn="ctr">
                        <a:lnSpc>
                          <a:spcPct val="100000"/>
                        </a:lnSpc>
                        <a:spcBef>
                          <a:spcPts val="0"/>
                        </a:spcBef>
                        <a:spcAft>
                          <a:spcPts val="0"/>
                        </a:spcAft>
                      </a:pPr>
                      <a:r>
                        <a:rPr sz="2000" b="0">
                          <a:solidFill>
                            <a:srgbClr val="123047"/>
                          </a:solidFill>
                          <a:latin typeface="Arial"/>
                        </a:rPr>
                        <a:t>tác giả nhận xét phát hiện thấp</a:t>
                      </a:r>
                    </a:p>
                  </a:txBody>
                  <a:tcPr marL="50292" marR="50292" marT="32004" marB="32004" anchor="ctr">
                    <a:solidFill>
                      <a:srgbClr val="EDF2F7"/>
                    </a:solidFill>
                  </a:tcPr>
                </a:tc>
                <a:tc>
                  <a:txBody>
                    <a:bodyPr/>
                    <a:lstStyle/>
                    <a:p>
                      <a:pPr algn="ctr">
                        <a:lnSpc>
                          <a:spcPct val="100000"/>
                        </a:lnSpc>
                        <a:spcBef>
                          <a:spcPts val="0"/>
                        </a:spcBef>
                        <a:spcAft>
                          <a:spcPts val="0"/>
                        </a:spcAft>
                      </a:pPr>
                      <a:r>
                        <a:rPr sz="2000" b="0">
                          <a:solidFill>
                            <a:srgbClr val="123047"/>
                          </a:solidFill>
                          <a:latin typeface="Arial"/>
                        </a:rPr>
                        <a:t>Chỉ nhìn POD 0,4</a:t>
                      </a:r>
                    </a:p>
                    <a:p>
                      <a:pPr algn="ctr">
                        <a:lnSpc>
                          <a:spcPct val="100000"/>
                        </a:lnSpc>
                        <a:spcBef>
                          <a:spcPts val="0"/>
                        </a:spcBef>
                        <a:spcAft>
                          <a:spcPts val="0"/>
                        </a:spcAft>
                      </a:pPr>
                      <a:r>
                        <a:rPr sz="2000" b="0">
                          <a:solidFill>
                            <a:srgbClr val="123047"/>
                          </a:solidFill>
                          <a:latin typeface="Arial"/>
                        </a:rPr>
                        <a:t>là đủ để gọi kết quả tốt</a:t>
                      </a:r>
                    </a:p>
                  </a:txBody>
                  <a:tcPr marL="50292" marR="50292" marT="32004" marB="32004" anchor="ctr">
                    <a:solidFill>
                      <a:srgbClr val="EDF2F7"/>
                    </a:solidFill>
                  </a:tcPr>
                </a:tc>
              </a:tr>
            </a:tbl>
          </a:graphicData>
        </a:graphic>
      </p:graphicFrame>
      <p:sp>
        <p:nvSpPr>
          <p:cNvPr id="7" name="TextBox 6"/>
          <p:cNvSpPr txBox="1"/>
          <p:nvPr/>
        </p:nvSpPr>
        <p:spPr>
          <a:xfrm>
            <a:off x="685800" y="4892040"/>
            <a:ext cx="10835640" cy="502920"/>
          </a:xfrm>
          <a:prstGeom prst="rect">
            <a:avLst/>
          </a:prstGeom>
          <a:noFill/>
        </p:spPr>
        <p:txBody>
          <a:bodyPr wrap="square" lIns="0" rIns="0" tIns="0" bIns="0" anchor="t">
            <a:spAutoFit/>
          </a:bodyPr>
          <a:lstStyle/>
          <a:p>
            <a:pPr algn="l">
              <a:lnSpc>
                <a:spcPct val="112000"/>
              </a:lnSpc>
              <a:spcBef>
                <a:spcPts val="0"/>
              </a:spcBef>
              <a:spcAft>
                <a:spcPts val="0"/>
              </a:spcAft>
            </a:pPr>
            <a:r>
              <a:rPr sz="2000" b="1">
                <a:solidFill>
                  <a:srgbClr val="123047"/>
                </a:solidFill>
                <a:latin typeface="Arial"/>
              </a:rPr>
              <a:t>Cần cùng: hạn, ngưỡng mưa, không gian, nhãn, cách báo có và tập đánh giá.</a:t>
            </a:r>
          </a:p>
        </p:txBody>
      </p:sp>
      <p:sp>
        <p:nvSpPr>
          <p:cNvPr id="8" name="Rectangle 7"/>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rPr>
              <a:t>Điểm POD trong paper khác giao thức không phải mốc chuẩn để xếp hạng trực tiếp.</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SO SÁNH BA MÔ HÌNH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19</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POD cao hơn: ba mô hình đánh đổi ra sao?</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Cùng mẫu 2021–2023 • q=16 mm/24h • Vùng 93 ô xấp xỉ • Chưa chấm 2025</a:t>
            </a:r>
          </a:p>
        </p:txBody>
      </p:sp>
      <p:graphicFrame>
        <p:nvGraphicFramePr>
          <p:cNvPr id="6" name="Table 5"/>
          <p:cNvGraphicFramePr>
            <a:graphicFrameLocks noGrp="1"/>
          </p:cNvGraphicFramePr>
          <p:nvPr/>
        </p:nvGraphicFramePr>
        <p:xfrm>
          <a:off x="502920" y="1508760"/>
          <a:ext cx="11201400" cy="2999232"/>
        </p:xfrm>
        <a:graphic>
          <a:graphicData uri="http://schemas.openxmlformats.org/drawingml/2006/table">
            <a:tbl>
              <a:tblPr firstRow="1" bandRow="1">
                <a:tableStyleId>{5C22544A-7EE6-4342-B048-85BDC9FD1C3A}</a:tableStyleId>
              </a:tblPr>
              <a:tblGrid>
                <a:gridCol w="1920240"/>
                <a:gridCol w="1371600"/>
                <a:gridCol w="1371600"/>
                <a:gridCol w="1508760"/>
                <a:gridCol w="1691640"/>
                <a:gridCol w="1691640"/>
                <a:gridCol w="1645920"/>
              </a:tblGrid>
              <a:tr h="749808">
                <a:tc>
                  <a:txBody>
                    <a:bodyPr/>
                    <a:lstStyle/>
                    <a:p>
                      <a:pPr algn="ctr">
                        <a:lnSpc>
                          <a:spcPct val="100000"/>
                        </a:lnSpc>
                        <a:spcBef>
                          <a:spcPts val="0"/>
                        </a:spcBef>
                        <a:spcAft>
                          <a:spcPts val="0"/>
                        </a:spcAft>
                      </a:pPr>
                      <a:r>
                        <a:rPr sz="2100" b="1">
                          <a:solidFill>
                            <a:srgbClr val="FFFFFF"/>
                          </a:solidFill>
                          <a:latin typeface="Arial"/>
                        </a:rPr>
                        <a:t>Mô hình</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Trúng H</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Bỏ sót M</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Báo nhầm F</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FAR ↓</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CSI ↑</a:t>
                      </a:r>
                    </a:p>
                  </a:txBody>
                  <a:tcPr marL="50292" marR="50292" marT="32004" marB="32004" anchor="ctr">
                    <a:solidFill>
                      <a:srgbClr val="123047"/>
                    </a:solidFill>
                  </a:tcPr>
                </a:tc>
              </a:tr>
              <a:tr h="749808">
                <a:tc>
                  <a:txBody>
                    <a:bodyPr/>
                    <a:lstStyle/>
                    <a:p>
                      <a:pPr algn="ctr">
                        <a:lnSpc>
                          <a:spcPct val="100000"/>
                        </a:lnSpc>
                        <a:spcBef>
                          <a:spcPts val="0"/>
                        </a:spcBef>
                        <a:spcAft>
                          <a:spcPts val="0"/>
                        </a:spcAft>
                      </a:pPr>
                      <a:r>
                        <a:rPr sz="2100" b="0">
                          <a:solidFill>
                            <a:srgbClr val="123047"/>
                          </a:solidFill>
                          <a:latin typeface="Arial"/>
                        </a:rPr>
                        <a:t>LightGBM</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60</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54</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32</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0.526</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0.348</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0.411</a:t>
                      </a:r>
                    </a:p>
                  </a:txBody>
                  <a:tcPr marL="50292" marR="50292" marT="32004" marB="32004" anchor="ctr">
                    <a:solidFill>
                      <a:srgbClr val="FFFFFF"/>
                    </a:solidFill>
                  </a:tcPr>
                </a:tc>
              </a:tr>
              <a:tr h="749808">
                <a:tc>
                  <a:txBody>
                    <a:bodyPr/>
                    <a:lstStyle/>
                    <a:p>
                      <a:pPr algn="ctr">
                        <a:lnSpc>
                          <a:spcPct val="100000"/>
                        </a:lnSpc>
                        <a:spcBef>
                          <a:spcPts val="0"/>
                        </a:spcBef>
                        <a:spcAft>
                          <a:spcPts val="0"/>
                        </a:spcAft>
                      </a:pPr>
                      <a:r>
                        <a:rPr sz="2100" b="0">
                          <a:solidFill>
                            <a:srgbClr val="123047"/>
                          </a:solidFill>
                          <a:latin typeface="Arial"/>
                        </a:rPr>
                        <a:t>TFT</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73</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41</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66</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0.640</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0.475</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0.406</a:t>
                      </a:r>
                    </a:p>
                  </a:txBody>
                  <a:tcPr marL="50292" marR="50292" marT="32004" marB="32004" anchor="ctr">
                    <a:solidFill>
                      <a:srgbClr val="EDF2F7"/>
                    </a:solidFill>
                  </a:tcPr>
                </a:tc>
              </a:tr>
              <a:tr h="749808">
                <a:tc>
                  <a:txBody>
                    <a:bodyPr/>
                    <a:lstStyle/>
                    <a:p>
                      <a:pPr algn="ctr">
                        <a:lnSpc>
                          <a:spcPct val="100000"/>
                        </a:lnSpc>
                        <a:spcBef>
                          <a:spcPts val="0"/>
                        </a:spcBef>
                        <a:spcAft>
                          <a:spcPts val="0"/>
                        </a:spcAft>
                      </a:pPr>
                      <a:r>
                        <a:rPr sz="2100" b="0">
                          <a:solidFill>
                            <a:srgbClr val="123047"/>
                          </a:solidFill>
                          <a:latin typeface="Arial"/>
                        </a:rPr>
                        <a:t>Informer</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70</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44</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45</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0.614</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0.391</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0.440</a:t>
                      </a:r>
                    </a:p>
                  </a:txBody>
                  <a:tcPr marL="50292" marR="50292" marT="32004" marB="32004" anchor="ctr">
                    <a:solidFill>
                      <a:srgbClr val="FFFFFF"/>
                    </a:solidFill>
                  </a:tcPr>
                </a:tc>
              </a:tr>
            </a:tbl>
          </a:graphicData>
        </a:graphic>
      </p:graphicFrame>
      <p:sp>
        <p:nvSpPr>
          <p:cNvPr id="7" name="TextBox 6"/>
          <p:cNvSpPr txBox="1"/>
          <p:nvPr/>
        </p:nvSpPr>
        <p:spPr>
          <a:xfrm>
            <a:off x="640080" y="4709160"/>
            <a:ext cx="10927080" cy="914400"/>
          </a:xfrm>
          <a:prstGeom prst="rect">
            <a:avLst/>
          </a:prstGeom>
          <a:noFill/>
        </p:spPr>
        <p:txBody>
          <a:bodyPr wrap="square" lIns="0" rIns="0" tIns="0" bIns="0" anchor="t">
            <a:spAutoFit/>
          </a:bodyPr>
          <a:lstStyle/>
          <a:p>
            <a:pPr algn="l">
              <a:lnSpc>
                <a:spcPct val="112000"/>
              </a:lnSpc>
              <a:spcBef>
                <a:spcPts val="0"/>
              </a:spcBef>
              <a:spcAft>
                <a:spcPts val="0"/>
              </a:spcAft>
            </a:pPr>
            <a:r>
              <a:rPr sz="2300" b="0">
                <a:solidFill>
                  <a:srgbClr val="123047"/>
                </a:solidFill>
                <a:latin typeface="Arial"/>
              </a:rPr>
              <a:t>TFT bắt được nhiều sự kiện hơn; LightGBM ít báo nhầm hơn.</a:t>
            </a:r>
          </a:p>
          <a:p>
            <a:pPr algn="l">
              <a:lnSpc>
                <a:spcPct val="112000"/>
              </a:lnSpc>
              <a:spcBef>
                <a:spcPts val="0"/>
              </a:spcBef>
              <a:spcAft>
                <a:spcPts val="0"/>
              </a:spcAft>
            </a:pPr>
            <a:r>
              <a:rPr sz="2300" b="0">
                <a:solidFill>
                  <a:srgbClr val="123047"/>
                </a:solidFill>
                <a:latin typeface="Arial"/>
              </a:rPr>
              <a:t>Informer có CSI cao nhất: phải đọc đủ cả ba mô hình.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20</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Nên ưu tiên metrics thế nào trong nghiên cứu hiện tại?</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Giữ protocol đã khóa; đây là khuyến nghị cách báo cáo, không đổi tiêu chí sau khi thấy điểm</a:t>
            </a:r>
          </a:p>
        </p:txBody>
      </p:sp>
      <p:graphicFrame>
        <p:nvGraphicFramePr>
          <p:cNvPr id="6" name="Table 5"/>
          <p:cNvGraphicFramePr>
            <a:graphicFrameLocks noGrp="1"/>
          </p:cNvGraphicFramePr>
          <p:nvPr/>
        </p:nvGraphicFramePr>
        <p:xfrm>
          <a:off x="502920" y="1508760"/>
          <a:ext cx="11201400" cy="3749040"/>
        </p:xfrm>
        <a:graphic>
          <a:graphicData uri="http://schemas.openxmlformats.org/drawingml/2006/table">
            <a:tbl>
              <a:tblPr firstRow="1" bandRow="1">
                <a:tableStyleId>{5C22544A-7EE6-4342-B048-85BDC9FD1C3A}</a:tableStyleId>
              </a:tblPr>
              <a:tblGrid>
                <a:gridCol w="4572000"/>
                <a:gridCol w="6629400"/>
              </a:tblGrid>
              <a:tr h="749808">
                <a:tc>
                  <a:txBody>
                    <a:bodyPr/>
                    <a:lstStyle/>
                    <a:p>
                      <a:pPr algn="ctr">
                        <a:lnSpc>
                          <a:spcPct val="100000"/>
                        </a:lnSpc>
                        <a:spcBef>
                          <a:spcPts val="0"/>
                        </a:spcBef>
                        <a:spcAft>
                          <a:spcPts val="0"/>
                        </a:spcAft>
                      </a:pPr>
                      <a:r>
                        <a:rPr sz="1900" b="1">
                          <a:solidFill>
                            <a:srgbClr val="FFFFFF"/>
                          </a:solidFill>
                          <a:latin typeface="Arial"/>
                        </a:rPr>
                        <a:t>Mục đích</a:t>
                      </a:r>
                    </a:p>
                  </a:txBody>
                  <a:tcPr marL="50292" marR="50292" marT="32004" marB="32004" anchor="ctr">
                    <a:solidFill>
                      <a:srgbClr val="123047"/>
                    </a:solidFill>
                  </a:tcPr>
                </a:tc>
                <a:tc>
                  <a:txBody>
                    <a:bodyPr/>
                    <a:lstStyle/>
                    <a:p>
                      <a:pPr algn="ctr">
                        <a:lnSpc>
                          <a:spcPct val="100000"/>
                        </a:lnSpc>
                        <a:spcBef>
                          <a:spcPts val="0"/>
                        </a:spcBef>
                        <a:spcAft>
                          <a:spcPts val="0"/>
                        </a:spcAft>
                      </a:pPr>
                      <a:r>
                        <a:rPr sz="1900" b="1">
                          <a:solidFill>
                            <a:srgbClr val="FFFFFF"/>
                          </a:solidFill>
                          <a:latin typeface="Arial"/>
                        </a:rPr>
                        <a:t>Vai trò đề nghị</a:t>
                      </a:r>
                    </a:p>
                  </a:txBody>
                  <a:tcPr marL="50292" marR="50292" marT="32004" marB="32004" anchor="ctr">
                    <a:solidFill>
                      <a:srgbClr val="123047"/>
                    </a:solidFill>
                  </a:tcPr>
                </a:tc>
              </a:tr>
              <a:tr h="749808">
                <a:tc>
                  <a:txBody>
                    <a:bodyPr/>
                    <a:lstStyle/>
                    <a:p>
                      <a:pPr algn="ctr">
                        <a:lnSpc>
                          <a:spcPct val="100000"/>
                        </a:lnSpc>
                        <a:spcBef>
                          <a:spcPts val="0"/>
                        </a:spcBef>
                        <a:spcAft>
                          <a:spcPts val="0"/>
                        </a:spcAft>
                      </a:pPr>
                      <a:r>
                        <a:rPr sz="1900" b="0">
                          <a:solidFill>
                            <a:srgbClr val="123047"/>
                          </a:solidFill>
                          <a:latin typeface="Arial"/>
                        </a:rPr>
                        <a:t>Đóng góp đặc trưng trong protocol hiện tại</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123047"/>
                          </a:solidFill>
                          <a:latin typeface="Arial"/>
                        </a:rPr>
                        <a:t>BSS16 chính; CSI + POD + FAR luôn đi cùng</a:t>
                      </a:r>
                    </a:p>
                  </a:txBody>
                  <a:tcPr marL="50292" marR="50292" marT="32004" marB="32004" anchor="ctr">
                    <a:solidFill>
                      <a:srgbClr val="FFFFFF"/>
                    </a:solidFill>
                  </a:tcPr>
                </a:tc>
              </a:tr>
              <a:tr h="749808">
                <a:tc>
                  <a:txBody>
                    <a:bodyPr/>
                    <a:lstStyle/>
                    <a:p>
                      <a:pPr algn="ctr">
                        <a:lnSpc>
                          <a:spcPct val="100000"/>
                        </a:lnSpc>
                        <a:spcBef>
                          <a:spcPts val="0"/>
                        </a:spcBef>
                        <a:spcAft>
                          <a:spcPts val="0"/>
                        </a:spcAft>
                      </a:pPr>
                      <a:r>
                        <a:rPr sz="1900" b="0">
                          <a:solidFill>
                            <a:srgbClr val="123047"/>
                          </a:solidFill>
                          <a:latin typeface="Arial"/>
                        </a:rPr>
                        <a:t>Đánh giá lượng mưa vùng dự đoán</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123047"/>
                          </a:solidFill>
                          <a:latin typeface="Arial"/>
                        </a:rPr>
                        <a:t>RMSE + MAE + Bias hiển thị ngang phần kết quả</a:t>
                      </a:r>
                    </a:p>
                  </a:txBody>
                  <a:tcPr marL="50292" marR="50292" marT="32004" marB="32004" anchor="ctr">
                    <a:solidFill>
                      <a:srgbClr val="EDF2F7"/>
                    </a:solidFill>
                  </a:tcPr>
                </a:tc>
              </a:tr>
              <a:tr h="749808">
                <a:tc>
                  <a:txBody>
                    <a:bodyPr/>
                    <a:lstStyle/>
                    <a:p>
                      <a:pPr algn="ctr">
                        <a:lnSpc>
                          <a:spcPct val="100000"/>
                        </a:lnSpc>
                        <a:spcBef>
                          <a:spcPts val="0"/>
                        </a:spcBef>
                        <a:spcAft>
                          <a:spcPts val="0"/>
                        </a:spcAft>
                      </a:pPr>
                      <a:r>
                        <a:rPr sz="1900" b="0">
                          <a:solidFill>
                            <a:srgbClr val="123047"/>
                          </a:solidFill>
                          <a:latin typeface="Arial"/>
                        </a:rPr>
                        <a:t>Nếu ưu tiên cảnh báo ít bỏ sót</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123047"/>
                          </a:solidFill>
                          <a:latin typeface="Arial"/>
                        </a:rPr>
                        <a:t>Cần chốt yêu cầu POD và mức FAR chấp nhận</a:t>
                      </a:r>
                    </a:p>
                  </a:txBody>
                  <a:tcPr marL="50292" marR="50292" marT="32004" marB="32004" anchor="ctr">
                    <a:solidFill>
                      <a:srgbClr val="FFFFFF"/>
                    </a:solidFill>
                  </a:tcPr>
                </a:tc>
              </a:tr>
              <a:tr h="749808">
                <a:tc>
                  <a:txBody>
                    <a:bodyPr/>
                    <a:lstStyle/>
                    <a:p>
                      <a:pPr algn="ctr">
                        <a:lnSpc>
                          <a:spcPct val="100000"/>
                        </a:lnSpc>
                        <a:spcBef>
                          <a:spcPts val="0"/>
                        </a:spcBef>
                        <a:spcAft>
                          <a:spcPts val="0"/>
                        </a:spcAft>
                      </a:pPr>
                      <a:r>
                        <a:rPr sz="1900" b="0">
                          <a:solidFill>
                            <a:srgbClr val="123047"/>
                          </a:solidFill>
                          <a:latin typeface="Arial"/>
                        </a:rPr>
                        <a:t>Nếu đổi mục tiêu chọn mô hình</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123047"/>
                          </a:solidFill>
                          <a:latin typeface="Arial"/>
                        </a:rPr>
                        <a:t>Khóa lại trước holdout; chưa tự đổi trong lượt này</a:t>
                      </a:r>
                    </a:p>
                  </a:txBody>
                  <a:tcPr marL="50292" marR="50292" marT="32004" marB="32004" anchor="ctr">
                    <a:solidFill>
                      <a:srgbClr val="EDF2F7"/>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rPr>
              <a:t>POD/FAR cần thiết; chưa có cơ sở ưu tiên riêng một chỉ số lên trên mọi mục tiêu.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21</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Chia theo thời gian, cùng mẫu, giữ kín năm 2025</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PBL6 • Đánh giá 2021–2023 • Vùng 93 ô xấp xỉ • Test 2025 giữ kín</a:t>
            </a:r>
          </a:p>
        </p:txBody>
      </p:sp>
      <p:graphicFrame>
        <p:nvGraphicFramePr>
          <p:cNvPr id="6" name="Table 5"/>
          <p:cNvGraphicFramePr>
            <a:graphicFrameLocks noGrp="1"/>
          </p:cNvGraphicFramePr>
          <p:nvPr/>
        </p:nvGraphicFramePr>
        <p:xfrm>
          <a:off x="502920" y="1508760"/>
          <a:ext cx="11201400" cy="2560320"/>
        </p:xfrm>
        <a:graphic>
          <a:graphicData uri="http://schemas.openxmlformats.org/drawingml/2006/table">
            <a:tbl>
              <a:tblPr firstRow="1" bandRow="1">
                <a:tableStyleId>{5C22544A-7EE6-4342-B048-85BDC9FD1C3A}</a:tableStyleId>
              </a:tblPr>
              <a:tblGrid>
                <a:gridCol w="914400"/>
                <a:gridCol w="3657600"/>
                <a:gridCol w="3314700"/>
                <a:gridCol w="3314700"/>
              </a:tblGrid>
              <a:tr h="640080">
                <a:tc>
                  <a:txBody>
                    <a:bodyPr/>
                    <a:lstStyle/>
                    <a:p>
                      <a:pPr algn="ctr">
                        <a:lnSpc>
                          <a:spcPct val="100000"/>
                        </a:lnSpc>
                        <a:spcBef>
                          <a:spcPts val="0"/>
                        </a:spcBef>
                        <a:spcAft>
                          <a:spcPts val="0"/>
                        </a:spcAft>
                      </a:pPr>
                      <a:r>
                        <a:rPr sz="2300" b="1">
                          <a:solidFill>
                            <a:srgbClr val="FFFFFF"/>
                          </a:solidFill>
                          <a:latin typeface="Arial"/>
                        </a:rPr>
                        <a:t>Fold</a:t>
                      </a:r>
                    </a:p>
                  </a:txBody>
                  <a:tcPr marL="50292" marR="50292" marT="32004" marB="32004" anchor="ctr">
                    <a:solidFill>
                      <a:srgbClr val="123047"/>
                    </a:solidFill>
                  </a:tcPr>
                </a:tc>
                <a:tc>
                  <a:txBody>
                    <a:bodyPr/>
                    <a:lstStyle/>
                    <a:p>
                      <a:pPr algn="ctr">
                        <a:lnSpc>
                          <a:spcPct val="100000"/>
                        </a:lnSpc>
                        <a:spcBef>
                          <a:spcPts val="0"/>
                        </a:spcBef>
                        <a:spcAft>
                          <a:spcPts val="0"/>
                        </a:spcAft>
                      </a:pPr>
                      <a:r>
                        <a:rPr sz="2300" b="1">
                          <a:solidFill>
                            <a:srgbClr val="FFFFFF"/>
                          </a:solidFill>
                          <a:latin typeface="Arial"/>
                        </a:rPr>
                        <a:t>Train</a:t>
                      </a:r>
                    </a:p>
                  </a:txBody>
                  <a:tcPr marL="50292" marR="50292" marT="32004" marB="32004" anchor="ctr">
                    <a:solidFill>
                      <a:srgbClr val="123047"/>
                    </a:solidFill>
                  </a:tcPr>
                </a:tc>
                <a:tc>
                  <a:txBody>
                    <a:bodyPr/>
                    <a:lstStyle/>
                    <a:p>
                      <a:pPr algn="ctr">
                        <a:lnSpc>
                          <a:spcPct val="100000"/>
                        </a:lnSpc>
                        <a:spcBef>
                          <a:spcPts val="0"/>
                        </a:spcBef>
                        <a:spcAft>
                          <a:spcPts val="0"/>
                        </a:spcAft>
                      </a:pPr>
                      <a:r>
                        <a:rPr sz="2300" b="1">
                          <a:solidFill>
                            <a:srgbClr val="FFFFFF"/>
                          </a:solidFill>
                          <a:latin typeface="Arial"/>
                        </a:rPr>
                        <a:t>Calibration</a:t>
                      </a:r>
                    </a:p>
                  </a:txBody>
                  <a:tcPr marL="50292" marR="50292" marT="32004" marB="32004" anchor="ctr">
                    <a:solidFill>
                      <a:srgbClr val="123047"/>
                    </a:solidFill>
                  </a:tcPr>
                </a:tc>
                <a:tc>
                  <a:txBody>
                    <a:bodyPr/>
                    <a:lstStyle/>
                    <a:p>
                      <a:pPr algn="ctr">
                        <a:lnSpc>
                          <a:spcPct val="100000"/>
                        </a:lnSpc>
                        <a:spcBef>
                          <a:spcPts val="0"/>
                        </a:spcBef>
                        <a:spcAft>
                          <a:spcPts val="0"/>
                        </a:spcAft>
                      </a:pPr>
                      <a:r>
                        <a:rPr sz="2300" b="1">
                          <a:solidFill>
                            <a:srgbClr val="FFFFFF"/>
                          </a:solidFill>
                          <a:latin typeface="Arial"/>
                        </a:rPr>
                        <a:t>Evaluation</a:t>
                      </a:r>
                    </a:p>
                  </a:txBody>
                  <a:tcPr marL="50292" marR="50292" marT="32004" marB="32004" anchor="ctr">
                    <a:solidFill>
                      <a:srgbClr val="123047"/>
                    </a:solidFill>
                  </a:tcPr>
                </a:tc>
              </a:tr>
              <a:tr h="640080">
                <a:tc>
                  <a:txBody>
                    <a:bodyPr/>
                    <a:lstStyle/>
                    <a:p>
                      <a:pPr algn="ctr">
                        <a:lnSpc>
                          <a:spcPct val="100000"/>
                        </a:lnSpc>
                        <a:spcBef>
                          <a:spcPts val="0"/>
                        </a:spcBef>
                        <a:spcAft>
                          <a:spcPts val="0"/>
                        </a:spcAft>
                      </a:pPr>
                      <a:r>
                        <a:rPr sz="2300" b="0">
                          <a:solidFill>
                            <a:srgbClr val="123047"/>
                          </a:solidFill>
                          <a:latin typeface="Arial"/>
                        </a:rPr>
                        <a:t>F1</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2015–2019</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2020</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2021</a:t>
                      </a:r>
                    </a:p>
                  </a:txBody>
                  <a:tcPr marL="50292" marR="50292" marT="32004" marB="32004" anchor="ctr">
                    <a:solidFill>
                      <a:srgbClr val="FFFFFF"/>
                    </a:solidFill>
                  </a:tcPr>
                </a:tc>
              </a:tr>
              <a:tr h="640080">
                <a:tc>
                  <a:txBody>
                    <a:bodyPr/>
                    <a:lstStyle/>
                    <a:p>
                      <a:pPr algn="ctr">
                        <a:lnSpc>
                          <a:spcPct val="100000"/>
                        </a:lnSpc>
                        <a:spcBef>
                          <a:spcPts val="0"/>
                        </a:spcBef>
                        <a:spcAft>
                          <a:spcPts val="0"/>
                        </a:spcAft>
                      </a:pPr>
                      <a:r>
                        <a:rPr sz="2300" b="0">
                          <a:solidFill>
                            <a:srgbClr val="123047"/>
                          </a:solidFill>
                          <a:latin typeface="Arial"/>
                        </a:rPr>
                        <a:t>F2</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0">
                          <a:solidFill>
                            <a:srgbClr val="123047"/>
                          </a:solidFill>
                          <a:latin typeface="Arial"/>
                        </a:rPr>
                        <a:t>2015–2020</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0">
                          <a:solidFill>
                            <a:srgbClr val="123047"/>
                          </a:solidFill>
                          <a:latin typeface="Arial"/>
                        </a:rPr>
                        <a:t>2021</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0">
                          <a:solidFill>
                            <a:srgbClr val="123047"/>
                          </a:solidFill>
                          <a:latin typeface="Arial"/>
                        </a:rPr>
                        <a:t>2022</a:t>
                      </a:r>
                    </a:p>
                  </a:txBody>
                  <a:tcPr marL="50292" marR="50292" marT="32004" marB="32004" anchor="ctr">
                    <a:solidFill>
                      <a:srgbClr val="EDF2F7"/>
                    </a:solidFill>
                  </a:tcPr>
                </a:tc>
              </a:tr>
              <a:tr h="640080">
                <a:tc>
                  <a:txBody>
                    <a:bodyPr/>
                    <a:lstStyle/>
                    <a:p>
                      <a:pPr algn="ctr">
                        <a:lnSpc>
                          <a:spcPct val="100000"/>
                        </a:lnSpc>
                        <a:spcBef>
                          <a:spcPts val="0"/>
                        </a:spcBef>
                        <a:spcAft>
                          <a:spcPts val="0"/>
                        </a:spcAft>
                      </a:pPr>
                      <a:r>
                        <a:rPr sz="2300" b="0">
                          <a:solidFill>
                            <a:srgbClr val="123047"/>
                          </a:solidFill>
                          <a:latin typeface="Arial"/>
                        </a:rPr>
                        <a:t>F3</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2015–2021</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2022</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2023</a:t>
                      </a:r>
                    </a:p>
                  </a:txBody>
                  <a:tcPr marL="50292" marR="50292" marT="32004" marB="32004" anchor="ctr">
                    <a:solidFill>
                      <a:srgbClr val="FFFFFF"/>
                    </a:solidFill>
                  </a:tcPr>
                </a:tc>
              </a:tr>
            </a:tbl>
          </a:graphicData>
        </a:graphic>
      </p:graphicFrame>
      <p:sp>
        <p:nvSpPr>
          <p:cNvPr id="7" name="TextBox 6"/>
          <p:cNvSpPr txBox="1"/>
          <p:nvPr/>
        </p:nvSpPr>
        <p:spPr>
          <a:xfrm>
            <a:off x="685800" y="4434840"/>
            <a:ext cx="10835640" cy="914400"/>
          </a:xfrm>
          <a:prstGeom prst="rect">
            <a:avLst/>
          </a:prstGeom>
          <a:noFill/>
        </p:spPr>
        <p:txBody>
          <a:bodyPr wrap="square" lIns="0" rIns="0" tIns="0" bIns="0" anchor="t">
            <a:spAutoFit/>
          </a:bodyPr>
          <a:lstStyle/>
          <a:p>
            <a:pPr algn="l">
              <a:lnSpc>
                <a:spcPct val="112000"/>
              </a:lnSpc>
              <a:spcBef>
                <a:spcPts val="0"/>
              </a:spcBef>
              <a:spcAft>
                <a:spcPts val="0"/>
              </a:spcAft>
            </a:pPr>
            <a:r>
              <a:rPr sz="2300" b="1">
                <a:solidFill>
                  <a:srgbClr val="123047"/>
                </a:solidFill>
                <a:latin typeface="Arial"/>
              </a:rPr>
              <a:t>1.075 mốc / ngày dự đoán · 114 sự kiện ≥16 mm</a:t>
            </a:r>
          </a:p>
          <a:p>
            <a:pPr algn="l">
              <a:lnSpc>
                <a:spcPct val="112000"/>
              </a:lnSpc>
              <a:spcBef>
                <a:spcPts val="0"/>
              </a:spcBef>
              <a:spcAft>
                <a:spcPts val="0"/>
              </a:spcAft>
            </a:pPr>
            <a:r>
              <a:rPr sz="2300" b="1">
                <a:solidFill>
                  <a:srgbClr val="123047"/>
                </a:solidFill>
                <a:latin typeface="Arial"/>
              </a:rPr>
              <a:t>Chỉ 37 / 15 sự kiện ≥50 / ≥100 mm: độ bất định cao.</a:t>
            </a:r>
          </a:p>
        </p:txBody>
      </p:sp>
      <p:sp>
        <p:nvSpPr>
          <p:cNvPr id="8" name="Rectangle 7"/>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50" b="1">
                <a:solidFill>
                  <a:srgbClr val="087E8B"/>
                </a:solidFill>
                <a:latin typeface="Arial"/>
              </a:rPr>
              <a:t>Ba seed không nhân ba số ngày thời tiết. Development chưa thay kiểm định cuối.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22</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Hai ngưỡng khác nhau: lượng mưa q và xác suất τ</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src/short_range_evaluation.py + ensemble_calibration_thresholds.csv • Không chọn τ bằng evaluation</a:t>
            </a:r>
          </a:p>
        </p:txBody>
      </p:sp>
      <p:sp>
        <p:nvSpPr>
          <p:cNvPr id="6" name="Rectangle 5"/>
          <p:cNvSpPr/>
          <p:nvPr/>
        </p:nvSpPr>
        <p:spPr>
          <a:xfrm>
            <a:off x="594360" y="1508760"/>
            <a:ext cx="5486400" cy="356616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36776"/>
            <a:ext cx="517550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q · định nghĩa sự kiện</a:t>
            </a:r>
          </a:p>
        </p:txBody>
      </p:sp>
      <p:sp>
        <p:nvSpPr>
          <p:cNvPr id="8" name="TextBox 7"/>
          <p:cNvSpPr txBox="1"/>
          <p:nvPr/>
        </p:nvSpPr>
        <p:spPr>
          <a:xfrm>
            <a:off x="749808" y="2304288"/>
            <a:ext cx="5175504" cy="2651760"/>
          </a:xfrm>
          <a:prstGeom prst="rect">
            <a:avLst/>
          </a:prstGeom>
          <a:noFill/>
        </p:spPr>
        <p:txBody>
          <a:bodyPr wrap="square" lIns="0" rIns="0" tIns="0" bIns="0" anchor="t">
            <a:spAutoFit/>
          </a:bodyPr>
          <a:lstStyle/>
          <a:p>
            <a:pPr algn="l">
              <a:lnSpc>
                <a:spcPct val="112000"/>
              </a:lnSpc>
              <a:spcBef>
                <a:spcPts val="0"/>
              </a:spcBef>
              <a:spcAft>
                <a:spcPts val="0"/>
              </a:spcAft>
            </a:pPr>
            <a:r>
              <a:rPr sz="2100" b="0">
                <a:solidFill>
                  <a:srgbClr val="123047"/>
                </a:solidFill>
                <a:latin typeface="Arial"/>
              </a:rPr>
              <a:t>Mưa thực vùng ≥16 mm/24h?</a:t>
            </a:r>
          </a:p>
          <a:p>
            <a:pPr algn="l">
              <a:lnSpc>
                <a:spcPct val="112000"/>
              </a:lnSpc>
              <a:spcBef>
                <a:spcPts val="0"/>
              </a:spcBef>
              <a:spcAft>
                <a:spcPts val="0"/>
              </a:spcAft>
            </a:pPr>
            <a:r>
              <a:rPr sz="2100" b="0">
                <a:solidFill>
                  <a:srgbClr val="123047"/>
                </a:solidFill>
                <a:latin typeface="Arial"/>
              </a:rPr>
              <a:t>Có → nhãn 1; không → nhãn 0</a:t>
            </a:r>
          </a:p>
          <a:p>
            <a:pPr algn="l">
              <a:lnSpc>
                <a:spcPct val="112000"/>
              </a:lnSpc>
              <a:spcBef>
                <a:spcPts val="0"/>
              </a:spcBef>
              <a:spcAft>
                <a:spcPts val="0"/>
              </a:spcAft>
            </a:pPr>
            <a:r>
              <a:rPr sz="2100" b="0">
                <a:solidFill>
                  <a:srgbClr val="123047"/>
                </a:solidFill>
                <a:latin typeface="Arial"/>
              </a:rPr>
              <a:t>50/100 mm: các mức hiếm hơn</a:t>
            </a:r>
          </a:p>
          <a:p>
            <a:pPr algn="l">
              <a:lnSpc>
                <a:spcPct val="112000"/>
              </a:lnSpc>
              <a:spcBef>
                <a:spcPts val="0"/>
              </a:spcBef>
              <a:spcAft>
                <a:spcPts val="0"/>
              </a:spcAft>
            </a:pPr>
            <a:r>
              <a:rPr sz="2100" b="0">
                <a:solidFill>
                  <a:srgbClr val="123047"/>
                </a:solidFill>
                <a:latin typeface="Arial"/>
              </a:rPr>
              <a:t>Không phải cấp cảnh báo tại điểm</a:t>
            </a:r>
          </a:p>
        </p:txBody>
      </p:sp>
      <p:sp>
        <p:nvSpPr>
          <p:cNvPr id="9" name="Rectangle 8"/>
          <p:cNvSpPr/>
          <p:nvPr/>
        </p:nvSpPr>
        <p:spPr>
          <a:xfrm>
            <a:off x="6291072" y="1508760"/>
            <a:ext cx="5303520" cy="356616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36776"/>
            <a:ext cx="499262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τ · quyết định báo có</a:t>
            </a:r>
          </a:p>
        </p:txBody>
      </p:sp>
      <p:sp>
        <p:nvSpPr>
          <p:cNvPr id="11" name="TextBox 10"/>
          <p:cNvSpPr txBox="1"/>
          <p:nvPr/>
        </p:nvSpPr>
        <p:spPr>
          <a:xfrm>
            <a:off x="6446520" y="2304288"/>
            <a:ext cx="4992624" cy="2651760"/>
          </a:xfrm>
          <a:prstGeom prst="rect">
            <a:avLst/>
          </a:prstGeom>
          <a:noFill/>
        </p:spPr>
        <p:txBody>
          <a:bodyPr wrap="square" lIns="0" rIns="0" tIns="0" bIns="0" anchor="t">
            <a:spAutoFit/>
          </a:bodyPr>
          <a:lstStyle/>
          <a:p>
            <a:pPr algn="l">
              <a:lnSpc>
                <a:spcPct val="112000"/>
              </a:lnSpc>
              <a:spcBef>
                <a:spcPts val="0"/>
              </a:spcBef>
              <a:spcAft>
                <a:spcPts val="0"/>
              </a:spcAft>
            </a:pPr>
            <a:r>
              <a:rPr sz="2200" b="0">
                <a:solidFill>
                  <a:srgbClr val="123047"/>
                </a:solidFill>
                <a:latin typeface="Arial"/>
              </a:rPr>
              <a:t>Xác suất dự báo p ≥ τ?</a:t>
            </a:r>
          </a:p>
          <a:p>
            <a:pPr algn="l">
              <a:lnSpc>
                <a:spcPct val="112000"/>
              </a:lnSpc>
              <a:spcBef>
                <a:spcPts val="0"/>
              </a:spcBef>
              <a:spcAft>
                <a:spcPts val="0"/>
              </a:spcAft>
            </a:pPr>
            <a:r>
              <a:rPr sz="2200" b="0">
                <a:solidFill>
                  <a:srgbClr val="123047"/>
                </a:solidFill>
                <a:latin typeface="Arial"/>
              </a:rPr>
              <a:t>τ chọn trên calibration</a:t>
            </a:r>
          </a:p>
          <a:p>
            <a:pPr algn="l">
              <a:lnSpc>
                <a:spcPct val="112000"/>
              </a:lnSpc>
              <a:spcBef>
                <a:spcPts val="0"/>
              </a:spcBef>
              <a:spcAft>
                <a:spcPts val="0"/>
              </a:spcAft>
            </a:pPr>
            <a:r>
              <a:rPr sz="2200" b="0">
                <a:solidFill>
                  <a:srgbClr val="123047"/>
                </a:solidFill>
                <a:latin typeface="Arial"/>
              </a:rPr>
              <a:t>Giữ cố định khi chấm evaluation</a:t>
            </a:r>
          </a:p>
          <a:p>
            <a:pPr algn="l">
              <a:lnSpc>
                <a:spcPct val="112000"/>
              </a:lnSpc>
              <a:spcBef>
                <a:spcPts val="0"/>
              </a:spcBef>
              <a:spcAft>
                <a:spcPts val="0"/>
              </a:spcAft>
            </a:pPr>
            <a:r>
              <a:rPr sz="2200" b="0">
                <a:solidFill>
                  <a:srgbClr val="123047"/>
                </a:solidFill>
                <a:latin typeface="Arial"/>
              </a:rPr>
              <a:t>BSS không cần chọn τ</a:t>
            </a:r>
          </a:p>
        </p:txBody>
      </p:sp>
      <p:sp>
        <p:nvSpPr>
          <p:cNvPr id="12" name="Rectangle 11"/>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087E8B"/>
                </a:solidFill>
                <a:latin typeface="Arial"/>
              </a:rPr>
              <a:t>POD/FAR giữa ba mô hình hiện chưa ở cùng mức POD hoặc cùng mức FAR.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GIẢI THÍCH VÀ KẾT QUẢ</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23</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Ví dụ TFT: hai quy tắc báo mưa cho POD khác nhau</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Cùng TFT E7, ngày 1, 1.075 mốc /114 sự kiện • DECISION_RULES_E7.csv • Không đổi ngưỡng trên evaluation</a:t>
            </a:r>
          </a:p>
        </p:txBody>
      </p:sp>
      <p:graphicFrame>
        <p:nvGraphicFramePr>
          <p:cNvPr id="6" name="Table 5"/>
          <p:cNvGraphicFramePr>
            <a:graphicFrameLocks noGrp="1"/>
          </p:cNvGraphicFramePr>
          <p:nvPr/>
        </p:nvGraphicFramePr>
        <p:xfrm>
          <a:off x="502920" y="1508760"/>
          <a:ext cx="11201400" cy="2359152"/>
        </p:xfrm>
        <a:graphic>
          <a:graphicData uri="http://schemas.openxmlformats.org/drawingml/2006/table">
            <a:tbl>
              <a:tblPr firstRow="1" bandRow="1">
                <a:tableStyleId>{5C22544A-7EE6-4342-B048-85BDC9FD1C3A}</a:tableStyleId>
              </a:tblPr>
              <a:tblGrid>
                <a:gridCol w="3931920"/>
                <a:gridCol w="1234440"/>
                <a:gridCol w="1508760"/>
                <a:gridCol w="1508760"/>
                <a:gridCol w="1508760"/>
                <a:gridCol w="1508760"/>
              </a:tblGrid>
              <a:tr h="786384">
                <a:tc>
                  <a:txBody>
                    <a:bodyPr/>
                    <a:lstStyle/>
                    <a:p>
                      <a:pPr algn="ctr">
                        <a:lnSpc>
                          <a:spcPct val="100000"/>
                        </a:lnSpc>
                        <a:spcBef>
                          <a:spcPts val="0"/>
                        </a:spcBef>
                        <a:spcAft>
                          <a:spcPts val="0"/>
                        </a:spcAft>
                      </a:pPr>
                      <a:r>
                        <a:rPr sz="2200" b="1">
                          <a:solidFill>
                            <a:srgbClr val="FFFFFF"/>
                          </a:solidFill>
                          <a:latin typeface="Arial"/>
                        </a:rPr>
                        <a:t>Quy tắc báo có</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Trúng</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Báo nhầm</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FAR ↓</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CSI ↑</a:t>
                      </a:r>
                    </a:p>
                  </a:txBody>
                  <a:tcPr marL="50292" marR="50292" marT="32004" marB="32004" anchor="ctr">
                    <a:solidFill>
                      <a:srgbClr val="123047"/>
                    </a:solidFill>
                  </a:tcPr>
                </a:tc>
              </a:tr>
              <a:tr h="786384">
                <a:tc>
                  <a:txBody>
                    <a:bodyPr/>
                    <a:lstStyle/>
                    <a:p>
                      <a:pPr algn="ctr">
                        <a:lnSpc>
                          <a:spcPct val="100000"/>
                        </a:lnSpc>
                        <a:spcBef>
                          <a:spcPts val="0"/>
                        </a:spcBef>
                        <a:spcAft>
                          <a:spcPts val="0"/>
                        </a:spcAft>
                      </a:pPr>
                      <a:r>
                        <a:rPr sz="2200" b="0">
                          <a:solidFill>
                            <a:srgbClr val="123047"/>
                          </a:solidFill>
                          <a:latin typeface="Arial"/>
                        </a:rPr>
                        <a:t>Lượng mm dự đoán ≥16</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67</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48</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1">
                          <a:solidFill>
                            <a:srgbClr val="123047"/>
                          </a:solidFill>
                          <a:latin typeface="Arial"/>
                        </a:rPr>
                        <a:t>0.588</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0.417</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0.414</a:t>
                      </a:r>
                    </a:p>
                  </a:txBody>
                  <a:tcPr marL="50292" marR="50292" marT="32004" marB="32004" anchor="ctr">
                    <a:solidFill>
                      <a:srgbClr val="FFFFFF"/>
                    </a:solidFill>
                  </a:tcPr>
                </a:tc>
              </a:tr>
              <a:tr h="786384">
                <a:tc>
                  <a:txBody>
                    <a:bodyPr/>
                    <a:lstStyle/>
                    <a:p>
                      <a:pPr algn="ctr">
                        <a:lnSpc>
                          <a:spcPct val="100000"/>
                        </a:lnSpc>
                        <a:spcBef>
                          <a:spcPts val="0"/>
                        </a:spcBef>
                        <a:spcAft>
                          <a:spcPts val="0"/>
                        </a:spcAft>
                      </a:pPr>
                      <a:r>
                        <a:rPr sz="2200" b="0">
                          <a:solidFill>
                            <a:srgbClr val="123047"/>
                          </a:solidFill>
                          <a:latin typeface="Arial"/>
                        </a:rPr>
                        <a:t>Xác suất ≥τ đã chọn</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73</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1">
                          <a:solidFill>
                            <a:srgbClr val="123047"/>
                          </a:solidFill>
                          <a:latin typeface="Arial"/>
                        </a:rPr>
                        <a:t>66</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1">
                          <a:solidFill>
                            <a:srgbClr val="123047"/>
                          </a:solidFill>
                          <a:latin typeface="Arial"/>
                        </a:rPr>
                        <a:t>0.640</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0.475</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0.406</a:t>
                      </a:r>
                    </a:p>
                  </a:txBody>
                  <a:tcPr marL="50292" marR="50292" marT="32004" marB="32004" anchor="ctr">
                    <a:solidFill>
                      <a:srgbClr val="EDF2F7"/>
                    </a:solidFill>
                  </a:tcPr>
                </a:tc>
              </a:tr>
            </a:tbl>
          </a:graphicData>
        </a:graphic>
      </p:graphicFrame>
      <p:sp>
        <p:nvSpPr>
          <p:cNvPr id="7" name="TextBox 6"/>
          <p:cNvSpPr txBox="1"/>
          <p:nvPr/>
        </p:nvSpPr>
        <p:spPr>
          <a:xfrm>
            <a:off x="685800" y="4160520"/>
            <a:ext cx="10835640" cy="960120"/>
          </a:xfrm>
          <a:prstGeom prst="rect">
            <a:avLst/>
          </a:prstGeom>
          <a:noFill/>
        </p:spPr>
        <p:txBody>
          <a:bodyPr wrap="square" lIns="0" rIns="0" tIns="0" bIns="0" anchor="t">
            <a:spAutoFit/>
          </a:bodyPr>
          <a:lstStyle/>
          <a:p>
            <a:pPr algn="l">
              <a:lnSpc>
                <a:spcPct val="112000"/>
              </a:lnSpc>
              <a:spcBef>
                <a:spcPts val="0"/>
              </a:spcBef>
              <a:spcAft>
                <a:spcPts val="0"/>
              </a:spcAft>
            </a:pPr>
            <a:r>
              <a:rPr sz="2200" b="0">
                <a:solidFill>
                  <a:srgbClr val="123047"/>
                </a:solidFill>
                <a:latin typeface="Arial"/>
              </a:rPr>
              <a:t>Đầu xác suất bắt được nhiều sự kiện hơn, đồng thời báo nhầm nhiều hơn.</a:t>
            </a:r>
          </a:p>
          <a:p>
            <a:pPr algn="l">
              <a:lnSpc>
                <a:spcPct val="112000"/>
              </a:lnSpc>
              <a:spcBef>
                <a:spcPts val="0"/>
              </a:spcBef>
              <a:spcAft>
                <a:spcPts val="0"/>
              </a:spcAft>
            </a:pPr>
            <a:r>
              <a:rPr sz="2200" b="0">
                <a:solidFill>
                  <a:srgbClr val="123047"/>
                </a:solidFill>
                <a:latin typeface="Arial"/>
              </a:rPr>
              <a:t>Không so POD này với paper dùng lượng mm mà bỏ qua khác biệt quy tắc.</a:t>
            </a:r>
          </a:p>
        </p:txBody>
      </p:sp>
      <p:sp>
        <p:nvSpPr>
          <p:cNvPr id="8" name="Rectangle 7"/>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2000" b="1">
                <a:solidFill>
                  <a:srgbClr val="087E8B"/>
                </a:solidFill>
                <a:latin typeface="Arial"/>
              </a:rPr>
              <a:t>POD 0,640 = 73/114, không phải “độ chính xác chung 64%”.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SO SÁNH BA MÔ HÌNH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24</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Ngày 1: BSS của ba mô hình trên E0–E7</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Cùng mẫu 2021–2023 • q=16 mm/24h • Vùng 93 ô xấp xỉ • Chưa chấm 2025</a:t>
            </a:r>
          </a:p>
        </p:txBody>
      </p:sp>
      <p:graphicFrame>
        <p:nvGraphicFramePr>
          <p:cNvPr id="6" name="Table 5"/>
          <p:cNvGraphicFramePr>
            <a:graphicFrameLocks noGrp="1"/>
          </p:cNvGraphicFramePr>
          <p:nvPr/>
        </p:nvGraphicFramePr>
        <p:xfrm>
          <a:off x="502920" y="1417320"/>
          <a:ext cx="11201400" cy="4032504"/>
        </p:xfrm>
        <a:graphic>
          <a:graphicData uri="http://schemas.openxmlformats.org/drawingml/2006/table">
            <a:tbl>
              <a:tblPr firstRow="1" bandRow="1">
                <a:tableStyleId>{5C22544A-7EE6-4342-B048-85BDC9FD1C3A}</a:tableStyleId>
              </a:tblPr>
              <a:tblGrid>
                <a:gridCol w="1051560"/>
                <a:gridCol w="3383280"/>
                <a:gridCol w="3383280"/>
                <a:gridCol w="3383280"/>
              </a:tblGrid>
              <a:tr h="448056">
                <a:tc>
                  <a:txBody>
                    <a:bodyPr/>
                    <a:lstStyle/>
                    <a:p>
                      <a:pPr algn="ctr">
                        <a:lnSpc>
                          <a:spcPct val="100000"/>
                        </a:lnSpc>
                        <a:spcBef>
                          <a:spcPts val="0"/>
                        </a:spcBef>
                        <a:spcAft>
                          <a:spcPts val="0"/>
                        </a:spcAft>
                      </a:pPr>
                      <a:r>
                        <a:rPr sz="2100" b="1">
                          <a:solidFill>
                            <a:srgbClr val="FFFFFF"/>
                          </a:solidFill>
                          <a:latin typeface="Arial"/>
                        </a:rPr>
                        <a:t>E</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LightGBM</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TFT</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Informer</a:t>
                      </a:r>
                    </a:p>
                  </a:txBody>
                  <a:tcPr marL="50292" marR="50292" marT="32004" marB="32004" anchor="ctr">
                    <a:solidFill>
                      <a:srgbClr val="123047"/>
                    </a:solidFill>
                  </a:tcPr>
                </a:tc>
              </a:tr>
              <a:tr h="448056">
                <a:tc>
                  <a:txBody>
                    <a:bodyPr/>
                    <a:lstStyle/>
                    <a:p>
                      <a:pPr algn="ctr">
                        <a:lnSpc>
                          <a:spcPct val="100000"/>
                        </a:lnSpc>
                        <a:spcBef>
                          <a:spcPts val="0"/>
                        </a:spcBef>
                        <a:spcAft>
                          <a:spcPts val="0"/>
                        </a:spcAft>
                      </a:pPr>
                      <a:r>
                        <a:rPr sz="2100" b="0">
                          <a:solidFill>
                            <a:srgbClr val="123047"/>
                          </a:solidFill>
                          <a:latin typeface="Arial"/>
                        </a:rPr>
                        <a:t>E0</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1">
                          <a:solidFill>
                            <a:srgbClr val="087E8B"/>
                          </a:solidFill>
                          <a:latin typeface="Arial"/>
                        </a:rPr>
                        <a:t>0.144</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0.135</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0.135</a:t>
                      </a:r>
                    </a:p>
                  </a:txBody>
                  <a:tcPr marL="50292" marR="50292" marT="32004" marB="32004" anchor="ctr">
                    <a:solidFill>
                      <a:srgbClr val="FFFFFF"/>
                    </a:solidFill>
                  </a:tcPr>
                </a:tc>
              </a:tr>
              <a:tr h="448056">
                <a:tc>
                  <a:txBody>
                    <a:bodyPr/>
                    <a:lstStyle/>
                    <a:p>
                      <a:pPr algn="ctr">
                        <a:lnSpc>
                          <a:spcPct val="100000"/>
                        </a:lnSpc>
                        <a:spcBef>
                          <a:spcPts val="0"/>
                        </a:spcBef>
                        <a:spcAft>
                          <a:spcPts val="0"/>
                        </a:spcAft>
                      </a:pPr>
                      <a:r>
                        <a:rPr sz="2100" b="0">
                          <a:solidFill>
                            <a:srgbClr val="123047"/>
                          </a:solidFill>
                          <a:latin typeface="Arial"/>
                        </a:rPr>
                        <a:t>E1</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1">
                          <a:solidFill>
                            <a:srgbClr val="087E8B"/>
                          </a:solidFill>
                          <a:latin typeface="Arial"/>
                        </a:rPr>
                        <a:t>0.264</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0.221</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0.202</a:t>
                      </a:r>
                    </a:p>
                  </a:txBody>
                  <a:tcPr marL="50292" marR="50292" marT="32004" marB="32004" anchor="ctr">
                    <a:solidFill>
                      <a:srgbClr val="EDF2F7"/>
                    </a:solidFill>
                  </a:tcPr>
                </a:tc>
              </a:tr>
              <a:tr h="448056">
                <a:tc>
                  <a:txBody>
                    <a:bodyPr/>
                    <a:lstStyle/>
                    <a:p>
                      <a:pPr algn="ctr">
                        <a:lnSpc>
                          <a:spcPct val="100000"/>
                        </a:lnSpc>
                        <a:spcBef>
                          <a:spcPts val="0"/>
                        </a:spcBef>
                        <a:spcAft>
                          <a:spcPts val="0"/>
                        </a:spcAft>
                      </a:pPr>
                      <a:r>
                        <a:rPr sz="2100" b="0">
                          <a:solidFill>
                            <a:srgbClr val="123047"/>
                          </a:solidFill>
                          <a:latin typeface="Arial"/>
                        </a:rPr>
                        <a:t>E2</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1">
                          <a:solidFill>
                            <a:srgbClr val="087E8B"/>
                          </a:solidFill>
                          <a:latin typeface="Arial"/>
                        </a:rPr>
                        <a:t>0.283</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0.280</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0.279</a:t>
                      </a:r>
                    </a:p>
                  </a:txBody>
                  <a:tcPr marL="50292" marR="50292" marT="32004" marB="32004" anchor="ctr">
                    <a:solidFill>
                      <a:srgbClr val="FFFFFF"/>
                    </a:solidFill>
                  </a:tcPr>
                </a:tc>
              </a:tr>
              <a:tr h="448056">
                <a:tc>
                  <a:txBody>
                    <a:bodyPr/>
                    <a:lstStyle/>
                    <a:p>
                      <a:pPr algn="ctr">
                        <a:lnSpc>
                          <a:spcPct val="100000"/>
                        </a:lnSpc>
                        <a:spcBef>
                          <a:spcPts val="0"/>
                        </a:spcBef>
                        <a:spcAft>
                          <a:spcPts val="0"/>
                        </a:spcAft>
                      </a:pPr>
                      <a:r>
                        <a:rPr sz="2100" b="0">
                          <a:solidFill>
                            <a:srgbClr val="123047"/>
                          </a:solidFill>
                          <a:latin typeface="Arial"/>
                        </a:rPr>
                        <a:t>E3</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1">
                          <a:solidFill>
                            <a:srgbClr val="087E8B"/>
                          </a:solidFill>
                          <a:latin typeface="Arial"/>
                        </a:rPr>
                        <a:t>0.175</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0.133</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0.156</a:t>
                      </a:r>
                    </a:p>
                  </a:txBody>
                  <a:tcPr marL="50292" marR="50292" marT="32004" marB="32004" anchor="ctr">
                    <a:solidFill>
                      <a:srgbClr val="EDF2F7"/>
                    </a:solidFill>
                  </a:tcPr>
                </a:tc>
              </a:tr>
              <a:tr h="448056">
                <a:tc>
                  <a:txBody>
                    <a:bodyPr/>
                    <a:lstStyle/>
                    <a:p>
                      <a:pPr algn="ctr">
                        <a:lnSpc>
                          <a:spcPct val="100000"/>
                        </a:lnSpc>
                        <a:spcBef>
                          <a:spcPts val="0"/>
                        </a:spcBef>
                        <a:spcAft>
                          <a:spcPts val="0"/>
                        </a:spcAft>
                      </a:pPr>
                      <a:r>
                        <a:rPr sz="2100" b="0">
                          <a:solidFill>
                            <a:srgbClr val="123047"/>
                          </a:solidFill>
                          <a:latin typeface="Arial"/>
                        </a:rPr>
                        <a:t>E4</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1">
                          <a:solidFill>
                            <a:srgbClr val="087E8B"/>
                          </a:solidFill>
                          <a:latin typeface="Arial"/>
                        </a:rPr>
                        <a:t>0.315</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0.237</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0.228</a:t>
                      </a:r>
                    </a:p>
                  </a:txBody>
                  <a:tcPr marL="50292" marR="50292" marT="32004" marB="32004" anchor="ctr">
                    <a:solidFill>
                      <a:srgbClr val="FFFFFF"/>
                    </a:solidFill>
                  </a:tcPr>
                </a:tc>
              </a:tr>
              <a:tr h="448056">
                <a:tc>
                  <a:txBody>
                    <a:bodyPr/>
                    <a:lstStyle/>
                    <a:p>
                      <a:pPr algn="ctr">
                        <a:lnSpc>
                          <a:spcPct val="100000"/>
                        </a:lnSpc>
                        <a:spcBef>
                          <a:spcPts val="0"/>
                        </a:spcBef>
                        <a:spcAft>
                          <a:spcPts val="0"/>
                        </a:spcAft>
                      </a:pPr>
                      <a:r>
                        <a:rPr sz="2100" b="0">
                          <a:solidFill>
                            <a:srgbClr val="123047"/>
                          </a:solidFill>
                          <a:latin typeface="Arial"/>
                        </a:rPr>
                        <a:t>E5</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1">
                          <a:solidFill>
                            <a:srgbClr val="087E8B"/>
                          </a:solidFill>
                          <a:latin typeface="Arial"/>
                        </a:rPr>
                        <a:t>0.282</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0.171</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0.199</a:t>
                      </a:r>
                    </a:p>
                  </a:txBody>
                  <a:tcPr marL="50292" marR="50292" marT="32004" marB="32004" anchor="ctr">
                    <a:solidFill>
                      <a:srgbClr val="EDF2F7"/>
                    </a:solidFill>
                  </a:tcPr>
                </a:tc>
              </a:tr>
              <a:tr h="448056">
                <a:tc>
                  <a:txBody>
                    <a:bodyPr/>
                    <a:lstStyle/>
                    <a:p>
                      <a:pPr algn="ctr">
                        <a:lnSpc>
                          <a:spcPct val="100000"/>
                        </a:lnSpc>
                        <a:spcBef>
                          <a:spcPts val="0"/>
                        </a:spcBef>
                        <a:spcAft>
                          <a:spcPts val="0"/>
                        </a:spcAft>
                      </a:pPr>
                      <a:r>
                        <a:rPr sz="2100" b="0">
                          <a:solidFill>
                            <a:srgbClr val="123047"/>
                          </a:solidFill>
                          <a:latin typeface="Arial"/>
                        </a:rPr>
                        <a:t>E6</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1">
                          <a:solidFill>
                            <a:srgbClr val="087E8B"/>
                          </a:solidFill>
                          <a:latin typeface="Arial"/>
                        </a:rPr>
                        <a:t>0.306</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0.280</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0.284</a:t>
                      </a:r>
                    </a:p>
                  </a:txBody>
                  <a:tcPr marL="50292" marR="50292" marT="32004" marB="32004" anchor="ctr">
                    <a:solidFill>
                      <a:srgbClr val="FFFFFF"/>
                    </a:solidFill>
                  </a:tcPr>
                </a:tc>
              </a:tr>
              <a:tr h="448056">
                <a:tc>
                  <a:txBody>
                    <a:bodyPr/>
                    <a:lstStyle/>
                    <a:p>
                      <a:pPr algn="ctr">
                        <a:lnSpc>
                          <a:spcPct val="100000"/>
                        </a:lnSpc>
                        <a:spcBef>
                          <a:spcPts val="0"/>
                        </a:spcBef>
                        <a:spcAft>
                          <a:spcPts val="0"/>
                        </a:spcAft>
                      </a:pPr>
                      <a:r>
                        <a:rPr sz="2100" b="0">
                          <a:solidFill>
                            <a:srgbClr val="123047"/>
                          </a:solidFill>
                          <a:latin typeface="Arial"/>
                        </a:rPr>
                        <a:t>E7</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1">
                          <a:solidFill>
                            <a:srgbClr val="087E8B"/>
                          </a:solidFill>
                          <a:latin typeface="Arial"/>
                        </a:rPr>
                        <a:t>0.303</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0.246</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0.278</a:t>
                      </a:r>
                    </a:p>
                  </a:txBody>
                  <a:tcPr marL="50292" marR="50292" marT="32004" marB="32004" anchor="ctr">
                    <a:solidFill>
                      <a:srgbClr val="EDF2F7"/>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rPr>
              <a:t>Đậm: tốt nhất trong hàng cùng E/ngày · Đỏ: BSS âm · Cả ba đã đủ E0–E7.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SO SÁNH BA MÔ HÌNH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25</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Ngày 2: BSS của ba mô hình trên E0–E7</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Cùng mẫu 2021–2023 • q=16 mm/24h • Vùng 93 ô xấp xỉ • Chưa chấm 2025</a:t>
            </a:r>
          </a:p>
        </p:txBody>
      </p:sp>
      <p:graphicFrame>
        <p:nvGraphicFramePr>
          <p:cNvPr id="6" name="Table 5"/>
          <p:cNvGraphicFramePr>
            <a:graphicFrameLocks noGrp="1"/>
          </p:cNvGraphicFramePr>
          <p:nvPr/>
        </p:nvGraphicFramePr>
        <p:xfrm>
          <a:off x="502920" y="1417320"/>
          <a:ext cx="11201400" cy="4032504"/>
        </p:xfrm>
        <a:graphic>
          <a:graphicData uri="http://schemas.openxmlformats.org/drawingml/2006/table">
            <a:tbl>
              <a:tblPr firstRow="1" bandRow="1">
                <a:tableStyleId>{5C22544A-7EE6-4342-B048-85BDC9FD1C3A}</a:tableStyleId>
              </a:tblPr>
              <a:tblGrid>
                <a:gridCol w="1051560"/>
                <a:gridCol w="3383280"/>
                <a:gridCol w="3383280"/>
                <a:gridCol w="3383280"/>
              </a:tblGrid>
              <a:tr h="448056">
                <a:tc>
                  <a:txBody>
                    <a:bodyPr/>
                    <a:lstStyle/>
                    <a:p>
                      <a:pPr algn="ctr">
                        <a:lnSpc>
                          <a:spcPct val="100000"/>
                        </a:lnSpc>
                        <a:spcBef>
                          <a:spcPts val="0"/>
                        </a:spcBef>
                        <a:spcAft>
                          <a:spcPts val="0"/>
                        </a:spcAft>
                      </a:pPr>
                      <a:r>
                        <a:rPr sz="2100" b="1">
                          <a:solidFill>
                            <a:srgbClr val="FFFFFF"/>
                          </a:solidFill>
                          <a:latin typeface="Arial"/>
                        </a:rPr>
                        <a:t>E</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LightGBM</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TFT</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Informer</a:t>
                      </a:r>
                    </a:p>
                  </a:txBody>
                  <a:tcPr marL="50292" marR="50292" marT="32004" marB="32004" anchor="ctr">
                    <a:solidFill>
                      <a:srgbClr val="123047"/>
                    </a:solidFill>
                  </a:tcPr>
                </a:tc>
              </a:tr>
              <a:tr h="448056">
                <a:tc>
                  <a:txBody>
                    <a:bodyPr/>
                    <a:lstStyle/>
                    <a:p>
                      <a:pPr algn="ctr">
                        <a:lnSpc>
                          <a:spcPct val="100000"/>
                        </a:lnSpc>
                        <a:spcBef>
                          <a:spcPts val="0"/>
                        </a:spcBef>
                        <a:spcAft>
                          <a:spcPts val="0"/>
                        </a:spcAft>
                      </a:pPr>
                      <a:r>
                        <a:rPr sz="2100" b="0">
                          <a:solidFill>
                            <a:srgbClr val="123047"/>
                          </a:solidFill>
                          <a:latin typeface="Arial"/>
                        </a:rPr>
                        <a:t>E0</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AD3434"/>
                          </a:solidFill>
                          <a:latin typeface="Arial"/>
                        </a:rPr>
                        <a:t>-0.015</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0.018</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1">
                          <a:solidFill>
                            <a:srgbClr val="087E8B"/>
                          </a:solidFill>
                          <a:latin typeface="Arial"/>
                        </a:rPr>
                        <a:t>0.020</a:t>
                      </a:r>
                    </a:p>
                  </a:txBody>
                  <a:tcPr marL="50292" marR="50292" marT="32004" marB="32004" anchor="ctr">
                    <a:solidFill>
                      <a:srgbClr val="FFFFFF"/>
                    </a:solidFill>
                  </a:tcPr>
                </a:tc>
              </a:tr>
              <a:tr h="448056">
                <a:tc>
                  <a:txBody>
                    <a:bodyPr/>
                    <a:lstStyle/>
                    <a:p>
                      <a:pPr algn="ctr">
                        <a:lnSpc>
                          <a:spcPct val="100000"/>
                        </a:lnSpc>
                        <a:spcBef>
                          <a:spcPts val="0"/>
                        </a:spcBef>
                        <a:spcAft>
                          <a:spcPts val="0"/>
                        </a:spcAft>
                      </a:pPr>
                      <a:r>
                        <a:rPr sz="2100" b="0">
                          <a:solidFill>
                            <a:srgbClr val="123047"/>
                          </a:solidFill>
                          <a:latin typeface="Arial"/>
                        </a:rPr>
                        <a:t>E1</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AD3434"/>
                          </a:solidFill>
                          <a:latin typeface="Arial"/>
                        </a:rPr>
                        <a:t>-0.034</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1">
                          <a:solidFill>
                            <a:srgbClr val="087E8B"/>
                          </a:solidFill>
                          <a:latin typeface="Arial"/>
                        </a:rPr>
                        <a:t>0.041</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0.013</a:t>
                      </a:r>
                    </a:p>
                  </a:txBody>
                  <a:tcPr marL="50292" marR="50292" marT="32004" marB="32004" anchor="ctr">
                    <a:solidFill>
                      <a:srgbClr val="EDF2F7"/>
                    </a:solidFill>
                  </a:tcPr>
                </a:tc>
              </a:tr>
              <a:tr h="448056">
                <a:tc>
                  <a:txBody>
                    <a:bodyPr/>
                    <a:lstStyle/>
                    <a:p>
                      <a:pPr algn="ctr">
                        <a:lnSpc>
                          <a:spcPct val="100000"/>
                        </a:lnSpc>
                        <a:spcBef>
                          <a:spcPts val="0"/>
                        </a:spcBef>
                        <a:spcAft>
                          <a:spcPts val="0"/>
                        </a:spcAft>
                      </a:pPr>
                      <a:r>
                        <a:rPr sz="2100" b="0">
                          <a:solidFill>
                            <a:srgbClr val="123047"/>
                          </a:solidFill>
                          <a:latin typeface="Arial"/>
                        </a:rPr>
                        <a:t>E2</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1">
                          <a:solidFill>
                            <a:srgbClr val="087E8B"/>
                          </a:solidFill>
                          <a:latin typeface="Arial"/>
                        </a:rPr>
                        <a:t>0.060</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0.047</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0.038</a:t>
                      </a:r>
                    </a:p>
                  </a:txBody>
                  <a:tcPr marL="50292" marR="50292" marT="32004" marB="32004" anchor="ctr">
                    <a:solidFill>
                      <a:srgbClr val="FFFFFF"/>
                    </a:solidFill>
                  </a:tcPr>
                </a:tc>
              </a:tr>
              <a:tr h="448056">
                <a:tc>
                  <a:txBody>
                    <a:bodyPr/>
                    <a:lstStyle/>
                    <a:p>
                      <a:pPr algn="ctr">
                        <a:lnSpc>
                          <a:spcPct val="100000"/>
                        </a:lnSpc>
                        <a:spcBef>
                          <a:spcPts val="0"/>
                        </a:spcBef>
                        <a:spcAft>
                          <a:spcPts val="0"/>
                        </a:spcAft>
                      </a:pPr>
                      <a:r>
                        <a:rPr sz="2100" b="0">
                          <a:solidFill>
                            <a:srgbClr val="123047"/>
                          </a:solidFill>
                          <a:latin typeface="Arial"/>
                        </a:rPr>
                        <a:t>E3</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AD3434"/>
                          </a:solidFill>
                          <a:latin typeface="Arial"/>
                        </a:rPr>
                        <a:t>-0.038</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0.027</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1">
                          <a:solidFill>
                            <a:srgbClr val="087E8B"/>
                          </a:solidFill>
                          <a:latin typeface="Arial"/>
                        </a:rPr>
                        <a:t>0.031</a:t>
                      </a:r>
                    </a:p>
                  </a:txBody>
                  <a:tcPr marL="50292" marR="50292" marT="32004" marB="32004" anchor="ctr">
                    <a:solidFill>
                      <a:srgbClr val="EDF2F7"/>
                    </a:solidFill>
                  </a:tcPr>
                </a:tc>
              </a:tr>
              <a:tr h="448056">
                <a:tc>
                  <a:txBody>
                    <a:bodyPr/>
                    <a:lstStyle/>
                    <a:p>
                      <a:pPr algn="ctr">
                        <a:lnSpc>
                          <a:spcPct val="100000"/>
                        </a:lnSpc>
                        <a:spcBef>
                          <a:spcPts val="0"/>
                        </a:spcBef>
                        <a:spcAft>
                          <a:spcPts val="0"/>
                        </a:spcAft>
                      </a:pPr>
                      <a:r>
                        <a:rPr sz="2100" b="0">
                          <a:solidFill>
                            <a:srgbClr val="123047"/>
                          </a:solidFill>
                          <a:latin typeface="Arial"/>
                        </a:rPr>
                        <a:t>E4</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1">
                          <a:solidFill>
                            <a:srgbClr val="087E8B"/>
                          </a:solidFill>
                          <a:latin typeface="Arial"/>
                        </a:rPr>
                        <a:t>0.046</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0.023</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0.014</a:t>
                      </a:r>
                    </a:p>
                  </a:txBody>
                  <a:tcPr marL="50292" marR="50292" marT="32004" marB="32004" anchor="ctr">
                    <a:solidFill>
                      <a:srgbClr val="FFFFFF"/>
                    </a:solidFill>
                  </a:tcPr>
                </a:tc>
              </a:tr>
              <a:tr h="448056">
                <a:tc>
                  <a:txBody>
                    <a:bodyPr/>
                    <a:lstStyle/>
                    <a:p>
                      <a:pPr algn="ctr">
                        <a:lnSpc>
                          <a:spcPct val="100000"/>
                        </a:lnSpc>
                        <a:spcBef>
                          <a:spcPts val="0"/>
                        </a:spcBef>
                        <a:spcAft>
                          <a:spcPts val="0"/>
                        </a:spcAft>
                      </a:pPr>
                      <a:r>
                        <a:rPr sz="2100" b="0">
                          <a:solidFill>
                            <a:srgbClr val="123047"/>
                          </a:solidFill>
                          <a:latin typeface="Arial"/>
                        </a:rPr>
                        <a:t>E5</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AD3434"/>
                          </a:solidFill>
                          <a:latin typeface="Arial"/>
                        </a:rPr>
                        <a:t>-0.035</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1">
                          <a:solidFill>
                            <a:srgbClr val="087E8B"/>
                          </a:solidFill>
                          <a:latin typeface="Arial"/>
                        </a:rPr>
                        <a:t>0.026</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0.012</a:t>
                      </a:r>
                    </a:p>
                  </a:txBody>
                  <a:tcPr marL="50292" marR="50292" marT="32004" marB="32004" anchor="ctr">
                    <a:solidFill>
                      <a:srgbClr val="EDF2F7"/>
                    </a:solidFill>
                  </a:tcPr>
                </a:tc>
              </a:tr>
              <a:tr h="448056">
                <a:tc>
                  <a:txBody>
                    <a:bodyPr/>
                    <a:lstStyle/>
                    <a:p>
                      <a:pPr algn="ctr">
                        <a:lnSpc>
                          <a:spcPct val="100000"/>
                        </a:lnSpc>
                        <a:spcBef>
                          <a:spcPts val="0"/>
                        </a:spcBef>
                        <a:spcAft>
                          <a:spcPts val="0"/>
                        </a:spcAft>
                      </a:pPr>
                      <a:r>
                        <a:rPr sz="2100" b="0">
                          <a:solidFill>
                            <a:srgbClr val="123047"/>
                          </a:solidFill>
                          <a:latin typeface="Arial"/>
                        </a:rPr>
                        <a:t>E6</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0.056</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0.054</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1">
                          <a:solidFill>
                            <a:srgbClr val="087E8B"/>
                          </a:solidFill>
                          <a:latin typeface="Arial"/>
                        </a:rPr>
                        <a:t>0.062</a:t>
                      </a:r>
                    </a:p>
                  </a:txBody>
                  <a:tcPr marL="50292" marR="50292" marT="32004" marB="32004" anchor="ctr">
                    <a:solidFill>
                      <a:srgbClr val="FFFFFF"/>
                    </a:solidFill>
                  </a:tcPr>
                </a:tc>
              </a:tr>
              <a:tr h="448056">
                <a:tc>
                  <a:txBody>
                    <a:bodyPr/>
                    <a:lstStyle/>
                    <a:p>
                      <a:pPr algn="ctr">
                        <a:lnSpc>
                          <a:spcPct val="100000"/>
                        </a:lnSpc>
                        <a:spcBef>
                          <a:spcPts val="0"/>
                        </a:spcBef>
                        <a:spcAft>
                          <a:spcPts val="0"/>
                        </a:spcAft>
                      </a:pPr>
                      <a:r>
                        <a:rPr sz="2100" b="0">
                          <a:solidFill>
                            <a:srgbClr val="123047"/>
                          </a:solidFill>
                          <a:latin typeface="Arial"/>
                        </a:rPr>
                        <a:t>E7</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1">
                          <a:solidFill>
                            <a:srgbClr val="087E8B"/>
                          </a:solidFill>
                          <a:latin typeface="Arial"/>
                        </a:rPr>
                        <a:t>0.043</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0.028</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0.025</a:t>
                      </a:r>
                    </a:p>
                  </a:txBody>
                  <a:tcPr marL="50292" marR="50292" marT="32004" marB="32004" anchor="ctr">
                    <a:solidFill>
                      <a:srgbClr val="EDF2F7"/>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rPr>
              <a:t>Đậm: tốt nhất trong hàng cùng E/ngày · Đỏ: BSS âm · Cả ba đã đủ E0–E7.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SO SÁNH BA MÔ HÌNH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26</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Ngày 3: BSS của ba mô hình trên E0–E7</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Cùng mẫu 2021–2023 • q=16 mm/24h • Vùng 93 ô xấp xỉ • Chưa chấm 2025</a:t>
            </a:r>
          </a:p>
        </p:txBody>
      </p:sp>
      <p:graphicFrame>
        <p:nvGraphicFramePr>
          <p:cNvPr id="6" name="Table 5"/>
          <p:cNvGraphicFramePr>
            <a:graphicFrameLocks noGrp="1"/>
          </p:cNvGraphicFramePr>
          <p:nvPr/>
        </p:nvGraphicFramePr>
        <p:xfrm>
          <a:off x="502920" y="1417320"/>
          <a:ext cx="11201400" cy="4032504"/>
        </p:xfrm>
        <a:graphic>
          <a:graphicData uri="http://schemas.openxmlformats.org/drawingml/2006/table">
            <a:tbl>
              <a:tblPr firstRow="1" bandRow="1">
                <a:tableStyleId>{5C22544A-7EE6-4342-B048-85BDC9FD1C3A}</a:tableStyleId>
              </a:tblPr>
              <a:tblGrid>
                <a:gridCol w="1051560"/>
                <a:gridCol w="3383280"/>
                <a:gridCol w="3383280"/>
                <a:gridCol w="3383280"/>
              </a:tblGrid>
              <a:tr h="448056">
                <a:tc>
                  <a:txBody>
                    <a:bodyPr/>
                    <a:lstStyle/>
                    <a:p>
                      <a:pPr algn="ctr">
                        <a:lnSpc>
                          <a:spcPct val="100000"/>
                        </a:lnSpc>
                        <a:spcBef>
                          <a:spcPts val="0"/>
                        </a:spcBef>
                        <a:spcAft>
                          <a:spcPts val="0"/>
                        </a:spcAft>
                      </a:pPr>
                      <a:r>
                        <a:rPr sz="2100" b="1">
                          <a:solidFill>
                            <a:srgbClr val="FFFFFF"/>
                          </a:solidFill>
                          <a:latin typeface="Arial"/>
                        </a:rPr>
                        <a:t>E</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LightGBM</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TFT</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Informer</a:t>
                      </a:r>
                    </a:p>
                  </a:txBody>
                  <a:tcPr marL="50292" marR="50292" marT="32004" marB="32004" anchor="ctr">
                    <a:solidFill>
                      <a:srgbClr val="123047"/>
                    </a:solidFill>
                  </a:tcPr>
                </a:tc>
              </a:tr>
              <a:tr h="448056">
                <a:tc>
                  <a:txBody>
                    <a:bodyPr/>
                    <a:lstStyle/>
                    <a:p>
                      <a:pPr algn="ctr">
                        <a:lnSpc>
                          <a:spcPct val="100000"/>
                        </a:lnSpc>
                        <a:spcBef>
                          <a:spcPts val="0"/>
                        </a:spcBef>
                        <a:spcAft>
                          <a:spcPts val="0"/>
                        </a:spcAft>
                      </a:pPr>
                      <a:r>
                        <a:rPr sz="2100" b="0">
                          <a:solidFill>
                            <a:srgbClr val="123047"/>
                          </a:solidFill>
                          <a:latin typeface="Arial"/>
                        </a:rPr>
                        <a:t>E0</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AD3434"/>
                          </a:solidFill>
                          <a:latin typeface="Arial"/>
                        </a:rPr>
                        <a:t>-0.053</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AD3434"/>
                          </a:solidFill>
                          <a:latin typeface="Arial"/>
                        </a:rPr>
                        <a:t>-0.034</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1">
                          <a:solidFill>
                            <a:srgbClr val="AD3434"/>
                          </a:solidFill>
                          <a:latin typeface="Arial"/>
                        </a:rPr>
                        <a:t>-0.020</a:t>
                      </a:r>
                    </a:p>
                  </a:txBody>
                  <a:tcPr marL="50292" marR="50292" marT="32004" marB="32004" anchor="ctr">
                    <a:solidFill>
                      <a:srgbClr val="FFFFFF"/>
                    </a:solidFill>
                  </a:tcPr>
                </a:tc>
              </a:tr>
              <a:tr h="448056">
                <a:tc>
                  <a:txBody>
                    <a:bodyPr/>
                    <a:lstStyle/>
                    <a:p>
                      <a:pPr algn="ctr">
                        <a:lnSpc>
                          <a:spcPct val="100000"/>
                        </a:lnSpc>
                        <a:spcBef>
                          <a:spcPts val="0"/>
                        </a:spcBef>
                        <a:spcAft>
                          <a:spcPts val="0"/>
                        </a:spcAft>
                      </a:pPr>
                      <a:r>
                        <a:rPr sz="2100" b="0">
                          <a:solidFill>
                            <a:srgbClr val="123047"/>
                          </a:solidFill>
                          <a:latin typeface="Arial"/>
                        </a:rPr>
                        <a:t>E1</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AD3434"/>
                          </a:solidFill>
                          <a:latin typeface="Arial"/>
                        </a:rPr>
                        <a:t>-0.071</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AD3434"/>
                          </a:solidFill>
                          <a:latin typeface="Arial"/>
                        </a:rPr>
                        <a:t>-0.028</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1">
                          <a:solidFill>
                            <a:srgbClr val="AD3434"/>
                          </a:solidFill>
                          <a:latin typeface="Arial"/>
                        </a:rPr>
                        <a:t>-0.022</a:t>
                      </a:r>
                    </a:p>
                  </a:txBody>
                  <a:tcPr marL="50292" marR="50292" marT="32004" marB="32004" anchor="ctr">
                    <a:solidFill>
                      <a:srgbClr val="EDF2F7"/>
                    </a:solidFill>
                  </a:tcPr>
                </a:tc>
              </a:tr>
              <a:tr h="448056">
                <a:tc>
                  <a:txBody>
                    <a:bodyPr/>
                    <a:lstStyle/>
                    <a:p>
                      <a:pPr algn="ctr">
                        <a:lnSpc>
                          <a:spcPct val="100000"/>
                        </a:lnSpc>
                        <a:spcBef>
                          <a:spcPts val="0"/>
                        </a:spcBef>
                        <a:spcAft>
                          <a:spcPts val="0"/>
                        </a:spcAft>
                      </a:pPr>
                      <a:r>
                        <a:rPr sz="2100" b="0">
                          <a:solidFill>
                            <a:srgbClr val="123047"/>
                          </a:solidFill>
                          <a:latin typeface="Arial"/>
                        </a:rPr>
                        <a:t>E2</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AD3434"/>
                          </a:solidFill>
                          <a:latin typeface="Arial"/>
                        </a:rPr>
                        <a:t>-0.061</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AD3434"/>
                          </a:solidFill>
                          <a:latin typeface="Arial"/>
                        </a:rPr>
                        <a:t>-0.030</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1">
                          <a:solidFill>
                            <a:srgbClr val="AD3434"/>
                          </a:solidFill>
                          <a:latin typeface="Arial"/>
                        </a:rPr>
                        <a:t>-0.006</a:t>
                      </a:r>
                    </a:p>
                  </a:txBody>
                  <a:tcPr marL="50292" marR="50292" marT="32004" marB="32004" anchor="ctr">
                    <a:solidFill>
                      <a:srgbClr val="FFFFFF"/>
                    </a:solidFill>
                  </a:tcPr>
                </a:tc>
              </a:tr>
              <a:tr h="448056">
                <a:tc>
                  <a:txBody>
                    <a:bodyPr/>
                    <a:lstStyle/>
                    <a:p>
                      <a:pPr algn="ctr">
                        <a:lnSpc>
                          <a:spcPct val="100000"/>
                        </a:lnSpc>
                        <a:spcBef>
                          <a:spcPts val="0"/>
                        </a:spcBef>
                        <a:spcAft>
                          <a:spcPts val="0"/>
                        </a:spcAft>
                      </a:pPr>
                      <a:r>
                        <a:rPr sz="2100" b="0">
                          <a:solidFill>
                            <a:srgbClr val="123047"/>
                          </a:solidFill>
                          <a:latin typeface="Arial"/>
                        </a:rPr>
                        <a:t>E3</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AD3434"/>
                          </a:solidFill>
                          <a:latin typeface="Arial"/>
                        </a:rPr>
                        <a:t>-0.037</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AD3434"/>
                          </a:solidFill>
                          <a:latin typeface="Arial"/>
                        </a:rPr>
                        <a:t>-0.026</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1">
                          <a:solidFill>
                            <a:srgbClr val="AD3434"/>
                          </a:solidFill>
                          <a:latin typeface="Arial"/>
                        </a:rPr>
                        <a:t>-0.003</a:t>
                      </a:r>
                    </a:p>
                  </a:txBody>
                  <a:tcPr marL="50292" marR="50292" marT="32004" marB="32004" anchor="ctr">
                    <a:solidFill>
                      <a:srgbClr val="EDF2F7"/>
                    </a:solidFill>
                  </a:tcPr>
                </a:tc>
              </a:tr>
              <a:tr h="448056">
                <a:tc>
                  <a:txBody>
                    <a:bodyPr/>
                    <a:lstStyle/>
                    <a:p>
                      <a:pPr algn="ctr">
                        <a:lnSpc>
                          <a:spcPct val="100000"/>
                        </a:lnSpc>
                        <a:spcBef>
                          <a:spcPts val="0"/>
                        </a:spcBef>
                        <a:spcAft>
                          <a:spcPts val="0"/>
                        </a:spcAft>
                      </a:pPr>
                      <a:r>
                        <a:rPr sz="2100" b="0">
                          <a:solidFill>
                            <a:srgbClr val="123047"/>
                          </a:solidFill>
                          <a:latin typeface="Arial"/>
                        </a:rPr>
                        <a:t>E4</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AD3434"/>
                          </a:solidFill>
                          <a:latin typeface="Arial"/>
                        </a:rPr>
                        <a:t>-0.061</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AD3434"/>
                          </a:solidFill>
                          <a:latin typeface="Arial"/>
                        </a:rPr>
                        <a:t>-0.029</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1">
                          <a:solidFill>
                            <a:srgbClr val="AD3434"/>
                          </a:solidFill>
                          <a:latin typeface="Arial"/>
                        </a:rPr>
                        <a:t>-0.017</a:t>
                      </a:r>
                    </a:p>
                  </a:txBody>
                  <a:tcPr marL="50292" marR="50292" marT="32004" marB="32004" anchor="ctr">
                    <a:solidFill>
                      <a:srgbClr val="FFFFFF"/>
                    </a:solidFill>
                  </a:tcPr>
                </a:tc>
              </a:tr>
              <a:tr h="448056">
                <a:tc>
                  <a:txBody>
                    <a:bodyPr/>
                    <a:lstStyle/>
                    <a:p>
                      <a:pPr algn="ctr">
                        <a:lnSpc>
                          <a:spcPct val="100000"/>
                        </a:lnSpc>
                        <a:spcBef>
                          <a:spcPts val="0"/>
                        </a:spcBef>
                        <a:spcAft>
                          <a:spcPts val="0"/>
                        </a:spcAft>
                      </a:pPr>
                      <a:r>
                        <a:rPr sz="2100" b="0">
                          <a:solidFill>
                            <a:srgbClr val="123047"/>
                          </a:solidFill>
                          <a:latin typeface="Arial"/>
                        </a:rPr>
                        <a:t>E5</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AD3434"/>
                          </a:solidFill>
                          <a:latin typeface="Arial"/>
                        </a:rPr>
                        <a:t>-0.063</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AD3434"/>
                          </a:solidFill>
                          <a:latin typeface="Arial"/>
                        </a:rPr>
                        <a:t>-0.028</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1">
                          <a:solidFill>
                            <a:srgbClr val="AD3434"/>
                          </a:solidFill>
                          <a:latin typeface="Arial"/>
                        </a:rPr>
                        <a:t>-0.022</a:t>
                      </a:r>
                    </a:p>
                  </a:txBody>
                  <a:tcPr marL="50292" marR="50292" marT="32004" marB="32004" anchor="ctr">
                    <a:solidFill>
                      <a:srgbClr val="EDF2F7"/>
                    </a:solidFill>
                  </a:tcPr>
                </a:tc>
              </a:tr>
              <a:tr h="448056">
                <a:tc>
                  <a:txBody>
                    <a:bodyPr/>
                    <a:lstStyle/>
                    <a:p>
                      <a:pPr algn="ctr">
                        <a:lnSpc>
                          <a:spcPct val="100000"/>
                        </a:lnSpc>
                        <a:spcBef>
                          <a:spcPts val="0"/>
                        </a:spcBef>
                        <a:spcAft>
                          <a:spcPts val="0"/>
                        </a:spcAft>
                      </a:pPr>
                      <a:r>
                        <a:rPr sz="2100" b="0">
                          <a:solidFill>
                            <a:srgbClr val="123047"/>
                          </a:solidFill>
                          <a:latin typeface="Arial"/>
                        </a:rPr>
                        <a:t>E6</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AD3434"/>
                          </a:solidFill>
                          <a:latin typeface="Arial"/>
                        </a:rPr>
                        <a:t>-0.050</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AD3434"/>
                          </a:solidFill>
                          <a:latin typeface="Arial"/>
                        </a:rPr>
                        <a:t>-0.016</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1">
                          <a:solidFill>
                            <a:srgbClr val="087E8B"/>
                          </a:solidFill>
                          <a:latin typeface="Arial"/>
                        </a:rPr>
                        <a:t>0.004</a:t>
                      </a:r>
                    </a:p>
                  </a:txBody>
                  <a:tcPr marL="50292" marR="50292" marT="32004" marB="32004" anchor="ctr">
                    <a:solidFill>
                      <a:srgbClr val="FFFFFF"/>
                    </a:solidFill>
                  </a:tcPr>
                </a:tc>
              </a:tr>
              <a:tr h="448056">
                <a:tc>
                  <a:txBody>
                    <a:bodyPr/>
                    <a:lstStyle/>
                    <a:p>
                      <a:pPr algn="ctr">
                        <a:lnSpc>
                          <a:spcPct val="100000"/>
                        </a:lnSpc>
                        <a:spcBef>
                          <a:spcPts val="0"/>
                        </a:spcBef>
                        <a:spcAft>
                          <a:spcPts val="0"/>
                        </a:spcAft>
                      </a:pPr>
                      <a:r>
                        <a:rPr sz="2100" b="0">
                          <a:solidFill>
                            <a:srgbClr val="123047"/>
                          </a:solidFill>
                          <a:latin typeface="Arial"/>
                        </a:rPr>
                        <a:t>E7</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AD3434"/>
                          </a:solidFill>
                          <a:latin typeface="Arial"/>
                        </a:rPr>
                        <a:t>-0.075</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AD3434"/>
                          </a:solidFill>
                          <a:latin typeface="Arial"/>
                        </a:rPr>
                        <a:t>-0.038</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1">
                          <a:solidFill>
                            <a:srgbClr val="AD3434"/>
                          </a:solidFill>
                          <a:latin typeface="Arial"/>
                        </a:rPr>
                        <a:t>-0.019</a:t>
                      </a:r>
                    </a:p>
                  </a:txBody>
                  <a:tcPr marL="50292" marR="50292" marT="32004" marB="32004" anchor="ctr">
                    <a:solidFill>
                      <a:srgbClr val="EDF2F7"/>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rPr>
              <a:t>Đậm: tốt nhất trong hàng cùng E/ngày · Đỏ: BSS âm · Cả ba đã đủ E0–E7.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SO SÁNH BA MÔ HÌNH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27</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E7 · ngày 1: so đồng thời đủ ba mô hình</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E7 • q=16 mm/24h • 1.075 mẫu/hạn • Đậm: tốt nhất trong ba, chưa là ý nghĩa thống kê • RMSE/MAE/Bias: mm/24h</a:t>
            </a:r>
          </a:p>
        </p:txBody>
      </p:sp>
      <p:graphicFrame>
        <p:nvGraphicFramePr>
          <p:cNvPr id="6" name="Table 5"/>
          <p:cNvGraphicFramePr>
            <a:graphicFrameLocks noGrp="1"/>
          </p:cNvGraphicFramePr>
          <p:nvPr/>
        </p:nvGraphicFramePr>
        <p:xfrm>
          <a:off x="502920" y="1645920"/>
          <a:ext cx="11201400" cy="2852928"/>
        </p:xfrm>
        <a:graphic>
          <a:graphicData uri="http://schemas.openxmlformats.org/drawingml/2006/table">
            <a:tbl>
              <a:tblPr firstRow="1" bandRow="1">
                <a:tableStyleId>{5C22544A-7EE6-4342-B048-85BDC9FD1C3A}</a:tableStyleId>
              </a:tblPr>
              <a:tblGrid>
                <a:gridCol w="1691640"/>
                <a:gridCol w="1325880"/>
                <a:gridCol w="1188720"/>
                <a:gridCol w="1188720"/>
                <a:gridCol w="1051560"/>
                <a:gridCol w="1188720"/>
                <a:gridCol w="1188720"/>
                <a:gridCol w="1188720"/>
                <a:gridCol w="1188720"/>
              </a:tblGrid>
              <a:tr h="713232">
                <a:tc>
                  <a:txBody>
                    <a:bodyPr/>
                    <a:lstStyle/>
                    <a:p>
                      <a:pPr algn="ctr">
                        <a:lnSpc>
                          <a:spcPct val="100000"/>
                        </a:lnSpc>
                        <a:spcBef>
                          <a:spcPts val="0"/>
                        </a:spcBef>
                        <a:spcAft>
                          <a:spcPts val="0"/>
                        </a:spcAft>
                      </a:pPr>
                      <a:r>
                        <a:rPr sz="1780" b="1">
                          <a:solidFill>
                            <a:srgbClr val="FFFFFF"/>
                          </a:solidFill>
                          <a:latin typeface="Arial"/>
                        </a:rPr>
                        <a:t>Mô hình</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RMSE ↓</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MAE ↓</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Bias ≈0</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BS ↓</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BSS ↑</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CSI ↑</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FAR ↓</a:t>
                      </a:r>
                    </a:p>
                  </a:txBody>
                  <a:tcPr marL="50292" marR="50292" marT="32004" marB="32004" anchor="ctr">
                    <a:solidFill>
                      <a:srgbClr val="123047"/>
                    </a:solidFill>
                  </a:tcPr>
                </a:tc>
              </a:tr>
              <a:tr h="713232">
                <a:tc>
                  <a:txBody>
                    <a:bodyPr/>
                    <a:lstStyle/>
                    <a:p>
                      <a:pPr algn="ctr">
                        <a:lnSpc>
                          <a:spcPct val="100000"/>
                        </a:lnSpc>
                        <a:spcBef>
                          <a:spcPts val="0"/>
                        </a:spcBef>
                        <a:spcAft>
                          <a:spcPts val="0"/>
                        </a:spcAft>
                      </a:pPr>
                      <a:r>
                        <a:rPr sz="1780" b="0">
                          <a:solidFill>
                            <a:srgbClr val="123047"/>
                          </a:solidFill>
                          <a:latin typeface="Arial"/>
                        </a:rPr>
                        <a:t>LightGBM</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1">
                          <a:solidFill>
                            <a:srgbClr val="087E8B"/>
                          </a:solidFill>
                          <a:latin typeface="Arial"/>
                        </a:rPr>
                        <a:t>17.706</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1">
                          <a:solidFill>
                            <a:srgbClr val="087E8B"/>
                          </a:solidFill>
                          <a:latin typeface="Arial"/>
                        </a:rPr>
                        <a:t>5.731</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1">
                          <a:solidFill>
                            <a:srgbClr val="087E8B"/>
                          </a:solidFill>
                          <a:latin typeface="Arial"/>
                        </a:rPr>
                        <a:t>-2.003</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1">
                          <a:solidFill>
                            <a:srgbClr val="087E8B"/>
                          </a:solidFill>
                          <a:latin typeface="Arial"/>
                        </a:rPr>
                        <a:t>0.058</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1">
                          <a:solidFill>
                            <a:srgbClr val="087E8B"/>
                          </a:solidFill>
                          <a:latin typeface="Arial"/>
                        </a:rPr>
                        <a:t>0.303</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0.411</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0.526</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1">
                          <a:solidFill>
                            <a:srgbClr val="087E8B"/>
                          </a:solidFill>
                          <a:latin typeface="Arial"/>
                        </a:rPr>
                        <a:t>0.348</a:t>
                      </a:r>
                    </a:p>
                  </a:txBody>
                  <a:tcPr marL="50292" marR="50292" marT="32004" marB="32004" anchor="ctr">
                    <a:solidFill>
                      <a:srgbClr val="FFFFFF"/>
                    </a:solidFill>
                  </a:tcPr>
                </a:tc>
              </a:tr>
              <a:tr h="713232">
                <a:tc>
                  <a:txBody>
                    <a:bodyPr/>
                    <a:lstStyle/>
                    <a:p>
                      <a:pPr algn="ctr">
                        <a:lnSpc>
                          <a:spcPct val="100000"/>
                        </a:lnSpc>
                        <a:spcBef>
                          <a:spcPts val="0"/>
                        </a:spcBef>
                        <a:spcAft>
                          <a:spcPts val="0"/>
                        </a:spcAft>
                      </a:pPr>
                      <a:r>
                        <a:rPr sz="1780" b="0">
                          <a:solidFill>
                            <a:srgbClr val="123047"/>
                          </a:solidFill>
                          <a:latin typeface="Arial"/>
                        </a:rPr>
                        <a:t>TFT</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0">
                          <a:solidFill>
                            <a:srgbClr val="123047"/>
                          </a:solidFill>
                          <a:latin typeface="Arial"/>
                        </a:rPr>
                        <a:t>20.361</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0">
                          <a:solidFill>
                            <a:srgbClr val="123047"/>
                          </a:solidFill>
                          <a:latin typeface="Arial"/>
                        </a:rPr>
                        <a:t>6.695</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0">
                          <a:solidFill>
                            <a:srgbClr val="123047"/>
                          </a:solidFill>
                          <a:latin typeface="Arial"/>
                        </a:rPr>
                        <a:t>-2.710</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0">
                          <a:solidFill>
                            <a:srgbClr val="123047"/>
                          </a:solidFill>
                          <a:latin typeface="Arial"/>
                        </a:rPr>
                        <a:t>0.062</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0">
                          <a:solidFill>
                            <a:srgbClr val="123047"/>
                          </a:solidFill>
                          <a:latin typeface="Arial"/>
                        </a:rPr>
                        <a:t>0.246</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0">
                          <a:solidFill>
                            <a:srgbClr val="123047"/>
                          </a:solidFill>
                          <a:latin typeface="Arial"/>
                        </a:rPr>
                        <a:t>0.406</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1">
                          <a:solidFill>
                            <a:srgbClr val="087E8B"/>
                          </a:solidFill>
                          <a:latin typeface="Arial"/>
                        </a:rPr>
                        <a:t>0.640</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0">
                          <a:solidFill>
                            <a:srgbClr val="123047"/>
                          </a:solidFill>
                          <a:latin typeface="Arial"/>
                        </a:rPr>
                        <a:t>0.475</a:t>
                      </a:r>
                    </a:p>
                  </a:txBody>
                  <a:tcPr marL="50292" marR="50292" marT="32004" marB="32004" anchor="ctr">
                    <a:solidFill>
                      <a:srgbClr val="EDF2F7"/>
                    </a:solidFill>
                  </a:tcPr>
                </a:tc>
              </a:tr>
              <a:tr h="713232">
                <a:tc>
                  <a:txBody>
                    <a:bodyPr/>
                    <a:lstStyle/>
                    <a:p>
                      <a:pPr algn="ctr">
                        <a:lnSpc>
                          <a:spcPct val="100000"/>
                        </a:lnSpc>
                        <a:spcBef>
                          <a:spcPts val="0"/>
                        </a:spcBef>
                        <a:spcAft>
                          <a:spcPts val="0"/>
                        </a:spcAft>
                      </a:pPr>
                      <a:r>
                        <a:rPr sz="1780" b="0">
                          <a:solidFill>
                            <a:srgbClr val="123047"/>
                          </a:solidFill>
                          <a:latin typeface="Arial"/>
                        </a:rPr>
                        <a:t>Informer</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20.486</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6.810</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-2.659</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0.060</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0.278</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1">
                          <a:solidFill>
                            <a:srgbClr val="087E8B"/>
                          </a:solidFill>
                          <a:latin typeface="Arial"/>
                        </a:rPr>
                        <a:t>0.440</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0.614</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0.391</a:t>
                      </a:r>
                    </a:p>
                  </a:txBody>
                  <a:tcPr marL="50292" marR="50292" marT="32004" marB="32004" anchor="ctr">
                    <a:solidFill>
                      <a:srgbClr val="FFFFFF"/>
                    </a:solidFill>
                  </a:tcPr>
                </a:tc>
              </a:tr>
            </a:tbl>
          </a:graphicData>
        </a:graphic>
      </p:graphicFrame>
      <p:sp>
        <p:nvSpPr>
          <p:cNvPr id="7" name="TextBox 6"/>
          <p:cNvSpPr txBox="1"/>
          <p:nvPr/>
        </p:nvSpPr>
        <p:spPr>
          <a:xfrm>
            <a:off x="640080" y="4709160"/>
            <a:ext cx="10927080" cy="914400"/>
          </a:xfrm>
          <a:prstGeom prst="rect">
            <a:avLst/>
          </a:prstGeom>
          <a:noFill/>
        </p:spPr>
        <p:txBody>
          <a:bodyPr wrap="square" lIns="0" rIns="0" tIns="0" bIns="0" anchor="t">
            <a:spAutoFit/>
          </a:bodyPr>
          <a:lstStyle/>
          <a:p>
            <a:pPr algn="l">
              <a:lnSpc>
                <a:spcPct val="112000"/>
              </a:lnSpc>
              <a:spcBef>
                <a:spcPts val="0"/>
              </a:spcBef>
              <a:spcAft>
                <a:spcPts val="0"/>
              </a:spcAft>
            </a:pPr>
            <a:r>
              <a:rPr sz="2300" b="0">
                <a:solidFill>
                  <a:srgbClr val="123047"/>
                </a:solidFill>
                <a:latin typeface="Arial"/>
              </a:rPr>
              <a:t>LightGBM tốt hơn về RMSE, MAE, BSS và FAR.</a:t>
            </a:r>
          </a:p>
          <a:p>
            <a:pPr algn="l">
              <a:lnSpc>
                <a:spcPct val="112000"/>
              </a:lnSpc>
              <a:spcBef>
                <a:spcPts val="0"/>
              </a:spcBef>
              <a:spcAft>
                <a:spcPts val="0"/>
              </a:spcAft>
            </a:pPr>
            <a:r>
              <a:rPr sz="2300" b="0">
                <a:solidFill>
                  <a:srgbClr val="123047"/>
                </a:solidFill>
                <a:latin typeface="Arial"/>
              </a:rPr>
              <a:t>Informer có CSI cao nhất; TFT có POD cao nhất.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SO SÁNH BA MÔ HÌNH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28</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E7 · ngày 2: so đồng thời đủ ba mô hình</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E7 • q=16 mm/24h • 1.075 mẫu/hạn • Đậm: tốt nhất trong ba, chưa là ý nghĩa thống kê • RMSE/MAE/Bias: mm/24h</a:t>
            </a:r>
          </a:p>
        </p:txBody>
      </p:sp>
      <p:graphicFrame>
        <p:nvGraphicFramePr>
          <p:cNvPr id="6" name="Table 5"/>
          <p:cNvGraphicFramePr>
            <a:graphicFrameLocks noGrp="1"/>
          </p:cNvGraphicFramePr>
          <p:nvPr/>
        </p:nvGraphicFramePr>
        <p:xfrm>
          <a:off x="502920" y="1645920"/>
          <a:ext cx="11201400" cy="2852928"/>
        </p:xfrm>
        <a:graphic>
          <a:graphicData uri="http://schemas.openxmlformats.org/drawingml/2006/table">
            <a:tbl>
              <a:tblPr firstRow="1" bandRow="1">
                <a:tableStyleId>{5C22544A-7EE6-4342-B048-85BDC9FD1C3A}</a:tableStyleId>
              </a:tblPr>
              <a:tblGrid>
                <a:gridCol w="1691640"/>
                <a:gridCol w="1325880"/>
                <a:gridCol w="1188720"/>
                <a:gridCol w="1188720"/>
                <a:gridCol w="1051560"/>
                <a:gridCol w="1188720"/>
                <a:gridCol w="1188720"/>
                <a:gridCol w="1188720"/>
                <a:gridCol w="1188720"/>
              </a:tblGrid>
              <a:tr h="713232">
                <a:tc>
                  <a:txBody>
                    <a:bodyPr/>
                    <a:lstStyle/>
                    <a:p>
                      <a:pPr algn="ctr">
                        <a:lnSpc>
                          <a:spcPct val="100000"/>
                        </a:lnSpc>
                        <a:spcBef>
                          <a:spcPts val="0"/>
                        </a:spcBef>
                        <a:spcAft>
                          <a:spcPts val="0"/>
                        </a:spcAft>
                      </a:pPr>
                      <a:r>
                        <a:rPr sz="1780" b="1">
                          <a:solidFill>
                            <a:srgbClr val="FFFFFF"/>
                          </a:solidFill>
                          <a:latin typeface="Arial"/>
                        </a:rPr>
                        <a:t>Mô hình</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RMSE ↓</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MAE ↓</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Bias ≈0</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BS ↓</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BSS ↑</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CSI ↑</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FAR ↓</a:t>
                      </a:r>
                    </a:p>
                  </a:txBody>
                  <a:tcPr marL="50292" marR="50292" marT="32004" marB="32004" anchor="ctr">
                    <a:solidFill>
                      <a:srgbClr val="123047"/>
                    </a:solidFill>
                  </a:tcPr>
                </a:tc>
              </a:tr>
              <a:tr h="713232">
                <a:tc>
                  <a:txBody>
                    <a:bodyPr/>
                    <a:lstStyle/>
                    <a:p>
                      <a:pPr algn="ctr">
                        <a:lnSpc>
                          <a:spcPct val="100000"/>
                        </a:lnSpc>
                        <a:spcBef>
                          <a:spcPts val="0"/>
                        </a:spcBef>
                        <a:spcAft>
                          <a:spcPts val="0"/>
                        </a:spcAft>
                      </a:pPr>
                      <a:r>
                        <a:rPr sz="1780" b="0">
                          <a:solidFill>
                            <a:srgbClr val="123047"/>
                          </a:solidFill>
                          <a:latin typeface="Arial"/>
                        </a:rPr>
                        <a:t>LightGBM</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1">
                          <a:solidFill>
                            <a:srgbClr val="087E8B"/>
                          </a:solidFill>
                          <a:latin typeface="Arial"/>
                        </a:rPr>
                        <a:t>20.756</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1">
                          <a:solidFill>
                            <a:srgbClr val="087E8B"/>
                          </a:solidFill>
                          <a:latin typeface="Arial"/>
                        </a:rPr>
                        <a:t>7.238</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-2.551</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1">
                          <a:solidFill>
                            <a:srgbClr val="087E8B"/>
                          </a:solidFill>
                          <a:latin typeface="Arial"/>
                        </a:rPr>
                        <a:t>0.079</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1">
                          <a:solidFill>
                            <a:srgbClr val="087E8B"/>
                          </a:solidFill>
                          <a:latin typeface="Arial"/>
                        </a:rPr>
                        <a:t>0.043</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1">
                          <a:solidFill>
                            <a:srgbClr val="087E8B"/>
                          </a:solidFill>
                          <a:latin typeface="Arial"/>
                        </a:rPr>
                        <a:t>0.277</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0.456</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1">
                          <a:solidFill>
                            <a:srgbClr val="087E8B"/>
                          </a:solidFill>
                          <a:latin typeface="Arial"/>
                        </a:rPr>
                        <a:t>0.587</a:t>
                      </a:r>
                    </a:p>
                  </a:txBody>
                  <a:tcPr marL="50292" marR="50292" marT="32004" marB="32004" anchor="ctr">
                    <a:solidFill>
                      <a:srgbClr val="FFFFFF"/>
                    </a:solidFill>
                  </a:tcPr>
                </a:tc>
              </a:tr>
              <a:tr h="713232">
                <a:tc>
                  <a:txBody>
                    <a:bodyPr/>
                    <a:lstStyle/>
                    <a:p>
                      <a:pPr algn="ctr">
                        <a:lnSpc>
                          <a:spcPct val="100000"/>
                        </a:lnSpc>
                        <a:spcBef>
                          <a:spcPts val="0"/>
                        </a:spcBef>
                        <a:spcAft>
                          <a:spcPts val="0"/>
                        </a:spcAft>
                      </a:pPr>
                      <a:r>
                        <a:rPr sz="1780" b="0">
                          <a:solidFill>
                            <a:srgbClr val="123047"/>
                          </a:solidFill>
                          <a:latin typeface="Arial"/>
                        </a:rPr>
                        <a:t>TFT</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0">
                          <a:solidFill>
                            <a:srgbClr val="123047"/>
                          </a:solidFill>
                          <a:latin typeface="Arial"/>
                        </a:rPr>
                        <a:t>21.018</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0">
                          <a:solidFill>
                            <a:srgbClr val="123047"/>
                          </a:solidFill>
                          <a:latin typeface="Arial"/>
                        </a:rPr>
                        <a:t>7.566</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0">
                          <a:solidFill>
                            <a:srgbClr val="123047"/>
                          </a:solidFill>
                          <a:latin typeface="Arial"/>
                        </a:rPr>
                        <a:t>-2.105</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0">
                          <a:solidFill>
                            <a:srgbClr val="123047"/>
                          </a:solidFill>
                          <a:latin typeface="Arial"/>
                        </a:rPr>
                        <a:t>0.080</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0">
                          <a:solidFill>
                            <a:srgbClr val="123047"/>
                          </a:solidFill>
                          <a:latin typeface="Arial"/>
                        </a:rPr>
                        <a:t>0.028</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0">
                          <a:solidFill>
                            <a:srgbClr val="123047"/>
                          </a:solidFill>
                          <a:latin typeface="Arial"/>
                        </a:rPr>
                        <a:t>0.257</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1">
                          <a:solidFill>
                            <a:srgbClr val="087E8B"/>
                          </a:solidFill>
                          <a:latin typeface="Arial"/>
                        </a:rPr>
                        <a:t>0.509</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0">
                          <a:solidFill>
                            <a:srgbClr val="123047"/>
                          </a:solidFill>
                          <a:latin typeface="Arial"/>
                        </a:rPr>
                        <a:t>0.659</a:t>
                      </a:r>
                    </a:p>
                  </a:txBody>
                  <a:tcPr marL="50292" marR="50292" marT="32004" marB="32004" anchor="ctr">
                    <a:solidFill>
                      <a:srgbClr val="EDF2F7"/>
                    </a:solidFill>
                  </a:tcPr>
                </a:tc>
              </a:tr>
              <a:tr h="713232">
                <a:tc>
                  <a:txBody>
                    <a:bodyPr/>
                    <a:lstStyle/>
                    <a:p>
                      <a:pPr algn="ctr">
                        <a:lnSpc>
                          <a:spcPct val="100000"/>
                        </a:lnSpc>
                        <a:spcBef>
                          <a:spcPts val="0"/>
                        </a:spcBef>
                        <a:spcAft>
                          <a:spcPts val="0"/>
                        </a:spcAft>
                      </a:pPr>
                      <a:r>
                        <a:rPr sz="1780" b="0">
                          <a:solidFill>
                            <a:srgbClr val="123047"/>
                          </a:solidFill>
                          <a:latin typeface="Arial"/>
                        </a:rPr>
                        <a:t>Informer</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21.190</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7.717</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1">
                          <a:solidFill>
                            <a:srgbClr val="087E8B"/>
                          </a:solidFill>
                          <a:latin typeface="Arial"/>
                        </a:rPr>
                        <a:t>-2.069</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0.081</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0.025</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0.239</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0.447</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0.660</a:t>
                      </a:r>
                    </a:p>
                  </a:txBody>
                  <a:tcPr marL="50292" marR="50292" marT="32004" marB="32004" anchor="ctr">
                    <a:solidFill>
                      <a:srgbClr val="FFFFFF"/>
                    </a:solidFill>
                  </a:tcPr>
                </a:tc>
              </a:tr>
            </a:tbl>
          </a:graphicData>
        </a:graphic>
      </p:graphicFrame>
      <p:sp>
        <p:nvSpPr>
          <p:cNvPr id="7" name="TextBox 6"/>
          <p:cNvSpPr txBox="1"/>
          <p:nvPr/>
        </p:nvSpPr>
        <p:spPr>
          <a:xfrm>
            <a:off x="640080" y="4709160"/>
            <a:ext cx="10927080" cy="914400"/>
          </a:xfrm>
          <a:prstGeom prst="rect">
            <a:avLst/>
          </a:prstGeom>
          <a:noFill/>
        </p:spPr>
        <p:txBody>
          <a:bodyPr wrap="square" lIns="0" rIns="0" tIns="0" bIns="0" anchor="t">
            <a:spAutoFit/>
          </a:bodyPr>
          <a:lstStyle/>
          <a:p>
            <a:pPr algn="l">
              <a:lnSpc>
                <a:spcPct val="112000"/>
              </a:lnSpc>
              <a:spcBef>
                <a:spcPts val="0"/>
              </a:spcBef>
              <a:spcAft>
                <a:spcPts val="0"/>
              </a:spcAft>
            </a:pPr>
            <a:r>
              <a:rPr sz="2300" b="0">
                <a:solidFill>
                  <a:srgbClr val="123047"/>
                </a:solidFill>
                <a:latin typeface="Arial"/>
              </a:rPr>
              <a:t>LightGBM tốt hơn ở nhiều chỉ số; TFT có POD cao nhất.</a:t>
            </a:r>
          </a:p>
          <a:p>
            <a:pPr algn="l">
              <a:lnSpc>
                <a:spcPct val="112000"/>
              </a:lnSpc>
              <a:spcBef>
                <a:spcPts val="0"/>
              </a:spcBef>
              <a:spcAft>
                <a:spcPts val="0"/>
              </a:spcAft>
            </a:pPr>
            <a:r>
              <a:rPr sz="2300" b="0">
                <a:solidFill>
                  <a:srgbClr val="123047"/>
                </a:solidFill>
                <a:latin typeface="Arial"/>
              </a:rPr>
              <a:t>Mọi BSS đều dương nhưng chỉ còn khoảng 0,025–0,043.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SO SÁNH BA MÔ HÌNH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29</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E7 · ngày 3: so đồng thời đủ ba mô hình</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E7 • q=16 mm/24h • 1.075 mẫu/hạn • Đậm: tốt nhất trong ba, chưa là ý nghĩa thống kê • RMSE/MAE/Bias: mm/24h</a:t>
            </a:r>
          </a:p>
        </p:txBody>
      </p:sp>
      <p:graphicFrame>
        <p:nvGraphicFramePr>
          <p:cNvPr id="6" name="Table 5"/>
          <p:cNvGraphicFramePr>
            <a:graphicFrameLocks noGrp="1"/>
          </p:cNvGraphicFramePr>
          <p:nvPr/>
        </p:nvGraphicFramePr>
        <p:xfrm>
          <a:off x="502920" y="1645920"/>
          <a:ext cx="11201400" cy="2852928"/>
        </p:xfrm>
        <a:graphic>
          <a:graphicData uri="http://schemas.openxmlformats.org/drawingml/2006/table">
            <a:tbl>
              <a:tblPr firstRow="1" bandRow="1">
                <a:tableStyleId>{5C22544A-7EE6-4342-B048-85BDC9FD1C3A}</a:tableStyleId>
              </a:tblPr>
              <a:tblGrid>
                <a:gridCol w="1691640"/>
                <a:gridCol w="1325880"/>
                <a:gridCol w="1188720"/>
                <a:gridCol w="1188720"/>
                <a:gridCol w="1051560"/>
                <a:gridCol w="1188720"/>
                <a:gridCol w="1188720"/>
                <a:gridCol w="1188720"/>
                <a:gridCol w="1188720"/>
              </a:tblGrid>
              <a:tr h="713232">
                <a:tc>
                  <a:txBody>
                    <a:bodyPr/>
                    <a:lstStyle/>
                    <a:p>
                      <a:pPr algn="ctr">
                        <a:lnSpc>
                          <a:spcPct val="100000"/>
                        </a:lnSpc>
                        <a:spcBef>
                          <a:spcPts val="0"/>
                        </a:spcBef>
                        <a:spcAft>
                          <a:spcPts val="0"/>
                        </a:spcAft>
                      </a:pPr>
                      <a:r>
                        <a:rPr sz="1780" b="1">
                          <a:solidFill>
                            <a:srgbClr val="FFFFFF"/>
                          </a:solidFill>
                          <a:latin typeface="Arial"/>
                        </a:rPr>
                        <a:t>Mô hình</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RMSE ↓</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MAE ↓</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Bias ≈0</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BS ↓</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BSS ↑</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CSI ↑</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1780" b="1">
                          <a:solidFill>
                            <a:srgbClr val="FFFFFF"/>
                          </a:solidFill>
                          <a:latin typeface="Arial"/>
                        </a:rPr>
                        <a:t>FAR ↓</a:t>
                      </a:r>
                    </a:p>
                  </a:txBody>
                  <a:tcPr marL="50292" marR="50292" marT="32004" marB="32004" anchor="ctr">
                    <a:solidFill>
                      <a:srgbClr val="123047"/>
                    </a:solidFill>
                  </a:tcPr>
                </a:tc>
              </a:tr>
              <a:tr h="713232">
                <a:tc>
                  <a:txBody>
                    <a:bodyPr/>
                    <a:lstStyle/>
                    <a:p>
                      <a:pPr algn="ctr">
                        <a:lnSpc>
                          <a:spcPct val="100000"/>
                        </a:lnSpc>
                        <a:spcBef>
                          <a:spcPts val="0"/>
                        </a:spcBef>
                        <a:spcAft>
                          <a:spcPts val="0"/>
                        </a:spcAft>
                      </a:pPr>
                      <a:r>
                        <a:rPr sz="1780" b="0">
                          <a:solidFill>
                            <a:srgbClr val="123047"/>
                          </a:solidFill>
                          <a:latin typeface="Arial"/>
                        </a:rPr>
                        <a:t>LightGBM</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21.742</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1">
                          <a:solidFill>
                            <a:srgbClr val="087E8B"/>
                          </a:solidFill>
                          <a:latin typeface="Arial"/>
                        </a:rPr>
                        <a:t>7.666</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-2.900</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0.089</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AD3434"/>
                          </a:solidFill>
                          <a:latin typeface="Arial"/>
                        </a:rPr>
                        <a:t>-0.075</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0.203</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1">
                          <a:solidFill>
                            <a:srgbClr val="087E8B"/>
                          </a:solidFill>
                          <a:latin typeface="Arial"/>
                        </a:rPr>
                        <a:t>0.482</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0.741</a:t>
                      </a:r>
                    </a:p>
                  </a:txBody>
                  <a:tcPr marL="50292" marR="50292" marT="32004" marB="32004" anchor="ctr">
                    <a:solidFill>
                      <a:srgbClr val="FFFFFF"/>
                    </a:solidFill>
                  </a:tcPr>
                </a:tc>
              </a:tr>
              <a:tr h="713232">
                <a:tc>
                  <a:txBody>
                    <a:bodyPr/>
                    <a:lstStyle/>
                    <a:p>
                      <a:pPr algn="ctr">
                        <a:lnSpc>
                          <a:spcPct val="100000"/>
                        </a:lnSpc>
                        <a:spcBef>
                          <a:spcPts val="0"/>
                        </a:spcBef>
                        <a:spcAft>
                          <a:spcPts val="0"/>
                        </a:spcAft>
                      </a:pPr>
                      <a:r>
                        <a:rPr sz="1780" b="0">
                          <a:solidFill>
                            <a:srgbClr val="123047"/>
                          </a:solidFill>
                          <a:latin typeface="Arial"/>
                        </a:rPr>
                        <a:t>TFT</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1">
                          <a:solidFill>
                            <a:srgbClr val="087E8B"/>
                          </a:solidFill>
                          <a:latin typeface="Arial"/>
                        </a:rPr>
                        <a:t>21.321</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0">
                          <a:solidFill>
                            <a:srgbClr val="123047"/>
                          </a:solidFill>
                          <a:latin typeface="Arial"/>
                        </a:rPr>
                        <a:t>8.104</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1">
                          <a:solidFill>
                            <a:srgbClr val="087E8B"/>
                          </a:solidFill>
                          <a:latin typeface="Arial"/>
                        </a:rPr>
                        <a:t>-1.565</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0">
                          <a:solidFill>
                            <a:srgbClr val="123047"/>
                          </a:solidFill>
                          <a:latin typeface="Arial"/>
                        </a:rPr>
                        <a:t>0.086</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0">
                          <a:solidFill>
                            <a:srgbClr val="AD3434"/>
                          </a:solidFill>
                          <a:latin typeface="Arial"/>
                        </a:rPr>
                        <a:t>-0.038</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0">
                          <a:solidFill>
                            <a:srgbClr val="123047"/>
                          </a:solidFill>
                          <a:latin typeface="Arial"/>
                        </a:rPr>
                        <a:t>0.201</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0">
                          <a:solidFill>
                            <a:srgbClr val="123047"/>
                          </a:solidFill>
                          <a:latin typeface="Arial"/>
                        </a:rPr>
                        <a:t>0.412</a:t>
                      </a:r>
                    </a:p>
                  </a:txBody>
                  <a:tcPr marL="50292" marR="50292" marT="32004" marB="32004" anchor="ctr">
                    <a:solidFill>
                      <a:srgbClr val="EDF2F7"/>
                    </a:solidFill>
                  </a:tcPr>
                </a:tc>
                <a:tc>
                  <a:txBody>
                    <a:bodyPr/>
                    <a:lstStyle/>
                    <a:p>
                      <a:pPr algn="ctr">
                        <a:lnSpc>
                          <a:spcPct val="100000"/>
                        </a:lnSpc>
                        <a:spcBef>
                          <a:spcPts val="0"/>
                        </a:spcBef>
                        <a:spcAft>
                          <a:spcPts val="0"/>
                        </a:spcAft>
                      </a:pPr>
                      <a:r>
                        <a:rPr sz="1780" b="0">
                          <a:solidFill>
                            <a:srgbClr val="123047"/>
                          </a:solidFill>
                          <a:latin typeface="Arial"/>
                        </a:rPr>
                        <a:t>0.719</a:t>
                      </a:r>
                    </a:p>
                  </a:txBody>
                  <a:tcPr marL="50292" marR="50292" marT="32004" marB="32004" anchor="ctr">
                    <a:solidFill>
                      <a:srgbClr val="EDF2F7"/>
                    </a:solidFill>
                  </a:tcPr>
                </a:tc>
              </a:tr>
              <a:tr h="713232">
                <a:tc>
                  <a:txBody>
                    <a:bodyPr/>
                    <a:lstStyle/>
                    <a:p>
                      <a:pPr algn="ctr">
                        <a:lnSpc>
                          <a:spcPct val="100000"/>
                        </a:lnSpc>
                        <a:spcBef>
                          <a:spcPts val="0"/>
                        </a:spcBef>
                        <a:spcAft>
                          <a:spcPts val="0"/>
                        </a:spcAft>
                      </a:pPr>
                      <a:r>
                        <a:rPr sz="1780" b="0">
                          <a:solidFill>
                            <a:srgbClr val="123047"/>
                          </a:solidFill>
                          <a:latin typeface="Arial"/>
                        </a:rPr>
                        <a:t>Informer</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21.347</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8.051</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-1.797</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1">
                          <a:solidFill>
                            <a:srgbClr val="087E8B"/>
                          </a:solidFill>
                          <a:latin typeface="Arial"/>
                        </a:rPr>
                        <a:t>0.084</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1">
                          <a:solidFill>
                            <a:srgbClr val="AD3434"/>
                          </a:solidFill>
                          <a:latin typeface="Arial"/>
                        </a:rPr>
                        <a:t>-0.019</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1">
                          <a:solidFill>
                            <a:srgbClr val="087E8B"/>
                          </a:solidFill>
                          <a:latin typeface="Arial"/>
                        </a:rPr>
                        <a:t>0.216</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0">
                          <a:solidFill>
                            <a:srgbClr val="123047"/>
                          </a:solidFill>
                          <a:latin typeface="Arial"/>
                        </a:rPr>
                        <a:t>0.456</a:t>
                      </a:r>
                    </a:p>
                  </a:txBody>
                  <a:tcPr marL="50292" marR="50292" marT="32004" marB="32004" anchor="ctr">
                    <a:solidFill>
                      <a:srgbClr val="FFFFFF"/>
                    </a:solidFill>
                  </a:tcPr>
                </a:tc>
                <a:tc>
                  <a:txBody>
                    <a:bodyPr/>
                    <a:lstStyle/>
                    <a:p>
                      <a:pPr algn="ctr">
                        <a:lnSpc>
                          <a:spcPct val="100000"/>
                        </a:lnSpc>
                        <a:spcBef>
                          <a:spcPts val="0"/>
                        </a:spcBef>
                        <a:spcAft>
                          <a:spcPts val="0"/>
                        </a:spcAft>
                      </a:pPr>
                      <a:r>
                        <a:rPr sz="1780" b="1">
                          <a:solidFill>
                            <a:srgbClr val="087E8B"/>
                          </a:solidFill>
                          <a:latin typeface="Arial"/>
                        </a:rPr>
                        <a:t>0.709</a:t>
                      </a:r>
                    </a:p>
                  </a:txBody>
                  <a:tcPr marL="50292" marR="50292" marT="32004" marB="32004" anchor="ctr">
                    <a:solidFill>
                      <a:srgbClr val="FFFFFF"/>
                    </a:solidFill>
                  </a:tcPr>
                </a:tc>
              </a:tr>
            </a:tbl>
          </a:graphicData>
        </a:graphic>
      </p:graphicFrame>
      <p:sp>
        <p:nvSpPr>
          <p:cNvPr id="7" name="TextBox 6"/>
          <p:cNvSpPr txBox="1"/>
          <p:nvPr/>
        </p:nvSpPr>
        <p:spPr>
          <a:xfrm>
            <a:off x="640080" y="4709160"/>
            <a:ext cx="10927080" cy="914400"/>
          </a:xfrm>
          <a:prstGeom prst="rect">
            <a:avLst/>
          </a:prstGeom>
          <a:noFill/>
        </p:spPr>
        <p:txBody>
          <a:bodyPr wrap="square" lIns="0" rIns="0" tIns="0" bIns="0" anchor="t">
            <a:spAutoFit/>
          </a:bodyPr>
          <a:lstStyle/>
          <a:p>
            <a:pPr algn="l">
              <a:lnSpc>
                <a:spcPct val="112000"/>
              </a:lnSpc>
              <a:spcBef>
                <a:spcPts val="0"/>
              </a:spcBef>
              <a:spcAft>
                <a:spcPts val="0"/>
              </a:spcAft>
            </a:pPr>
            <a:r>
              <a:rPr sz="2300" b="0">
                <a:solidFill>
                  <a:srgbClr val="123047"/>
                </a:solidFill>
                <a:latin typeface="Arial"/>
              </a:rPr>
              <a:t>Cả ba BSS đều âm: chưa vượt khí hậu về xác suất.</a:t>
            </a:r>
          </a:p>
          <a:p>
            <a:pPr algn="l">
              <a:lnSpc>
                <a:spcPct val="112000"/>
              </a:lnSpc>
              <a:spcBef>
                <a:spcPts val="0"/>
              </a:spcBef>
              <a:spcAft>
                <a:spcPts val="0"/>
              </a:spcAft>
            </a:pPr>
            <a:r>
              <a:rPr sz="2300" b="0">
                <a:solidFill>
                  <a:srgbClr val="123047"/>
                </a:solidFill>
                <a:latin typeface="Arial"/>
              </a:rPr>
              <a:t>Một chỉ số tốt hơn không đủ để kết luận dự báo ngày 3 đã tốt.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BẤT ĐỊNH · PHÂN TÍCH KHÁM PHÁ</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30</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E7: BSS và khoảng tin cậy của cả ba mô hình</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CI95% mô tả • 20.000 bootstrap khối bảy ngày • Có độ nhạy 14 ngày trong CSV • Chưa mở 2025</a:t>
            </a:r>
          </a:p>
        </p:txBody>
      </p:sp>
      <p:graphicFrame>
        <p:nvGraphicFramePr>
          <p:cNvPr id="6" name="Table 5"/>
          <p:cNvGraphicFramePr>
            <a:graphicFrameLocks noGrp="1"/>
          </p:cNvGraphicFramePr>
          <p:nvPr/>
        </p:nvGraphicFramePr>
        <p:xfrm>
          <a:off x="502920" y="1463040"/>
          <a:ext cx="11201400" cy="3291840"/>
        </p:xfrm>
        <a:graphic>
          <a:graphicData uri="http://schemas.openxmlformats.org/drawingml/2006/table">
            <a:tbl>
              <a:tblPr firstRow="1" bandRow="1">
                <a:tableStyleId>{5C22544A-7EE6-4342-B048-85BDC9FD1C3A}</a:tableStyleId>
              </a:tblPr>
              <a:tblGrid>
                <a:gridCol w="1600200"/>
                <a:gridCol w="3200400"/>
                <a:gridCol w="3200400"/>
                <a:gridCol w="3200400"/>
              </a:tblGrid>
              <a:tr h="822960">
                <a:tc>
                  <a:txBody>
                    <a:bodyPr/>
                    <a:lstStyle/>
                    <a:p>
                      <a:pPr algn="ctr">
                        <a:lnSpc>
                          <a:spcPct val="100000"/>
                        </a:lnSpc>
                        <a:spcBef>
                          <a:spcPts val="0"/>
                        </a:spcBef>
                        <a:spcAft>
                          <a:spcPts val="0"/>
                        </a:spcAft>
                      </a:pPr>
                      <a:r>
                        <a:rPr sz="2000" b="1">
                          <a:solidFill>
                            <a:srgbClr val="FFFFFF"/>
                          </a:solidFill>
                          <a:latin typeface="Arial"/>
                        </a:rPr>
                        <a:t>Mô hình</a:t>
                      </a:r>
                    </a:p>
                  </a:txBody>
                  <a:tcPr marL="50292" marR="50292" marT="32004" marB="32004" anchor="ctr">
                    <a:solidFill>
                      <a:srgbClr val="123047"/>
                    </a:solidFill>
                  </a:tcPr>
                </a:tc>
                <a:tc>
                  <a:txBody>
                    <a:bodyPr/>
                    <a:lstStyle/>
                    <a:p>
                      <a:pPr algn="ctr">
                        <a:lnSpc>
                          <a:spcPct val="100000"/>
                        </a:lnSpc>
                        <a:spcBef>
                          <a:spcPts val="0"/>
                        </a:spcBef>
                        <a:spcAft>
                          <a:spcPts val="0"/>
                        </a:spcAft>
                      </a:pPr>
                      <a:r>
                        <a:rPr sz="2000" b="1">
                          <a:solidFill>
                            <a:srgbClr val="FFFFFF"/>
                          </a:solidFill>
                          <a:latin typeface="Arial"/>
                        </a:rPr>
                        <a:t>Ngày 1</a:t>
                      </a:r>
                    </a:p>
                  </a:txBody>
                  <a:tcPr marL="50292" marR="50292" marT="32004" marB="32004" anchor="ctr">
                    <a:solidFill>
                      <a:srgbClr val="123047"/>
                    </a:solidFill>
                  </a:tcPr>
                </a:tc>
                <a:tc>
                  <a:txBody>
                    <a:bodyPr/>
                    <a:lstStyle/>
                    <a:p>
                      <a:pPr algn="ctr">
                        <a:lnSpc>
                          <a:spcPct val="100000"/>
                        </a:lnSpc>
                        <a:spcBef>
                          <a:spcPts val="0"/>
                        </a:spcBef>
                        <a:spcAft>
                          <a:spcPts val="0"/>
                        </a:spcAft>
                      </a:pPr>
                      <a:r>
                        <a:rPr sz="2000" b="1">
                          <a:solidFill>
                            <a:srgbClr val="FFFFFF"/>
                          </a:solidFill>
                          <a:latin typeface="Arial"/>
                        </a:rPr>
                        <a:t>Ngày 2</a:t>
                      </a:r>
                    </a:p>
                  </a:txBody>
                  <a:tcPr marL="50292" marR="50292" marT="32004" marB="32004" anchor="ctr">
                    <a:solidFill>
                      <a:srgbClr val="123047"/>
                    </a:solidFill>
                  </a:tcPr>
                </a:tc>
                <a:tc>
                  <a:txBody>
                    <a:bodyPr/>
                    <a:lstStyle/>
                    <a:p>
                      <a:pPr algn="ctr">
                        <a:lnSpc>
                          <a:spcPct val="100000"/>
                        </a:lnSpc>
                        <a:spcBef>
                          <a:spcPts val="0"/>
                        </a:spcBef>
                        <a:spcAft>
                          <a:spcPts val="0"/>
                        </a:spcAft>
                      </a:pPr>
                      <a:r>
                        <a:rPr sz="2000" b="1">
                          <a:solidFill>
                            <a:srgbClr val="FFFFFF"/>
                          </a:solidFill>
                          <a:latin typeface="Arial"/>
                        </a:rPr>
                        <a:t>Ngày 3</a:t>
                      </a:r>
                    </a:p>
                  </a:txBody>
                  <a:tcPr marL="50292" marR="50292" marT="32004" marB="32004" anchor="ctr">
                    <a:solidFill>
                      <a:srgbClr val="123047"/>
                    </a:solidFill>
                  </a:tcPr>
                </a:tc>
              </a:tr>
              <a:tr h="822960">
                <a:tc>
                  <a:txBody>
                    <a:bodyPr/>
                    <a:lstStyle/>
                    <a:p>
                      <a:pPr algn="ctr">
                        <a:lnSpc>
                          <a:spcPct val="100000"/>
                        </a:lnSpc>
                        <a:spcBef>
                          <a:spcPts val="0"/>
                        </a:spcBef>
                        <a:spcAft>
                          <a:spcPts val="0"/>
                        </a:spcAft>
                      </a:pPr>
                      <a:r>
                        <a:rPr sz="2000" b="0">
                          <a:solidFill>
                            <a:srgbClr val="123047"/>
                          </a:solidFill>
                          <a:latin typeface="Arial"/>
                        </a:rPr>
                        <a:t>LightGBM</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+0.303</a:t>
                      </a:r>
                    </a:p>
                    <a:p>
                      <a:pPr algn="ctr">
                        <a:lnSpc>
                          <a:spcPct val="100000"/>
                        </a:lnSpc>
                        <a:spcBef>
                          <a:spcPts val="0"/>
                        </a:spcBef>
                        <a:spcAft>
                          <a:spcPts val="0"/>
                        </a:spcAft>
                      </a:pPr>
                      <a:r>
                        <a:rPr sz="2000" b="0">
                          <a:solidFill>
                            <a:srgbClr val="123047"/>
                          </a:solidFill>
                          <a:latin typeface="Arial"/>
                        </a:rPr>
                        <a:t>[+0.213; +0.399]</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+0.043</a:t>
                      </a:r>
                    </a:p>
                    <a:p>
                      <a:pPr algn="ctr">
                        <a:lnSpc>
                          <a:spcPct val="100000"/>
                        </a:lnSpc>
                        <a:spcBef>
                          <a:spcPts val="0"/>
                        </a:spcBef>
                        <a:spcAft>
                          <a:spcPts val="0"/>
                        </a:spcAft>
                      </a:pPr>
                      <a:r>
                        <a:rPr sz="2000" b="0">
                          <a:solidFill>
                            <a:srgbClr val="123047"/>
                          </a:solidFill>
                          <a:latin typeface="Arial"/>
                        </a:rPr>
                        <a:t>[-0.021; +0.109]</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-0.075</a:t>
                      </a:r>
                    </a:p>
                    <a:p>
                      <a:pPr algn="ctr">
                        <a:lnSpc>
                          <a:spcPct val="100000"/>
                        </a:lnSpc>
                        <a:spcBef>
                          <a:spcPts val="0"/>
                        </a:spcBef>
                        <a:spcAft>
                          <a:spcPts val="0"/>
                        </a:spcAft>
                      </a:pPr>
                      <a:r>
                        <a:rPr sz="2000" b="0">
                          <a:solidFill>
                            <a:srgbClr val="123047"/>
                          </a:solidFill>
                          <a:latin typeface="Arial"/>
                        </a:rPr>
                        <a:t>[-0.127; -0.023]</a:t>
                      </a:r>
                    </a:p>
                  </a:txBody>
                  <a:tcPr marL="50292" marR="50292" marT="32004" marB="32004" anchor="ctr">
                    <a:solidFill>
                      <a:srgbClr val="FFFFFF"/>
                    </a:solidFill>
                  </a:tcPr>
                </a:tc>
              </a:tr>
              <a:tr h="822960">
                <a:tc>
                  <a:txBody>
                    <a:bodyPr/>
                    <a:lstStyle/>
                    <a:p>
                      <a:pPr algn="ctr">
                        <a:lnSpc>
                          <a:spcPct val="100000"/>
                        </a:lnSpc>
                        <a:spcBef>
                          <a:spcPts val="0"/>
                        </a:spcBef>
                        <a:spcAft>
                          <a:spcPts val="0"/>
                        </a:spcAft>
                      </a:pPr>
                      <a:r>
                        <a:rPr sz="2000" b="0">
                          <a:solidFill>
                            <a:srgbClr val="123047"/>
                          </a:solidFill>
                          <a:latin typeface="Arial"/>
                        </a:rPr>
                        <a:t>TFT</a:t>
                      </a:r>
                    </a:p>
                  </a:txBody>
                  <a:tcPr marL="50292" marR="50292" marT="32004" marB="32004" anchor="ctr">
                    <a:solidFill>
                      <a:srgbClr val="EDF2F7"/>
                    </a:solidFill>
                  </a:tcPr>
                </a:tc>
                <a:tc>
                  <a:txBody>
                    <a:bodyPr/>
                    <a:lstStyle/>
                    <a:p>
                      <a:pPr algn="ctr">
                        <a:lnSpc>
                          <a:spcPct val="100000"/>
                        </a:lnSpc>
                        <a:spcBef>
                          <a:spcPts val="0"/>
                        </a:spcBef>
                        <a:spcAft>
                          <a:spcPts val="0"/>
                        </a:spcAft>
                      </a:pPr>
                      <a:r>
                        <a:rPr sz="2000" b="0">
                          <a:solidFill>
                            <a:srgbClr val="123047"/>
                          </a:solidFill>
                          <a:latin typeface="Arial"/>
                        </a:rPr>
                        <a:t>+0.246</a:t>
                      </a:r>
                    </a:p>
                    <a:p>
                      <a:pPr algn="ctr">
                        <a:lnSpc>
                          <a:spcPct val="100000"/>
                        </a:lnSpc>
                        <a:spcBef>
                          <a:spcPts val="0"/>
                        </a:spcBef>
                        <a:spcAft>
                          <a:spcPts val="0"/>
                        </a:spcAft>
                      </a:pPr>
                      <a:r>
                        <a:rPr sz="2000" b="0">
                          <a:solidFill>
                            <a:srgbClr val="123047"/>
                          </a:solidFill>
                          <a:latin typeface="Arial"/>
                        </a:rPr>
                        <a:t>[+0.156; +0.340]</a:t>
                      </a:r>
                    </a:p>
                  </a:txBody>
                  <a:tcPr marL="50292" marR="50292" marT="32004" marB="32004" anchor="ctr">
                    <a:solidFill>
                      <a:srgbClr val="EDF2F7"/>
                    </a:solidFill>
                  </a:tcPr>
                </a:tc>
                <a:tc>
                  <a:txBody>
                    <a:bodyPr/>
                    <a:lstStyle/>
                    <a:p>
                      <a:pPr algn="ctr">
                        <a:lnSpc>
                          <a:spcPct val="100000"/>
                        </a:lnSpc>
                        <a:spcBef>
                          <a:spcPts val="0"/>
                        </a:spcBef>
                        <a:spcAft>
                          <a:spcPts val="0"/>
                        </a:spcAft>
                      </a:pPr>
                      <a:r>
                        <a:rPr sz="2000" b="0">
                          <a:solidFill>
                            <a:srgbClr val="123047"/>
                          </a:solidFill>
                          <a:latin typeface="Arial"/>
                        </a:rPr>
                        <a:t>+0.028</a:t>
                      </a:r>
                    </a:p>
                    <a:p>
                      <a:pPr algn="ctr">
                        <a:lnSpc>
                          <a:spcPct val="100000"/>
                        </a:lnSpc>
                        <a:spcBef>
                          <a:spcPts val="0"/>
                        </a:spcBef>
                        <a:spcAft>
                          <a:spcPts val="0"/>
                        </a:spcAft>
                      </a:pPr>
                      <a:r>
                        <a:rPr sz="2000" b="0">
                          <a:solidFill>
                            <a:srgbClr val="123047"/>
                          </a:solidFill>
                          <a:latin typeface="Arial"/>
                        </a:rPr>
                        <a:t>[-0.037; +0.093]</a:t>
                      </a:r>
                    </a:p>
                  </a:txBody>
                  <a:tcPr marL="50292" marR="50292" marT="32004" marB="32004" anchor="ctr">
                    <a:solidFill>
                      <a:srgbClr val="EDF2F7"/>
                    </a:solidFill>
                  </a:tcPr>
                </a:tc>
                <a:tc>
                  <a:txBody>
                    <a:bodyPr/>
                    <a:lstStyle/>
                    <a:p>
                      <a:pPr algn="ctr">
                        <a:lnSpc>
                          <a:spcPct val="100000"/>
                        </a:lnSpc>
                        <a:spcBef>
                          <a:spcPts val="0"/>
                        </a:spcBef>
                        <a:spcAft>
                          <a:spcPts val="0"/>
                        </a:spcAft>
                      </a:pPr>
                      <a:r>
                        <a:rPr sz="2000" b="0">
                          <a:solidFill>
                            <a:srgbClr val="123047"/>
                          </a:solidFill>
                          <a:latin typeface="Arial"/>
                        </a:rPr>
                        <a:t>-0.038</a:t>
                      </a:r>
                    </a:p>
                    <a:p>
                      <a:pPr algn="ctr">
                        <a:lnSpc>
                          <a:spcPct val="100000"/>
                        </a:lnSpc>
                        <a:spcBef>
                          <a:spcPts val="0"/>
                        </a:spcBef>
                        <a:spcAft>
                          <a:spcPts val="0"/>
                        </a:spcAft>
                      </a:pPr>
                      <a:r>
                        <a:rPr sz="2000" b="0">
                          <a:solidFill>
                            <a:srgbClr val="123047"/>
                          </a:solidFill>
                          <a:latin typeface="Arial"/>
                        </a:rPr>
                        <a:t>[-0.083; +0.004]</a:t>
                      </a:r>
                    </a:p>
                  </a:txBody>
                  <a:tcPr marL="50292" marR="50292" marT="32004" marB="32004" anchor="ctr">
                    <a:solidFill>
                      <a:srgbClr val="EDF2F7"/>
                    </a:solidFill>
                  </a:tcPr>
                </a:tc>
              </a:tr>
              <a:tr h="822960">
                <a:tc>
                  <a:txBody>
                    <a:bodyPr/>
                    <a:lstStyle/>
                    <a:p>
                      <a:pPr algn="ctr">
                        <a:lnSpc>
                          <a:spcPct val="100000"/>
                        </a:lnSpc>
                        <a:spcBef>
                          <a:spcPts val="0"/>
                        </a:spcBef>
                        <a:spcAft>
                          <a:spcPts val="0"/>
                        </a:spcAft>
                      </a:pPr>
                      <a:r>
                        <a:rPr sz="2000" b="0">
                          <a:solidFill>
                            <a:srgbClr val="123047"/>
                          </a:solidFill>
                          <a:latin typeface="Arial"/>
                        </a:rPr>
                        <a:t>Informer</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+0.278</a:t>
                      </a:r>
                    </a:p>
                    <a:p>
                      <a:pPr algn="ctr">
                        <a:lnSpc>
                          <a:spcPct val="100000"/>
                        </a:lnSpc>
                        <a:spcBef>
                          <a:spcPts val="0"/>
                        </a:spcBef>
                        <a:spcAft>
                          <a:spcPts val="0"/>
                        </a:spcAft>
                      </a:pPr>
                      <a:r>
                        <a:rPr sz="2000" b="0">
                          <a:solidFill>
                            <a:srgbClr val="123047"/>
                          </a:solidFill>
                          <a:latin typeface="Arial"/>
                        </a:rPr>
                        <a:t>[+0.186; +0.361]</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+0.025</a:t>
                      </a:r>
                    </a:p>
                    <a:p>
                      <a:pPr algn="ctr">
                        <a:lnSpc>
                          <a:spcPct val="100000"/>
                        </a:lnSpc>
                        <a:spcBef>
                          <a:spcPts val="0"/>
                        </a:spcBef>
                        <a:spcAft>
                          <a:spcPts val="0"/>
                        </a:spcAft>
                      </a:pPr>
                      <a:r>
                        <a:rPr sz="2000" b="0">
                          <a:solidFill>
                            <a:srgbClr val="123047"/>
                          </a:solidFill>
                          <a:latin typeface="Arial"/>
                        </a:rPr>
                        <a:t>[-0.026; +0.074]</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-0.019</a:t>
                      </a:r>
                    </a:p>
                    <a:p>
                      <a:pPr algn="ctr">
                        <a:lnSpc>
                          <a:spcPct val="100000"/>
                        </a:lnSpc>
                        <a:spcBef>
                          <a:spcPts val="0"/>
                        </a:spcBef>
                        <a:spcAft>
                          <a:spcPts val="0"/>
                        </a:spcAft>
                      </a:pPr>
                      <a:r>
                        <a:rPr sz="2000" b="0">
                          <a:solidFill>
                            <a:srgbClr val="123047"/>
                          </a:solidFill>
                          <a:latin typeface="Arial"/>
                        </a:rPr>
                        <a:t>[-0.058; +0.021]</a:t>
                      </a:r>
                    </a:p>
                  </a:txBody>
                  <a:tcPr marL="50292" marR="50292" marT="32004" marB="32004" anchor="ctr">
                    <a:solidFill>
                      <a:srgbClr val="FFFFFF"/>
                    </a:solidFill>
                  </a:tcPr>
                </a:tc>
              </a:tr>
            </a:tbl>
          </a:graphicData>
        </a:graphic>
      </p:graphicFrame>
      <p:sp>
        <p:nvSpPr>
          <p:cNvPr id="7" name="TextBox 6"/>
          <p:cNvSpPr txBox="1"/>
          <p:nvPr/>
        </p:nvSpPr>
        <p:spPr>
          <a:xfrm>
            <a:off x="640080" y="4983480"/>
            <a:ext cx="10927080" cy="457200"/>
          </a:xfrm>
          <a:prstGeom prst="rect">
            <a:avLst/>
          </a:prstGeom>
          <a:noFill/>
        </p:spPr>
        <p:txBody>
          <a:bodyPr wrap="square" lIns="0" rIns="0" tIns="0" bIns="0" anchor="t">
            <a:spAutoFit/>
          </a:bodyPr>
          <a:lstStyle/>
          <a:p>
            <a:pPr algn="l">
              <a:lnSpc>
                <a:spcPct val="112000"/>
              </a:lnSpc>
              <a:spcBef>
                <a:spcPts val="0"/>
              </a:spcBef>
              <a:spcAft>
                <a:spcPts val="0"/>
              </a:spcAft>
            </a:pPr>
            <a:r>
              <a:rPr sz="2000" b="0">
                <a:solidFill>
                  <a:srgbClr val="123047"/>
                </a:solidFill>
                <a:latin typeface="Arial"/>
              </a:rPr>
              <a:t>Khoảng chứa 0: chưa phân biệt rõ với khí hậu trong phân tích này.</a:t>
            </a:r>
          </a:p>
        </p:txBody>
      </p:sp>
      <p:sp>
        <p:nvSpPr>
          <p:cNvPr id="8" name="Rectangle 7"/>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rPr>
              <a:t>CI mới là mô tả phát triển; chưa hiệu chỉnh nhiều phép và chưa phải kiểm định cuối.</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BẤT ĐỊNH · PHÂN TÍCH KHÁM PHÁ</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31</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Thêm riêng A/M/C: đối chiếu đủ ba mô hình</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Ngày 1 • Δ BSS so E0 • CI95% mô tả, khối bảy ngày • Không thay CI điều chỉnh TFT đã công bố</a:t>
            </a:r>
          </a:p>
        </p:txBody>
      </p:sp>
      <p:graphicFrame>
        <p:nvGraphicFramePr>
          <p:cNvPr id="6" name="Table 5"/>
          <p:cNvGraphicFramePr>
            <a:graphicFrameLocks noGrp="1"/>
          </p:cNvGraphicFramePr>
          <p:nvPr/>
        </p:nvGraphicFramePr>
        <p:xfrm>
          <a:off x="502920" y="1463040"/>
          <a:ext cx="11201400" cy="3291840"/>
        </p:xfrm>
        <a:graphic>
          <a:graphicData uri="http://schemas.openxmlformats.org/drawingml/2006/table">
            <a:tbl>
              <a:tblPr firstRow="1" bandRow="1">
                <a:tableStyleId>{5C22544A-7EE6-4342-B048-85BDC9FD1C3A}</a:tableStyleId>
              </a:tblPr>
              <a:tblGrid>
                <a:gridCol w="1600200"/>
                <a:gridCol w="3200400"/>
                <a:gridCol w="3200400"/>
                <a:gridCol w="3200400"/>
              </a:tblGrid>
              <a:tr h="822960">
                <a:tc>
                  <a:txBody>
                    <a:bodyPr/>
                    <a:lstStyle/>
                    <a:p>
                      <a:pPr algn="ctr">
                        <a:lnSpc>
                          <a:spcPct val="100000"/>
                        </a:lnSpc>
                        <a:spcBef>
                          <a:spcPts val="0"/>
                        </a:spcBef>
                        <a:spcAft>
                          <a:spcPts val="0"/>
                        </a:spcAft>
                      </a:pPr>
                      <a:r>
                        <a:rPr sz="2000" b="1">
                          <a:solidFill>
                            <a:srgbClr val="FFFFFF"/>
                          </a:solidFill>
                          <a:latin typeface="Arial"/>
                        </a:rPr>
                        <a:t>Mô hình</a:t>
                      </a:r>
                    </a:p>
                  </a:txBody>
                  <a:tcPr marL="50292" marR="50292" marT="32004" marB="32004" anchor="ctr">
                    <a:solidFill>
                      <a:srgbClr val="123047"/>
                    </a:solidFill>
                  </a:tcPr>
                </a:tc>
                <a:tc>
                  <a:txBody>
                    <a:bodyPr/>
                    <a:lstStyle/>
                    <a:p>
                      <a:pPr algn="ctr">
                        <a:lnSpc>
                          <a:spcPct val="100000"/>
                        </a:lnSpc>
                        <a:spcBef>
                          <a:spcPts val="0"/>
                        </a:spcBef>
                        <a:spcAft>
                          <a:spcPts val="0"/>
                        </a:spcAft>
                      </a:pPr>
                      <a:r>
                        <a:rPr sz="2000" b="1">
                          <a:solidFill>
                            <a:srgbClr val="FFFFFF"/>
                          </a:solidFill>
                          <a:latin typeface="Arial"/>
                        </a:rPr>
                        <a:t>Thêm A</a:t>
                      </a:r>
                    </a:p>
                  </a:txBody>
                  <a:tcPr marL="50292" marR="50292" marT="32004" marB="32004" anchor="ctr">
                    <a:solidFill>
                      <a:srgbClr val="123047"/>
                    </a:solidFill>
                  </a:tcPr>
                </a:tc>
                <a:tc>
                  <a:txBody>
                    <a:bodyPr/>
                    <a:lstStyle/>
                    <a:p>
                      <a:pPr algn="ctr">
                        <a:lnSpc>
                          <a:spcPct val="100000"/>
                        </a:lnSpc>
                        <a:spcBef>
                          <a:spcPts val="0"/>
                        </a:spcBef>
                        <a:spcAft>
                          <a:spcPts val="0"/>
                        </a:spcAft>
                      </a:pPr>
                      <a:r>
                        <a:rPr sz="2000" b="1">
                          <a:solidFill>
                            <a:srgbClr val="FFFFFF"/>
                          </a:solidFill>
                          <a:latin typeface="Arial"/>
                        </a:rPr>
                        <a:t>Thêm M</a:t>
                      </a:r>
                    </a:p>
                  </a:txBody>
                  <a:tcPr marL="50292" marR="50292" marT="32004" marB="32004" anchor="ctr">
                    <a:solidFill>
                      <a:srgbClr val="123047"/>
                    </a:solidFill>
                  </a:tcPr>
                </a:tc>
                <a:tc>
                  <a:txBody>
                    <a:bodyPr/>
                    <a:lstStyle/>
                    <a:p>
                      <a:pPr algn="ctr">
                        <a:lnSpc>
                          <a:spcPct val="100000"/>
                        </a:lnSpc>
                        <a:spcBef>
                          <a:spcPts val="0"/>
                        </a:spcBef>
                        <a:spcAft>
                          <a:spcPts val="0"/>
                        </a:spcAft>
                      </a:pPr>
                      <a:r>
                        <a:rPr sz="2000" b="1">
                          <a:solidFill>
                            <a:srgbClr val="FFFFFF"/>
                          </a:solidFill>
                          <a:latin typeface="Arial"/>
                        </a:rPr>
                        <a:t>Thêm C</a:t>
                      </a:r>
                    </a:p>
                  </a:txBody>
                  <a:tcPr marL="50292" marR="50292" marT="32004" marB="32004" anchor="ctr">
                    <a:solidFill>
                      <a:srgbClr val="123047"/>
                    </a:solidFill>
                  </a:tcPr>
                </a:tc>
              </a:tr>
              <a:tr h="822960">
                <a:tc>
                  <a:txBody>
                    <a:bodyPr/>
                    <a:lstStyle/>
                    <a:p>
                      <a:pPr algn="ctr">
                        <a:lnSpc>
                          <a:spcPct val="100000"/>
                        </a:lnSpc>
                        <a:spcBef>
                          <a:spcPts val="0"/>
                        </a:spcBef>
                        <a:spcAft>
                          <a:spcPts val="0"/>
                        </a:spcAft>
                      </a:pPr>
                      <a:r>
                        <a:rPr sz="2000" b="0">
                          <a:solidFill>
                            <a:srgbClr val="123047"/>
                          </a:solidFill>
                          <a:latin typeface="Arial"/>
                        </a:rPr>
                        <a:t>LightGBM</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+0.121</a:t>
                      </a:r>
                    </a:p>
                    <a:p>
                      <a:pPr algn="ctr">
                        <a:lnSpc>
                          <a:spcPct val="100000"/>
                        </a:lnSpc>
                        <a:spcBef>
                          <a:spcPts val="0"/>
                        </a:spcBef>
                        <a:spcAft>
                          <a:spcPts val="0"/>
                        </a:spcAft>
                      </a:pPr>
                      <a:r>
                        <a:rPr sz="2000" b="0">
                          <a:solidFill>
                            <a:srgbClr val="123047"/>
                          </a:solidFill>
                          <a:latin typeface="Arial"/>
                        </a:rPr>
                        <a:t>[+0.064; +0.175]</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+0.139</a:t>
                      </a:r>
                    </a:p>
                    <a:p>
                      <a:pPr algn="ctr">
                        <a:lnSpc>
                          <a:spcPct val="100000"/>
                        </a:lnSpc>
                        <a:spcBef>
                          <a:spcPts val="0"/>
                        </a:spcBef>
                        <a:spcAft>
                          <a:spcPts val="0"/>
                        </a:spcAft>
                      </a:pPr>
                      <a:r>
                        <a:rPr sz="2000" b="0">
                          <a:solidFill>
                            <a:srgbClr val="123047"/>
                          </a:solidFill>
                          <a:latin typeface="Arial"/>
                        </a:rPr>
                        <a:t>[+0.078; +0.203]</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+0.032</a:t>
                      </a:r>
                    </a:p>
                    <a:p>
                      <a:pPr algn="ctr">
                        <a:lnSpc>
                          <a:spcPct val="100000"/>
                        </a:lnSpc>
                        <a:spcBef>
                          <a:spcPts val="0"/>
                        </a:spcBef>
                        <a:spcAft>
                          <a:spcPts val="0"/>
                        </a:spcAft>
                      </a:pPr>
                      <a:r>
                        <a:rPr sz="2000" b="0">
                          <a:solidFill>
                            <a:srgbClr val="123047"/>
                          </a:solidFill>
                          <a:latin typeface="Arial"/>
                        </a:rPr>
                        <a:t>[+0.002; +0.063]</a:t>
                      </a:r>
                    </a:p>
                  </a:txBody>
                  <a:tcPr marL="50292" marR="50292" marT="32004" marB="32004" anchor="ctr">
                    <a:solidFill>
                      <a:srgbClr val="FFFFFF"/>
                    </a:solidFill>
                  </a:tcPr>
                </a:tc>
              </a:tr>
              <a:tr h="822960">
                <a:tc>
                  <a:txBody>
                    <a:bodyPr/>
                    <a:lstStyle/>
                    <a:p>
                      <a:pPr algn="ctr">
                        <a:lnSpc>
                          <a:spcPct val="100000"/>
                        </a:lnSpc>
                        <a:spcBef>
                          <a:spcPts val="0"/>
                        </a:spcBef>
                        <a:spcAft>
                          <a:spcPts val="0"/>
                        </a:spcAft>
                      </a:pPr>
                      <a:r>
                        <a:rPr sz="2000" b="0">
                          <a:solidFill>
                            <a:srgbClr val="123047"/>
                          </a:solidFill>
                          <a:latin typeface="Arial"/>
                        </a:rPr>
                        <a:t>TFT</a:t>
                      </a:r>
                    </a:p>
                  </a:txBody>
                  <a:tcPr marL="50292" marR="50292" marT="32004" marB="32004" anchor="ctr">
                    <a:solidFill>
                      <a:srgbClr val="EDF2F7"/>
                    </a:solidFill>
                  </a:tcPr>
                </a:tc>
                <a:tc>
                  <a:txBody>
                    <a:bodyPr/>
                    <a:lstStyle/>
                    <a:p>
                      <a:pPr algn="ctr">
                        <a:lnSpc>
                          <a:spcPct val="100000"/>
                        </a:lnSpc>
                        <a:spcBef>
                          <a:spcPts val="0"/>
                        </a:spcBef>
                        <a:spcAft>
                          <a:spcPts val="0"/>
                        </a:spcAft>
                      </a:pPr>
                      <a:r>
                        <a:rPr sz="2000" b="0">
                          <a:solidFill>
                            <a:srgbClr val="123047"/>
                          </a:solidFill>
                          <a:latin typeface="Arial"/>
                        </a:rPr>
                        <a:t>+0.085</a:t>
                      </a:r>
                    </a:p>
                    <a:p>
                      <a:pPr algn="ctr">
                        <a:lnSpc>
                          <a:spcPct val="100000"/>
                        </a:lnSpc>
                        <a:spcBef>
                          <a:spcPts val="0"/>
                        </a:spcBef>
                        <a:spcAft>
                          <a:spcPts val="0"/>
                        </a:spcAft>
                      </a:pPr>
                      <a:r>
                        <a:rPr sz="2000" b="0">
                          <a:solidFill>
                            <a:srgbClr val="123047"/>
                          </a:solidFill>
                          <a:latin typeface="Arial"/>
                        </a:rPr>
                        <a:t>[+0.026; +0.136]</a:t>
                      </a:r>
                    </a:p>
                  </a:txBody>
                  <a:tcPr marL="50292" marR="50292" marT="32004" marB="32004" anchor="ctr">
                    <a:solidFill>
                      <a:srgbClr val="EDF2F7"/>
                    </a:solidFill>
                  </a:tcPr>
                </a:tc>
                <a:tc>
                  <a:txBody>
                    <a:bodyPr/>
                    <a:lstStyle/>
                    <a:p>
                      <a:pPr algn="ctr">
                        <a:lnSpc>
                          <a:spcPct val="100000"/>
                        </a:lnSpc>
                        <a:spcBef>
                          <a:spcPts val="0"/>
                        </a:spcBef>
                        <a:spcAft>
                          <a:spcPts val="0"/>
                        </a:spcAft>
                      </a:pPr>
                      <a:r>
                        <a:rPr sz="2000" b="0">
                          <a:solidFill>
                            <a:srgbClr val="123047"/>
                          </a:solidFill>
                          <a:latin typeface="Arial"/>
                        </a:rPr>
                        <a:t>+0.144</a:t>
                      </a:r>
                    </a:p>
                    <a:p>
                      <a:pPr algn="ctr">
                        <a:lnSpc>
                          <a:spcPct val="100000"/>
                        </a:lnSpc>
                        <a:spcBef>
                          <a:spcPts val="0"/>
                        </a:spcBef>
                        <a:spcAft>
                          <a:spcPts val="0"/>
                        </a:spcAft>
                      </a:pPr>
                      <a:r>
                        <a:rPr sz="2000" b="0">
                          <a:solidFill>
                            <a:srgbClr val="123047"/>
                          </a:solidFill>
                          <a:latin typeface="Arial"/>
                        </a:rPr>
                        <a:t>[+0.092; +0.206]</a:t>
                      </a:r>
                    </a:p>
                  </a:txBody>
                  <a:tcPr marL="50292" marR="50292" marT="32004" marB="32004" anchor="ctr">
                    <a:solidFill>
                      <a:srgbClr val="EDF2F7"/>
                    </a:solidFill>
                  </a:tcPr>
                </a:tc>
                <a:tc>
                  <a:txBody>
                    <a:bodyPr/>
                    <a:lstStyle/>
                    <a:p>
                      <a:pPr algn="ctr">
                        <a:lnSpc>
                          <a:spcPct val="100000"/>
                        </a:lnSpc>
                        <a:spcBef>
                          <a:spcPts val="0"/>
                        </a:spcBef>
                        <a:spcAft>
                          <a:spcPts val="0"/>
                        </a:spcAft>
                      </a:pPr>
                      <a:r>
                        <a:rPr sz="2000" b="0">
                          <a:solidFill>
                            <a:srgbClr val="123047"/>
                          </a:solidFill>
                          <a:latin typeface="Arial"/>
                        </a:rPr>
                        <a:t>-0.003</a:t>
                      </a:r>
                    </a:p>
                    <a:p>
                      <a:pPr algn="ctr">
                        <a:lnSpc>
                          <a:spcPct val="100000"/>
                        </a:lnSpc>
                        <a:spcBef>
                          <a:spcPts val="0"/>
                        </a:spcBef>
                        <a:spcAft>
                          <a:spcPts val="0"/>
                        </a:spcAft>
                      </a:pPr>
                      <a:r>
                        <a:rPr sz="2000" b="0">
                          <a:solidFill>
                            <a:srgbClr val="123047"/>
                          </a:solidFill>
                          <a:latin typeface="Arial"/>
                        </a:rPr>
                        <a:t>[-0.031; +0.022]</a:t>
                      </a:r>
                    </a:p>
                  </a:txBody>
                  <a:tcPr marL="50292" marR="50292" marT="32004" marB="32004" anchor="ctr">
                    <a:solidFill>
                      <a:srgbClr val="EDF2F7"/>
                    </a:solidFill>
                  </a:tcPr>
                </a:tc>
              </a:tr>
              <a:tr h="822960">
                <a:tc>
                  <a:txBody>
                    <a:bodyPr/>
                    <a:lstStyle/>
                    <a:p>
                      <a:pPr algn="ctr">
                        <a:lnSpc>
                          <a:spcPct val="100000"/>
                        </a:lnSpc>
                        <a:spcBef>
                          <a:spcPts val="0"/>
                        </a:spcBef>
                        <a:spcAft>
                          <a:spcPts val="0"/>
                        </a:spcAft>
                      </a:pPr>
                      <a:r>
                        <a:rPr sz="2000" b="0">
                          <a:solidFill>
                            <a:srgbClr val="123047"/>
                          </a:solidFill>
                          <a:latin typeface="Arial"/>
                        </a:rPr>
                        <a:t>Informer</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+0.067</a:t>
                      </a:r>
                    </a:p>
                    <a:p>
                      <a:pPr algn="ctr">
                        <a:lnSpc>
                          <a:spcPct val="100000"/>
                        </a:lnSpc>
                        <a:spcBef>
                          <a:spcPts val="0"/>
                        </a:spcBef>
                        <a:spcAft>
                          <a:spcPts val="0"/>
                        </a:spcAft>
                      </a:pPr>
                      <a:r>
                        <a:rPr sz="2000" b="0">
                          <a:solidFill>
                            <a:srgbClr val="123047"/>
                          </a:solidFill>
                          <a:latin typeface="Arial"/>
                        </a:rPr>
                        <a:t>[+0.024; +0.122]</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+0.144</a:t>
                      </a:r>
                    </a:p>
                    <a:p>
                      <a:pPr algn="ctr">
                        <a:lnSpc>
                          <a:spcPct val="100000"/>
                        </a:lnSpc>
                        <a:spcBef>
                          <a:spcPts val="0"/>
                        </a:spcBef>
                        <a:spcAft>
                          <a:spcPts val="0"/>
                        </a:spcAft>
                      </a:pPr>
                      <a:r>
                        <a:rPr sz="2000" b="0">
                          <a:solidFill>
                            <a:srgbClr val="123047"/>
                          </a:solidFill>
                          <a:latin typeface="Arial"/>
                        </a:rPr>
                        <a:t>[+0.083; +0.202]</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+0.021</a:t>
                      </a:r>
                    </a:p>
                    <a:p>
                      <a:pPr algn="ctr">
                        <a:lnSpc>
                          <a:spcPct val="100000"/>
                        </a:lnSpc>
                        <a:spcBef>
                          <a:spcPts val="0"/>
                        </a:spcBef>
                        <a:spcAft>
                          <a:spcPts val="0"/>
                        </a:spcAft>
                      </a:pPr>
                      <a:r>
                        <a:rPr sz="2000" b="0">
                          <a:solidFill>
                            <a:srgbClr val="123047"/>
                          </a:solidFill>
                          <a:latin typeface="Arial"/>
                        </a:rPr>
                        <a:t>[-0.011; +0.048]</a:t>
                      </a:r>
                    </a:p>
                  </a:txBody>
                  <a:tcPr marL="50292" marR="50292" marT="32004" marB="32004" anchor="ctr">
                    <a:solidFill>
                      <a:srgbClr val="FFFFFF"/>
                    </a:solidFill>
                  </a:tcPr>
                </a:tc>
              </a:tr>
            </a:tbl>
          </a:graphicData>
        </a:graphic>
      </p:graphicFrame>
      <p:sp>
        <p:nvSpPr>
          <p:cNvPr id="7" name="TextBox 6"/>
          <p:cNvSpPr txBox="1"/>
          <p:nvPr/>
        </p:nvSpPr>
        <p:spPr>
          <a:xfrm>
            <a:off x="640080" y="4983480"/>
            <a:ext cx="10927080" cy="457200"/>
          </a:xfrm>
          <a:prstGeom prst="rect">
            <a:avLst/>
          </a:prstGeom>
          <a:noFill/>
        </p:spPr>
        <p:txBody>
          <a:bodyPr wrap="square" lIns="0" rIns="0" tIns="0" bIns="0" anchor="t">
            <a:spAutoFit/>
          </a:bodyPr>
          <a:lstStyle/>
          <a:p>
            <a:pPr algn="l">
              <a:lnSpc>
                <a:spcPct val="112000"/>
              </a:lnSpc>
              <a:spcBef>
                <a:spcPts val="0"/>
              </a:spcBef>
              <a:spcAft>
                <a:spcPts val="0"/>
              </a:spcAft>
            </a:pPr>
            <a:r>
              <a:rPr sz="2000" b="0">
                <a:solidFill>
                  <a:srgbClr val="123047"/>
                </a:solidFill>
                <a:latin typeface="Arial"/>
              </a:rPr>
              <a:t>Dương: điểm BSS cải thiện; khoảng chứa 0: còn bất định.</a:t>
            </a:r>
          </a:p>
        </p:txBody>
      </p:sp>
      <p:sp>
        <p:nvSpPr>
          <p:cNvPr id="8" name="Rectangle 7"/>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rPr>
              <a:t>Không dùng việc thử nhiều nhóm rồi chọn ô đẹp nhất để khẳng định đóng góp chắc chắn.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GIẢI THÍCH VÀ KẾT QUẢ</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32</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Trong TFT: nhóm nào có bằng chứng cải thiện?</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TFT • Thêm riêng từng nhóm vào E0, ngày 1 • 20.000 bootstrap khối 7 ngày • Điều chỉnh gia đình 9 phép so</a:t>
            </a:r>
          </a:p>
        </p:txBody>
      </p:sp>
      <p:graphicFrame>
        <p:nvGraphicFramePr>
          <p:cNvPr id="6" name="Table 5"/>
          <p:cNvGraphicFramePr>
            <a:graphicFrameLocks noGrp="1"/>
          </p:cNvGraphicFramePr>
          <p:nvPr/>
        </p:nvGraphicFramePr>
        <p:xfrm>
          <a:off x="502920" y="1508760"/>
          <a:ext cx="11201400" cy="2999232"/>
        </p:xfrm>
        <a:graphic>
          <a:graphicData uri="http://schemas.openxmlformats.org/drawingml/2006/table">
            <a:tbl>
              <a:tblPr firstRow="1" bandRow="1">
                <a:tableStyleId>{5C22544A-7EE6-4342-B048-85BDC9FD1C3A}</a:tableStyleId>
              </a:tblPr>
              <a:tblGrid>
                <a:gridCol w="4572000"/>
                <a:gridCol w="1417320"/>
                <a:gridCol w="3063240"/>
                <a:gridCol w="2148840"/>
              </a:tblGrid>
              <a:tr h="749808">
                <a:tc>
                  <a:txBody>
                    <a:bodyPr/>
                    <a:lstStyle/>
                    <a:p>
                      <a:pPr algn="ctr">
                        <a:lnSpc>
                          <a:spcPct val="100000"/>
                        </a:lnSpc>
                        <a:spcBef>
                          <a:spcPts val="0"/>
                        </a:spcBef>
                        <a:spcAft>
                          <a:spcPts val="0"/>
                        </a:spcAft>
                      </a:pPr>
                      <a:r>
                        <a:rPr sz="2000" b="1">
                          <a:solidFill>
                            <a:srgbClr val="FFFFFF"/>
                          </a:solidFill>
                          <a:latin typeface="Arial"/>
                        </a:rPr>
                        <a:t>Nhóm thêm vào nền</a:t>
                      </a:r>
                    </a:p>
                  </a:txBody>
                  <a:tcPr marL="50292" marR="50292" marT="32004" marB="32004" anchor="ctr">
                    <a:solidFill>
                      <a:srgbClr val="123047"/>
                    </a:solidFill>
                  </a:tcPr>
                </a:tc>
                <a:tc>
                  <a:txBody>
                    <a:bodyPr/>
                    <a:lstStyle/>
                    <a:p>
                      <a:pPr algn="ctr">
                        <a:lnSpc>
                          <a:spcPct val="100000"/>
                        </a:lnSpc>
                        <a:spcBef>
                          <a:spcPts val="0"/>
                        </a:spcBef>
                        <a:spcAft>
                          <a:spcPts val="0"/>
                        </a:spcAft>
                      </a:pPr>
                      <a:r>
                        <a:rPr sz="2000" b="1">
                          <a:solidFill>
                            <a:srgbClr val="FFFFFF"/>
                          </a:solidFill>
                          <a:latin typeface="Arial"/>
                        </a:rPr>
                        <a:t>Δ BSS ↑</a:t>
                      </a:r>
                    </a:p>
                  </a:txBody>
                  <a:tcPr marL="50292" marR="50292" marT="32004" marB="32004" anchor="ctr">
                    <a:solidFill>
                      <a:srgbClr val="123047"/>
                    </a:solidFill>
                  </a:tcPr>
                </a:tc>
                <a:tc>
                  <a:txBody>
                    <a:bodyPr/>
                    <a:lstStyle/>
                    <a:p>
                      <a:pPr algn="ctr">
                        <a:lnSpc>
                          <a:spcPct val="100000"/>
                        </a:lnSpc>
                        <a:spcBef>
                          <a:spcPts val="0"/>
                        </a:spcBef>
                        <a:spcAft>
                          <a:spcPts val="0"/>
                        </a:spcAft>
                      </a:pPr>
                      <a:r>
                        <a:rPr sz="2000" b="1">
                          <a:solidFill>
                            <a:srgbClr val="FFFFFF"/>
                          </a:solidFill>
                          <a:latin typeface="Arial"/>
                        </a:rPr>
                        <a:t>Khoảng tin cậy</a:t>
                      </a:r>
                    </a:p>
                  </a:txBody>
                  <a:tcPr marL="50292" marR="50292" marT="32004" marB="32004" anchor="ctr">
                    <a:solidFill>
                      <a:srgbClr val="123047"/>
                    </a:solidFill>
                  </a:tcPr>
                </a:tc>
                <a:tc>
                  <a:txBody>
                    <a:bodyPr/>
                    <a:lstStyle/>
                    <a:p>
                      <a:pPr algn="ctr">
                        <a:lnSpc>
                          <a:spcPct val="100000"/>
                        </a:lnSpc>
                        <a:spcBef>
                          <a:spcPts val="0"/>
                        </a:spcBef>
                        <a:spcAft>
                          <a:spcPts val="0"/>
                        </a:spcAft>
                      </a:pPr>
                      <a:r>
                        <a:rPr sz="2000" b="1">
                          <a:solidFill>
                            <a:srgbClr val="FFFFFF"/>
                          </a:solidFill>
                          <a:latin typeface="Arial"/>
                        </a:rPr>
                        <a:t>Cách đọc</a:t>
                      </a:r>
                    </a:p>
                  </a:txBody>
                  <a:tcPr marL="50292" marR="50292" marT="32004" marB="32004" anchor="ctr">
                    <a:solidFill>
                      <a:srgbClr val="123047"/>
                    </a:solidFill>
                  </a:tcPr>
                </a:tc>
              </a:tr>
              <a:tr h="749808">
                <a:tc>
                  <a:txBody>
                    <a:bodyPr/>
                    <a:lstStyle/>
                    <a:p>
                      <a:pPr algn="ctr">
                        <a:lnSpc>
                          <a:spcPct val="100000"/>
                        </a:lnSpc>
                        <a:spcBef>
                          <a:spcPts val="0"/>
                        </a:spcBef>
                        <a:spcAft>
                          <a:spcPts val="0"/>
                        </a:spcAft>
                      </a:pPr>
                      <a:r>
                        <a:rPr sz="2000" b="0">
                          <a:solidFill>
                            <a:srgbClr val="123047"/>
                          </a:solidFill>
                          <a:latin typeface="Arial"/>
                        </a:rPr>
                        <a:t>A: đối lưu, mây, lớp biên, đất</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1">
                          <a:solidFill>
                            <a:srgbClr val="087E8B"/>
                          </a:solidFill>
                          <a:latin typeface="Arial"/>
                        </a:rPr>
                        <a:t>+0.085</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1">
                          <a:solidFill>
                            <a:srgbClr val="087E8B"/>
                          </a:solidFill>
                          <a:latin typeface="Arial"/>
                        </a:rPr>
                        <a:t>[+0.002; +0.161]</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1">
                          <a:solidFill>
                            <a:srgbClr val="087E8B"/>
                          </a:solidFill>
                          <a:latin typeface="Arial"/>
                        </a:rPr>
                        <a:t>Trên 0</a:t>
                      </a:r>
                    </a:p>
                  </a:txBody>
                  <a:tcPr marL="50292" marR="50292" marT="32004" marB="32004" anchor="ctr">
                    <a:solidFill>
                      <a:srgbClr val="FFFFFF"/>
                    </a:solidFill>
                  </a:tcPr>
                </a:tc>
              </a:tr>
              <a:tr h="749808">
                <a:tc>
                  <a:txBody>
                    <a:bodyPr/>
                    <a:lstStyle/>
                    <a:p>
                      <a:pPr algn="ctr">
                        <a:lnSpc>
                          <a:spcPct val="100000"/>
                        </a:lnSpc>
                        <a:spcBef>
                          <a:spcPts val="0"/>
                        </a:spcBef>
                        <a:spcAft>
                          <a:spcPts val="0"/>
                        </a:spcAft>
                      </a:pPr>
                      <a:r>
                        <a:rPr sz="2000" b="0">
                          <a:solidFill>
                            <a:srgbClr val="123047"/>
                          </a:solidFill>
                          <a:latin typeface="Arial"/>
                        </a:rPr>
                        <a:t>M: hoàn lưu và vận chuyển ẩm</a:t>
                      </a:r>
                    </a:p>
                  </a:txBody>
                  <a:tcPr marL="50292" marR="50292" marT="32004" marB="32004" anchor="ctr">
                    <a:solidFill>
                      <a:srgbClr val="EDF2F7"/>
                    </a:solidFill>
                  </a:tcPr>
                </a:tc>
                <a:tc>
                  <a:txBody>
                    <a:bodyPr/>
                    <a:lstStyle/>
                    <a:p>
                      <a:pPr algn="ctr">
                        <a:lnSpc>
                          <a:spcPct val="100000"/>
                        </a:lnSpc>
                        <a:spcBef>
                          <a:spcPts val="0"/>
                        </a:spcBef>
                        <a:spcAft>
                          <a:spcPts val="0"/>
                        </a:spcAft>
                      </a:pPr>
                      <a:r>
                        <a:rPr sz="2000" b="1">
                          <a:solidFill>
                            <a:srgbClr val="087E8B"/>
                          </a:solidFill>
                          <a:latin typeface="Arial"/>
                        </a:rPr>
                        <a:t>+0.144</a:t>
                      </a:r>
                    </a:p>
                  </a:txBody>
                  <a:tcPr marL="50292" marR="50292" marT="32004" marB="32004" anchor="ctr">
                    <a:solidFill>
                      <a:srgbClr val="EDF2F7"/>
                    </a:solidFill>
                  </a:tcPr>
                </a:tc>
                <a:tc>
                  <a:txBody>
                    <a:bodyPr/>
                    <a:lstStyle/>
                    <a:p>
                      <a:pPr algn="ctr">
                        <a:lnSpc>
                          <a:spcPct val="100000"/>
                        </a:lnSpc>
                        <a:spcBef>
                          <a:spcPts val="0"/>
                        </a:spcBef>
                        <a:spcAft>
                          <a:spcPts val="0"/>
                        </a:spcAft>
                      </a:pPr>
                      <a:r>
                        <a:rPr sz="2000" b="1">
                          <a:solidFill>
                            <a:srgbClr val="087E8B"/>
                          </a:solidFill>
                          <a:latin typeface="Arial"/>
                        </a:rPr>
                        <a:t>[+0.068; +0.233]</a:t>
                      </a:r>
                    </a:p>
                  </a:txBody>
                  <a:tcPr marL="50292" marR="50292" marT="32004" marB="32004" anchor="ctr">
                    <a:solidFill>
                      <a:srgbClr val="EDF2F7"/>
                    </a:solidFill>
                  </a:tcPr>
                </a:tc>
                <a:tc>
                  <a:txBody>
                    <a:bodyPr/>
                    <a:lstStyle/>
                    <a:p>
                      <a:pPr algn="ctr">
                        <a:lnSpc>
                          <a:spcPct val="100000"/>
                        </a:lnSpc>
                        <a:spcBef>
                          <a:spcPts val="0"/>
                        </a:spcBef>
                        <a:spcAft>
                          <a:spcPts val="0"/>
                        </a:spcAft>
                      </a:pPr>
                      <a:r>
                        <a:rPr sz="2000" b="1">
                          <a:solidFill>
                            <a:srgbClr val="087E8B"/>
                          </a:solidFill>
                          <a:latin typeface="Arial"/>
                        </a:rPr>
                        <a:t>Trên 0</a:t>
                      </a:r>
                    </a:p>
                  </a:txBody>
                  <a:tcPr marL="50292" marR="50292" marT="32004" marB="32004" anchor="ctr">
                    <a:solidFill>
                      <a:srgbClr val="EDF2F7"/>
                    </a:solidFill>
                  </a:tcPr>
                </a:tc>
              </a:tr>
              <a:tr h="749808">
                <a:tc>
                  <a:txBody>
                    <a:bodyPr/>
                    <a:lstStyle/>
                    <a:p>
                      <a:pPr algn="ctr">
                        <a:lnSpc>
                          <a:spcPct val="100000"/>
                        </a:lnSpc>
                        <a:spcBef>
                          <a:spcPts val="0"/>
                        </a:spcBef>
                        <a:spcAft>
                          <a:spcPts val="0"/>
                        </a:spcAft>
                      </a:pPr>
                      <a:r>
                        <a:rPr sz="2000" b="0">
                          <a:solidFill>
                            <a:srgbClr val="123047"/>
                          </a:solidFill>
                          <a:latin typeface="Arial"/>
                        </a:rPr>
                        <a:t>C: SST vùng biển</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-0.003</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[-0.043; +0.033]</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Chứa 0</a:t>
                      </a:r>
                    </a:p>
                  </a:txBody>
                  <a:tcPr marL="50292" marR="50292" marT="32004" marB="32004" anchor="ctr">
                    <a:solidFill>
                      <a:srgbClr val="FFFFFF"/>
                    </a:solidFill>
                  </a:tcPr>
                </a:tc>
              </a:tr>
            </a:tbl>
          </a:graphicData>
        </a:graphic>
      </p:graphicFrame>
      <p:sp>
        <p:nvSpPr>
          <p:cNvPr id="7" name="TextBox 6"/>
          <p:cNvSpPr txBox="1"/>
          <p:nvPr/>
        </p:nvSpPr>
        <p:spPr>
          <a:xfrm>
            <a:off x="685800" y="4681728"/>
            <a:ext cx="10835640" cy="868680"/>
          </a:xfrm>
          <a:prstGeom prst="rect">
            <a:avLst/>
          </a:prstGeom>
          <a:noFill/>
        </p:spPr>
        <p:txBody>
          <a:bodyPr wrap="square" lIns="0" rIns="0" tIns="0" bIns="0" anchor="t">
            <a:spAutoFit/>
          </a:bodyPr>
          <a:lstStyle/>
          <a:p>
            <a:pPr algn="l">
              <a:lnSpc>
                <a:spcPct val="112000"/>
              </a:lnSpc>
              <a:spcBef>
                <a:spcPts val="0"/>
              </a:spcBef>
              <a:spcAft>
                <a:spcPts val="0"/>
              </a:spcAft>
            </a:pPr>
            <a:r>
              <a:rPr sz="2200" b="0">
                <a:solidFill>
                  <a:srgbClr val="123047"/>
                </a:solidFill>
                <a:latin typeface="Arial"/>
              </a:rPr>
              <a:t>Khoảng hoàn toàn trên 0: có tín hiệu cải thiện trong phép thử này.</a:t>
            </a:r>
          </a:p>
          <a:p>
            <a:pPr algn="l">
              <a:lnSpc>
                <a:spcPct val="112000"/>
              </a:lnSpc>
              <a:spcBef>
                <a:spcPts val="0"/>
              </a:spcBef>
              <a:spcAft>
                <a:spcPts val="0"/>
              </a:spcAft>
            </a:pPr>
            <a:r>
              <a:rPr sz="2200" b="0">
                <a:solidFill>
                  <a:srgbClr val="123047"/>
                </a:solidFill>
                <a:latin typeface="Arial"/>
              </a:rPr>
              <a:t>Khoảng chứa 0: chưa phân biệt chắc có lợi hay không.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SO SÁNH BA MÔ HÌNH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33</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Khả thi tính toán; chưa hoàn thành nghiên cứu cuối</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Cùng mẫu 2021–2023 • q=16 mm/24h • Vùng 93 ô xấp xỉ • Chưa chấm 2025</a:t>
            </a:r>
          </a:p>
        </p:txBody>
      </p:sp>
      <p:sp>
        <p:nvSpPr>
          <p:cNvPr id="6" name="Rectangle 5"/>
          <p:cNvSpPr/>
          <p:nvPr/>
        </p:nvSpPr>
        <p:spPr>
          <a:xfrm>
            <a:off x="502920" y="1600200"/>
            <a:ext cx="5440680" cy="361188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728216"/>
            <a:ext cx="512978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Đã có</a:t>
            </a:r>
          </a:p>
        </p:txBody>
      </p:sp>
      <p:sp>
        <p:nvSpPr>
          <p:cNvPr id="8" name="TextBox 7"/>
          <p:cNvSpPr txBox="1"/>
          <p:nvPr/>
        </p:nvSpPr>
        <p:spPr>
          <a:xfrm>
            <a:off x="658368" y="2395728"/>
            <a:ext cx="5129784" cy="2697480"/>
          </a:xfrm>
          <a:prstGeom prst="rect">
            <a:avLst/>
          </a:prstGeom>
          <a:noFill/>
        </p:spPr>
        <p:txBody>
          <a:bodyPr wrap="square" lIns="0" rIns="0" tIns="0" bIns="0" anchor="t">
            <a:spAutoFit/>
          </a:bodyPr>
          <a:lstStyle/>
          <a:p>
            <a:pPr algn="l">
              <a:lnSpc>
                <a:spcPct val="112000"/>
              </a:lnSpc>
              <a:spcBef>
                <a:spcPts val="0"/>
              </a:spcBef>
              <a:spcAft>
                <a:spcPts val="0"/>
              </a:spcAft>
            </a:pPr>
            <a:r>
              <a:rPr sz="2200" b="0">
                <a:solidFill>
                  <a:srgbClr val="123047"/>
                </a:solidFill>
                <a:latin typeface="Arial"/>
              </a:rPr>
              <a:t>Cả ba đã đủ E0–E7</a:t>
            </a:r>
          </a:p>
          <a:p>
            <a:pPr algn="l">
              <a:lnSpc>
                <a:spcPct val="112000"/>
              </a:lnSpc>
              <a:spcBef>
                <a:spcPts val="0"/>
              </a:spcBef>
              <a:spcAft>
                <a:spcPts val="0"/>
              </a:spcAft>
            </a:pPr>
            <a:r>
              <a:rPr sz="2200" b="0">
                <a:solidFill>
                  <a:srgbClr val="123047"/>
                </a:solidFill>
                <a:latin typeface="Arial"/>
              </a:rPr>
              <a:t>Informer: 54 mới + 18 dùng lại</a:t>
            </a:r>
          </a:p>
          <a:p>
            <a:pPr algn="l">
              <a:lnSpc>
                <a:spcPct val="112000"/>
              </a:lnSpc>
              <a:spcBef>
                <a:spcPts val="0"/>
              </a:spcBef>
              <a:spcAft>
                <a:spcPts val="0"/>
              </a:spcAft>
            </a:pPr>
            <a:r>
              <a:rPr sz="2200" b="0">
                <a:solidFill>
                  <a:srgbClr val="123047"/>
                </a:solidFill>
                <a:latin typeface="Arial"/>
              </a:rPr>
              <a:t>168 lượt mô hình/pipeline</a:t>
            </a:r>
          </a:p>
          <a:p>
            <a:pPr algn="l">
              <a:lnSpc>
                <a:spcPct val="112000"/>
              </a:lnSpc>
              <a:spcBef>
                <a:spcPts val="0"/>
              </a:spcBef>
              <a:spcAft>
                <a:spcPts val="0"/>
              </a:spcAft>
            </a:pPr>
            <a:r>
              <a:rPr sz="2200" b="0">
                <a:solidFill>
                  <a:srgbClr val="123047"/>
                </a:solidFill>
                <a:latin typeface="Arial"/>
              </a:rPr>
              <a:t>Có cả kết quả cải thiện và âm</a:t>
            </a:r>
          </a:p>
        </p:txBody>
      </p:sp>
      <p:sp>
        <p:nvSpPr>
          <p:cNvPr id="9" name="Rectangle 8"/>
          <p:cNvSpPr/>
          <p:nvPr/>
        </p:nvSpPr>
        <p:spPr>
          <a:xfrm>
            <a:off x="6263640" y="1600200"/>
            <a:ext cx="5440680" cy="361188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9088" y="1728216"/>
            <a:ext cx="512978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Việc tiếp theo</a:t>
            </a:r>
          </a:p>
        </p:txBody>
      </p:sp>
      <p:sp>
        <p:nvSpPr>
          <p:cNvPr id="11" name="TextBox 10"/>
          <p:cNvSpPr txBox="1"/>
          <p:nvPr/>
        </p:nvSpPr>
        <p:spPr>
          <a:xfrm>
            <a:off x="6419088" y="2395728"/>
            <a:ext cx="5129784" cy="2697480"/>
          </a:xfrm>
          <a:prstGeom prst="rect">
            <a:avLst/>
          </a:prstGeom>
          <a:noFill/>
        </p:spPr>
        <p:txBody>
          <a:bodyPr wrap="square" lIns="0" rIns="0" tIns="0" bIns="0" anchor="t">
            <a:spAutoFit/>
          </a:bodyPr>
          <a:lstStyle/>
          <a:p>
            <a:pPr algn="l">
              <a:lnSpc>
                <a:spcPct val="112000"/>
              </a:lnSpc>
              <a:spcBef>
                <a:spcPts val="0"/>
              </a:spcBef>
              <a:spcAft>
                <a:spcPts val="0"/>
              </a:spcAft>
            </a:pPr>
            <a:r>
              <a:rPr sz="2200" b="0">
                <a:solidFill>
                  <a:srgbClr val="123047"/>
                </a:solidFill>
                <a:latin typeface="Arial"/>
              </a:rPr>
              <a:t>Ranh vùng và kiểm chứng nhãn</a:t>
            </a:r>
          </a:p>
          <a:p>
            <a:pPr algn="l">
              <a:lnSpc>
                <a:spcPct val="112000"/>
              </a:lnSpc>
              <a:spcBef>
                <a:spcPts val="0"/>
              </a:spcBef>
              <a:spcAft>
                <a:spcPts val="0"/>
              </a:spcAft>
            </a:pPr>
            <a:r>
              <a:rPr sz="2200" b="0">
                <a:solidFill>
                  <a:srgbClr val="123047"/>
                </a:solidFill>
                <a:latin typeface="Arial"/>
              </a:rPr>
              <a:t>Độ bền theo mùa/năm</a:t>
            </a:r>
          </a:p>
          <a:p>
            <a:pPr algn="l">
              <a:lnSpc>
                <a:spcPct val="112000"/>
              </a:lnSpc>
              <a:spcBef>
                <a:spcPts val="0"/>
              </a:spcBef>
              <a:spcAft>
                <a:spcPts val="0"/>
              </a:spcAft>
            </a:pPr>
            <a:r>
              <a:rPr sz="2200" b="0">
                <a:solidFill>
                  <a:srgbClr val="123047"/>
                </a:solidFill>
                <a:latin typeface="Arial"/>
              </a:rPr>
              <a:t>Kiểm tra bước gộp sáu giờ</a:t>
            </a:r>
          </a:p>
          <a:p>
            <a:pPr algn="l">
              <a:lnSpc>
                <a:spcPct val="112000"/>
              </a:lnSpc>
              <a:spcBef>
                <a:spcPts val="0"/>
              </a:spcBef>
              <a:spcAft>
                <a:spcPts val="0"/>
              </a:spcAft>
            </a:pPr>
            <a:r>
              <a:rPr sz="2200" b="0">
                <a:solidFill>
                  <a:srgbClr val="123047"/>
                </a:solidFill>
                <a:latin typeface="Arial"/>
              </a:rPr>
              <a:t>Khóa thiết kế rồi mới chấm 2025</a:t>
            </a:r>
          </a:p>
        </p:txBody>
      </p:sp>
      <p:sp>
        <p:nvSpPr>
          <p:cNvPr id="12" name="Rectangle 11"/>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087E8B"/>
                </a:solidFill>
                <a:latin typeface="Arial"/>
              </a:rPr>
              <a:t>Đã bổ sung 54 lượt Informer; đủ ma trận ba mô hình, chưa phải nghiên cứu cuối.</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SO SÁNH BA MÔ HÌNH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34</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Kết luận phải đặt trong bức tranh đủ ba mô hình</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Cùng mẫu 2021–2023 • q=16 mm/24h • Vùng 93 ô xấp xỉ • Chưa chấm 2025</a:t>
            </a:r>
          </a:p>
        </p:txBody>
      </p:sp>
      <p:sp>
        <p:nvSpPr>
          <p:cNvPr id="6" name="TextBox 5"/>
          <p:cNvSpPr txBox="1"/>
          <p:nvPr/>
        </p:nvSpPr>
        <p:spPr>
          <a:xfrm>
            <a:off x="640080" y="1600200"/>
            <a:ext cx="10927080" cy="3566160"/>
          </a:xfrm>
          <a:prstGeom prst="rect">
            <a:avLst/>
          </a:prstGeom>
          <a:noFill/>
        </p:spPr>
        <p:txBody>
          <a:bodyPr wrap="square" lIns="0" rIns="0" tIns="0" bIns="0" anchor="t">
            <a:spAutoFit/>
          </a:bodyPr>
          <a:lstStyle/>
          <a:p>
            <a:pPr algn="l">
              <a:lnSpc>
                <a:spcPct val="112000"/>
              </a:lnSpc>
              <a:spcBef>
                <a:spcPts val="0"/>
              </a:spcBef>
              <a:spcAft>
                <a:spcPts val="0"/>
              </a:spcAft>
            </a:pPr>
            <a:r>
              <a:rPr sz="2400" b="0">
                <a:solidFill>
                  <a:srgbClr val="123047"/>
                </a:solidFill>
                <a:latin typeface="Arial"/>
              </a:rPr>
              <a:t>1. LightGBM là đối chứng mạnh, không được bỏ khỏi bảng so.</a:t>
            </a:r>
          </a:p>
          <a:p>
            <a:pPr algn="l">
              <a:lnSpc>
                <a:spcPct val="112000"/>
              </a:lnSpc>
              <a:spcBef>
                <a:spcPts val="0"/>
              </a:spcBef>
              <a:spcAft>
                <a:spcPts val="0"/>
              </a:spcAft>
            </a:pPr>
          </a:p>
          <a:p>
            <a:pPr algn="l">
              <a:lnSpc>
                <a:spcPct val="112000"/>
              </a:lnSpc>
              <a:spcBef>
                <a:spcPts val="0"/>
              </a:spcBef>
              <a:spcAft>
                <a:spcPts val="0"/>
              </a:spcAft>
            </a:pPr>
            <a:r>
              <a:rPr sz="2400" b="0">
                <a:solidFill>
                  <a:srgbClr val="123047"/>
                </a:solidFill>
                <a:latin typeface="Arial"/>
              </a:rPr>
              <a:t>2. Ngày 1: LightGBM hơn ở RMSE/BSS/FAR; Informer ở CSI; TFT ở POD.</a:t>
            </a:r>
          </a:p>
          <a:p>
            <a:pPr algn="l">
              <a:lnSpc>
                <a:spcPct val="112000"/>
              </a:lnSpc>
              <a:spcBef>
                <a:spcPts val="0"/>
              </a:spcBef>
              <a:spcAft>
                <a:spcPts val="0"/>
              </a:spcAft>
            </a:pPr>
          </a:p>
          <a:p>
            <a:pPr algn="l">
              <a:lnSpc>
                <a:spcPct val="112000"/>
              </a:lnSpc>
              <a:spcBef>
                <a:spcPts val="0"/>
              </a:spcBef>
              <a:spcAft>
                <a:spcPts val="0"/>
              </a:spcAft>
            </a:pPr>
            <a:r>
              <a:rPr sz="2400" b="0">
                <a:solidFill>
                  <a:srgbClr val="123047"/>
                </a:solidFill>
                <a:latin typeface="Arial"/>
              </a:rPr>
              <a:t>3. E7 ngày 3: cả ba BSS âm; Informer E6 chỉ đạt +0,004.</a:t>
            </a:r>
          </a:p>
          <a:p>
            <a:pPr algn="l">
              <a:lnSpc>
                <a:spcPct val="112000"/>
              </a:lnSpc>
              <a:spcBef>
                <a:spcPts val="0"/>
              </a:spcBef>
              <a:spcAft>
                <a:spcPts val="0"/>
              </a:spcAft>
            </a:pPr>
          </a:p>
          <a:p>
            <a:pPr algn="l">
              <a:lnSpc>
                <a:spcPct val="112000"/>
              </a:lnSpc>
              <a:spcBef>
                <a:spcPts val="0"/>
              </a:spcBef>
              <a:spcAft>
                <a:spcPts val="0"/>
              </a:spcAft>
            </a:pPr>
            <a:r>
              <a:rPr sz="2400" b="0">
                <a:solidFill>
                  <a:srgbClr val="123047"/>
                </a:solidFill>
                <a:latin typeface="Arial"/>
              </a:rPr>
              <a:t>4. Đã đủ E0–E7; còn ranh/QC nhãn và kiểm định cuối.</a:t>
            </a:r>
          </a:p>
        </p:txBody>
      </p:sp>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087E8B"/>
                </a:solidFill>
                <a:latin typeface="Arial"/>
              </a:rPr>
              <a:t>Phụ lục: đủ 72 dòng chính = tám E × ba mô hình × ba ngày.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ĐỐI CHIẾU NHÁNH DEV</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35</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Nhánh dev có POD/FAR; có thực sự chọn model bằng nó?</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Read-only origin/dev fe27756 • LOCAL.py + Tweedie COLAB.ipynb • Chi tiết: dev_metrics_audit.json</a:t>
            </a:r>
          </a:p>
        </p:txBody>
      </p:sp>
      <p:graphicFrame>
        <p:nvGraphicFramePr>
          <p:cNvPr id="6" name="Table 5"/>
          <p:cNvGraphicFramePr>
            <a:graphicFrameLocks noGrp="1"/>
          </p:cNvGraphicFramePr>
          <p:nvPr/>
        </p:nvGraphicFramePr>
        <p:xfrm>
          <a:off x="502920" y="1508760"/>
          <a:ext cx="11201400" cy="3566160"/>
        </p:xfrm>
        <a:graphic>
          <a:graphicData uri="http://schemas.openxmlformats.org/drawingml/2006/table">
            <a:tbl>
              <a:tblPr firstRow="1" bandRow="1">
                <a:tableStyleId>{5C22544A-7EE6-4342-B048-85BDC9FD1C3A}</a:tableStyleId>
              </a:tblPr>
              <a:tblGrid>
                <a:gridCol w="2286000"/>
                <a:gridCol w="4480560"/>
                <a:gridCol w="4434840"/>
              </a:tblGrid>
              <a:tr h="713232">
                <a:tc>
                  <a:txBody>
                    <a:bodyPr/>
                    <a:lstStyle/>
                    <a:p>
                      <a:pPr algn="ctr">
                        <a:lnSpc>
                          <a:spcPct val="100000"/>
                        </a:lnSpc>
                        <a:spcBef>
                          <a:spcPts val="0"/>
                        </a:spcBef>
                        <a:spcAft>
                          <a:spcPts val="0"/>
                        </a:spcAft>
                      </a:pPr>
                      <a:r>
                        <a:rPr sz="1850" b="1">
                          <a:solidFill>
                            <a:srgbClr val="FFFFFF"/>
                          </a:solidFill>
                          <a:latin typeface="Arial"/>
                        </a:rPr>
                        <a:t>Nội dung</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Dev đã rà soát</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TFT vùng hiện tại</a:t>
                      </a:r>
                    </a:p>
                  </a:txBody>
                  <a:tcPr marL="50292" marR="50292" marT="32004" marB="32004" anchor="ctr">
                    <a:solidFill>
                      <a:srgbClr val="123047"/>
                    </a:solidFill>
                  </a:tcPr>
                </a:tc>
              </a:tr>
              <a:tr h="713232">
                <a:tc>
                  <a:txBody>
                    <a:bodyPr/>
                    <a:lstStyle/>
                    <a:p>
                      <a:pPr algn="ctr">
                        <a:lnSpc>
                          <a:spcPct val="100000"/>
                        </a:lnSpc>
                        <a:spcBef>
                          <a:spcPts val="0"/>
                        </a:spcBef>
                        <a:spcAft>
                          <a:spcPts val="0"/>
                        </a:spcAft>
                      </a:pPr>
                      <a:r>
                        <a:rPr sz="1850" b="0">
                          <a:solidFill>
                            <a:srgbClr val="123047"/>
                          </a:solidFill>
                          <a:latin typeface="Arial"/>
                        </a:rPr>
                        <a:t>Nhãn</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precipitation, full_features cũ</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GSMaP Gauge, vùng 93 ô</a:t>
                      </a:r>
                    </a:p>
                  </a:txBody>
                  <a:tcPr marL="50292" marR="50292" marT="32004" marB="32004" anchor="ctr">
                    <a:solidFill>
                      <a:srgbClr val="FFFFFF"/>
                    </a:solidFill>
                  </a:tcPr>
                </a:tc>
              </a:tr>
              <a:tr h="713232">
                <a:tc>
                  <a:txBody>
                    <a:bodyPr/>
                    <a:lstStyle/>
                    <a:p>
                      <a:pPr algn="ctr">
                        <a:lnSpc>
                          <a:spcPct val="100000"/>
                        </a:lnSpc>
                        <a:spcBef>
                          <a:spcPts val="0"/>
                        </a:spcBef>
                        <a:spcAft>
                          <a:spcPts val="0"/>
                        </a:spcAft>
                      </a:pPr>
                      <a:r>
                        <a:rPr sz="1850" b="0">
                          <a:solidFill>
                            <a:srgbClr val="123047"/>
                          </a:solidFill>
                          <a:latin typeface="Arial"/>
                        </a:rPr>
                        <a:t>Sự kiện</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Tổng 6h / max giờ; nhiều ngưỡng</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Tổng 24h vùng; 16/50/100 mm</a:t>
                      </a:r>
                    </a:p>
                  </a:txBody>
                  <a:tcPr marL="50292" marR="50292" marT="32004" marB="32004" anchor="ctr">
                    <a:solidFill>
                      <a:srgbClr val="EDF2F7"/>
                    </a:solidFill>
                  </a:tcPr>
                </a:tc>
              </a:tr>
              <a:tr h="713232">
                <a:tc>
                  <a:txBody>
                    <a:bodyPr/>
                    <a:lstStyle/>
                    <a:p>
                      <a:pPr algn="ctr">
                        <a:lnSpc>
                          <a:spcPct val="100000"/>
                        </a:lnSpc>
                        <a:spcBef>
                          <a:spcPts val="0"/>
                        </a:spcBef>
                        <a:spcAft>
                          <a:spcPts val="0"/>
                        </a:spcAft>
                      </a:pPr>
                      <a:r>
                        <a:rPr sz="1850" b="0">
                          <a:solidFill>
                            <a:srgbClr val="123047"/>
                          </a:solidFill>
                          <a:latin typeface="Arial"/>
                        </a:rPr>
                        <a:t>Quyết định</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Nhiều cột từ lượng mm ≥ q</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Bảng chính: xác suất p ≥ τ cal</a:t>
                      </a:r>
                    </a:p>
                  </a:txBody>
                  <a:tcPr marL="50292" marR="50292" marT="32004" marB="32004" anchor="ctr">
                    <a:solidFill>
                      <a:srgbClr val="FFFFFF"/>
                    </a:solidFill>
                  </a:tcPr>
                </a:tc>
              </a:tr>
              <a:tr h="713232">
                <a:tc>
                  <a:txBody>
                    <a:bodyPr/>
                    <a:lstStyle/>
                    <a:p>
                      <a:pPr algn="ctr">
                        <a:lnSpc>
                          <a:spcPct val="100000"/>
                        </a:lnSpc>
                        <a:spcBef>
                          <a:spcPts val="0"/>
                        </a:spcBef>
                        <a:spcAft>
                          <a:spcPts val="0"/>
                        </a:spcAft>
                      </a:pPr>
                      <a:r>
                        <a:rPr sz="1850" b="0">
                          <a:solidFill>
                            <a:srgbClr val="123047"/>
                          </a:solidFill>
                          <a:latin typeface="Arial"/>
                        </a:rPr>
                        <a:t>Chọn epoch</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RMSE phần tử đầu ra giờ</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Brier calibration, 3 ngày</a:t>
                      </a:r>
                    </a:p>
                  </a:txBody>
                  <a:tcPr marL="50292" marR="50292" marT="32004" marB="32004" anchor="ctr">
                    <a:solidFill>
                      <a:srgbClr val="EDF2F7"/>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rPr>
              <a:t>Cùng công thức POD/FAR chưa đủ để so điểm: phải cùng nhãn, khoảng giờ và quy tắc.</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ĐỦ E0–E7, BA MÔ HÌNH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36</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Ngày 1 · E0–E2 · ba mô hình cùng bảng</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Cùng mẫu 2021–2023 • q=16 mm/24h • Vùng 93 ô xấp xỉ • Chưa chấm 2025</a:t>
            </a:r>
          </a:p>
        </p:txBody>
      </p:sp>
      <p:graphicFrame>
        <p:nvGraphicFramePr>
          <p:cNvPr id="6" name="Table 5"/>
          <p:cNvGraphicFramePr>
            <a:graphicFrameLocks noGrp="1"/>
          </p:cNvGraphicFramePr>
          <p:nvPr/>
        </p:nvGraphicFramePr>
        <p:xfrm>
          <a:off x="502920" y="1463040"/>
          <a:ext cx="11201400" cy="4023360"/>
        </p:xfrm>
        <a:graphic>
          <a:graphicData uri="http://schemas.openxmlformats.org/drawingml/2006/table">
            <a:tbl>
              <a:tblPr firstRow="1" bandRow="1">
                <a:tableStyleId>{5C22544A-7EE6-4342-B048-85BDC9FD1C3A}</a:tableStyleId>
              </a:tblPr>
              <a:tblGrid>
                <a:gridCol w="457200"/>
                <a:gridCol w="1508760"/>
                <a:gridCol w="1154430"/>
                <a:gridCol w="1154430"/>
                <a:gridCol w="1154430"/>
                <a:gridCol w="1154430"/>
                <a:gridCol w="1154430"/>
                <a:gridCol w="1154430"/>
                <a:gridCol w="1154430"/>
                <a:gridCol w="1154430"/>
              </a:tblGrid>
              <a:tr h="402336">
                <a:tc>
                  <a:txBody>
                    <a:bodyPr/>
                    <a:lstStyle/>
                    <a:p>
                      <a:pPr algn="ctr">
                        <a:lnSpc>
                          <a:spcPct val="100000"/>
                        </a:lnSpc>
                        <a:spcBef>
                          <a:spcPts val="0"/>
                        </a:spcBef>
                        <a:spcAft>
                          <a:spcPts val="0"/>
                        </a:spcAft>
                      </a:pPr>
                      <a:r>
                        <a:rPr sz="1720" b="1">
                          <a:solidFill>
                            <a:srgbClr val="FFFFFF"/>
                          </a:solidFill>
                          <a:latin typeface="Arial"/>
                        </a:rPr>
                        <a:t>E</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Mô hình</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RMSE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MAE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Bias ≈0</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BS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BSS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CSI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FAR ↓</a:t>
                      </a:r>
                    </a:p>
                  </a:txBody>
                  <a:tcPr marL="50292" marR="50292" marT="32004" marB="32004" anchor="ctr">
                    <a:solidFill>
                      <a:srgbClr val="123047"/>
                    </a:solidFill>
                  </a:tcPr>
                </a:tc>
              </a:tr>
              <a:tr h="402336">
                <a:tc>
                  <a:txBody>
                    <a:bodyPr/>
                    <a:lstStyle/>
                    <a:p>
                      <a:pPr algn="ctr">
                        <a:lnSpc>
                          <a:spcPct val="100000"/>
                        </a:lnSpc>
                        <a:spcBef>
                          <a:spcPts val="0"/>
                        </a:spcBef>
                        <a:spcAft>
                          <a:spcPts val="0"/>
                        </a:spcAft>
                      </a:pPr>
                      <a:r>
                        <a:rPr sz="1720" b="0">
                          <a:solidFill>
                            <a:srgbClr val="123047"/>
                          </a:solidFill>
                          <a:latin typeface="Arial"/>
                        </a:rPr>
                        <a:t>E0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19.379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6.474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-2.407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0.071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0.144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0.295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0.430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0.515</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20.720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7.090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-2.484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0.071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0.135</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0.357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0.570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0.511</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20.970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7.127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-2.854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0.071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0.135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0.381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0.588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0.481</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18.205</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5.963</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-2.086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0.061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0.264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0.422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0.640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0.447</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20.531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6.737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-2.819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0.064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0.221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0.395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0.640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0.493</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20.783</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7.034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-2.689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0.066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0.202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0.401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0.570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0.425</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17.701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5.746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-2.126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0.059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0.283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0.396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0.465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0.274</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20.341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6.610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-2.807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0.059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0.280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0.403</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0.640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0.479</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20.507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6.808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-2.664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0.059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0.279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0.423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0.509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0.284</a:t>
                      </a:r>
                    </a:p>
                  </a:txBody>
                  <a:tcPr marL="50292" marR="50292" marT="32004" marB="32004" anchor="ctr">
                    <a:solidFill>
                      <a:srgbClr val="FFFFFF"/>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rPr>
              <a:t>Đậm: tốt nhất cùng E/ngày · Đỏ: BSS âm · So sánh đủ ba mô hình.</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ĐỦ E0–E7, BA MÔ HÌNH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37</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Ngày 1 · E3–E5 · ba mô hình cùng bảng</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Cùng mẫu 2021–2023 • q=16 mm/24h • Vùng 93 ô xấp xỉ • Chưa chấm 2025</a:t>
            </a:r>
          </a:p>
        </p:txBody>
      </p:sp>
      <p:graphicFrame>
        <p:nvGraphicFramePr>
          <p:cNvPr id="6" name="Table 5"/>
          <p:cNvGraphicFramePr>
            <a:graphicFrameLocks noGrp="1"/>
          </p:cNvGraphicFramePr>
          <p:nvPr/>
        </p:nvGraphicFramePr>
        <p:xfrm>
          <a:off x="502920" y="1463040"/>
          <a:ext cx="11201400" cy="4023360"/>
        </p:xfrm>
        <a:graphic>
          <a:graphicData uri="http://schemas.openxmlformats.org/drawingml/2006/table">
            <a:tbl>
              <a:tblPr firstRow="1" bandRow="1">
                <a:tableStyleId>{5C22544A-7EE6-4342-B048-85BDC9FD1C3A}</a:tableStyleId>
              </a:tblPr>
              <a:tblGrid>
                <a:gridCol w="457200"/>
                <a:gridCol w="1508760"/>
                <a:gridCol w="1154430"/>
                <a:gridCol w="1154430"/>
                <a:gridCol w="1154430"/>
                <a:gridCol w="1154430"/>
                <a:gridCol w="1154430"/>
                <a:gridCol w="1154430"/>
                <a:gridCol w="1154430"/>
                <a:gridCol w="1154430"/>
              </a:tblGrid>
              <a:tr h="402336">
                <a:tc>
                  <a:txBody>
                    <a:bodyPr/>
                    <a:lstStyle/>
                    <a:p>
                      <a:pPr algn="ctr">
                        <a:lnSpc>
                          <a:spcPct val="100000"/>
                        </a:lnSpc>
                        <a:spcBef>
                          <a:spcPts val="0"/>
                        </a:spcBef>
                        <a:spcAft>
                          <a:spcPts val="0"/>
                        </a:spcAft>
                      </a:pPr>
                      <a:r>
                        <a:rPr sz="1720" b="1">
                          <a:solidFill>
                            <a:srgbClr val="FFFFFF"/>
                          </a:solidFill>
                          <a:latin typeface="Arial"/>
                        </a:rPr>
                        <a:t>E</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Mô hình</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RMSE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MAE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Bias ≈0</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BS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BSS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CSI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FAR ↓</a:t>
                      </a:r>
                    </a:p>
                  </a:txBody>
                  <a:tcPr marL="50292" marR="50292" marT="32004" marB="32004" anchor="ctr">
                    <a:solidFill>
                      <a:srgbClr val="123047"/>
                    </a:solidFill>
                  </a:tcPr>
                </a:tc>
              </a:tr>
              <a:tr h="402336">
                <a:tc>
                  <a:txBody>
                    <a:bodyPr/>
                    <a:lstStyle/>
                    <a:p>
                      <a:pPr algn="ctr">
                        <a:lnSpc>
                          <a:spcPct val="100000"/>
                        </a:lnSpc>
                        <a:spcBef>
                          <a:spcPts val="0"/>
                        </a:spcBef>
                        <a:spcAft>
                          <a:spcPts val="0"/>
                        </a:spcAft>
                      </a:pPr>
                      <a:r>
                        <a:rPr sz="1720" b="0">
                          <a:solidFill>
                            <a:srgbClr val="123047"/>
                          </a:solidFill>
                          <a:latin typeface="Arial"/>
                        </a:rPr>
                        <a:t>E3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19.040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6.327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-2.294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0.068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0.175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0.314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0.421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0.448</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E3</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20.737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7.015</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-2.802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0.072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0.133</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0.344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0.579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0.542</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20.829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7.059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-2.736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0.070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0.156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0.374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0.570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0.480</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17.775</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5.758</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-2.111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0.057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0.315</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0.426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0.553</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0.351</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20.438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6.728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-2.516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0.063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0.237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0.426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0.632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0.433</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20.569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6.859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-2.699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0.064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0.228</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0.400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0.544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0.398</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18.012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5.940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-2.010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0.059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0.282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0.413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0.649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0.468</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E5</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20.578</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6.767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-2.944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0.068</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0.171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0.364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0.596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0.518</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20.728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6.915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-2.768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0.066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0.199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0.362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0.518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0.454</a:t>
                      </a:r>
                    </a:p>
                  </a:txBody>
                  <a:tcPr marL="50292" marR="50292" marT="32004" marB="32004" anchor="ctr">
                    <a:solidFill>
                      <a:srgbClr val="FFFFFF"/>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rPr>
              <a:t>Đậm: tốt nhất cùng E/ngày · Đỏ: BSS âm · So sánh đủ ba mô hình.</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ĐỦ E0–E7, BA MÔ HÌNH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38</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Ngày 1 · E6–E7 · ba mô hình cùng bảng</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Cùng mẫu 2021–2023 • q=16 mm/24h • Vùng 93 ô xấp xỉ • Chưa chấm 2025</a:t>
            </a:r>
          </a:p>
        </p:txBody>
      </p:sp>
      <p:graphicFrame>
        <p:nvGraphicFramePr>
          <p:cNvPr id="6" name="Table 5"/>
          <p:cNvGraphicFramePr>
            <a:graphicFrameLocks noGrp="1"/>
          </p:cNvGraphicFramePr>
          <p:nvPr/>
        </p:nvGraphicFramePr>
        <p:xfrm>
          <a:off x="502920" y="1463040"/>
          <a:ext cx="11201400" cy="2816352"/>
        </p:xfrm>
        <a:graphic>
          <a:graphicData uri="http://schemas.openxmlformats.org/drawingml/2006/table">
            <a:tbl>
              <a:tblPr firstRow="1" bandRow="1">
                <a:tableStyleId>{5C22544A-7EE6-4342-B048-85BDC9FD1C3A}</a:tableStyleId>
              </a:tblPr>
              <a:tblGrid>
                <a:gridCol w="457200"/>
                <a:gridCol w="1508760"/>
                <a:gridCol w="1154430"/>
                <a:gridCol w="1154430"/>
                <a:gridCol w="1154430"/>
                <a:gridCol w="1154430"/>
                <a:gridCol w="1154430"/>
                <a:gridCol w="1154430"/>
                <a:gridCol w="1154430"/>
                <a:gridCol w="1154430"/>
              </a:tblGrid>
              <a:tr h="402336">
                <a:tc>
                  <a:txBody>
                    <a:bodyPr/>
                    <a:lstStyle/>
                    <a:p>
                      <a:pPr algn="ctr">
                        <a:lnSpc>
                          <a:spcPct val="100000"/>
                        </a:lnSpc>
                        <a:spcBef>
                          <a:spcPts val="0"/>
                        </a:spcBef>
                        <a:spcAft>
                          <a:spcPts val="0"/>
                        </a:spcAft>
                      </a:pPr>
                      <a:r>
                        <a:rPr sz="1720" b="1">
                          <a:solidFill>
                            <a:srgbClr val="FFFFFF"/>
                          </a:solidFill>
                          <a:latin typeface="Arial"/>
                        </a:rPr>
                        <a:t>E</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Mô hình</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RMSE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MAE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Bias ≈0</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BS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BSS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CSI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FAR ↓</a:t>
                      </a:r>
                    </a:p>
                  </a:txBody>
                  <a:tcPr marL="50292" marR="50292" marT="32004" marB="32004" anchor="ctr">
                    <a:solidFill>
                      <a:srgbClr val="123047"/>
                    </a:solidFill>
                  </a:tcPr>
                </a:tc>
              </a:tr>
              <a:tr h="402336">
                <a:tc>
                  <a:txBody>
                    <a:bodyPr/>
                    <a:lstStyle/>
                    <a:p>
                      <a:pPr algn="ctr">
                        <a:lnSpc>
                          <a:spcPct val="100000"/>
                        </a:lnSpc>
                        <a:spcBef>
                          <a:spcPts val="0"/>
                        </a:spcBef>
                        <a:spcAft>
                          <a:spcPts val="0"/>
                        </a:spcAft>
                      </a:pPr>
                      <a:r>
                        <a:rPr sz="1720" b="0">
                          <a:solidFill>
                            <a:srgbClr val="123047"/>
                          </a:solidFill>
                          <a:latin typeface="Arial"/>
                        </a:rPr>
                        <a:t>E6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17.706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5.795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-1.976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0.057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0.306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0.409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0.570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0.409</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20.269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6.575</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-2.879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0.059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0.280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0.423</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0.553</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0.357</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20.448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6.820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-2.669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0.059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0.284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0.394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0.623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0.482</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17.706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5.731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-2.003</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0.058</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0.303</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0.411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0.526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0.348</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20.361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6.695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-2.710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0.062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0.246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0.406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0.640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0.475</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20.486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6.810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-2.659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0.060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0.278</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0.440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0.614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0.391</a:t>
                      </a:r>
                    </a:p>
                  </a:txBody>
                  <a:tcPr marL="50292" marR="50292" marT="32004" marB="32004" anchor="ctr">
                    <a:solidFill>
                      <a:srgbClr val="EDF2F7"/>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rPr>
              <a:t>Đậm: tốt nhất cùng E/ngày · Đỏ: BSS âm · So sánh đủ ba mô hình.</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ĐỦ E0–E7, BA MÔ HÌNH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39</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Ngày 2 · E0–E2 · ba mô hình cùng bảng</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Cùng mẫu 2021–2023 • q=16 mm/24h • Vùng 93 ô xấp xỉ • Chưa chấm 2025</a:t>
            </a:r>
          </a:p>
        </p:txBody>
      </p:sp>
      <p:graphicFrame>
        <p:nvGraphicFramePr>
          <p:cNvPr id="6" name="Table 5"/>
          <p:cNvGraphicFramePr>
            <a:graphicFrameLocks noGrp="1"/>
          </p:cNvGraphicFramePr>
          <p:nvPr/>
        </p:nvGraphicFramePr>
        <p:xfrm>
          <a:off x="502920" y="1463040"/>
          <a:ext cx="11201400" cy="4023360"/>
        </p:xfrm>
        <a:graphic>
          <a:graphicData uri="http://schemas.openxmlformats.org/drawingml/2006/table">
            <a:tbl>
              <a:tblPr firstRow="1" bandRow="1">
                <a:tableStyleId>{5C22544A-7EE6-4342-B048-85BDC9FD1C3A}</a:tableStyleId>
              </a:tblPr>
              <a:tblGrid>
                <a:gridCol w="457200"/>
                <a:gridCol w="1508760"/>
                <a:gridCol w="1154430"/>
                <a:gridCol w="1154430"/>
                <a:gridCol w="1154430"/>
                <a:gridCol w="1154430"/>
                <a:gridCol w="1154430"/>
                <a:gridCol w="1154430"/>
                <a:gridCol w="1154430"/>
                <a:gridCol w="1154430"/>
              </a:tblGrid>
              <a:tr h="402336">
                <a:tc>
                  <a:txBody>
                    <a:bodyPr/>
                    <a:lstStyle/>
                    <a:p>
                      <a:pPr algn="ctr">
                        <a:lnSpc>
                          <a:spcPct val="100000"/>
                        </a:lnSpc>
                        <a:spcBef>
                          <a:spcPts val="0"/>
                        </a:spcBef>
                        <a:spcAft>
                          <a:spcPts val="0"/>
                        </a:spcAft>
                      </a:pPr>
                      <a:r>
                        <a:rPr sz="1720" b="1">
                          <a:solidFill>
                            <a:srgbClr val="FFFFFF"/>
                          </a:solidFill>
                          <a:latin typeface="Arial"/>
                        </a:rPr>
                        <a:t>E</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Mô hình</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RMSE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MAE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Bias ≈0</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BS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BSS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CSI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FAR ↓</a:t>
                      </a:r>
                    </a:p>
                  </a:txBody>
                  <a:tcPr marL="50292" marR="50292" marT="32004" marB="32004" anchor="ctr">
                    <a:solidFill>
                      <a:srgbClr val="123047"/>
                    </a:solidFill>
                  </a:tcPr>
                </a:tc>
              </a:tr>
              <a:tr h="402336">
                <a:tc>
                  <a:txBody>
                    <a:bodyPr/>
                    <a:lstStyle/>
                    <a:p>
                      <a:pPr algn="ctr">
                        <a:lnSpc>
                          <a:spcPct val="100000"/>
                        </a:lnSpc>
                        <a:spcBef>
                          <a:spcPts val="0"/>
                        </a:spcBef>
                        <a:spcAft>
                          <a:spcPts val="0"/>
                        </a:spcAft>
                      </a:pPr>
                      <a:r>
                        <a:rPr sz="1720" b="0">
                          <a:solidFill>
                            <a:srgbClr val="123047"/>
                          </a:solidFill>
                          <a:latin typeface="Arial"/>
                        </a:rPr>
                        <a:t>E0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21.204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7.415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-2.701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0.084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AD3434"/>
                          </a:solidFill>
                          <a:latin typeface="Arial"/>
                        </a:rPr>
                        <a:t>-0.015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0.243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0.535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0.692</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21.149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7.710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-2.054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0.081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0.018</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0.252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0.491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0.659</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21.294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7.568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-2.522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0.081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0.020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0.264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0.526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0.653</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21.374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7.502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-2.726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0.086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AD3434"/>
                          </a:solidFill>
                          <a:latin typeface="Arial"/>
                        </a:rPr>
                        <a:t>-0.034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0.218</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0.404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0.678</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21.087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7.476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-2.349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0.079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0.041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0.243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0.439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0.648</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21.260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7.703</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-2.239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0.082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0.013</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0.260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0.579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0.680</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20.579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7.093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-2.633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0.078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0.060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0.276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0.439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0.573</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21.044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7.409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-2.351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0.079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0.047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0.254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0.395</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0.583</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21.126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7.653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-2.156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0.080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0.038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0.275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0.509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0.626</a:t>
                      </a:r>
                    </a:p>
                  </a:txBody>
                  <a:tcPr marL="50292" marR="50292" marT="32004" marB="32004" anchor="ctr">
                    <a:solidFill>
                      <a:srgbClr val="FFFFFF"/>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rPr>
              <a:t>Đậm: tốt nhất cùng E/ngày · Đỏ: BSS âm · So sánh đủ ba mô hình.</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ĐỦ E0–E7, BA MÔ HÌNH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40</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Ngày 2 · E3–E5 · ba mô hình cùng bảng</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Cùng mẫu 2021–2023 • q=16 mm/24h • Vùng 93 ô xấp xỉ • Chưa chấm 2025</a:t>
            </a:r>
          </a:p>
        </p:txBody>
      </p:sp>
      <p:graphicFrame>
        <p:nvGraphicFramePr>
          <p:cNvPr id="6" name="Table 5"/>
          <p:cNvGraphicFramePr>
            <a:graphicFrameLocks noGrp="1"/>
          </p:cNvGraphicFramePr>
          <p:nvPr/>
        </p:nvGraphicFramePr>
        <p:xfrm>
          <a:off x="502920" y="1463040"/>
          <a:ext cx="11201400" cy="4023360"/>
        </p:xfrm>
        <a:graphic>
          <a:graphicData uri="http://schemas.openxmlformats.org/drawingml/2006/table">
            <a:tbl>
              <a:tblPr firstRow="1" bandRow="1">
                <a:tableStyleId>{5C22544A-7EE6-4342-B048-85BDC9FD1C3A}</a:tableStyleId>
              </a:tblPr>
              <a:tblGrid>
                <a:gridCol w="457200"/>
                <a:gridCol w="1508760"/>
                <a:gridCol w="1154430"/>
                <a:gridCol w="1154430"/>
                <a:gridCol w="1154430"/>
                <a:gridCol w="1154430"/>
                <a:gridCol w="1154430"/>
                <a:gridCol w="1154430"/>
                <a:gridCol w="1154430"/>
                <a:gridCol w="1154430"/>
              </a:tblGrid>
              <a:tr h="402336">
                <a:tc>
                  <a:txBody>
                    <a:bodyPr/>
                    <a:lstStyle/>
                    <a:p>
                      <a:pPr algn="ctr">
                        <a:lnSpc>
                          <a:spcPct val="100000"/>
                        </a:lnSpc>
                        <a:spcBef>
                          <a:spcPts val="0"/>
                        </a:spcBef>
                        <a:spcAft>
                          <a:spcPts val="0"/>
                        </a:spcAft>
                      </a:pPr>
                      <a:r>
                        <a:rPr sz="1720" b="1">
                          <a:solidFill>
                            <a:srgbClr val="FFFFFF"/>
                          </a:solidFill>
                          <a:latin typeface="Arial"/>
                        </a:rPr>
                        <a:t>E</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Mô hình</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RMSE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MAE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Bias ≈0</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BS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BSS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CSI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FAR ↓</a:t>
                      </a:r>
                    </a:p>
                  </a:txBody>
                  <a:tcPr marL="50292" marR="50292" marT="32004" marB="32004" anchor="ctr">
                    <a:solidFill>
                      <a:srgbClr val="123047"/>
                    </a:solidFill>
                  </a:tcPr>
                </a:tc>
              </a:tr>
              <a:tr h="402336">
                <a:tc>
                  <a:txBody>
                    <a:bodyPr/>
                    <a:lstStyle/>
                    <a:p>
                      <a:pPr algn="ctr">
                        <a:lnSpc>
                          <a:spcPct val="100000"/>
                        </a:lnSpc>
                        <a:spcBef>
                          <a:spcPts val="0"/>
                        </a:spcBef>
                        <a:spcAft>
                          <a:spcPts val="0"/>
                        </a:spcAft>
                      </a:pPr>
                      <a:r>
                        <a:rPr sz="1720" b="0">
                          <a:solidFill>
                            <a:srgbClr val="123047"/>
                          </a:solidFill>
                          <a:latin typeface="Arial"/>
                        </a:rPr>
                        <a:t>E3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21.152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7.473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-2.553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0.086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AD3434"/>
                          </a:solidFill>
                          <a:latin typeface="Arial"/>
                        </a:rPr>
                        <a:t>-0.038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0.247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0.482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0.665</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E3</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21.151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7.487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-2.445</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0.080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0.027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0.242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0.482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0.673</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21.224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7.624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-2.241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0.080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0.031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0.283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0.588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0.647</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20.758</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7.169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-2.661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0.079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0.046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0.295</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0.500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0.581</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21.125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7.648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-1.980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0.081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0.023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0.257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0.430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0.611</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21.194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7.730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-2.145</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0.082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0.014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0.224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0.447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0.691</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21.351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7.509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-2.651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0.086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AD3434"/>
                          </a:solidFill>
                          <a:latin typeface="Arial"/>
                        </a:rPr>
                        <a:t>-0.035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0.252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0.491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0.659</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E5</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21.089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7.521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-2.400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0.081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0.026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0.247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0.474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0.660</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21.242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7.632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-2.287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0.082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0.012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0.248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0.439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0.638</a:t>
                      </a:r>
                    </a:p>
                  </a:txBody>
                  <a:tcPr marL="50292" marR="50292" marT="32004" marB="32004" anchor="ctr">
                    <a:solidFill>
                      <a:srgbClr val="FFFFFF"/>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rPr>
              <a:t>Đậm: tốt nhất cùng E/ngày · Đỏ: BSS âm · So sánh đủ ba mô hình.</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ĐỦ E0–E7, BA MÔ HÌNH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41</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Ngày 2 · E6–E7 · ba mô hình cùng bảng</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Cùng mẫu 2021–2023 • q=16 mm/24h • Vùng 93 ô xấp xỉ • Chưa chấm 2025</a:t>
            </a:r>
          </a:p>
        </p:txBody>
      </p:sp>
      <p:graphicFrame>
        <p:nvGraphicFramePr>
          <p:cNvPr id="6" name="Table 5"/>
          <p:cNvGraphicFramePr>
            <a:graphicFrameLocks noGrp="1"/>
          </p:cNvGraphicFramePr>
          <p:nvPr/>
        </p:nvGraphicFramePr>
        <p:xfrm>
          <a:off x="502920" y="1463040"/>
          <a:ext cx="11201400" cy="2816352"/>
        </p:xfrm>
        <a:graphic>
          <a:graphicData uri="http://schemas.openxmlformats.org/drawingml/2006/table">
            <a:tbl>
              <a:tblPr firstRow="1" bandRow="1">
                <a:tableStyleId>{5C22544A-7EE6-4342-B048-85BDC9FD1C3A}</a:tableStyleId>
              </a:tblPr>
              <a:tblGrid>
                <a:gridCol w="457200"/>
                <a:gridCol w="1508760"/>
                <a:gridCol w="1154430"/>
                <a:gridCol w="1154430"/>
                <a:gridCol w="1154430"/>
                <a:gridCol w="1154430"/>
                <a:gridCol w="1154430"/>
                <a:gridCol w="1154430"/>
                <a:gridCol w="1154430"/>
                <a:gridCol w="1154430"/>
              </a:tblGrid>
              <a:tr h="402336">
                <a:tc>
                  <a:txBody>
                    <a:bodyPr/>
                    <a:lstStyle/>
                    <a:p>
                      <a:pPr algn="ctr">
                        <a:lnSpc>
                          <a:spcPct val="100000"/>
                        </a:lnSpc>
                        <a:spcBef>
                          <a:spcPts val="0"/>
                        </a:spcBef>
                        <a:spcAft>
                          <a:spcPts val="0"/>
                        </a:spcAft>
                      </a:pPr>
                      <a:r>
                        <a:rPr sz="1720" b="1">
                          <a:solidFill>
                            <a:srgbClr val="FFFFFF"/>
                          </a:solidFill>
                          <a:latin typeface="Arial"/>
                        </a:rPr>
                        <a:t>E</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Mô hình</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RMSE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MAE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Bias ≈0</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BS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BSS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CSI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FAR ↓</a:t>
                      </a:r>
                    </a:p>
                  </a:txBody>
                  <a:tcPr marL="50292" marR="50292" marT="32004" marB="32004" anchor="ctr">
                    <a:solidFill>
                      <a:srgbClr val="123047"/>
                    </a:solidFill>
                  </a:tcPr>
                </a:tc>
              </a:tr>
              <a:tr h="402336">
                <a:tc>
                  <a:txBody>
                    <a:bodyPr/>
                    <a:lstStyle/>
                    <a:p>
                      <a:pPr algn="ctr">
                        <a:lnSpc>
                          <a:spcPct val="100000"/>
                        </a:lnSpc>
                        <a:spcBef>
                          <a:spcPts val="0"/>
                        </a:spcBef>
                        <a:spcAft>
                          <a:spcPts val="0"/>
                        </a:spcAft>
                      </a:pPr>
                      <a:r>
                        <a:rPr sz="1720" b="0">
                          <a:solidFill>
                            <a:srgbClr val="123047"/>
                          </a:solidFill>
                          <a:latin typeface="Arial"/>
                        </a:rPr>
                        <a:t>E6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20.631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7.130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-2.592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0.078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0.056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0.251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0.421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0.616</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20.958</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7.354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-2.455</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0.078</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0.054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0.246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0.368</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0.576</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21.162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7.630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-2.272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0.078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0.062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0.255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0.535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0.672</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20.756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7.238</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-2.551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0.079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0.043</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0.277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0.456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0.587</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21.018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7.566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-2.105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0.080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0.028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0.257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0.509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0.659</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21.190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7.717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-2.069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0.081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0.025</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0.239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0.447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0.660</a:t>
                      </a:r>
                    </a:p>
                  </a:txBody>
                  <a:tcPr marL="50292" marR="50292" marT="32004" marB="32004" anchor="ctr">
                    <a:solidFill>
                      <a:srgbClr val="EDF2F7"/>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rPr>
              <a:t>Đậm: tốt nhất cùng E/ngày · Đỏ: BSS âm · So sánh đủ ba mô hình.</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ĐỦ E0–E7, BA MÔ HÌNH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42</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Ngày 3 · E0–E2 · ba mô hình cùng bảng</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Cùng mẫu 2021–2023 • q=16 mm/24h • Vùng 93 ô xấp xỉ • Chưa chấm 2025</a:t>
            </a:r>
          </a:p>
        </p:txBody>
      </p:sp>
      <p:graphicFrame>
        <p:nvGraphicFramePr>
          <p:cNvPr id="6" name="Table 5"/>
          <p:cNvGraphicFramePr>
            <a:graphicFrameLocks noGrp="1"/>
          </p:cNvGraphicFramePr>
          <p:nvPr/>
        </p:nvGraphicFramePr>
        <p:xfrm>
          <a:off x="502920" y="1463040"/>
          <a:ext cx="11201400" cy="4023360"/>
        </p:xfrm>
        <a:graphic>
          <a:graphicData uri="http://schemas.openxmlformats.org/drawingml/2006/table">
            <a:tbl>
              <a:tblPr firstRow="1" bandRow="1">
                <a:tableStyleId>{5C22544A-7EE6-4342-B048-85BDC9FD1C3A}</a:tableStyleId>
              </a:tblPr>
              <a:tblGrid>
                <a:gridCol w="457200"/>
                <a:gridCol w="1508760"/>
                <a:gridCol w="1154430"/>
                <a:gridCol w="1154430"/>
                <a:gridCol w="1154430"/>
                <a:gridCol w="1154430"/>
                <a:gridCol w="1154430"/>
                <a:gridCol w="1154430"/>
                <a:gridCol w="1154430"/>
                <a:gridCol w="1154430"/>
              </a:tblGrid>
              <a:tr h="402336">
                <a:tc>
                  <a:txBody>
                    <a:bodyPr/>
                    <a:lstStyle/>
                    <a:p>
                      <a:pPr algn="ctr">
                        <a:lnSpc>
                          <a:spcPct val="100000"/>
                        </a:lnSpc>
                        <a:spcBef>
                          <a:spcPts val="0"/>
                        </a:spcBef>
                        <a:spcAft>
                          <a:spcPts val="0"/>
                        </a:spcAft>
                      </a:pPr>
                      <a:r>
                        <a:rPr sz="1720" b="1">
                          <a:solidFill>
                            <a:srgbClr val="FFFFFF"/>
                          </a:solidFill>
                          <a:latin typeface="Arial"/>
                        </a:rPr>
                        <a:t>E</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Mô hình</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RMSE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MAE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Bias ≈0</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BS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BSS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CSI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FAR ↓</a:t>
                      </a:r>
                    </a:p>
                  </a:txBody>
                  <a:tcPr marL="50292" marR="50292" marT="32004" marB="32004" anchor="ctr">
                    <a:solidFill>
                      <a:srgbClr val="123047"/>
                    </a:solidFill>
                  </a:tcPr>
                </a:tc>
              </a:tr>
              <a:tr h="402336">
                <a:tc>
                  <a:txBody>
                    <a:bodyPr/>
                    <a:lstStyle/>
                    <a:p>
                      <a:pPr algn="ctr">
                        <a:lnSpc>
                          <a:spcPct val="100000"/>
                        </a:lnSpc>
                        <a:spcBef>
                          <a:spcPts val="0"/>
                        </a:spcBef>
                        <a:spcAft>
                          <a:spcPts val="0"/>
                        </a:spcAft>
                      </a:pPr>
                      <a:r>
                        <a:rPr sz="1720" b="0">
                          <a:solidFill>
                            <a:srgbClr val="123047"/>
                          </a:solidFill>
                          <a:latin typeface="Arial"/>
                        </a:rPr>
                        <a:t>E0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21.637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7.658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-2.780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0.087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AD3434"/>
                          </a:solidFill>
                          <a:latin typeface="Arial"/>
                        </a:rPr>
                        <a:t>-0.053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0.173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0.430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0.775</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21.292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8.130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-1.612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0.086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AD3434"/>
                          </a:solidFill>
                          <a:latin typeface="Arial"/>
                        </a:rPr>
                        <a:t>-0.034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0.197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0.412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0.725</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21.343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7.853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-2.205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0.084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AD3434"/>
                          </a:solidFill>
                          <a:latin typeface="Arial"/>
                        </a:rPr>
                        <a:t>-0.020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0.260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0.588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0.682</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21.734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7.724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-2.822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0.089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AD3434"/>
                          </a:solidFill>
                          <a:latin typeface="Arial"/>
                        </a:rPr>
                        <a:t>-0.071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0.241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0.518</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0.689</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21.287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7.947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-1.935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0.085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AD3434"/>
                          </a:solidFill>
                          <a:latin typeface="Arial"/>
                        </a:rPr>
                        <a:t>-0.028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0.231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0.544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0.713</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21.360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7.955</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-1.982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0.085</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AD3434"/>
                          </a:solidFill>
                          <a:latin typeface="Arial"/>
                        </a:rPr>
                        <a:t>-0.022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0.250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0.544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0.684</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21.759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7.780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-2.819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0.088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AD3434"/>
                          </a:solidFill>
                          <a:latin typeface="Arial"/>
                        </a:rPr>
                        <a:t>-0.061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0.205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0.482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0.737</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21.344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7.985</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-1.797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0.085</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AD3434"/>
                          </a:solidFill>
                          <a:latin typeface="Arial"/>
                        </a:rPr>
                        <a:t>-0.030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0.206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0.412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0.708</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21.303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8.077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-1.752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0.083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AD3434"/>
                          </a:solidFill>
                          <a:latin typeface="Arial"/>
                        </a:rPr>
                        <a:t>-0.006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0.228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0.526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0.713</a:t>
                      </a:r>
                    </a:p>
                  </a:txBody>
                  <a:tcPr marL="50292" marR="50292" marT="32004" marB="32004" anchor="ctr">
                    <a:solidFill>
                      <a:srgbClr val="FFFFFF"/>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rPr>
              <a:t>Đậm: tốt nhất cùng E/ngày · Đỏ: BSS âm · So sánh đủ ba mô hình.</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ĐỦ E0–E7, BA MÔ HÌNH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43</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Ngày 3 · E3–E5 · ba mô hình cùng bảng</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Cùng mẫu 2021–2023 • q=16 mm/24h • Vùng 93 ô xấp xỉ • Chưa chấm 2025</a:t>
            </a:r>
          </a:p>
        </p:txBody>
      </p:sp>
      <p:graphicFrame>
        <p:nvGraphicFramePr>
          <p:cNvPr id="6" name="Table 5"/>
          <p:cNvGraphicFramePr>
            <a:graphicFrameLocks noGrp="1"/>
          </p:cNvGraphicFramePr>
          <p:nvPr/>
        </p:nvGraphicFramePr>
        <p:xfrm>
          <a:off x="502920" y="1463040"/>
          <a:ext cx="11201400" cy="4023360"/>
        </p:xfrm>
        <a:graphic>
          <a:graphicData uri="http://schemas.openxmlformats.org/drawingml/2006/table">
            <a:tbl>
              <a:tblPr firstRow="1" bandRow="1">
                <a:tableStyleId>{5C22544A-7EE6-4342-B048-85BDC9FD1C3A}</a:tableStyleId>
              </a:tblPr>
              <a:tblGrid>
                <a:gridCol w="457200"/>
                <a:gridCol w="1508760"/>
                <a:gridCol w="1154430"/>
                <a:gridCol w="1154430"/>
                <a:gridCol w="1154430"/>
                <a:gridCol w="1154430"/>
                <a:gridCol w="1154430"/>
                <a:gridCol w="1154430"/>
                <a:gridCol w="1154430"/>
                <a:gridCol w="1154430"/>
              </a:tblGrid>
              <a:tr h="402336">
                <a:tc>
                  <a:txBody>
                    <a:bodyPr/>
                    <a:lstStyle/>
                    <a:p>
                      <a:pPr algn="ctr">
                        <a:lnSpc>
                          <a:spcPct val="100000"/>
                        </a:lnSpc>
                        <a:spcBef>
                          <a:spcPts val="0"/>
                        </a:spcBef>
                        <a:spcAft>
                          <a:spcPts val="0"/>
                        </a:spcAft>
                      </a:pPr>
                      <a:r>
                        <a:rPr sz="1720" b="1">
                          <a:solidFill>
                            <a:srgbClr val="FFFFFF"/>
                          </a:solidFill>
                          <a:latin typeface="Arial"/>
                        </a:rPr>
                        <a:t>E</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Mô hình</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RMSE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MAE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Bias ≈0</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BS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BSS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CSI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FAR ↓</a:t>
                      </a:r>
                    </a:p>
                  </a:txBody>
                  <a:tcPr marL="50292" marR="50292" marT="32004" marB="32004" anchor="ctr">
                    <a:solidFill>
                      <a:srgbClr val="123047"/>
                    </a:solidFill>
                  </a:tcPr>
                </a:tc>
              </a:tr>
              <a:tr h="402336">
                <a:tc>
                  <a:txBody>
                    <a:bodyPr/>
                    <a:lstStyle/>
                    <a:p>
                      <a:pPr algn="ctr">
                        <a:lnSpc>
                          <a:spcPct val="100000"/>
                        </a:lnSpc>
                        <a:spcBef>
                          <a:spcPts val="0"/>
                        </a:spcBef>
                        <a:spcAft>
                          <a:spcPts val="0"/>
                        </a:spcAft>
                      </a:pPr>
                      <a:r>
                        <a:rPr sz="1720" b="0">
                          <a:solidFill>
                            <a:srgbClr val="123047"/>
                          </a:solidFill>
                          <a:latin typeface="Arial"/>
                        </a:rPr>
                        <a:t>E3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21.724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7.742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-2.719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0.086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AD3434"/>
                          </a:solidFill>
                          <a:latin typeface="Arial"/>
                        </a:rPr>
                        <a:t>-0.037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0.184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0.377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0.736</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E3</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21.270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7.849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-2.124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0.085</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AD3434"/>
                          </a:solidFill>
                          <a:latin typeface="Arial"/>
                        </a:rPr>
                        <a:t>-0.026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0.206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0.474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0.733</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21.293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7.921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-1.917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0.083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AD3434"/>
                          </a:solidFill>
                          <a:latin typeface="Arial"/>
                        </a:rPr>
                        <a:t>-0.003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0.243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0.535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0.692</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21.642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7.689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-2.832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0.088</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AD3434"/>
                          </a:solidFill>
                          <a:latin typeface="Arial"/>
                        </a:rPr>
                        <a:t>-0.061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0.211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0.518</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0.738</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21.383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8.188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-1.459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0.085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AD3434"/>
                          </a:solidFill>
                          <a:latin typeface="Arial"/>
                        </a:rPr>
                        <a:t>-0.029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0.221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0.509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0.718</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21.335</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8.001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-1.940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0.084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AD3434"/>
                          </a:solidFill>
                          <a:latin typeface="Arial"/>
                        </a:rPr>
                        <a:t>-0.017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0.233</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0.518</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0.702</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21.779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7.649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-2.920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0.088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AD3434"/>
                          </a:solidFill>
                          <a:latin typeface="Arial"/>
                        </a:rPr>
                        <a:t>-0.063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0.231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0.588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0.724</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E5</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21.246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7.996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-1.838</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0.085</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AD3434"/>
                          </a:solidFill>
                          <a:latin typeface="Arial"/>
                        </a:rPr>
                        <a:t>-0.028</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0.196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0.456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0.744</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21.354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7.913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-2.011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0.085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AD3434"/>
                          </a:solidFill>
                          <a:latin typeface="Arial"/>
                        </a:rPr>
                        <a:t>-0.022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0.223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0.456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0.696</a:t>
                      </a:r>
                    </a:p>
                  </a:txBody>
                  <a:tcPr marL="50292" marR="50292" marT="32004" marB="32004" anchor="ctr">
                    <a:solidFill>
                      <a:srgbClr val="FFFFFF"/>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rPr>
              <a:t>Đậm: tốt nhất cùng E/ngày · Đỏ: BSS âm · So sánh đủ ba mô hình.</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ĐỦ E0–E7, BA MÔ HÌNH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44</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Ngày 3 · E6–E7 · ba mô hình cùng bảng</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Cùng mẫu 2021–2023 • q=16 mm/24h • Vùng 93 ô xấp xỉ • Chưa chấm 2025</a:t>
            </a:r>
          </a:p>
        </p:txBody>
      </p:sp>
      <p:graphicFrame>
        <p:nvGraphicFramePr>
          <p:cNvPr id="6" name="Table 5"/>
          <p:cNvGraphicFramePr>
            <a:graphicFrameLocks noGrp="1"/>
          </p:cNvGraphicFramePr>
          <p:nvPr/>
        </p:nvGraphicFramePr>
        <p:xfrm>
          <a:off x="502920" y="1463040"/>
          <a:ext cx="11201400" cy="2816352"/>
        </p:xfrm>
        <a:graphic>
          <a:graphicData uri="http://schemas.openxmlformats.org/drawingml/2006/table">
            <a:tbl>
              <a:tblPr firstRow="1" bandRow="1">
                <a:tableStyleId>{5C22544A-7EE6-4342-B048-85BDC9FD1C3A}</a:tableStyleId>
              </a:tblPr>
              <a:tblGrid>
                <a:gridCol w="457200"/>
                <a:gridCol w="1508760"/>
                <a:gridCol w="1154430"/>
                <a:gridCol w="1154430"/>
                <a:gridCol w="1154430"/>
                <a:gridCol w="1154430"/>
                <a:gridCol w="1154430"/>
                <a:gridCol w="1154430"/>
                <a:gridCol w="1154430"/>
                <a:gridCol w="1154430"/>
              </a:tblGrid>
              <a:tr h="402336">
                <a:tc>
                  <a:txBody>
                    <a:bodyPr/>
                    <a:lstStyle/>
                    <a:p>
                      <a:pPr algn="ctr">
                        <a:lnSpc>
                          <a:spcPct val="100000"/>
                        </a:lnSpc>
                        <a:spcBef>
                          <a:spcPts val="0"/>
                        </a:spcBef>
                        <a:spcAft>
                          <a:spcPts val="0"/>
                        </a:spcAft>
                      </a:pPr>
                      <a:r>
                        <a:rPr sz="1720" b="1">
                          <a:solidFill>
                            <a:srgbClr val="FFFFFF"/>
                          </a:solidFill>
                          <a:latin typeface="Arial"/>
                        </a:rPr>
                        <a:t>E</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Mô hình</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RMSE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MAE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Bias ≈0</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BS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BSS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CSI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FAR ↓</a:t>
                      </a:r>
                    </a:p>
                  </a:txBody>
                  <a:tcPr marL="50292" marR="50292" marT="32004" marB="32004" anchor="ctr">
                    <a:solidFill>
                      <a:srgbClr val="123047"/>
                    </a:solidFill>
                  </a:tcPr>
                </a:tc>
              </a:tr>
              <a:tr h="402336">
                <a:tc>
                  <a:txBody>
                    <a:bodyPr/>
                    <a:lstStyle/>
                    <a:p>
                      <a:pPr algn="ctr">
                        <a:lnSpc>
                          <a:spcPct val="100000"/>
                        </a:lnSpc>
                        <a:spcBef>
                          <a:spcPts val="0"/>
                        </a:spcBef>
                        <a:spcAft>
                          <a:spcPts val="0"/>
                        </a:spcAft>
                      </a:pPr>
                      <a:r>
                        <a:rPr sz="1720" b="0">
                          <a:solidFill>
                            <a:srgbClr val="123047"/>
                          </a:solidFill>
                          <a:latin typeface="Arial"/>
                        </a:rPr>
                        <a:t>E6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21.807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7.733</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-2.847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0.087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AD3434"/>
                          </a:solidFill>
                          <a:latin typeface="Arial"/>
                        </a:rPr>
                        <a:t>-0.050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0.231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0.544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0.713</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21.237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7.926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-1.886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0.084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AD3434"/>
                          </a:solidFill>
                          <a:latin typeface="Arial"/>
                        </a:rPr>
                        <a:t>-0.016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0.227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0.491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0.704</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21.349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8.059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-1.849</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0.082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0.004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0.255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0.632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0.700</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LightGBM</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21.742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7.666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-2.900</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0.089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AD3434"/>
                          </a:solidFill>
                          <a:latin typeface="Arial"/>
                        </a:rPr>
                        <a:t>-0.075</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0.203</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0.482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0.741</a:t>
                      </a:r>
                    </a:p>
                  </a:txBody>
                  <a:tcPr marL="50292" marR="50292" marT="32004" marB="32004" anchor="ctr">
                    <a:solidFill>
                      <a:srgbClr val="EDF2F7"/>
                    </a:solidFill>
                  </a:tcPr>
                </a:tc>
              </a:tr>
              <a:tr h="402336">
                <a:tc>
                  <a:txBody>
                    <a:bodyPr/>
                    <a:lstStyle/>
                    <a:p>
                      <a:pPr algn="ctr">
                        <a:lnSpc>
                          <a:spcPct val="100000"/>
                        </a:lnSpc>
                        <a:spcBef>
                          <a:spcPts val="0"/>
                        </a:spcBef>
                        <a:spcAft>
                          <a:spcPts val="0"/>
                        </a:spcAft>
                      </a:pPr>
                      <a:r>
                        <a:rPr sz="1720" b="0">
                          <a:solidFill>
                            <a:srgbClr val="123047"/>
                          </a:solidFill>
                          <a:latin typeface="Arial"/>
                        </a:rPr>
                        <a:t>E7</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TFT</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21.321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8.104</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-1.565</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0.086</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AD3434"/>
                          </a:solidFill>
                          <a:latin typeface="Arial"/>
                        </a:rPr>
                        <a:t>-0.038</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0.201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0.412</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0.719</a:t>
                      </a:r>
                    </a:p>
                  </a:txBody>
                  <a:tcPr marL="50292" marR="50292" marT="32004" marB="32004" anchor="ctr">
                    <a:solidFill>
                      <a:srgbClr val="FFFFFF"/>
                    </a:solidFill>
                  </a:tcPr>
                </a:tc>
              </a:tr>
              <a:tr h="402336">
                <a:tc>
                  <a:txBody>
                    <a:bodyPr/>
                    <a:lstStyle/>
                    <a:p>
                      <a:pPr algn="ctr">
                        <a:lnSpc>
                          <a:spcPct val="100000"/>
                        </a:lnSpc>
                        <a:spcBef>
                          <a:spcPts val="0"/>
                        </a:spcBef>
                        <a:spcAft>
                          <a:spcPts val="0"/>
                        </a:spcAft>
                      </a:pPr>
                      <a:r>
                        <a:rPr sz="1720" b="0">
                          <a:solidFill>
                            <a:srgbClr val="123047"/>
                          </a:solidFill>
                          <a:latin typeface="Arial"/>
                        </a:rPr>
                        <a:t>E7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Informer</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21.347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8.051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-1.797</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0.084</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AD3434"/>
                          </a:solidFill>
                          <a:latin typeface="Arial"/>
                        </a:rPr>
                        <a:t>-0.019</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0.216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0.456</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0.709</a:t>
                      </a:r>
                    </a:p>
                  </a:txBody>
                  <a:tcPr marL="50292" marR="50292" marT="32004" marB="32004" anchor="ctr">
                    <a:solidFill>
                      <a:srgbClr val="EDF2F7"/>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rPr>
              <a:t>Đậm: tốt nhất cùng E/ngày · Đỏ: BSS âm · So sánh đủ ba mô hình.</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TRA CỨU ĐẶC TRƯNG</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45</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Danh mục B và A: 23 biến</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Nguồn: feature_catalog.csv • Có tên cột V1 và đơn vị trong Excel 18 sheet</a:t>
            </a:r>
          </a:p>
        </p:txBody>
      </p:sp>
      <p:graphicFrame>
        <p:nvGraphicFramePr>
          <p:cNvPr id="6" name="Table 5"/>
          <p:cNvGraphicFramePr>
            <a:graphicFrameLocks noGrp="1"/>
          </p:cNvGraphicFramePr>
          <p:nvPr/>
        </p:nvGraphicFramePr>
        <p:xfrm>
          <a:off x="502920" y="1463040"/>
          <a:ext cx="5486400" cy="4160520"/>
        </p:xfrm>
        <a:graphic>
          <a:graphicData uri="http://schemas.openxmlformats.org/drawingml/2006/table">
            <a:tbl>
              <a:tblPr firstRow="1" bandRow="1">
                <a:tableStyleId>{5C22544A-7EE6-4342-B048-85BDC9FD1C3A}</a:tableStyleId>
              </a:tblPr>
              <a:tblGrid>
                <a:gridCol w="566928"/>
                <a:gridCol w="3611880"/>
                <a:gridCol w="1307592"/>
              </a:tblGrid>
              <a:tr h="320040">
                <a:tc>
                  <a:txBody>
                    <a:bodyPr/>
                    <a:lstStyle/>
                    <a:p>
                      <a:pPr algn="ctr">
                        <a:lnSpc>
                          <a:spcPct val="100000"/>
                        </a:lnSpc>
                        <a:spcBef>
                          <a:spcPts val="0"/>
                        </a:spcBef>
                        <a:spcAft>
                          <a:spcPts val="0"/>
                        </a:spcAft>
                      </a:pPr>
                      <a:r>
                        <a:rPr sz="1500" b="1">
                          <a:solidFill>
                            <a:srgbClr val="FFFFFF"/>
                          </a:solidFill>
                          <a:latin typeface="Arial"/>
                        </a:rPr>
                        <a:t>Nhóm</a:t>
                      </a:r>
                    </a:p>
                  </a:txBody>
                  <a:tcPr marL="50292" marR="50292" marT="32004" marB="32004" anchor="ctr">
                    <a:solidFill>
                      <a:srgbClr val="123047"/>
                    </a:solidFill>
                  </a:tcPr>
                </a:tc>
                <a:tc>
                  <a:txBody>
                    <a:bodyPr/>
                    <a:lstStyle/>
                    <a:p>
                      <a:pPr algn="ctr">
                        <a:lnSpc>
                          <a:spcPct val="100000"/>
                        </a:lnSpc>
                        <a:spcBef>
                          <a:spcPts val="0"/>
                        </a:spcBef>
                        <a:spcAft>
                          <a:spcPts val="0"/>
                        </a:spcAft>
                      </a:pPr>
                      <a:r>
                        <a:rPr sz="1500" b="1">
                          <a:solidFill>
                            <a:srgbClr val="FFFFFF"/>
                          </a:solidFill>
                          <a:latin typeface="Arial"/>
                        </a:rPr>
                        <a:t>Biến gốc</a:t>
                      </a:r>
                    </a:p>
                  </a:txBody>
                  <a:tcPr marL="50292" marR="50292" marT="32004" marB="32004" anchor="ctr">
                    <a:solidFill>
                      <a:srgbClr val="123047"/>
                    </a:solidFill>
                  </a:tcPr>
                </a:tc>
                <a:tc>
                  <a:txBody>
                    <a:bodyPr/>
                    <a:lstStyle/>
                    <a:p>
                      <a:pPr algn="ctr">
                        <a:lnSpc>
                          <a:spcPct val="100000"/>
                        </a:lnSpc>
                        <a:spcBef>
                          <a:spcPts val="0"/>
                        </a:spcBef>
                        <a:spcAft>
                          <a:spcPts val="0"/>
                        </a:spcAft>
                      </a:pPr>
                      <a:r>
                        <a:rPr sz="1500" b="1">
                          <a:solidFill>
                            <a:srgbClr val="FFFFFF"/>
                          </a:solidFill>
                          <a:latin typeface="Arial"/>
                        </a:rPr>
                        <a:t>Đơn vị</a:t>
                      </a:r>
                    </a:p>
                  </a:txBody>
                  <a:tcPr marL="50292" marR="50292" marT="32004" marB="32004" anchor="ctr">
                    <a:solidFill>
                      <a:srgbClr val="123047"/>
                    </a:solidFill>
                  </a:tcPr>
                </a:tc>
              </a:tr>
              <a:tr h="320040">
                <a:tc>
                  <a:txBody>
                    <a:bodyPr/>
                    <a:lstStyle/>
                    <a:p>
                      <a:pPr algn="ctr">
                        <a:lnSpc>
                          <a:spcPct val="100000"/>
                        </a:lnSpc>
                        <a:spcBef>
                          <a:spcPts val="0"/>
                        </a:spcBef>
                        <a:spcAft>
                          <a:spcPts val="0"/>
                        </a:spcAft>
                      </a:pPr>
                      <a:r>
                        <a:rPr sz="1500" b="0">
                          <a:solidFill>
                            <a:srgbClr val="123047"/>
                          </a:solidFill>
                          <a:latin typeface="Arial"/>
                        </a:rPr>
                        <a:t>B</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t2m_c</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°C</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B</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td2m_c</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°C</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B</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rh2m_pct</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B</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sp_hpa</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hPa</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B</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mslp_hpa</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hPa</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B</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u10</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m/s</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B</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v10</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m/s</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B</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sin_hour</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dimensionless</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B</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cos_hour</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dimensionless</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B</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sin_doy</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dimensionless</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B</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cos_doy</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dimensionless</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cape</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J/kg</a:t>
                      </a:r>
                    </a:p>
                  </a:txBody>
                  <a:tcPr marL="50292" marR="50292" marT="32004" marB="32004" anchor="ctr">
                    <a:solidFill>
                      <a:srgbClr val="EDF2F7"/>
                    </a:solidFill>
                  </a:tcPr>
                </a:tc>
              </a:tr>
            </a:tbl>
          </a:graphicData>
        </a:graphic>
      </p:graphicFrame>
      <p:graphicFrame>
        <p:nvGraphicFramePr>
          <p:cNvPr id="7" name="Table 6"/>
          <p:cNvGraphicFramePr>
            <a:graphicFrameLocks noGrp="1"/>
          </p:cNvGraphicFramePr>
          <p:nvPr/>
        </p:nvGraphicFramePr>
        <p:xfrm>
          <a:off x="6217920" y="1463040"/>
          <a:ext cx="5486400" cy="3840480"/>
        </p:xfrm>
        <a:graphic>
          <a:graphicData uri="http://schemas.openxmlformats.org/drawingml/2006/table">
            <a:tbl>
              <a:tblPr firstRow="1" bandRow="1">
                <a:tableStyleId>{5C22544A-7EE6-4342-B048-85BDC9FD1C3A}</a:tableStyleId>
              </a:tblPr>
              <a:tblGrid>
                <a:gridCol w="566928"/>
                <a:gridCol w="3611880"/>
                <a:gridCol w="1307592"/>
              </a:tblGrid>
              <a:tr h="320040">
                <a:tc>
                  <a:txBody>
                    <a:bodyPr/>
                    <a:lstStyle/>
                    <a:p>
                      <a:pPr algn="ctr">
                        <a:lnSpc>
                          <a:spcPct val="100000"/>
                        </a:lnSpc>
                        <a:spcBef>
                          <a:spcPts val="0"/>
                        </a:spcBef>
                        <a:spcAft>
                          <a:spcPts val="0"/>
                        </a:spcAft>
                      </a:pPr>
                      <a:r>
                        <a:rPr sz="1500" b="1">
                          <a:solidFill>
                            <a:srgbClr val="FFFFFF"/>
                          </a:solidFill>
                          <a:latin typeface="Arial"/>
                        </a:rPr>
                        <a:t>Nhóm</a:t>
                      </a:r>
                    </a:p>
                  </a:txBody>
                  <a:tcPr marL="50292" marR="50292" marT="32004" marB="32004" anchor="ctr">
                    <a:solidFill>
                      <a:srgbClr val="123047"/>
                    </a:solidFill>
                  </a:tcPr>
                </a:tc>
                <a:tc>
                  <a:txBody>
                    <a:bodyPr/>
                    <a:lstStyle/>
                    <a:p>
                      <a:pPr algn="ctr">
                        <a:lnSpc>
                          <a:spcPct val="100000"/>
                        </a:lnSpc>
                        <a:spcBef>
                          <a:spcPts val="0"/>
                        </a:spcBef>
                        <a:spcAft>
                          <a:spcPts val="0"/>
                        </a:spcAft>
                      </a:pPr>
                      <a:r>
                        <a:rPr sz="1500" b="1">
                          <a:solidFill>
                            <a:srgbClr val="FFFFFF"/>
                          </a:solidFill>
                          <a:latin typeface="Arial"/>
                        </a:rPr>
                        <a:t>Biến gốc</a:t>
                      </a:r>
                    </a:p>
                  </a:txBody>
                  <a:tcPr marL="50292" marR="50292" marT="32004" marB="32004" anchor="ctr">
                    <a:solidFill>
                      <a:srgbClr val="123047"/>
                    </a:solidFill>
                  </a:tcPr>
                </a:tc>
                <a:tc>
                  <a:txBody>
                    <a:bodyPr/>
                    <a:lstStyle/>
                    <a:p>
                      <a:pPr algn="ctr">
                        <a:lnSpc>
                          <a:spcPct val="100000"/>
                        </a:lnSpc>
                        <a:spcBef>
                          <a:spcPts val="0"/>
                        </a:spcBef>
                        <a:spcAft>
                          <a:spcPts val="0"/>
                        </a:spcAft>
                      </a:pPr>
                      <a:r>
                        <a:rPr sz="1500" b="1">
                          <a:solidFill>
                            <a:srgbClr val="FFFFFF"/>
                          </a:solidFill>
                          <a:latin typeface="Arial"/>
                        </a:rPr>
                        <a:t>Đơn vị</a:t>
                      </a:r>
                    </a:p>
                  </a:txBody>
                  <a:tcPr marL="50292" marR="50292" marT="32004" marB="32004" anchor="ctr">
                    <a:solidFill>
                      <a:srgbClr val="123047"/>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cin_capped</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J/kg</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has_lfc</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0-1</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tcwv</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kg/m²</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kx</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K</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tt</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K</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blh</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tcc</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0-1</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lcc</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0-1</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mcc</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0-1</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hcc</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0-1</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swvl1</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m³/m³</a:t>
                      </a:r>
                    </a:p>
                  </a:txBody>
                  <a:tcPr marL="50292" marR="50292" marT="32004" marB="32004" anchor="ctr">
                    <a:solidFill>
                      <a:srgbClr val="FFFFFF"/>
                    </a:solidFill>
                  </a:tcPr>
                </a:tc>
              </a:tr>
            </a:tbl>
          </a:graphicData>
        </a:graphic>
      </p:graphicFrame>
      <p:sp>
        <p:nvSpPr>
          <p:cNvPr id="8" name="Rectangle 7"/>
          <p:cNvSpPr/>
          <p:nvPr/>
        </p:nvSpPr>
        <p:spPr>
          <a:xfrm>
            <a:off x="502920" y="5779008"/>
            <a:ext cx="11201400" cy="36576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870448"/>
            <a:ext cx="10927080" cy="256032"/>
          </a:xfrm>
          <a:prstGeom prst="rect">
            <a:avLst/>
          </a:prstGeom>
          <a:noFill/>
        </p:spPr>
        <p:txBody>
          <a:bodyPr wrap="square" lIns="0" rIns="0" tIns="0" bIns="0" anchor="t">
            <a:spAutoFit/>
          </a:bodyPr>
          <a:lstStyle/>
          <a:p>
            <a:pPr algn="l">
              <a:lnSpc>
                <a:spcPct val="112000"/>
              </a:lnSpc>
              <a:spcBef>
                <a:spcPts val="0"/>
              </a:spcBef>
              <a:spcAft>
                <a:spcPts val="0"/>
              </a:spcAft>
            </a:pPr>
            <a:r>
              <a:rPr sz="1400" b="1">
                <a:solidFill>
                  <a:srgbClr val="087E8B"/>
                </a:solidFill>
                <a:latin typeface="Arial"/>
              </a:rPr>
              <a:t>Xem mô tả từng biến và giới hạn nguồn ở DANH_MUC_BIEN trong Excel.</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TRA CỨU ĐẶC TRƯNG</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46</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Danh mục M và C: 21 biến</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Nguồn: feature_catalog.csv • Có tên cột V1 và đơn vị trong Excel 18 sheet</a:t>
            </a:r>
          </a:p>
        </p:txBody>
      </p:sp>
      <p:graphicFrame>
        <p:nvGraphicFramePr>
          <p:cNvPr id="6" name="Table 5"/>
          <p:cNvGraphicFramePr>
            <a:graphicFrameLocks noGrp="1"/>
          </p:cNvGraphicFramePr>
          <p:nvPr/>
        </p:nvGraphicFramePr>
        <p:xfrm>
          <a:off x="502920" y="1463040"/>
          <a:ext cx="5486400" cy="3840480"/>
        </p:xfrm>
        <a:graphic>
          <a:graphicData uri="http://schemas.openxmlformats.org/drawingml/2006/table">
            <a:tbl>
              <a:tblPr firstRow="1" bandRow="1">
                <a:tableStyleId>{5C22544A-7EE6-4342-B048-85BDC9FD1C3A}</a:tableStyleId>
              </a:tblPr>
              <a:tblGrid>
                <a:gridCol w="566928"/>
                <a:gridCol w="3611880"/>
                <a:gridCol w="1307592"/>
              </a:tblGrid>
              <a:tr h="320040">
                <a:tc>
                  <a:txBody>
                    <a:bodyPr/>
                    <a:lstStyle/>
                    <a:p>
                      <a:pPr algn="ctr">
                        <a:lnSpc>
                          <a:spcPct val="100000"/>
                        </a:lnSpc>
                        <a:spcBef>
                          <a:spcPts val="0"/>
                        </a:spcBef>
                        <a:spcAft>
                          <a:spcPts val="0"/>
                        </a:spcAft>
                      </a:pPr>
                      <a:r>
                        <a:rPr sz="1500" b="1">
                          <a:solidFill>
                            <a:srgbClr val="FFFFFF"/>
                          </a:solidFill>
                          <a:latin typeface="Arial"/>
                        </a:rPr>
                        <a:t>Nhóm</a:t>
                      </a:r>
                    </a:p>
                  </a:txBody>
                  <a:tcPr marL="50292" marR="50292" marT="32004" marB="32004" anchor="ctr">
                    <a:solidFill>
                      <a:srgbClr val="123047"/>
                    </a:solidFill>
                  </a:tcPr>
                </a:tc>
                <a:tc>
                  <a:txBody>
                    <a:bodyPr/>
                    <a:lstStyle/>
                    <a:p>
                      <a:pPr algn="ctr">
                        <a:lnSpc>
                          <a:spcPct val="100000"/>
                        </a:lnSpc>
                        <a:spcBef>
                          <a:spcPts val="0"/>
                        </a:spcBef>
                        <a:spcAft>
                          <a:spcPts val="0"/>
                        </a:spcAft>
                      </a:pPr>
                      <a:r>
                        <a:rPr sz="1500" b="1">
                          <a:solidFill>
                            <a:srgbClr val="FFFFFF"/>
                          </a:solidFill>
                          <a:latin typeface="Arial"/>
                        </a:rPr>
                        <a:t>Biến gốc</a:t>
                      </a:r>
                    </a:p>
                  </a:txBody>
                  <a:tcPr marL="50292" marR="50292" marT="32004" marB="32004" anchor="ctr">
                    <a:solidFill>
                      <a:srgbClr val="123047"/>
                    </a:solidFill>
                  </a:tcPr>
                </a:tc>
                <a:tc>
                  <a:txBody>
                    <a:bodyPr/>
                    <a:lstStyle/>
                    <a:p>
                      <a:pPr algn="ctr">
                        <a:lnSpc>
                          <a:spcPct val="100000"/>
                        </a:lnSpc>
                        <a:spcBef>
                          <a:spcPts val="0"/>
                        </a:spcBef>
                        <a:spcAft>
                          <a:spcPts val="0"/>
                        </a:spcAft>
                      </a:pPr>
                      <a:r>
                        <a:rPr sz="1500" b="1">
                          <a:solidFill>
                            <a:srgbClr val="FFFFFF"/>
                          </a:solidFill>
                          <a:latin typeface="Arial"/>
                        </a:rPr>
                        <a:t>Đơn vị</a:t>
                      </a:r>
                    </a:p>
                  </a:txBody>
                  <a:tcPr marL="50292" marR="50292" marT="32004" marB="32004" anchor="ctr">
                    <a:solidFill>
                      <a:srgbClr val="123047"/>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u850</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m/s</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v850</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m/s</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q850_gkg</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g/kg</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t850_c</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°C</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rh850_pct</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w850_pas</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Pa/s</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u500</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m/s</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v500</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m/s</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q500_gkg</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g/kg</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t500_c</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°C</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w500_pas</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Pa/s</a:t>
                      </a:r>
                    </a:p>
                  </a:txBody>
                  <a:tcPr marL="50292" marR="50292" marT="32004" marB="32004" anchor="ctr">
                    <a:solidFill>
                      <a:srgbClr val="FFFFFF"/>
                    </a:solidFill>
                  </a:tcPr>
                </a:tc>
              </a:tr>
            </a:tbl>
          </a:graphicData>
        </a:graphic>
      </p:graphicFrame>
      <p:graphicFrame>
        <p:nvGraphicFramePr>
          <p:cNvPr id="7" name="Table 6"/>
          <p:cNvGraphicFramePr>
            <a:graphicFrameLocks noGrp="1"/>
          </p:cNvGraphicFramePr>
          <p:nvPr/>
        </p:nvGraphicFramePr>
        <p:xfrm>
          <a:off x="6217920" y="1463040"/>
          <a:ext cx="5486400" cy="3520440"/>
        </p:xfrm>
        <a:graphic>
          <a:graphicData uri="http://schemas.openxmlformats.org/drawingml/2006/table">
            <a:tbl>
              <a:tblPr firstRow="1" bandRow="1">
                <a:tableStyleId>{5C22544A-7EE6-4342-B048-85BDC9FD1C3A}</a:tableStyleId>
              </a:tblPr>
              <a:tblGrid>
                <a:gridCol w="566928"/>
                <a:gridCol w="3611880"/>
                <a:gridCol w="1307592"/>
              </a:tblGrid>
              <a:tr h="320040">
                <a:tc>
                  <a:txBody>
                    <a:bodyPr/>
                    <a:lstStyle/>
                    <a:p>
                      <a:pPr algn="ctr">
                        <a:lnSpc>
                          <a:spcPct val="100000"/>
                        </a:lnSpc>
                        <a:spcBef>
                          <a:spcPts val="0"/>
                        </a:spcBef>
                        <a:spcAft>
                          <a:spcPts val="0"/>
                        </a:spcAft>
                      </a:pPr>
                      <a:r>
                        <a:rPr sz="1500" b="1">
                          <a:solidFill>
                            <a:srgbClr val="FFFFFF"/>
                          </a:solidFill>
                          <a:latin typeface="Arial"/>
                        </a:rPr>
                        <a:t>Nhóm</a:t>
                      </a:r>
                    </a:p>
                  </a:txBody>
                  <a:tcPr marL="50292" marR="50292" marT="32004" marB="32004" anchor="ctr">
                    <a:solidFill>
                      <a:srgbClr val="123047"/>
                    </a:solidFill>
                  </a:tcPr>
                </a:tc>
                <a:tc>
                  <a:txBody>
                    <a:bodyPr/>
                    <a:lstStyle/>
                    <a:p>
                      <a:pPr algn="ctr">
                        <a:lnSpc>
                          <a:spcPct val="100000"/>
                        </a:lnSpc>
                        <a:spcBef>
                          <a:spcPts val="0"/>
                        </a:spcBef>
                        <a:spcAft>
                          <a:spcPts val="0"/>
                        </a:spcAft>
                      </a:pPr>
                      <a:r>
                        <a:rPr sz="1500" b="1">
                          <a:solidFill>
                            <a:srgbClr val="FFFFFF"/>
                          </a:solidFill>
                          <a:latin typeface="Arial"/>
                        </a:rPr>
                        <a:t>Biến gốc</a:t>
                      </a:r>
                    </a:p>
                  </a:txBody>
                  <a:tcPr marL="50292" marR="50292" marT="32004" marB="32004" anchor="ctr">
                    <a:solidFill>
                      <a:srgbClr val="123047"/>
                    </a:solidFill>
                  </a:tcPr>
                </a:tc>
                <a:tc>
                  <a:txBody>
                    <a:bodyPr/>
                    <a:lstStyle/>
                    <a:p>
                      <a:pPr algn="ctr">
                        <a:lnSpc>
                          <a:spcPct val="100000"/>
                        </a:lnSpc>
                        <a:spcBef>
                          <a:spcPts val="0"/>
                        </a:spcBef>
                        <a:spcAft>
                          <a:spcPts val="0"/>
                        </a:spcAft>
                      </a:pPr>
                      <a:r>
                        <a:rPr sz="1500" b="1">
                          <a:solidFill>
                            <a:srgbClr val="FFFFFF"/>
                          </a:solidFill>
                          <a:latin typeface="Arial"/>
                        </a:rPr>
                        <a:t>Đơn vị</a:t>
                      </a:r>
                    </a:p>
                  </a:txBody>
                  <a:tcPr marL="50292" marR="50292" marT="32004" marB="32004" anchor="ctr">
                    <a:solidFill>
                      <a:srgbClr val="123047"/>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shear_850_500</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m/s</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ivt_u</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kg/m/s</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ivt_v</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kg/m/s</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ivt_mag</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kg/m/s</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vimd_mmh</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mm/h</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ctx_tcwv</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kg/m²</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ctx_ivt_mag</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kg/m/s</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cold_surge_dp_hpa</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hPa</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dp_tonkin_south_hpa</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hPa</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C</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sst_region_c</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°C</a:t>
                      </a:r>
                    </a:p>
                  </a:txBody>
                  <a:tcPr marL="50292" marR="50292" marT="32004" marB="32004" anchor="ctr">
                    <a:solidFill>
                      <a:srgbClr val="EDF2F7"/>
                    </a:solidFill>
                  </a:tcPr>
                </a:tc>
              </a:tr>
            </a:tbl>
          </a:graphicData>
        </a:graphic>
      </p:graphicFrame>
      <p:sp>
        <p:nvSpPr>
          <p:cNvPr id="8" name="Rectangle 7"/>
          <p:cNvSpPr/>
          <p:nvPr/>
        </p:nvSpPr>
        <p:spPr>
          <a:xfrm>
            <a:off x="502920" y="5779008"/>
            <a:ext cx="11201400" cy="36576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870448"/>
            <a:ext cx="10927080" cy="256032"/>
          </a:xfrm>
          <a:prstGeom prst="rect">
            <a:avLst/>
          </a:prstGeom>
          <a:noFill/>
        </p:spPr>
        <p:txBody>
          <a:bodyPr wrap="square" lIns="0" rIns="0" tIns="0" bIns="0" anchor="t">
            <a:spAutoFit/>
          </a:bodyPr>
          <a:lstStyle/>
          <a:p>
            <a:pPr algn="l">
              <a:lnSpc>
                <a:spcPct val="112000"/>
              </a:lnSpc>
              <a:spcBef>
                <a:spcPts val="0"/>
              </a:spcBef>
              <a:spcAft>
                <a:spcPts val="0"/>
              </a:spcAft>
            </a:pPr>
            <a:r>
              <a:rPr sz="1400" b="1">
                <a:solidFill>
                  <a:srgbClr val="087E8B"/>
                </a:solidFill>
                <a:latin typeface="Arial"/>
              </a:rPr>
              <a:t>Xem mô tả từng biến và giới hạn nguồn ở DANH_MUC_BIEN trong Excel.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TÀI LIỆU THAM KHẢO</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47</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Nguồn ứng dụng: LightGBM đã được dùng trong mưa</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Đường dẫn trên slide có thể bấm; hồ sơ đối chiếu và giới hạn ở literature.json</a:t>
            </a:r>
          </a:p>
        </p:txBody>
      </p:sp>
      <p:sp>
        <p:nvSpPr>
          <p:cNvPr id="6" name="TextBox 5"/>
          <p:cNvSpPr txBox="1"/>
          <p:nvPr/>
        </p:nvSpPr>
        <p:spPr>
          <a:xfrm>
            <a:off x="685800" y="1435608"/>
            <a:ext cx="10835640" cy="34747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hlinkClick r:id="rId3"/>
              </a:rPr>
              <a:t>R1 · He, Zhang &amp; Chew (2022) · DOI 10.1016/j.knosys.2022.109125</a:t>
            </a:r>
          </a:p>
        </p:txBody>
      </p:sp>
      <p:sp>
        <p:nvSpPr>
          <p:cNvPr id="7" name="TextBox 6"/>
          <p:cNvSpPr txBox="1"/>
          <p:nvPr/>
        </p:nvSpPr>
        <p:spPr>
          <a:xfrm>
            <a:off x="685800" y="1837944"/>
            <a:ext cx="10835640" cy="795528"/>
          </a:xfrm>
          <a:prstGeom prst="rect">
            <a:avLst/>
          </a:prstGeom>
          <a:noFill/>
        </p:spPr>
        <p:txBody>
          <a:bodyPr wrap="square" lIns="0" rIns="0" tIns="0" bIns="0" anchor="t">
            <a:spAutoFit/>
          </a:bodyPr>
          <a:lstStyle/>
          <a:p>
            <a:pPr algn="l">
              <a:lnSpc>
                <a:spcPct val="112000"/>
              </a:lnSpc>
              <a:spcBef>
                <a:spcPts val="0"/>
              </a:spcBef>
              <a:spcAft>
                <a:spcPts val="0"/>
              </a:spcAft>
            </a:pPr>
            <a:r>
              <a:rPr sz="1800" b="0">
                <a:solidFill>
                  <a:srgbClr val="123047"/>
                </a:solidFill>
                <a:latin typeface="Arial"/>
                <a:hlinkClick r:id="rId3"/>
              </a:rPr>
              <a:t>Modeling and predicting rainfall time series using seasonal-trend decomposition and machine learning</a:t>
            </a:r>
          </a:p>
          <a:p>
            <a:pPr algn="l">
              <a:lnSpc>
                <a:spcPct val="112000"/>
              </a:lnSpc>
              <a:spcBef>
                <a:spcPts val="0"/>
              </a:spcBef>
              <a:spcAft>
                <a:spcPts val="0"/>
              </a:spcAft>
            </a:pPr>
            <a:r>
              <a:rPr sz="1800" b="0">
                <a:solidFill>
                  <a:srgbClr val="123047"/>
                </a:solidFill>
                <a:latin typeface="Arial"/>
                <a:hlinkClick r:id="rId3"/>
              </a:rPr>
              <a:t>Knowledge-Based Systems 251, 109125</a:t>
            </a:r>
          </a:p>
        </p:txBody>
      </p:sp>
      <p:sp>
        <p:nvSpPr>
          <p:cNvPr id="8" name="TextBox 7"/>
          <p:cNvSpPr txBox="1"/>
          <p:nvPr/>
        </p:nvSpPr>
        <p:spPr>
          <a:xfrm>
            <a:off x="685800" y="2825496"/>
            <a:ext cx="10835640" cy="34747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hlinkClick r:id="rId4"/>
              </a:rPr>
              <a:t>R2 · Iwase &amp; Takenawa (2024) · DOI 10.2197/ipsjjip.32.873</a:t>
            </a:r>
          </a:p>
        </p:txBody>
      </p:sp>
      <p:sp>
        <p:nvSpPr>
          <p:cNvPr id="9" name="TextBox 8"/>
          <p:cNvSpPr txBox="1"/>
          <p:nvPr/>
        </p:nvSpPr>
        <p:spPr>
          <a:xfrm>
            <a:off x="685800" y="3227832"/>
            <a:ext cx="10835640" cy="795528"/>
          </a:xfrm>
          <a:prstGeom prst="rect">
            <a:avLst/>
          </a:prstGeom>
          <a:noFill/>
        </p:spPr>
        <p:txBody>
          <a:bodyPr wrap="square" lIns="0" rIns="0" tIns="0" bIns="0" anchor="t">
            <a:spAutoFit/>
          </a:bodyPr>
          <a:lstStyle/>
          <a:p>
            <a:pPr algn="l">
              <a:lnSpc>
                <a:spcPct val="112000"/>
              </a:lnSpc>
              <a:spcBef>
                <a:spcPts val="0"/>
              </a:spcBef>
              <a:spcAft>
                <a:spcPts val="0"/>
              </a:spcAft>
            </a:pPr>
            <a:r>
              <a:rPr sz="1800" b="0">
                <a:solidFill>
                  <a:srgbClr val="123047"/>
                </a:solidFill>
                <a:latin typeface="Arial"/>
                <a:hlinkClick r:id="rId4"/>
              </a:rPr>
              <a:t>Interpolation of Mountain Weather Forecasts by Machine Learning</a:t>
            </a:r>
          </a:p>
          <a:p>
            <a:pPr algn="l">
              <a:lnSpc>
                <a:spcPct val="112000"/>
              </a:lnSpc>
              <a:spcBef>
                <a:spcPts val="0"/>
              </a:spcBef>
              <a:spcAft>
                <a:spcPts val="0"/>
              </a:spcAft>
            </a:pPr>
            <a:r>
              <a:rPr sz="1800" b="0">
                <a:solidFill>
                  <a:srgbClr val="123047"/>
                </a:solidFill>
                <a:latin typeface="Arial"/>
                <a:hlinkClick r:id="rId4"/>
              </a:rPr>
              <a:t>Journal of Information Processing 32, 873–880</a:t>
            </a:r>
          </a:p>
        </p:txBody>
      </p:sp>
      <p:sp>
        <p:nvSpPr>
          <p:cNvPr id="10" name="TextBox 9"/>
          <p:cNvSpPr txBox="1"/>
          <p:nvPr/>
        </p:nvSpPr>
        <p:spPr>
          <a:xfrm>
            <a:off x="685800" y="4215384"/>
            <a:ext cx="10835640" cy="34747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hlinkClick r:id="rId5"/>
              </a:rPr>
              <a:t>R3 · Qian &amp; Jia (2023) · DOI 10.1016/j.atmosres.2023.106961</a:t>
            </a:r>
          </a:p>
        </p:txBody>
      </p:sp>
      <p:sp>
        <p:nvSpPr>
          <p:cNvPr id="11" name="TextBox 10"/>
          <p:cNvSpPr txBox="1"/>
          <p:nvPr/>
        </p:nvSpPr>
        <p:spPr>
          <a:xfrm>
            <a:off x="685800" y="4617720"/>
            <a:ext cx="10835640" cy="795528"/>
          </a:xfrm>
          <a:prstGeom prst="rect">
            <a:avLst/>
          </a:prstGeom>
          <a:noFill/>
        </p:spPr>
        <p:txBody>
          <a:bodyPr wrap="square" lIns="0" rIns="0" tIns="0" bIns="0" anchor="t">
            <a:spAutoFit/>
          </a:bodyPr>
          <a:lstStyle/>
          <a:p>
            <a:pPr algn="l">
              <a:lnSpc>
                <a:spcPct val="112000"/>
              </a:lnSpc>
              <a:spcBef>
                <a:spcPts val="0"/>
              </a:spcBef>
              <a:spcAft>
                <a:spcPts val="0"/>
              </a:spcAft>
            </a:pPr>
            <a:r>
              <a:rPr sz="1800" b="0">
                <a:solidFill>
                  <a:srgbClr val="123047"/>
                </a:solidFill>
                <a:latin typeface="Arial"/>
                <a:hlinkClick r:id="rId5"/>
              </a:rPr>
              <a:t>Seasonal forecast of winter precipitation over China using machine learning models</a:t>
            </a:r>
          </a:p>
          <a:p>
            <a:pPr algn="l">
              <a:lnSpc>
                <a:spcPct val="112000"/>
              </a:lnSpc>
              <a:spcBef>
                <a:spcPts val="0"/>
              </a:spcBef>
              <a:spcAft>
                <a:spcPts val="0"/>
              </a:spcAft>
            </a:pPr>
            <a:r>
              <a:rPr sz="1800" b="0">
                <a:solidFill>
                  <a:srgbClr val="123047"/>
                </a:solidFill>
                <a:latin typeface="Arial"/>
                <a:hlinkClick r:id="rId5"/>
              </a:rPr>
              <a:t>Atmospheric Research 294, 106961</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TÀI LIỆU THAM KHẢO</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48</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Nguồn thuật toán và kiểm chứng dự báo</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Nguồn dự án: run.json, checkpoint_audit.json, scores_ensemble_pooled.csv, paired_bootstrap.csv</a:t>
            </a:r>
          </a:p>
        </p:txBody>
      </p:sp>
      <p:sp>
        <p:nvSpPr>
          <p:cNvPr id="6" name="TextBox 5"/>
          <p:cNvSpPr txBox="1"/>
          <p:nvPr/>
        </p:nvSpPr>
        <p:spPr>
          <a:xfrm>
            <a:off x="685800" y="1399032"/>
            <a:ext cx="10835640" cy="274320"/>
          </a:xfrm>
          <a:prstGeom prst="rect">
            <a:avLst/>
          </a:prstGeom>
          <a:noFill/>
        </p:spPr>
        <p:txBody>
          <a:bodyPr wrap="square" lIns="0" rIns="0" tIns="0" bIns="0" anchor="t">
            <a:spAutoFit/>
          </a:bodyPr>
          <a:lstStyle/>
          <a:p>
            <a:pPr algn="l">
              <a:lnSpc>
                <a:spcPct val="112000"/>
              </a:lnSpc>
              <a:spcBef>
                <a:spcPts val="0"/>
              </a:spcBef>
              <a:spcAft>
                <a:spcPts val="0"/>
              </a:spcAft>
            </a:pPr>
            <a:r>
              <a:rPr sz="1650" b="1">
                <a:solidFill>
                  <a:srgbClr val="087E8B"/>
                </a:solidFill>
                <a:latin typeface="Arial"/>
                <a:hlinkClick r:id="rId3"/>
              </a:rPr>
              <a:t>A1 · Ke et al. (2017)</a:t>
            </a:r>
          </a:p>
        </p:txBody>
      </p:sp>
      <p:sp>
        <p:nvSpPr>
          <p:cNvPr id="7" name="TextBox 6"/>
          <p:cNvSpPr txBox="1"/>
          <p:nvPr/>
        </p:nvSpPr>
        <p:spPr>
          <a:xfrm>
            <a:off x="685800" y="1682496"/>
            <a:ext cx="10835640" cy="384048"/>
          </a:xfrm>
          <a:prstGeom prst="rect">
            <a:avLst/>
          </a:prstGeom>
          <a:noFill/>
        </p:spPr>
        <p:txBody>
          <a:bodyPr wrap="square" lIns="0" rIns="0" tIns="0" bIns="0" anchor="t">
            <a:spAutoFit/>
          </a:bodyPr>
          <a:lstStyle/>
          <a:p>
            <a:pPr algn="l">
              <a:lnSpc>
                <a:spcPct val="112000"/>
              </a:lnSpc>
              <a:spcBef>
                <a:spcPts val="0"/>
              </a:spcBef>
              <a:spcAft>
                <a:spcPts val="0"/>
              </a:spcAft>
            </a:pPr>
            <a:r>
              <a:rPr sz="1550" b="0">
                <a:solidFill>
                  <a:srgbClr val="123047"/>
                </a:solidFill>
                <a:latin typeface="Arial"/>
                <a:hlinkClick r:id="rId3"/>
              </a:rPr>
              <a:t>LightGBM: A Highly Efficient Gradient Boosting Decision Tree</a:t>
            </a:r>
          </a:p>
        </p:txBody>
      </p:sp>
      <p:sp>
        <p:nvSpPr>
          <p:cNvPr id="8" name="TextBox 7"/>
          <p:cNvSpPr txBox="1"/>
          <p:nvPr/>
        </p:nvSpPr>
        <p:spPr>
          <a:xfrm>
            <a:off x="685800" y="2103120"/>
            <a:ext cx="10835640" cy="274320"/>
          </a:xfrm>
          <a:prstGeom prst="rect">
            <a:avLst/>
          </a:prstGeom>
          <a:noFill/>
        </p:spPr>
        <p:txBody>
          <a:bodyPr wrap="square" lIns="0" rIns="0" tIns="0" bIns="0" anchor="t">
            <a:spAutoFit/>
          </a:bodyPr>
          <a:lstStyle/>
          <a:p>
            <a:pPr algn="l">
              <a:lnSpc>
                <a:spcPct val="112000"/>
              </a:lnSpc>
              <a:spcBef>
                <a:spcPts val="0"/>
              </a:spcBef>
              <a:spcAft>
                <a:spcPts val="0"/>
              </a:spcAft>
            </a:pPr>
            <a:r>
              <a:rPr sz="1650" b="1">
                <a:solidFill>
                  <a:srgbClr val="087E8B"/>
                </a:solidFill>
                <a:latin typeface="Arial"/>
                <a:hlinkClick r:id="rId4"/>
              </a:rPr>
              <a:t>A2 · Lim et al. (2021)</a:t>
            </a:r>
          </a:p>
        </p:txBody>
      </p:sp>
      <p:sp>
        <p:nvSpPr>
          <p:cNvPr id="9" name="TextBox 8"/>
          <p:cNvSpPr txBox="1"/>
          <p:nvPr/>
        </p:nvSpPr>
        <p:spPr>
          <a:xfrm>
            <a:off x="685800" y="2386584"/>
            <a:ext cx="10835640" cy="384048"/>
          </a:xfrm>
          <a:prstGeom prst="rect">
            <a:avLst/>
          </a:prstGeom>
          <a:noFill/>
        </p:spPr>
        <p:txBody>
          <a:bodyPr wrap="square" lIns="0" rIns="0" tIns="0" bIns="0" anchor="t">
            <a:spAutoFit/>
          </a:bodyPr>
          <a:lstStyle/>
          <a:p>
            <a:pPr algn="l">
              <a:lnSpc>
                <a:spcPct val="112000"/>
              </a:lnSpc>
              <a:spcBef>
                <a:spcPts val="0"/>
              </a:spcBef>
              <a:spcAft>
                <a:spcPts val="0"/>
              </a:spcAft>
            </a:pPr>
            <a:r>
              <a:rPr sz="1550" b="0">
                <a:solidFill>
                  <a:srgbClr val="123047"/>
                </a:solidFill>
                <a:latin typeface="Arial"/>
                <a:hlinkClick r:id="rId4"/>
              </a:rPr>
              <a:t>Temporal Fusion Transformers for Interpretable Multi-horizon Time Series Forecasting</a:t>
            </a:r>
          </a:p>
        </p:txBody>
      </p:sp>
      <p:sp>
        <p:nvSpPr>
          <p:cNvPr id="10" name="TextBox 9"/>
          <p:cNvSpPr txBox="1"/>
          <p:nvPr/>
        </p:nvSpPr>
        <p:spPr>
          <a:xfrm>
            <a:off x="685800" y="2807208"/>
            <a:ext cx="10835640" cy="274320"/>
          </a:xfrm>
          <a:prstGeom prst="rect">
            <a:avLst/>
          </a:prstGeom>
          <a:noFill/>
        </p:spPr>
        <p:txBody>
          <a:bodyPr wrap="square" lIns="0" rIns="0" tIns="0" bIns="0" anchor="t">
            <a:spAutoFit/>
          </a:bodyPr>
          <a:lstStyle/>
          <a:p>
            <a:pPr algn="l">
              <a:lnSpc>
                <a:spcPct val="112000"/>
              </a:lnSpc>
              <a:spcBef>
                <a:spcPts val="0"/>
              </a:spcBef>
              <a:spcAft>
                <a:spcPts val="0"/>
              </a:spcAft>
            </a:pPr>
            <a:r>
              <a:rPr sz="1650" b="1">
                <a:solidFill>
                  <a:srgbClr val="087E8B"/>
                </a:solidFill>
                <a:latin typeface="Arial"/>
                <a:hlinkClick r:id="rId5"/>
              </a:rPr>
              <a:t>A3 · Zhou et al. (2021)</a:t>
            </a:r>
          </a:p>
        </p:txBody>
      </p:sp>
      <p:sp>
        <p:nvSpPr>
          <p:cNvPr id="11" name="TextBox 10"/>
          <p:cNvSpPr txBox="1"/>
          <p:nvPr/>
        </p:nvSpPr>
        <p:spPr>
          <a:xfrm>
            <a:off x="685800" y="3090672"/>
            <a:ext cx="10835640" cy="384048"/>
          </a:xfrm>
          <a:prstGeom prst="rect">
            <a:avLst/>
          </a:prstGeom>
          <a:noFill/>
        </p:spPr>
        <p:txBody>
          <a:bodyPr wrap="square" lIns="0" rIns="0" tIns="0" bIns="0" anchor="t">
            <a:spAutoFit/>
          </a:bodyPr>
          <a:lstStyle/>
          <a:p>
            <a:pPr algn="l">
              <a:lnSpc>
                <a:spcPct val="112000"/>
              </a:lnSpc>
              <a:spcBef>
                <a:spcPts val="0"/>
              </a:spcBef>
              <a:spcAft>
                <a:spcPts val="0"/>
              </a:spcAft>
            </a:pPr>
            <a:r>
              <a:rPr sz="1550" b="0">
                <a:solidFill>
                  <a:srgbClr val="123047"/>
                </a:solidFill>
                <a:latin typeface="Arial"/>
                <a:hlinkClick r:id="rId5"/>
              </a:rPr>
              <a:t>Informer: Beyond Efficient Transformer for Long Sequence Time-Series Forecasting</a:t>
            </a:r>
          </a:p>
        </p:txBody>
      </p:sp>
      <p:sp>
        <p:nvSpPr>
          <p:cNvPr id="12" name="TextBox 11"/>
          <p:cNvSpPr txBox="1"/>
          <p:nvPr/>
        </p:nvSpPr>
        <p:spPr>
          <a:xfrm>
            <a:off x="685800" y="3511296"/>
            <a:ext cx="10835640" cy="274320"/>
          </a:xfrm>
          <a:prstGeom prst="rect">
            <a:avLst/>
          </a:prstGeom>
          <a:noFill/>
        </p:spPr>
        <p:txBody>
          <a:bodyPr wrap="square" lIns="0" rIns="0" tIns="0" bIns="0" anchor="t">
            <a:spAutoFit/>
          </a:bodyPr>
          <a:lstStyle/>
          <a:p>
            <a:pPr algn="l">
              <a:lnSpc>
                <a:spcPct val="112000"/>
              </a:lnSpc>
              <a:spcBef>
                <a:spcPts val="0"/>
              </a:spcBef>
              <a:spcAft>
                <a:spcPts val="0"/>
              </a:spcAft>
            </a:pPr>
            <a:r>
              <a:rPr sz="1650" b="1">
                <a:solidFill>
                  <a:srgbClr val="087E8B"/>
                </a:solidFill>
                <a:latin typeface="Arial"/>
                <a:hlinkClick r:id="rId6"/>
              </a:rPr>
              <a:t>A4 · Tác giả Informer (2021)</a:t>
            </a:r>
          </a:p>
        </p:txBody>
      </p:sp>
      <p:sp>
        <p:nvSpPr>
          <p:cNvPr id="13" name="TextBox 12"/>
          <p:cNvSpPr txBox="1"/>
          <p:nvPr/>
        </p:nvSpPr>
        <p:spPr>
          <a:xfrm>
            <a:off x="685800" y="3794759"/>
            <a:ext cx="10835640" cy="384048"/>
          </a:xfrm>
          <a:prstGeom prst="rect">
            <a:avLst/>
          </a:prstGeom>
          <a:noFill/>
        </p:spPr>
        <p:txBody>
          <a:bodyPr wrap="square" lIns="0" rIns="0" tIns="0" bIns="0" anchor="t">
            <a:spAutoFit/>
          </a:bodyPr>
          <a:lstStyle/>
          <a:p>
            <a:pPr algn="l">
              <a:lnSpc>
                <a:spcPct val="112000"/>
              </a:lnSpc>
              <a:spcBef>
                <a:spcPts val="0"/>
              </a:spcBef>
              <a:spcAft>
                <a:spcPts val="0"/>
              </a:spcAft>
            </a:pPr>
            <a:r>
              <a:rPr sz="1550" b="0">
                <a:solidFill>
                  <a:srgbClr val="123047"/>
                </a:solidFill>
                <a:latin typeface="Arial"/>
                <a:hlinkClick r:id="rId6"/>
              </a:rPr>
              <a:t>Mã mô hình Informer chính thức</a:t>
            </a:r>
          </a:p>
        </p:txBody>
      </p:sp>
      <p:sp>
        <p:nvSpPr>
          <p:cNvPr id="14" name="TextBox 13"/>
          <p:cNvSpPr txBox="1"/>
          <p:nvPr/>
        </p:nvSpPr>
        <p:spPr>
          <a:xfrm>
            <a:off x="685800" y="4215384"/>
            <a:ext cx="10835640" cy="274320"/>
          </a:xfrm>
          <a:prstGeom prst="rect">
            <a:avLst/>
          </a:prstGeom>
          <a:noFill/>
        </p:spPr>
        <p:txBody>
          <a:bodyPr wrap="square" lIns="0" rIns="0" tIns="0" bIns="0" anchor="t">
            <a:spAutoFit/>
          </a:bodyPr>
          <a:lstStyle/>
          <a:p>
            <a:pPr algn="l">
              <a:lnSpc>
                <a:spcPct val="112000"/>
              </a:lnSpc>
              <a:spcBef>
                <a:spcPts val="0"/>
              </a:spcBef>
              <a:spcAft>
                <a:spcPts val="0"/>
              </a:spcAft>
            </a:pPr>
            <a:r>
              <a:rPr sz="1650" b="1">
                <a:solidFill>
                  <a:srgbClr val="087E8B"/>
                </a:solidFill>
                <a:latin typeface="Arial"/>
                <a:hlinkClick r:id="rId7"/>
              </a:rPr>
              <a:t>V1 · Pertti Nurmi (2007)</a:t>
            </a:r>
          </a:p>
        </p:txBody>
      </p:sp>
      <p:sp>
        <p:nvSpPr>
          <p:cNvPr id="15" name="TextBox 14"/>
          <p:cNvSpPr txBox="1"/>
          <p:nvPr/>
        </p:nvSpPr>
        <p:spPr>
          <a:xfrm>
            <a:off x="685800" y="4498848"/>
            <a:ext cx="10835640" cy="384048"/>
          </a:xfrm>
          <a:prstGeom prst="rect">
            <a:avLst/>
          </a:prstGeom>
          <a:noFill/>
        </p:spPr>
        <p:txBody>
          <a:bodyPr wrap="square" lIns="0" rIns="0" tIns="0" bIns="0" anchor="t">
            <a:spAutoFit/>
          </a:bodyPr>
          <a:lstStyle/>
          <a:p>
            <a:pPr algn="l">
              <a:lnSpc>
                <a:spcPct val="112000"/>
              </a:lnSpc>
              <a:spcBef>
                <a:spcPts val="0"/>
              </a:spcBef>
              <a:spcAft>
                <a:spcPts val="0"/>
              </a:spcAft>
            </a:pPr>
            <a:r>
              <a:rPr sz="1550" b="0">
                <a:solidFill>
                  <a:srgbClr val="123047"/>
                </a:solidFill>
                <a:latin typeface="Arial"/>
                <a:hlinkClick r:id="rId7"/>
              </a:rPr>
              <a:t>Verification of Categorical Forecasts</a:t>
            </a:r>
          </a:p>
        </p:txBody>
      </p:sp>
      <p:sp>
        <p:nvSpPr>
          <p:cNvPr id="16" name="TextBox 15"/>
          <p:cNvSpPr txBox="1"/>
          <p:nvPr/>
        </p:nvSpPr>
        <p:spPr>
          <a:xfrm>
            <a:off x="685800" y="4919472"/>
            <a:ext cx="10835640" cy="274320"/>
          </a:xfrm>
          <a:prstGeom prst="rect">
            <a:avLst/>
          </a:prstGeom>
          <a:noFill/>
        </p:spPr>
        <p:txBody>
          <a:bodyPr wrap="square" lIns="0" rIns="0" tIns="0" bIns="0" anchor="t">
            <a:spAutoFit/>
          </a:bodyPr>
          <a:lstStyle/>
          <a:p>
            <a:pPr algn="l">
              <a:lnSpc>
                <a:spcPct val="112000"/>
              </a:lnSpc>
              <a:spcBef>
                <a:spcPts val="0"/>
              </a:spcBef>
              <a:spcAft>
                <a:spcPts val="0"/>
              </a:spcAft>
            </a:pPr>
            <a:r>
              <a:rPr sz="1650" b="1">
                <a:solidFill>
                  <a:srgbClr val="087E8B"/>
                </a:solidFill>
                <a:latin typeface="Arial"/>
                <a:hlinkClick r:id="rId8"/>
              </a:rPr>
              <a:t>V2 · ECMWF (2026)</a:t>
            </a:r>
          </a:p>
        </p:txBody>
      </p:sp>
      <p:sp>
        <p:nvSpPr>
          <p:cNvPr id="17" name="TextBox 16"/>
          <p:cNvSpPr txBox="1"/>
          <p:nvPr/>
        </p:nvSpPr>
        <p:spPr>
          <a:xfrm>
            <a:off x="685800" y="5202936"/>
            <a:ext cx="10835640" cy="384048"/>
          </a:xfrm>
          <a:prstGeom prst="rect">
            <a:avLst/>
          </a:prstGeom>
          <a:noFill/>
        </p:spPr>
        <p:txBody>
          <a:bodyPr wrap="square" lIns="0" rIns="0" tIns="0" bIns="0" anchor="t">
            <a:spAutoFit/>
          </a:bodyPr>
          <a:lstStyle/>
          <a:p>
            <a:pPr algn="l">
              <a:lnSpc>
                <a:spcPct val="112000"/>
              </a:lnSpc>
              <a:spcBef>
                <a:spcPts val="0"/>
              </a:spcBef>
              <a:spcAft>
                <a:spcPts val="0"/>
              </a:spcAft>
            </a:pPr>
            <a:r>
              <a:rPr sz="1550" b="0">
                <a:solidFill>
                  <a:srgbClr val="123047"/>
                </a:solidFill>
                <a:latin typeface="Arial"/>
                <a:hlinkClick r:id="rId8"/>
              </a:rPr>
              <a:t>Forecast User Guide, Section 12.B: Statistical Concepts — Probabilistic Data</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NGUỒN SƠ CẤP</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49</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Nguồn kiểm chứng nhận định POD khoảng 0,4</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Không dùng điểm paper khác nhãn/ngưỡng/không gian để xếp hạng trực tiếp dự án</a:t>
            </a:r>
          </a:p>
        </p:txBody>
      </p:sp>
      <p:sp>
        <p:nvSpPr>
          <p:cNvPr id="6" name="TextBox 5"/>
          <p:cNvSpPr txBox="1"/>
          <p:nvPr/>
        </p:nvSpPr>
        <p:spPr>
          <a:xfrm>
            <a:off x="685800" y="1417320"/>
            <a:ext cx="10835640" cy="338328"/>
          </a:xfrm>
          <a:prstGeom prst="rect">
            <a:avLst/>
          </a:prstGeom>
          <a:noFill/>
        </p:spPr>
        <p:txBody>
          <a:bodyPr wrap="square" lIns="0" rIns="0" tIns="0" bIns="0" anchor="t">
            <a:spAutoFit/>
          </a:bodyPr>
          <a:lstStyle/>
          <a:p>
            <a:pPr algn="l">
              <a:lnSpc>
                <a:spcPct val="112000"/>
              </a:lnSpc>
              <a:spcBef>
                <a:spcPts val="0"/>
              </a:spcBef>
              <a:spcAft>
                <a:spcPts val="0"/>
              </a:spcAft>
            </a:pPr>
            <a:r>
              <a:rPr sz="1700" b="1">
                <a:solidFill>
                  <a:srgbClr val="087E8B"/>
                </a:solidFill>
                <a:latin typeface="Arial"/>
                <a:hlinkClick r:id="rId3"/>
              </a:rPr>
              <a:t>P1 · 2025 · 10.3390/atmos16020224</a:t>
            </a:r>
          </a:p>
        </p:txBody>
      </p:sp>
      <p:sp>
        <p:nvSpPr>
          <p:cNvPr id="7" name="TextBox 6"/>
          <p:cNvSpPr txBox="1"/>
          <p:nvPr/>
        </p:nvSpPr>
        <p:spPr>
          <a:xfrm>
            <a:off x="685800" y="1773936"/>
            <a:ext cx="10835640" cy="731520"/>
          </a:xfrm>
          <a:prstGeom prst="rect">
            <a:avLst/>
          </a:prstGeom>
          <a:noFill/>
        </p:spPr>
        <p:txBody>
          <a:bodyPr wrap="square" lIns="0" rIns="0" tIns="0" bIns="0" anchor="t">
            <a:spAutoFit/>
          </a:bodyPr>
          <a:lstStyle/>
          <a:p>
            <a:pPr algn="l">
              <a:lnSpc>
                <a:spcPct val="112000"/>
              </a:lnSpc>
              <a:spcBef>
                <a:spcPts val="0"/>
              </a:spcBef>
              <a:spcAft>
                <a:spcPts val="0"/>
              </a:spcAft>
            </a:pPr>
            <a:r>
              <a:rPr sz="1650" b="0">
                <a:solidFill>
                  <a:srgbClr val="123047"/>
                </a:solidFill>
                <a:latin typeface="Arial"/>
                <a:hlinkClick r:id="rId3"/>
              </a:rPr>
              <a:t>Skill Validation of High-Impact Rainfall Forecasts over Vietnam Using the European Centre for Medium-Range Weather Forecasts (ECMWF) Integrated Forecasting System (IFS) and Dynamical Downscaling with the Weather Research and Forecasting Model</a:t>
            </a:r>
          </a:p>
        </p:txBody>
      </p:sp>
      <p:sp>
        <p:nvSpPr>
          <p:cNvPr id="8" name="TextBox 7"/>
          <p:cNvSpPr txBox="1"/>
          <p:nvPr/>
        </p:nvSpPr>
        <p:spPr>
          <a:xfrm>
            <a:off x="685800" y="2514600"/>
            <a:ext cx="10835640" cy="338328"/>
          </a:xfrm>
          <a:prstGeom prst="rect">
            <a:avLst/>
          </a:prstGeom>
          <a:noFill/>
        </p:spPr>
        <p:txBody>
          <a:bodyPr wrap="square" lIns="0" rIns="0" tIns="0" bIns="0" anchor="t">
            <a:spAutoFit/>
          </a:bodyPr>
          <a:lstStyle/>
          <a:p>
            <a:pPr algn="l">
              <a:lnSpc>
                <a:spcPct val="112000"/>
              </a:lnSpc>
              <a:spcBef>
                <a:spcPts val="0"/>
              </a:spcBef>
              <a:spcAft>
                <a:spcPts val="0"/>
              </a:spcAft>
            </a:pPr>
            <a:r>
              <a:rPr sz="1700" b="1">
                <a:solidFill>
                  <a:srgbClr val="087E8B"/>
                </a:solidFill>
                <a:latin typeface="Arial"/>
                <a:hlinkClick r:id="rId4"/>
              </a:rPr>
              <a:t>P2 · 2022 · 10.3390/rs14040928</a:t>
            </a:r>
          </a:p>
        </p:txBody>
      </p:sp>
      <p:sp>
        <p:nvSpPr>
          <p:cNvPr id="9" name="TextBox 8"/>
          <p:cNvSpPr txBox="1"/>
          <p:nvPr/>
        </p:nvSpPr>
        <p:spPr>
          <a:xfrm>
            <a:off x="685800" y="2871216"/>
            <a:ext cx="10835640" cy="731520"/>
          </a:xfrm>
          <a:prstGeom prst="rect">
            <a:avLst/>
          </a:prstGeom>
          <a:noFill/>
        </p:spPr>
        <p:txBody>
          <a:bodyPr wrap="square" lIns="0" rIns="0" tIns="0" bIns="0" anchor="t">
            <a:spAutoFit/>
          </a:bodyPr>
          <a:lstStyle/>
          <a:p>
            <a:pPr algn="l">
              <a:lnSpc>
                <a:spcPct val="112000"/>
              </a:lnSpc>
              <a:spcBef>
                <a:spcPts val="0"/>
              </a:spcBef>
              <a:spcAft>
                <a:spcPts val="0"/>
              </a:spcAft>
            </a:pPr>
            <a:r>
              <a:rPr sz="1650" b="0">
                <a:solidFill>
                  <a:srgbClr val="123047"/>
                </a:solidFill>
                <a:latin typeface="Arial"/>
                <a:hlinkClick r:id="rId4"/>
              </a:rPr>
              <a:t>Can GPM IMERG Capture Extreme Precipitation in North China Plain?</a:t>
            </a:r>
          </a:p>
        </p:txBody>
      </p:sp>
      <p:sp>
        <p:nvSpPr>
          <p:cNvPr id="10" name="TextBox 9"/>
          <p:cNvSpPr txBox="1"/>
          <p:nvPr/>
        </p:nvSpPr>
        <p:spPr>
          <a:xfrm>
            <a:off x="685800" y="3611880"/>
            <a:ext cx="10835640" cy="338328"/>
          </a:xfrm>
          <a:prstGeom prst="rect">
            <a:avLst/>
          </a:prstGeom>
          <a:noFill/>
        </p:spPr>
        <p:txBody>
          <a:bodyPr wrap="square" lIns="0" rIns="0" tIns="0" bIns="0" anchor="t">
            <a:spAutoFit/>
          </a:bodyPr>
          <a:lstStyle/>
          <a:p>
            <a:pPr algn="l">
              <a:lnSpc>
                <a:spcPct val="112000"/>
              </a:lnSpc>
              <a:spcBef>
                <a:spcPts val="0"/>
              </a:spcBef>
              <a:spcAft>
                <a:spcPts val="0"/>
              </a:spcAft>
            </a:pPr>
            <a:r>
              <a:rPr sz="1700" b="1">
                <a:solidFill>
                  <a:srgbClr val="087E8B"/>
                </a:solidFill>
                <a:latin typeface="Arial"/>
                <a:hlinkClick r:id="rId5"/>
              </a:rPr>
              <a:t>V3 ·  · Nguồn chính thức</a:t>
            </a:r>
          </a:p>
        </p:txBody>
      </p:sp>
      <p:sp>
        <p:nvSpPr>
          <p:cNvPr id="11" name="TextBox 10"/>
          <p:cNvSpPr txBox="1"/>
          <p:nvPr/>
        </p:nvSpPr>
        <p:spPr>
          <a:xfrm>
            <a:off x="685800" y="3968496"/>
            <a:ext cx="10835640" cy="731520"/>
          </a:xfrm>
          <a:prstGeom prst="rect">
            <a:avLst/>
          </a:prstGeom>
          <a:noFill/>
        </p:spPr>
        <p:txBody>
          <a:bodyPr wrap="square" lIns="0" rIns="0" tIns="0" bIns="0" anchor="t">
            <a:spAutoFit/>
          </a:bodyPr>
          <a:lstStyle/>
          <a:p>
            <a:pPr algn="l">
              <a:lnSpc>
                <a:spcPct val="112000"/>
              </a:lnSpc>
              <a:spcBef>
                <a:spcPts val="0"/>
              </a:spcBef>
              <a:spcAft>
                <a:spcPts val="0"/>
              </a:spcAft>
            </a:pPr>
            <a:r>
              <a:rPr sz="1650" b="0">
                <a:solidFill>
                  <a:srgbClr val="123047"/>
                </a:solidFill>
                <a:latin typeface="Arial"/>
                <a:hlinkClick r:id="rId5"/>
              </a:rPr>
              <a:t>JWGFVR Forecast Verification: Probability of Detection and False Alarm Ratio</a:t>
            </a:r>
          </a:p>
        </p:txBody>
      </p:sp>
      <p:sp>
        <p:nvSpPr>
          <p:cNvPr id="12" name="TextBox 11"/>
          <p:cNvSpPr txBox="1"/>
          <p:nvPr/>
        </p:nvSpPr>
        <p:spPr>
          <a:xfrm>
            <a:off x="685800" y="4709159"/>
            <a:ext cx="10835640" cy="338328"/>
          </a:xfrm>
          <a:prstGeom prst="rect">
            <a:avLst/>
          </a:prstGeom>
          <a:noFill/>
        </p:spPr>
        <p:txBody>
          <a:bodyPr wrap="square" lIns="0" rIns="0" tIns="0" bIns="0" anchor="t">
            <a:spAutoFit/>
          </a:bodyPr>
          <a:lstStyle/>
          <a:p>
            <a:pPr algn="l">
              <a:lnSpc>
                <a:spcPct val="112000"/>
              </a:lnSpc>
              <a:spcBef>
                <a:spcPts val="0"/>
              </a:spcBef>
              <a:spcAft>
                <a:spcPts val="0"/>
              </a:spcAft>
            </a:pPr>
            <a:r>
              <a:rPr sz="1700" b="1">
                <a:solidFill>
                  <a:srgbClr val="087E8B"/>
                </a:solidFill>
                <a:latin typeface="Arial"/>
                <a:hlinkClick r:id="rId6"/>
              </a:rPr>
              <a:t>A5 ·  · Nguồn chính thức</a:t>
            </a:r>
          </a:p>
        </p:txBody>
      </p:sp>
      <p:sp>
        <p:nvSpPr>
          <p:cNvPr id="13" name="TextBox 12"/>
          <p:cNvSpPr txBox="1"/>
          <p:nvPr/>
        </p:nvSpPr>
        <p:spPr>
          <a:xfrm>
            <a:off x="685800" y="5065775"/>
            <a:ext cx="10835640" cy="731520"/>
          </a:xfrm>
          <a:prstGeom prst="rect">
            <a:avLst/>
          </a:prstGeom>
          <a:noFill/>
        </p:spPr>
        <p:txBody>
          <a:bodyPr wrap="square" lIns="0" rIns="0" tIns="0" bIns="0" anchor="t">
            <a:spAutoFit/>
          </a:bodyPr>
          <a:lstStyle/>
          <a:p>
            <a:pPr algn="l">
              <a:lnSpc>
                <a:spcPct val="112000"/>
              </a:lnSpc>
              <a:spcBef>
                <a:spcPts val="0"/>
              </a:spcBef>
              <a:spcAft>
                <a:spcPts val="0"/>
              </a:spcAft>
            </a:pPr>
            <a:r>
              <a:rPr sz="1650" b="0">
                <a:solidFill>
                  <a:srgbClr val="123047"/>
                </a:solidFill>
                <a:latin typeface="Arial"/>
                <a:hlinkClick r:id="rId6"/>
              </a:rPr>
              <a:t>Informer official attention implementation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