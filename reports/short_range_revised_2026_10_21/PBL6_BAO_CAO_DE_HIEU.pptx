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này trình bày theo cách giải thích trong cuộc trao đổi: định nghĩa trước, ví dụ cụ thể rồi mới đọc kết quả. Có bảng nhóm biến và bảng metrics đầy đủ, giải thích 3 seed, kiểm chứng nhận định POD 0,4 và pilot Informer cùng dữ liệu. Các kết quả chính vẫn là tập phát triển 2021–2023; năm 2025 chưa mở.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lần phát hành lúc 07 giờ Việt Nam tạo ba số lượng mưa trung bình vùng. Ngày 1 là khoảng 0–24 giờ, ngày 2 là 24–48 giờ, ngày 3 là 48–72 giờ. Ví dụ 12, 35, 5 mm chỉ là minh họa. Không cộng 93 giá trị mm để làm nhãn vùng; lấy trung bình theo diện tích rồi cộng 24 giờ. Dự đoán một số trung bình vùng không suy ra tất cả xã hoặc ô đều nhận lượng mưa đó.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Đầu vào gồm khí tượng quá khứ từ ERA5 và đại lượng suy ra; lịch được tính từ timestamp. Nhãn là y_region_gc_mm từ GSMaP Gauge, tổng hợp theo diện tích các ô rồi cộng 24 giờ. Mưa ERA5 không phải nhãn trong nhánh ngày. Độ đầy đủ hoặc checksum không bảo đảm biến khí tượng hay nhãn vệ tinh chính xác về vật lý. Các biến SST/bối cảnh/chênh áp có hỗ trợ không gian riêng theo mã dựng nguồn, không phải mọi trường đều là 93 phép đo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Lấy 168 giờ khí tượng trước thời điểm phát hành, tính trung bình theo khối 6 giờ, thành 28 bước. Với F biến, tensor quá khứ có dạng N×28×F. Decoder chỉ nhận 12 bước lịch tương lai với 4 biến lịch; không nhận ERA5 ở giờ cần dự đoán. Đầu lượng mưa gồm 3 số, đầu sự kiện gồm 3 ngày nhân 3 ngưỡng. Mọi cấu hình dùng mask chung E7: đủ lịch sử và nhãn 72 giờ, không thay mẫu khi bớt biến.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B là thông tin nền gần mặt đất và lịch; A bổ sung điều kiện đối lưu/mây/lớp biên/đất; M bổ sung hoàn lưu và dòng ẩm trên cao; C bổ sung nhiệt độ biển. Đây là bảng mô tả đầy đủ theo yêu cầu, còn tên 44 cột ở phụ lục. A/M cũng có các thông tin liên quan độ ẩm nên không độc lập hoàn toàn; không lặp cột không có nghĩa không tương quan. SST hiện chỉ một biến vùng biển, chưa phải cả ENSO/MJO.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nhóm bổ sung A/M/C tạo 2 mũ 3 bằng tám tổ hợp. Mỗi E đã chạy trên ba fold phát triển và ba seed TFT, tổng 9 lượt TFT; LightGBM xác định có 3 pipeline. E0 là bộ biến nền, không phải tên một thuật toán. Tăng số biến cũng làm tăng tham số đầu vào TFT; giữ hidden/epoch không đồng nghĩa cùng số tham số. Factorial giúp đo từng tổ hợp trong pipeline, chưa chứng minh nhân quả vật lý.</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mạng neural bắt đầu từ các trọng số ngẫu nhiên, thứ tự lấy mẫu và các thao tác ngẫu nhiên trong huấn luyện. Seed là số đặt trạng thái ngẫu nhiên để quản lý các lần chạy. Seed42/43/44 là ba nhãn đã chọn trước, không phải năm dữ liệu hay ba tỉnh. Mỗi lần vẫn dùng cùng dữ liệu, nhóm biến và cấu hình. Chạy ba lần giúp kiểm tra kết quả có quá phụ thuộc một khởi tạo may mắn không. Ví dụ 9,12,15mm là minh họa cách trung bình dự đoán, không phải kết quả thật.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ngày là ba đầu ra của một mô hình tại một lần dự báo. Ba seed là ba lần huấn luyện cùng cấu hình. Ba lượt chia thời gian là ba đợt đánh giá trên các năm 2021/2022/2023, với tập huấn luyện và hiệu chỉnh riêng của từng đợt. Vì thế mỗi E có 3×3=9 lượt TFT, tám E có 72 lượt. LightGBM hiện chạy xác định nên có 3 lượt mỗi E. Thêm seed không nhân ba số ngày mưa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TFT được thử vì có thiết kế cho nhiều nhóm biến và nhiều hạn. Informer là mô hình attention tối ưu cho chuỗi dài. Lần này đã có pilot riêng E0/E7 trên cùng dữ liệu vùng, nhãn, lịch sử, đầu ra và cách chấm. Bản này vẫn là adaptation: giữ backbone ProbSparse/encoder-distilling/decoder, thêm đầu ngày Tweedie/BCE. Chưa phải tái lập toàn bộ paper hoặc tìm cấu hình tối ưu cho Informer. Không lấy R² từ dữ liệu điểm cũ để loại nó.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LightGBM là thuật toán cây boosting được huấn luyện, không phải nguồn mưa khác. TFT thấy chuỗi 28 bước; cây thấy thống kê của cùng lịch sử: khối cuối, trung bình 24/72/168 giờ và thay đổi hai khối cuối, cộng lịch. Vì thế E0 có 87 cột bảng, E7 có 252 cột. So E0/E2 trong một họ đo đóng góp M; so TFT/LightGBM tại cùng E đo hai pipeline. Còn khác biểu diễn, loss và số seed, nên chưa phải chỉ thay một kiến trúc. Với vài nghìn nhãn ngày, đối chứng cây là phép đo cần thiết; không có định lý cây luôn thắng.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là nghiên cứu mưa ngày kế tiếp tại Cairns, trong đó LightGBM học thành phần dư của mô hình lai. R2 dùng LightGBM cho lượng mưa tại vùng núi Nhật Bản với forecast lân cận và quan trắc. R3 nghiên cứu dự đoán mùa, nên chỉ hỗ trợ bối cảnh phương pháp. Những bài này chứng minh thuật toán đã được dùng trong nghiên cứu giáng thủy, không chứng minh cấu hình của nhóm tốt ở Đà Nẵng. Không nhập điểm giữa các bài vì khác nhãn, hạn và không gian. Phân biệt cơ sở thuật toán A1 với cơ sở ứng dụng R1/R2.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Lượng mm, xác suất và quyết định là ba sản phẩm liên quan nhưng khác nhau. RMSE/MAE/Bias đo lượng. BS/BSS đánh giá xác suất với nhãn sự kiện 0/1. CSI/POD/FAR đo quyết định có/không sau khi chọn ngưỡng xác suất. BSS tốt không tự bảo đảm RMSE tốt; POD cao không bảo đảm ít báo nhầm. Tập dữ liệu ít sự kiện làm accuracy dễ bị ngày khô chi phối. Đầu lượng mưa và xác suất hiện không thuộc một phân phối duy nhất, nên không thay CSI của hai loại đầu ra cho nhau.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từng hàng để biết con số đang đo lượng mưa, xác suất hay quyết định. RMSE/MAE/Bias có đơn vị mm/24h. BS là sai số xác suất, BSS là cải thiện BS so khí hậu. CSI/POD/FAR lấy từ số trúng, bỏ sót và báo nhầm. Không so các con số khác đơn vị với nhau. POD cao cần xem FAR; BSS cao chưa tự suy ra lượng mm tốt. Các ví dụ tính cụ thể ở các slide ngay sau.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Nhãn [0,10,40] mm và dự đoán [0,15,25] mm tạo lỗi [0,+5,-15] mm. MAE=(0+5+15)/3=6,67 mm. RMSE=sqrt((0+25+225)/3)=9,13 mm. Bias=(0+5-15)/3=−3,33 mm. RMSE phạt lỗi 15 mm mạnh, MAE mô tả trung bình trị tuyệt đối và Bias chỉ ra xu hướng thiếu. Bias có thể triệt tiêu khi có lỗi dương/âm, vì vậy gần 0 chưa bảo đảm tốt. Đây là tổng mưa 24 giờ trung bình vùng, không so trực tiếp với RMSE giờ hoặc tại điểm.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o=1 khi mưa đạt ngưỡng và o=0 khi không, Brier score là trung bình (p-o)^2. Nếu sự kiện xảy ra, dự báo 0,8 có lỗi 0,04, dự báo 0,2 có lỗi 0,64. BSS=1-BS_model/BS_ref. Ví dụ BS_model=0,06 và BS_ref=0,08 thì BSS=0,25, tương đương giảm 25% lỗi Brier so tham chiếu, không phải 25% ngày đúng. Khí hậu trong dự án học từ train theo tháng/lead. BSS có thể âm; nó không đo sai số mm và không cần ngưỡng quyết định tau. Reliability là chẩn đoán bổ sung, không thay BSS.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100 ngày có 10 ngày đạt ngưỡng. Báo trúng 7, bỏ sót 3, báo nhầm 5 và đúng không sự kiện 85. POD=7/(7+3)=0.700. FAR=5/(7+5)=0.417. CSI=7/(7+3+5)=0.467. FAR chia cho tổng lần báo có, khác false positive rate chia cho tổng ngày không sự kiện. Không báo lần nào thì FAR không xác định, không tự điền 0. Nếu luôn báo khô, accuracy đạt 90% nhưng không bắt được một sự kiện nào.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 0,4 nghĩa là bắt 40 trong 100 sự kiện thực. Ví dụ tự tạo 300 ngày có 100 sự kiện: A và B cùng trúng 40, bỏ sót 60 nhưng A báo nhầm 10 và B báo nhầm 160. Cùng POD 0,4 nhưng FAR và CSI rất khác. Vì vậy không có kết luận tốt chỉ từ số 0,4. Trong bài toán khó, mức này có thể hữu ích nếu hơn đối chứng và đáp ứng đánh đổi báo nhầm; cần ngữ cảnh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nghiên cứu IFS/WRF trên Việt Nam, phần 4.3 bàn ngưỡng 25 mm/24h. Có mô tả POD 0,3–0,4 trong bản đồ, nhưng cũng có trạm vùng R6 đạt 0,5–0,7. Không có phát biểu 0,4 là chuẩn chung. P2 là đánh giá ước lượng IMERG theo giờ, nơi POD tối đa 0,4 cùng FAR tối thiểu 0,6 được tác giả nhận xét phát hiện thấp. Dùng hai nguồn để kiểm tra cách diễn giải, không xếp hạng dự án tốt hơn hai bài. Ngưỡng, không gian, nhãn và quy tắc của dự án khác.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E7 ngày 1 thật, cùng 1075 mốc và 114 sự kiện. TFT bắt được 73, bỏ sót 41 và báo nhầm 66. LightGBM bắt được 60, bỏ sót 54 và báo nhầm 32. TFT bắt thêm 13 sự kiện nhưng có thêm 34 báo nhầm. Không nói mô hình nào tốt hơn chỉ từ một chỉ số. Ưu tiên bỏ sót hay báo nhầm cần mục tiêu sử dụng và chi phí rõ; chưa có yêu cầu đó để tự đặt POD tối thiểu. Các số đếm được tái tạo từ aggregate đầy đủ độ chính xác và kiểm tra khớp CSI, không dùng nhãn mới.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hiện có gia đình kiểm định chính cho BSS16 và báo CSI. Giữ giao thức để không đổi mục tiêu theo điểm đẹp. POD/FAR là chẩn đoán bắt buộc cạnh CSI; lượng mm phải xuất hiện rõ bằng RMSE/MAE/Bias vì đó là đầu ra nghiên cứu. Nếu bài báo xác định cải thiện lượng mm là câu hỏi chính, cần chốt tiêu chí định lượng trước holdout, không dùng BSS như bằng chứng duy nhất. Nếu mục tiêu là cảnh báo ít bỏ sót, đặt yêu cầu POD và đánh đổi FAR từ nhu cầu sử dụng, chọn ngưỡng trên calibration rồi khóa. Không có một thứ tự phổ quát chỉ do dự báo là ngắn hạn.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học scaler, mô hình và khí hậu. Calibration chọn epoch/iteration, hiệu chỉnh xác suất và ngưỡng, nên không phải một tập đánh giá độc lập. Evaluation của ba fold là 2021–2023 và đã được xem trong development. Có 1075 mốc mỗi lead, 114 sự kiện 16, 37 sự kiện 50, 15 sự kiện 100. Ba lead có ngày mưa trùng nhau, không cộng thành số đợt độc lập. Nếu đổi ranh/nhãn, phải chạy lại phần phát triển trước khóa thiết kế. Không lấy kết quả 2026 để chọn mô hình chấm 2025.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q=16/50/100 mm xác định nhãn sự kiện từ lượng mưa vùng. Ngưỡng tau xác định báo có từ xác suất. Calibration hiện chọn tau bằng CSI; các điểm POD/FAR trong bảng là ở những ngưỡng đó, không phải tại cùng POD hoặc cùng FAR giữa hai mô hình. Khi hạ tau, có thể bắt thêm sự kiện và thêm báo nhầm; FAR không nhất thiết đơn điệu trong mẫu hữu hạn. BS/BSS không cần tau. CSI từ đầu lượng mưa&gt;=q là amount_CSI, khác CSI chính từ xác suất&gt;=tau. Các ngưỡng mưa là giao thức nghiên cứu, không tự là cấp cảnh báo từng xã.</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dự đoán E7 ngày 1 và cùng 114 sự kiện. Nếu báo có khi lượng mm dự đoán ≥16, TFT trúng 67 và báo nhầm 48, POD 0,588. Nếu dùng đầu xác suất ≥tau đã chọn trên tập hiệu chỉnh, TFT trúng 73 và báo nhầm 66, POD 0,640. Con số 0,640 đúng với quy tắc thứ hai; chưa đồng nghĩa tốt hơn chỉ vì cao hơn. Đây là chẩn đoán bổ sung trên dự đoán đã có, không chọn lại ngưỡng từ tập đánh giá và không thay chỉ số chính.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BSS=1-BS/BSref. Dương tốt hơn khí hậu, âm kém hơn; không phải accuracy. Bảng cho đủ E0–E7, ba ngày và hai mô hình, mỗi cột in đậm điểm tốt nhất ở độ chính xác hiển thị. Chữ đỏ đánh dấu BSS âm; điểm ít âm nhất vẫn kém khí hậu. TFT E2/E6 có điểm cao ngày 1, LightGBM E4 cao ngày 1; chưa có kiểm định mọi cặp để tuyên bố cấu hình thắng ngoài mẫu. Không trung bình các BSS năm để thay BSS pooled đã tính từ các dự đoán/reference ghép.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 cho tỷ lệ bắt được, FAR cho tỷ lệ báo nhầm trong các lần báo có; CSI tóm tắt ba số đếm; BSS đánh giá xác suất so khí hậu. Ngày 3 vẫn có POD 0,412 ở TFT nhưng FAR 0,719 và BSS âm. Đây là lý do không gọi dự báo tốt từ một POD riêng. Số in đậm là điểm tốt hơn trong cặp mô hình cùng ngày, chưa là kiểm định thống kê; các ngưỡng tau được chọn riêng trên tập hiệu chỉnh.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RMSE phạt lỗi lớn; MAE là lỗi tuyệt đối trung bình; Bias âm là dự báo thiếu. Bảng E7 cho thấy LightGBM có RMSE/MAE ngày 1 thấp hơn, còn ngày 3 TFT RMSE thấp hơn nhưng MAE cao hơn. Chọn một chỉ số có thể dẫn đến nhận xét khác nhau; không nói thắng mọi mặt. Mỗi cột in đậm điểm tốt hơn cùng ngày, Bias theo trị tuyệt đối. BSS tốt hơn không tự suy ra RMSE tốt hơn. RMSE khoảng 20 mm là mức lỗi tổng hợp, không phải khoảng chắc chắn mọi ngày sai trong ±20 mm.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đã khóa cấu hình trước khi huấn luyện, chỉ E0/E7, ba lượt chia 2021–2023 và cùng tập seed hoàn thành với TFT. Cùng dữ liệu vùng, nhãn, mẫu, lịch sử 168h gộp 6h, đầu ra ba tổng 24h, loss Tweedie/BCE, cách hiệu chỉnh và chọn ngưỡng. Informer là bản điều chỉnh gọn: hidden 32, heads 4, hai encoder có distilling và một decoder. Chưa tuning hoặc chạy E1–E6. Bảng là điểm phát triển; chưa kiểm định khác biệt kiến trúc từ các điểm này, không lấy R² cũ để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Hiệu số ở đây là BSS khi thêm nhóm trừ BSS nền. Khoảng tin cậy cho thấy mức dao động hiệu số khi lấy mẫu lại các đợt ngày trên chính tập phát triển. Nếu toàn khoảng trên 0 thì phép thử ủng hộ cải thiện; nếu chứa 0 thì chưa phân biệt chắc. Hai nhóm A/M ngày 1 có khoảng điều chỉnh trên 0, SST chưa có. Chưa suy ra M chắc chắn hơn A vì chưa kiểm định trực tiếp; chưa suy ra đã thắng năm 2025.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96 lượt hiện chạy khoảng27,9 phút trên 4060 Laptop 8 GB; đó là thời gian tiến trình, không phải mọi công việc nghiên cứu. Ưu tiên tiếp theo là ranh/trọng số vùng và kiểm chứng nhãn ngày, gồm các biến mã hóa/proxy cần xác nhận. Nếu dữ liệu thay đổi, chạy lại development liên quan rồi khóa. Ngày 3 có thể cần forecast thật hoặc cách học khác, nhưng ma trận hiện chưa cô lập nguyên nhân. Không lấy kết quả âm để kết luận toàn bộ bài toán 72 giờ không khả thi. Chưa cần thêm kiến trúc chỉ để chứng minh kiến trúc đó thua.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cơ sở ứng dụng LightGBM trong các bài nghiên cứu mưa, nhưng phép đo tại dự án mới quyết định giá trị. POD và FAR vẫn cần ở hạn ngày, luôn đọc cùng CSI, BSS và lượng mm; chưa có yêu cầu chi phí để ưu tiên riêng POD hoặc FAR. Đã chạy đủ E0–E7 và có tín hiệu A/M ngày 1; ngày 3 chưa vượt khí hậu. Phần tiếp theo là hoàn thiện định nghĩa vùng, nhãn, giao thức rồi holdout. Khi bị hỏi TFT sao chưa thắng LightGBM, trả lời mục tiêu nghiên cứu đặc trưng, không đặt trước thuật toán phải thắng.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script LOCAL, hàm evaluate báo POD/FAR cho tổng 6 giờ đạt 10 mm cùng CSI/RMSE/MAE. Notebook Tweedie bổ sung chỉ số 1 giờ, 3/6 giờ và max giờ. Tuy nhiên early stopping của hai tệp được rà soát so RMSE phần tử trên đầu ra giờ; tên biến val_rmse_6h không tự làm nó thành RMSE tổng 6 giờ. evaluate xác suất trong notebook ghi BS và CSI_prob ở p&gt;=0.5, dù docstring nhắc BSS. Do đó không đồng nhất bảng báo cáo POD/FAR với việc tối ưu POD/FAR, hoặc BS với BSS. Phạm vi audit là commit này, chưa xác nhận mã riêng chưa push của thành viên.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chứa đúng tám cấu hình và bảy chỉ số từ aggregate gốc. Đậm là điểm tốt nhất ở độ chính xác hiển thị trong cùng cột; RMSE/MAE/FAR lấy nhỏ nhất, Bias lấy gần 0 nhất, BSS/CSI/POD lấy lớn nhất. Đỏ là BSS âm; ít âm nhất vẫn kém khí hậu. Đây không phải kiểm định mọi cặp. TFT ensemble 3 seed, không phải trung bình metric 3 seed. Cùng 1075 mốc/114 sự kiện 16 cho mọi E. Lượng mưa có đơn vị mm/24h; chỉ số sự kiện không đơn vị.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Tên biến giữ đúng theo feature_catalog.csv. Trường khí tượng V1 thường có tiền tố mean__; lịch không có tiền tố. Mỗi nhóm là danh mục cột, không độc lập thống kê. CIN NaNđược mã hóa 500 và has_lfc được dựng theo nguồn, cần audit vật lý; hữu hạn không tự bảo đảm đúng. Các trường context/SST/chênh áp có miền không gian riêng. Không suy ra93 quan trắc ERA5độc lập từ lưới đích0,1 độ.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nguồn sơ cấp được đối chiếu đến ngày 21/10/2026. R1 và R3được đọc qua phần công khai từ nhà xuất bản; không khẳng định đã audit full text phương pháp. R2 có trang bài báo và PDF chính thức. Không sao chép PDF hoặc điểm của paper vào repo. Đây là cơ sở chọn phép thử, không là bảo đảm kết quả cho Việt Nam.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làpaper thuật toán LightGBM, A2 TFT, A3/A4 Informer. V1 làhướng dẫn kiểm chứng phân loại, V2 làkiểm chứng xác suất. Các nhận định áp dụng cho dữ liệu28 bước/vùng xấp xỉ là suy luận của dự án, không trích như kết luận bài gốc. Chi tiết lịch sử nhánh dev được đóng dấu bằng commit và SHA; không chấm lại mô hình hoặc mở 2025 trong lượt làm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P1 là bài gốc trên nhà xuất bản và bản lưu tại KIT. Không sao chép PDF vào Git. Nguồn P2 là ước lượng, không phải dự báo, được ghi đúng giới hạn. V3 là hướng dẫn nhóm kiểm chứng dự báo, không áp chuẩn 0,4 chung. A5 là mã attention tác giả để đối chiếu công thức queries trong subclass pilot mới.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www.sciencedirect.com/science/article/pii/S095070512200555X" TargetMode="External"/><Relationship Id="rId4" Type="http://schemas.openxmlformats.org/officeDocument/2006/relationships/hyperlink" Target="https://www.jstage.jst.go.jp/article/ipsjjip/32/0/32_873/_article/-char/en" TargetMode="External"/><Relationship Id="rId5" Type="http://schemas.openxmlformats.org/officeDocument/2006/relationships/hyperlink" Target="https://www.sciencedirect.com/science/article/abs/pii/S0169809523003587"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proceedings.neurips.cc/paper_files/paper/2017/hash/6449f44a102fde848669bdd9eb6b76fa-Abstract.html" TargetMode="External"/><Relationship Id="rId4" Type="http://schemas.openxmlformats.org/officeDocument/2006/relationships/hyperlink" Target="https://arxiv.org/abs/1912.09363" TargetMode="External"/><Relationship Id="rId5" Type="http://schemas.openxmlformats.org/officeDocument/2006/relationships/hyperlink" Target="https://ojs.aaai.org/index.php/AAAI/article/view/17325" TargetMode="External"/><Relationship Id="rId6" Type="http://schemas.openxmlformats.org/officeDocument/2006/relationships/hyperlink" Target="https://github.com/zhouhaoyi/Informer2020/blob/main/models/model.py" TargetMode="External"/><Relationship Id="rId7" Type="http://schemas.openxmlformats.org/officeDocument/2006/relationships/hyperlink" Target="https://www.ecmwf.int/sites/default/files/elibrary/2007/15490-verification-categorical-forecasts.pdf" TargetMode="External"/><Relationship Id="rId8" Type="http://schemas.openxmlformats.org/officeDocument/2006/relationships/hyperlink" Target="https://confluence.ecmwf.int/spaces/FUG/pages/673551875/Section%2B12.B%2BStatistical%2BConcepts%2B-%2BProbabilistic%2BDat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www.mdpi.com/2073-4433/16/2/224" TargetMode="External"/><Relationship Id="rId4" Type="http://schemas.openxmlformats.org/officeDocument/2006/relationships/hyperlink" Target="https://www.mdpi.com/2072-4292/14/4/928" TargetMode="External"/><Relationship Id="rId5" Type="http://schemas.openxmlformats.org/officeDocument/2006/relationships/hyperlink" Target="https://jwgfvr.github.io/forecastverification/" TargetMode="External"/><Relationship Id="rId6" Type="http://schemas.openxmlformats.org/officeDocument/2006/relationships/hyperlink" Target="https://raw.githubusercontent.com/zhouhaoyi/Informer2020/main/models/attn.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Đặc trưng nào giúp dự đoán mưa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sp>
        <p:nvSpPr>
          <p:cNvPr id="6" name="TextBox 5"/>
          <p:cNvSpPr txBox="1"/>
          <p:nvPr/>
        </p:nvSpPr>
        <p:spPr>
          <a:xfrm>
            <a:off x="594360" y="1490472"/>
            <a:ext cx="10972800" cy="914400"/>
          </a:xfrm>
          <a:prstGeom prst="rect">
            <a:avLst/>
          </a:prstGeom>
          <a:noFill/>
        </p:spPr>
        <p:txBody>
          <a:bodyPr wrap="square" lIns="0" rIns="0" tIns="0" bIns="0" anchor="t">
            <a:spAutoFit/>
          </a:bodyPr>
          <a:lstStyle/>
          <a:p>
            <a:pPr algn="l">
              <a:lnSpc>
                <a:spcPct val="112000"/>
              </a:lnSpc>
              <a:spcBef>
                <a:spcPts val="0"/>
              </a:spcBef>
              <a:spcAft>
                <a:spcPts val="0"/>
              </a:spcAft>
            </a:pPr>
            <a:r>
              <a:rPr sz="2600" b="1">
                <a:solidFill>
                  <a:srgbClr val="087E8B"/>
                </a:solidFill>
                <a:latin typeface="Arial"/>
              </a:rPr>
              <a:t>TFT và LightGBM · ngày 1, 2, 3</a:t>
            </a:r>
          </a:p>
          <a:p>
            <a:pPr algn="l">
              <a:lnSpc>
                <a:spcPct val="112000"/>
              </a:lnSpc>
              <a:spcBef>
                <a:spcPts val="0"/>
              </a:spcBef>
              <a:spcAft>
                <a:spcPts val="0"/>
              </a:spcAft>
            </a:pPr>
            <a:r>
              <a:rPr sz="2600" b="1">
                <a:solidFill>
                  <a:srgbClr val="087E8B"/>
                </a:solidFill>
                <a:latin typeface="Arial"/>
              </a:rPr>
              <a:t>Bằng chứng, cách đọc chỉ số và giới hạn</a:t>
            </a:r>
          </a:p>
        </p:txBody>
      </p:sp>
      <p:sp>
        <p:nvSpPr>
          <p:cNvPr id="7" name="Rectangle 6"/>
          <p:cNvSpPr/>
          <p:nvPr/>
        </p:nvSpPr>
        <p:spPr>
          <a:xfrm>
            <a:off x="594360" y="2788920"/>
            <a:ext cx="3520440" cy="22402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916936"/>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chạy đủ</a:t>
            </a:r>
          </a:p>
        </p:txBody>
      </p:sp>
      <p:sp>
        <p:nvSpPr>
          <p:cNvPr id="9" name="TextBox 8"/>
          <p:cNvSpPr txBox="1"/>
          <p:nvPr/>
        </p:nvSpPr>
        <p:spPr>
          <a:xfrm>
            <a:off x="749808" y="3584448"/>
            <a:ext cx="3209544" cy="13258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72 lượt TFT</a:t>
            </a:r>
          </a:p>
          <a:p>
            <a:pPr algn="l">
              <a:lnSpc>
                <a:spcPct val="112000"/>
              </a:lnSpc>
              <a:spcBef>
                <a:spcPts val="0"/>
              </a:spcBef>
              <a:spcAft>
                <a:spcPts val="0"/>
              </a:spcAft>
            </a:pPr>
            <a:r>
              <a:rPr sz="2100" b="0">
                <a:solidFill>
                  <a:srgbClr val="123047"/>
                </a:solidFill>
                <a:latin typeface="Arial"/>
              </a:rPr>
              <a:t>24 pipeline LightGBM</a:t>
            </a:r>
          </a:p>
          <a:p>
            <a:pPr algn="l">
              <a:lnSpc>
                <a:spcPct val="112000"/>
              </a:lnSpc>
              <a:spcBef>
                <a:spcPts val="0"/>
              </a:spcBef>
              <a:spcAft>
                <a:spcPts val="0"/>
              </a:spcAft>
            </a:pPr>
            <a:r>
              <a:rPr sz="2100" b="0">
                <a:solidFill>
                  <a:srgbClr val="123047"/>
                </a:solidFill>
                <a:latin typeface="Arial"/>
              </a:rPr>
              <a:t>96/96 lượt tái lập</a:t>
            </a:r>
          </a:p>
        </p:txBody>
      </p:sp>
      <p:sp>
        <p:nvSpPr>
          <p:cNvPr id="10" name="Rectangle 9"/>
          <p:cNvSpPr/>
          <p:nvPr/>
        </p:nvSpPr>
        <p:spPr>
          <a:xfrm>
            <a:off x="4315968" y="2788920"/>
            <a:ext cx="3520440" cy="22402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2916936"/>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Cần đọc đủ</a:t>
            </a:r>
          </a:p>
        </p:txBody>
      </p:sp>
      <p:sp>
        <p:nvSpPr>
          <p:cNvPr id="12" name="TextBox 11"/>
          <p:cNvSpPr txBox="1"/>
          <p:nvPr/>
        </p:nvSpPr>
        <p:spPr>
          <a:xfrm>
            <a:off x="4471416" y="3584448"/>
            <a:ext cx="3209544" cy="1325880"/>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123047"/>
                </a:solidFill>
                <a:latin typeface="Arial"/>
              </a:rPr>
              <a:t>Lượng mưa: RMSE/MAE/Bias</a:t>
            </a:r>
          </a:p>
          <a:p>
            <a:pPr algn="l">
              <a:lnSpc>
                <a:spcPct val="112000"/>
              </a:lnSpc>
              <a:spcBef>
                <a:spcPts val="0"/>
              </a:spcBef>
              <a:spcAft>
                <a:spcPts val="0"/>
              </a:spcAft>
            </a:pPr>
            <a:r>
              <a:rPr sz="1900" b="0">
                <a:solidFill>
                  <a:srgbClr val="123047"/>
                </a:solidFill>
                <a:latin typeface="Arial"/>
              </a:rPr>
              <a:t>Xác suất: BS/BSS</a:t>
            </a:r>
          </a:p>
          <a:p>
            <a:pPr algn="l">
              <a:lnSpc>
                <a:spcPct val="112000"/>
              </a:lnSpc>
              <a:spcBef>
                <a:spcPts val="0"/>
              </a:spcBef>
              <a:spcAft>
                <a:spcPts val="0"/>
              </a:spcAft>
            </a:pPr>
            <a:r>
              <a:rPr sz="1900" b="0">
                <a:solidFill>
                  <a:srgbClr val="123047"/>
                </a:solidFill>
                <a:latin typeface="Arial"/>
              </a:rPr>
              <a:t>Sự kiện: CSI + POD + FAR</a:t>
            </a:r>
          </a:p>
        </p:txBody>
      </p:sp>
      <p:sp>
        <p:nvSpPr>
          <p:cNvPr id="13" name="Rectangle 12"/>
          <p:cNvSpPr/>
          <p:nvPr/>
        </p:nvSpPr>
        <p:spPr>
          <a:xfrm>
            <a:off x="8037575" y="2788920"/>
            <a:ext cx="3520440" cy="22402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3" y="2916936"/>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Kết quả trung thực</a:t>
            </a:r>
          </a:p>
        </p:txBody>
      </p:sp>
      <p:sp>
        <p:nvSpPr>
          <p:cNvPr id="15" name="TextBox 14"/>
          <p:cNvSpPr txBox="1"/>
          <p:nvPr/>
        </p:nvSpPr>
        <p:spPr>
          <a:xfrm>
            <a:off x="8193023" y="3584448"/>
            <a:ext cx="3209544" cy="1325880"/>
          </a:xfrm>
          <a:prstGeom prst="rect">
            <a:avLst/>
          </a:prstGeom>
          <a:noFill/>
        </p:spPr>
        <p:txBody>
          <a:bodyPr wrap="square" lIns="0" rIns="0" tIns="0" bIns="0" anchor="t">
            <a:spAutoFit/>
          </a:bodyPr>
          <a:lstStyle/>
          <a:p>
            <a:pPr algn="l">
              <a:lnSpc>
                <a:spcPct val="112000"/>
              </a:lnSpc>
              <a:spcBef>
                <a:spcPts val="0"/>
              </a:spcBef>
              <a:spcAft>
                <a:spcPts val="0"/>
              </a:spcAft>
            </a:pPr>
            <a:r>
              <a:rPr sz="1900" b="0">
                <a:solidFill>
                  <a:srgbClr val="123047"/>
                </a:solidFill>
                <a:latin typeface="Arial"/>
              </a:rPr>
              <a:t>A/M có tín hiệu ngày 1</a:t>
            </a:r>
          </a:p>
          <a:p>
            <a:pPr algn="l">
              <a:lnSpc>
                <a:spcPct val="112000"/>
              </a:lnSpc>
              <a:spcBef>
                <a:spcPts val="0"/>
              </a:spcBef>
              <a:spcAft>
                <a:spcPts val="0"/>
              </a:spcAft>
            </a:pPr>
            <a:r>
              <a:rPr sz="1900" b="0">
                <a:solidFill>
                  <a:srgbClr val="123047"/>
                </a:solidFill>
                <a:latin typeface="Arial"/>
              </a:rPr>
              <a:t>Ngày 3 chưa vượt khí hậu</a:t>
            </a:r>
          </a:p>
          <a:p>
            <a:pPr algn="l">
              <a:lnSpc>
                <a:spcPct val="112000"/>
              </a:lnSpc>
              <a:spcBef>
                <a:spcPts val="0"/>
              </a:spcBef>
              <a:spcAft>
                <a:spcPts val="0"/>
              </a:spcAft>
            </a:pPr>
            <a:r>
              <a:rPr sz="1900" b="0">
                <a:solidFill>
                  <a:srgbClr val="123047"/>
                </a:solidFill>
                <a:latin typeface="Arial"/>
              </a:rPr>
              <a:t>Vùng/nhãn còn cần kiểm chứng</a:t>
            </a:r>
          </a:p>
        </p:txBody>
      </p:sp>
      <p:sp>
        <p:nvSpPr>
          <p:cNvPr id="16" name="Rectangle 15"/>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Lộ trình: mục tiêu → dữ liệu → cách thử → mô hình → chỉ số → kết quả</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Đầu ra: ba tổng mưa 24 giờ riêng của cả vùng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pic>
        <p:nvPicPr>
          <p:cNvPr id="6" name="Picture 5" descr="target_timeline.png"/>
          <p:cNvPicPr>
            <a:picLocks noChangeAspect="1"/>
          </p:cNvPicPr>
          <p:nvPr/>
        </p:nvPicPr>
        <p:blipFill>
          <a:blip r:embed="rId3"/>
          <a:stretch>
            <a:fillRect/>
          </a:stretch>
        </p:blipFill>
        <p:spPr>
          <a:xfrm>
            <a:off x="502920" y="1508760"/>
            <a:ext cx="11201400" cy="2889504"/>
          </a:xfrm>
          <a:prstGeom prst="rect">
            <a:avLst/>
          </a:prstGeom>
        </p:spPr>
      </p:pic>
      <p:sp>
        <p:nvSpPr>
          <p:cNvPr id="7" name="TextBox 6"/>
          <p:cNvSpPr txBox="1"/>
          <p:nvPr/>
        </p:nvSpPr>
        <p:spPr>
          <a:xfrm>
            <a:off x="685800" y="459028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[12, 35, 5] mm/24h cho ba ngày.</a:t>
            </a:r>
          </a:p>
          <a:p>
            <a:pPr algn="l">
              <a:lnSpc>
                <a:spcPct val="112000"/>
              </a:lnSpc>
              <a:spcBef>
                <a:spcPts val="0"/>
              </a:spcBef>
              <a:spcAft>
                <a:spcPts val="0"/>
              </a:spcAft>
            </a:pPr>
            <a:r>
              <a:rPr sz="2200" b="0">
                <a:solidFill>
                  <a:srgbClr val="123047"/>
                </a:solidFill>
                <a:latin typeface="Arial"/>
              </a:rPr>
              <a:t>Một mẫu đại diện cho một mốc của vùng; không phải một ô.</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Ngày 2/3 không phải tổng tích lũy 48/72 giờ; chưa có đầu ra từng giờ.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Dữ liệu: ERA5 làm đầu vào, GSMaP Gauge làm nhãn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sp>
        <p:nvSpPr>
          <p:cNvPr id="6" name="Rectangle 5"/>
          <p:cNvSpPr/>
          <p:nvPr/>
        </p:nvSpPr>
        <p:spPr>
          <a:xfrm>
            <a:off x="594360" y="1508760"/>
            <a:ext cx="548640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Đầu vào trước giờ phát hành</a:t>
            </a:r>
          </a:p>
        </p:txBody>
      </p:sp>
      <p:sp>
        <p:nvSpPr>
          <p:cNvPr id="8" name="TextBox 7"/>
          <p:cNvSpPr txBox="1"/>
          <p:nvPr/>
        </p:nvSpPr>
        <p:spPr>
          <a:xfrm>
            <a:off x="749808" y="2304288"/>
            <a:ext cx="5175504" cy="2441448"/>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Nhiệt độ, ẩm, gió, áp suất…</a:t>
            </a:r>
          </a:p>
          <a:p>
            <a:pPr algn="l">
              <a:lnSpc>
                <a:spcPct val="112000"/>
              </a:lnSpc>
              <a:spcBef>
                <a:spcPts val="0"/>
              </a:spcBef>
              <a:spcAft>
                <a:spcPts val="0"/>
              </a:spcAft>
            </a:pPr>
            <a:r>
              <a:rPr sz="2300" b="0">
                <a:solidFill>
                  <a:srgbClr val="123047"/>
                </a:solidFill>
                <a:latin typeface="Arial"/>
              </a:rPr>
              <a:t>Đối lưu, mây, dòng ẩm, SST</a:t>
            </a:r>
          </a:p>
          <a:p>
            <a:pPr algn="l">
              <a:lnSpc>
                <a:spcPct val="112000"/>
              </a:lnSpc>
              <a:spcBef>
                <a:spcPts val="0"/>
              </a:spcBef>
              <a:spcAft>
                <a:spcPts val="0"/>
              </a:spcAft>
            </a:pPr>
            <a:r>
              <a:rPr sz="2300" b="0">
                <a:solidFill>
                  <a:srgbClr val="123047"/>
                </a:solidFill>
                <a:latin typeface="Arial"/>
              </a:rPr>
              <a:t>Lịch trong năm và trong ngày</a:t>
            </a:r>
          </a:p>
          <a:p>
            <a:pPr algn="l">
              <a:lnSpc>
                <a:spcPct val="112000"/>
              </a:lnSpc>
              <a:spcBef>
                <a:spcPts val="0"/>
              </a:spcBef>
              <a:spcAft>
                <a:spcPts val="0"/>
              </a:spcAft>
            </a:pPr>
            <a:r>
              <a:rPr sz="2300" b="0">
                <a:solidFill>
                  <a:srgbClr val="123047"/>
                </a:solidFill>
                <a:latin typeface="Arial"/>
              </a:rPr>
              <a:t>Hiện không dùng mưa quá khứ</a:t>
            </a:r>
          </a:p>
        </p:txBody>
      </p:sp>
      <p:sp>
        <p:nvSpPr>
          <p:cNvPr id="9" name="Rectangle 8"/>
          <p:cNvSpPr/>
          <p:nvPr/>
        </p:nvSpPr>
        <p:spPr>
          <a:xfrm>
            <a:off x="6291072" y="1508760"/>
            <a:ext cx="5303520" cy="3355848"/>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Nhãn và phạm vi</a:t>
            </a:r>
          </a:p>
        </p:txBody>
      </p:sp>
      <p:sp>
        <p:nvSpPr>
          <p:cNvPr id="11" name="TextBox 10"/>
          <p:cNvSpPr txBox="1"/>
          <p:nvPr/>
        </p:nvSpPr>
        <p:spPr>
          <a:xfrm>
            <a:off x="6446520" y="2304288"/>
            <a:ext cx="4992624" cy="2441448"/>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GSMaP Gauge → mưa vùng</a:t>
            </a:r>
          </a:p>
          <a:p>
            <a:pPr algn="l">
              <a:lnSpc>
                <a:spcPct val="112000"/>
              </a:lnSpc>
              <a:spcBef>
                <a:spcPts val="0"/>
              </a:spcBef>
              <a:spcAft>
                <a:spcPts val="0"/>
              </a:spcAft>
            </a:pPr>
            <a:r>
              <a:rPr sz="2200" b="0">
                <a:solidFill>
                  <a:srgbClr val="123047"/>
                </a:solidFill>
                <a:latin typeface="Arial"/>
              </a:rPr>
              <a:t>93 ô, tổng hợp trước mô hình</a:t>
            </a:r>
          </a:p>
          <a:p>
            <a:pPr algn="l">
              <a:lnSpc>
                <a:spcPct val="112000"/>
              </a:lnSpc>
              <a:spcBef>
                <a:spcPts val="0"/>
              </a:spcBef>
              <a:spcAft>
                <a:spcPts val="0"/>
              </a:spcAft>
            </a:pPr>
            <a:r>
              <a:rPr sz="2200" b="0">
                <a:solidFill>
                  <a:srgbClr val="123047"/>
                </a:solidFill>
                <a:latin typeface="Arial"/>
              </a:rPr>
              <a:t>Diện tích toàn ô ≈11.074 km²</a:t>
            </a:r>
          </a:p>
          <a:p>
            <a:pPr algn="l">
              <a:lnSpc>
                <a:spcPct val="112000"/>
              </a:lnSpc>
              <a:spcBef>
                <a:spcPts val="0"/>
              </a:spcBef>
              <a:spcAft>
                <a:spcPts val="0"/>
              </a:spcAft>
            </a:pPr>
            <a:r>
              <a:rPr sz="2200" b="0">
                <a:solidFill>
                  <a:srgbClr val="123047"/>
                </a:solidFill>
                <a:latin typeface="Arial"/>
              </a:rPr>
              <a:t>Footprint xấp xỉ Đà Nẵng mới</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Chưa có giao ranh hành chính chính xác; nhãn vệ tinh vẫn có sai số.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Một mẫu TFT được tạo như thế nào?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1005840"/>
                <a:gridCol w="5212080"/>
                <a:gridCol w="4983480"/>
              </a:tblGrid>
              <a:tr h="713232">
                <a:tc>
                  <a:txBody>
                    <a:bodyPr/>
                    <a:lstStyle/>
                    <a:p>
                      <a:pPr algn="ctr">
                        <a:lnSpc>
                          <a:spcPct val="100000"/>
                        </a:lnSpc>
                        <a:spcBef>
                          <a:spcPts val="0"/>
                        </a:spcBef>
                        <a:spcAft>
                          <a:spcPts val="0"/>
                        </a:spcAft>
                      </a:pPr>
                      <a:r>
                        <a:rPr sz="2200" b="1">
                          <a:solidFill>
                            <a:srgbClr val="FFFFFF"/>
                          </a:solidFill>
                          <a:latin typeface="Arial"/>
                        </a:rPr>
                        <a:t>Bước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Thao tác</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Kết quả</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22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Tổng hợp ô → vùng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chuỗi vùng</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168 giờ quá khứ → gộp 6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28 bước × F biến</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22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Thêm lịch tương lai đã biết</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12 bước × 4 biến lịch</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2200" b="0">
                          <a:solidFill>
                            <a:srgbClr val="123047"/>
                          </a:solidFill>
                          <a:latin typeface="Arial"/>
                        </a:rPr>
                        <a:t>4</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TFT dự đoán lượng + sự kiện</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3 lượng mm + 9 xác suất</a:t>
                      </a:r>
                    </a:p>
                  </a:txBody>
                  <a:tcPr marL="50292" marR="50292" marT="32004" marB="32004" anchor="ctr">
                    <a:solidFill>
                      <a:srgbClr val="EDF2F7"/>
                    </a:solidFill>
                  </a:tcPr>
                </a:tc>
              </a:tr>
            </a:tbl>
          </a:graphicData>
        </a:graphic>
      </p:graphicFrame>
      <p:sp>
        <p:nvSpPr>
          <p:cNvPr id="7" name="TextBox 6"/>
          <p:cNvSpPr txBox="1"/>
          <p:nvPr/>
        </p:nvSpPr>
        <p:spPr>
          <a:xfrm>
            <a:off x="685800" y="5230368"/>
            <a:ext cx="10881360" cy="694944"/>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E0: F=11; E7: F=44. Cùng các mốc hợp lệ cho mọi E.</a:t>
            </a:r>
          </a:p>
          <a:p>
            <a:pPr algn="l">
              <a:lnSpc>
                <a:spcPct val="112000"/>
              </a:lnSpc>
              <a:spcBef>
                <a:spcPts val="0"/>
              </a:spcBef>
              <a:spcAft>
                <a:spcPts val="0"/>
              </a:spcAft>
            </a:pPr>
            <a:r>
              <a:rPr sz="2000" b="0">
                <a:solidFill>
                  <a:srgbClr val="123047"/>
                </a:solidFill>
                <a:latin typeface="Arial"/>
              </a:rPr>
              <a:t>ERA5 hồi cứu chưa chứng minh dữ liệu đến kịp lúc chạy thật.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Bốn nhóm biến: bao gồm những thông tin gì?</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feature_groups.json và feature_catalog.csv • Số biến là số cột gốc, không phải số nguồn độc lập</a:t>
            </a:r>
          </a:p>
        </p:txBody>
      </p:sp>
      <p:graphicFrame>
        <p:nvGraphicFramePr>
          <p:cNvPr id="6" name="Table 5"/>
          <p:cNvGraphicFramePr>
            <a:graphicFrameLocks noGrp="1"/>
          </p:cNvGraphicFramePr>
          <p:nvPr/>
        </p:nvGraphicFramePr>
        <p:xfrm>
          <a:off x="502920" y="1335024"/>
          <a:ext cx="11201400" cy="4732015"/>
        </p:xfrm>
        <a:graphic>
          <a:graphicData uri="http://schemas.openxmlformats.org/drawingml/2006/table">
            <a:tbl>
              <a:tblPr firstRow="1" bandRow="1">
                <a:tableStyleId>{5C22544A-7EE6-4342-B048-85BDC9FD1C3A}</a:tableStyleId>
              </a:tblPr>
              <a:tblGrid>
                <a:gridCol w="2880360"/>
                <a:gridCol w="914400"/>
                <a:gridCol w="7406640"/>
              </a:tblGrid>
              <a:tr h="946403">
                <a:tc>
                  <a:txBody>
                    <a:bodyPr/>
                    <a:lstStyle/>
                    <a:p>
                      <a:pPr algn="ctr">
                        <a:lnSpc>
                          <a:spcPct val="100000"/>
                        </a:lnSpc>
                        <a:spcBef>
                          <a:spcPts val="0"/>
                        </a:spcBef>
                        <a:spcAft>
                          <a:spcPts val="0"/>
                        </a:spcAft>
                      </a:pPr>
                      <a:r>
                        <a:rPr sz="172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Số 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1720" b="1">
                          <a:solidFill>
                            <a:srgbClr val="FFFFFF"/>
                          </a:solidFill>
                          <a:latin typeface="Arial"/>
                        </a:rPr>
                        <a:t>Bao gồm những thông tin gì?</a:t>
                      </a:r>
                    </a:p>
                  </a:txBody>
                  <a:tcPr marL="50292" marR="50292" marT="32004" marB="32004" anchor="ctr">
                    <a:solidFill>
                      <a:srgbClr val="123047"/>
                    </a:solidFill>
                  </a:tcPr>
                </a:tc>
              </a:tr>
              <a:tr h="946403">
                <a:tc>
                  <a:txBody>
                    <a:bodyPr/>
                    <a:lstStyle/>
                    <a:p>
                      <a:pPr algn="ctr">
                        <a:lnSpc>
                          <a:spcPct val="100000"/>
                        </a:lnSpc>
                        <a:spcBef>
                          <a:spcPts val="0"/>
                        </a:spcBef>
                        <a:spcAft>
                          <a:spcPts val="0"/>
                        </a:spcAft>
                      </a:pPr>
                      <a:r>
                        <a:rPr sz="1720" b="0">
                          <a:solidFill>
                            <a:srgbClr val="123047"/>
                          </a:solidFill>
                          <a:latin typeface="Arial"/>
                        </a:rPr>
                        <a:t>B — Nền</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Nhiệt độ, điểm sương, độ ẩm gần mặt đất; áp suất bề mặt và mực biển; hai thành phần gió 10 m; bốn biến mã hóa giờ và ngày trong năm</a:t>
                      </a:r>
                    </a:p>
                  </a:txBody>
                  <a:tcPr marL="50292" marR="50292" marT="32004" marB="32004" anchor="ctr">
                    <a:solidFill>
                      <a:srgbClr val="FFFFFF"/>
                    </a:solidFill>
                  </a:tcPr>
                </a:tc>
              </a:tr>
              <a:tr h="946403">
                <a:tc>
                  <a:txBody>
                    <a:bodyPr/>
                    <a:lstStyle/>
                    <a:p>
                      <a:pPr algn="ctr">
                        <a:lnSpc>
                          <a:spcPct val="100000"/>
                        </a:lnSpc>
                        <a:spcBef>
                          <a:spcPts val="0"/>
                        </a:spcBef>
                        <a:spcAft>
                          <a:spcPts val="0"/>
                        </a:spcAft>
                      </a:pPr>
                      <a:r>
                        <a:rPr sz="1720" b="0">
                          <a:solidFill>
                            <a:srgbClr val="123047"/>
                          </a:solidFill>
                          <a:latin typeface="Arial"/>
                        </a:rPr>
                        <a:t>A — Đối lưu, mây, lớp biên, đất</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CAPE, CIN, has_lfc, hơi nước cột TCWV, K-index, Total Totals, độ cao lớp biên, bốn loại độ che phủ mây và độ ẩm đất lớp 1</a:t>
                      </a:r>
                    </a:p>
                  </a:txBody>
                  <a:tcPr marL="50292" marR="50292" marT="32004" marB="32004" anchor="ctr">
                    <a:solidFill>
                      <a:srgbClr val="EDF2F7"/>
                    </a:solidFill>
                  </a:tcPr>
                </a:tc>
              </a:tr>
              <a:tr h="946403">
                <a:tc>
                  <a:txBody>
                    <a:bodyPr/>
                    <a:lstStyle/>
                    <a:p>
                      <a:pPr algn="ctr">
                        <a:lnSpc>
                          <a:spcPct val="100000"/>
                        </a:lnSpc>
                        <a:spcBef>
                          <a:spcPts val="0"/>
                        </a:spcBef>
                        <a:spcAft>
                          <a:spcPts val="0"/>
                        </a:spcAft>
                      </a:pPr>
                      <a:r>
                        <a:rPr sz="1720" b="0">
                          <a:solidFill>
                            <a:srgbClr val="123047"/>
                          </a:solidFill>
                          <a:latin typeface="Arial"/>
                        </a:rPr>
                        <a:t>M — Hoàn lưu và vận chuyển ẩm</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1">
                          <a:solidFill>
                            <a:srgbClr val="087E8B"/>
                          </a:solidFill>
                          <a:latin typeface="Arial"/>
                        </a:rPr>
                        <a:t>20</a:t>
                      </a:r>
                    </a:p>
                  </a:txBody>
                  <a:tcPr marL="50292" marR="50292" marT="32004" marB="32004" anchor="ctr">
                    <a:solidFill>
                      <a:srgbClr val="FFFFFF"/>
                    </a:solidFill>
                  </a:tcPr>
                </a:tc>
                <a:tc>
                  <a:txBody>
                    <a:bodyPr/>
                    <a:lstStyle/>
                    <a:p>
                      <a:pPr algn="ctr">
                        <a:lnSpc>
                          <a:spcPct val="100000"/>
                        </a:lnSpc>
                        <a:spcBef>
                          <a:spcPts val="0"/>
                        </a:spcBef>
                        <a:spcAft>
                          <a:spcPts val="0"/>
                        </a:spcAft>
                      </a:pPr>
                      <a:r>
                        <a:rPr sz="1720" b="0">
                          <a:solidFill>
                            <a:srgbClr val="123047"/>
                          </a:solidFill>
                          <a:latin typeface="Arial"/>
                        </a:rPr>
                        <a:t>Gió, độ ẩm, nhiệt độ, chuyển động thẳng đứng ở 850/500 hPa; đứt gió; dòng vận chuyển ẩm IVT; phân kỳ dòng ẩm; bối cảnh hơi nước/dòng ẩm; hai biến chênh áp</a:t>
                      </a:r>
                    </a:p>
                  </a:txBody>
                  <a:tcPr marL="50292" marR="50292" marT="32004" marB="32004" anchor="ctr">
                    <a:solidFill>
                      <a:srgbClr val="FFFFFF"/>
                    </a:solidFill>
                  </a:tcPr>
                </a:tc>
              </a:tr>
              <a:tr h="946403">
                <a:tc>
                  <a:txBody>
                    <a:bodyPr/>
                    <a:lstStyle/>
                    <a:p>
                      <a:pPr algn="ctr">
                        <a:lnSpc>
                          <a:spcPct val="100000"/>
                        </a:lnSpc>
                        <a:spcBef>
                          <a:spcPts val="0"/>
                        </a:spcBef>
                        <a:spcAft>
                          <a:spcPts val="0"/>
                        </a:spcAft>
                      </a:pPr>
                      <a:r>
                        <a:rPr sz="1720" b="0">
                          <a:solidFill>
                            <a:srgbClr val="123047"/>
                          </a:solidFill>
                          <a:latin typeface="Arial"/>
                        </a:rPr>
                        <a:t>C — Nhiệt độ biển</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1">
                          <a:solidFill>
                            <a:srgbClr val="087E8B"/>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1720" b="0">
                          <a:solidFill>
                            <a:srgbClr val="123047"/>
                          </a:solidFill>
                          <a:latin typeface="Arial"/>
                        </a:rPr>
                        <a:t>SST trung bình tại hộp biển đã chọn</a:t>
                      </a:r>
                    </a:p>
                  </a:txBody>
                  <a:tcPr marL="50292" marR="50292" marT="32004" marB="32004" anchor="ctr">
                    <a:solidFill>
                      <a:srgbClr val="EDF2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E0–E7: giữ mô hình, thay tổ hợp đầu vào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731520"/>
                <a:gridCol w="4114800"/>
                <a:gridCol w="1371600"/>
                <a:gridCol w="4983480"/>
              </a:tblGrid>
              <a:tr h="438912">
                <a:tc>
                  <a:txBody>
                    <a:bodyPr/>
                    <a:lstStyle/>
                    <a:p>
                      <a:pPr algn="ctr">
                        <a:lnSpc>
                          <a:spcPct val="100000"/>
                        </a:lnSpc>
                        <a:spcBef>
                          <a:spcPts val="0"/>
                        </a:spcBef>
                        <a:spcAft>
                          <a:spcPts val="0"/>
                        </a:spcAft>
                      </a:pPr>
                      <a:r>
                        <a:rPr sz="21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Đầu vào</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Biến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TFT / LGBM</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21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11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B+A</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21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B+M</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31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B+C</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12</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21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B+A+M</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43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B+A+C</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21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B+M+C</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32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21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B+A+M+C</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44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9 / 3</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Đã hoàn thành: 72 TFT + 24 LightGBM; 96/96 lượt tái lập kết quả.</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3 seed = train cùng một cấu hình 3 lần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Seed dùng trong ma trận TFT: 42, 43, 44 • Không tạo thêm dữ liệu thời tiết</a:t>
            </a:r>
          </a:p>
        </p:txBody>
      </p:sp>
      <p:graphicFrame>
        <p:nvGraphicFramePr>
          <p:cNvPr id="6" name="Table 5"/>
          <p:cNvGraphicFramePr>
            <a:graphicFrameLocks noGrp="1"/>
          </p:cNvGraphicFramePr>
          <p:nvPr/>
        </p:nvGraphicFramePr>
        <p:xfrm>
          <a:off x="502920" y="1508760"/>
          <a:ext cx="11201400" cy="2633472"/>
        </p:xfrm>
        <a:graphic>
          <a:graphicData uri="http://schemas.openxmlformats.org/drawingml/2006/table">
            <a:tbl>
              <a:tblPr firstRow="1" bandRow="1">
                <a:tableStyleId>{5C22544A-7EE6-4342-B048-85BDC9FD1C3A}</a:tableStyleId>
              </a:tblPr>
              <a:tblGrid>
                <a:gridCol w="2011680"/>
                <a:gridCol w="4892040"/>
                <a:gridCol w="4297680"/>
              </a:tblGrid>
              <a:tr h="658368">
                <a:tc>
                  <a:txBody>
                    <a:bodyPr/>
                    <a:lstStyle/>
                    <a:p>
                      <a:pPr algn="ctr">
                        <a:lnSpc>
                          <a:spcPct val="100000"/>
                        </a:lnSpc>
                        <a:spcBef>
                          <a:spcPts val="0"/>
                        </a:spcBef>
                        <a:spcAft>
                          <a:spcPts val="0"/>
                        </a:spcAft>
                      </a:pPr>
                      <a:r>
                        <a:rPr sz="2100" b="1">
                          <a:solidFill>
                            <a:srgbClr val="FFFFFF"/>
                          </a:solidFill>
                          <a:latin typeface="Arial"/>
                        </a:rPr>
                        <a:t>Lần 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Giữ nguyên</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Thay đổi ngẫu nhiên</a:t>
                      </a:r>
                    </a:p>
                  </a:txBody>
                  <a:tcPr marL="50292" marR="50292" marT="32004" marB="32004" anchor="ctr">
                    <a:solidFill>
                      <a:srgbClr val="123047"/>
                    </a:solidFill>
                  </a:tcPr>
                </a:tc>
              </a:tr>
              <a:tr h="658368">
                <a:tc>
                  <a:txBody>
                    <a:bodyPr/>
                    <a:lstStyle/>
                    <a:p>
                      <a:pPr algn="ctr">
                        <a:lnSpc>
                          <a:spcPct val="100000"/>
                        </a:lnSpc>
                        <a:spcBef>
                          <a:spcPts val="0"/>
                        </a:spcBef>
                        <a:spcAft>
                          <a:spcPts val="0"/>
                        </a:spcAft>
                      </a:pPr>
                      <a:r>
                        <a:rPr sz="2100" b="0">
                          <a:solidFill>
                            <a:srgbClr val="123047"/>
                          </a:solidFill>
                          <a:latin typeface="Arial"/>
                        </a:rPr>
                        <a:t>Seed 42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FFFFFF"/>
                    </a:solidFill>
                  </a:tcPr>
                </a:tc>
              </a:tr>
              <a:tr h="658368">
                <a:tc>
                  <a:txBody>
                    <a:bodyPr/>
                    <a:lstStyle/>
                    <a:p>
                      <a:pPr algn="ctr">
                        <a:lnSpc>
                          <a:spcPct val="100000"/>
                        </a:lnSpc>
                        <a:spcBef>
                          <a:spcPts val="0"/>
                        </a:spcBef>
                        <a:spcAft>
                          <a:spcPts val="0"/>
                        </a:spcAft>
                      </a:pPr>
                      <a:r>
                        <a:rPr sz="2100" b="0">
                          <a:solidFill>
                            <a:srgbClr val="123047"/>
                          </a:solidFill>
                          <a:latin typeface="Arial"/>
                        </a:rPr>
                        <a:t>Seed 43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EDF2F7"/>
                    </a:solidFill>
                  </a:tcPr>
                </a:tc>
              </a:tr>
              <a:tr h="658368">
                <a:tc>
                  <a:txBody>
                    <a:bodyPr/>
                    <a:lstStyle/>
                    <a:p>
                      <a:pPr algn="ctr">
                        <a:lnSpc>
                          <a:spcPct val="100000"/>
                        </a:lnSpc>
                        <a:spcBef>
                          <a:spcPts val="0"/>
                        </a:spcBef>
                        <a:spcAft>
                          <a:spcPts val="0"/>
                        </a:spcAft>
                      </a:pPr>
                      <a:r>
                        <a:rPr sz="2100" b="0">
                          <a:solidFill>
                            <a:srgbClr val="123047"/>
                          </a:solidFill>
                          <a:latin typeface="Arial"/>
                        </a:rPr>
                        <a:t>Seed 44</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Dữ liệu, nhãn, nhóm biến, cấu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Khởi tạo mạng, thứ tự mẫu…</a:t>
                      </a:r>
                    </a:p>
                  </a:txBody>
                  <a:tcPr marL="50292" marR="50292" marT="32004" marB="32004" anchor="ctr">
                    <a:solidFill>
                      <a:srgbClr val="FFFFFF"/>
                    </a:solidFill>
                  </a:tcPr>
                </a:tc>
              </a:tr>
            </a:tbl>
          </a:graphicData>
        </a:graphic>
      </p:graphicFrame>
      <p:sp>
        <p:nvSpPr>
          <p:cNvPr id="7" name="TextBox 6"/>
          <p:cNvSpPr txBox="1"/>
          <p:nvPr/>
        </p:nvSpPr>
        <p:spPr>
          <a:xfrm>
            <a:off x="685800" y="4370832"/>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Ví dụ minh họa: cùng một ngày, ba lần dự đoán 9, 12, 15 mm.</a:t>
            </a:r>
          </a:p>
          <a:p>
            <a:pPr algn="l">
              <a:lnSpc>
                <a:spcPct val="112000"/>
              </a:lnSpc>
              <a:spcBef>
                <a:spcPts val="0"/>
              </a:spcBef>
              <a:spcAft>
                <a:spcPts val="0"/>
              </a:spcAft>
            </a:pPr>
            <a:r>
              <a:rPr sz="2200" b="0">
                <a:solidFill>
                  <a:srgbClr val="123047"/>
                </a:solidFill>
                <a:latin typeface="Arial"/>
              </a:rPr>
              <a:t>Lấy trung bình dự đoán → </a:t>
            </a:r>
            <a:r>
              <a:rPr sz="2200" b="1">
                <a:solidFill>
                  <a:srgbClr val="123047"/>
                </a:solidFill>
                <a:latin typeface="Arial"/>
              </a:rPr>
              <a:t>12 mm</a:t>
            </a:r>
            <a:r>
              <a:rPr sz="2200" b="0">
                <a:solidFill>
                  <a:srgbClr val="123047"/>
                </a:solidFill>
                <a:latin typeface="Arial"/>
              </a:rPr>
              <a:t>; không chọn lần có điểm đẹp nhất.</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Kết quả TFT đang báo là trung bình dự đoán ba seed; metric được tính lại sau đó.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3 ngày, 3 seed và 3 lượt chia thời gian khác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Mỗi ngày dự đoán vẫn có 1.075 mốc đánh giá; không biến thành 3.225 ngày độc lập</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3383280"/>
                <a:gridCol w="7818120"/>
              </a:tblGrid>
              <a:tr h="749808">
                <a:tc>
                  <a:txBody>
                    <a:bodyPr/>
                    <a:lstStyle/>
                    <a:p>
                      <a:pPr algn="ctr">
                        <a:lnSpc>
                          <a:spcPct val="100000"/>
                        </a:lnSpc>
                        <a:spcBef>
                          <a:spcPts val="0"/>
                        </a:spcBef>
                        <a:spcAft>
                          <a:spcPts val="0"/>
                        </a:spcAft>
                      </a:pPr>
                      <a:r>
                        <a:rPr sz="2200" b="1">
                          <a:solidFill>
                            <a:srgbClr val="FFFFFF"/>
                          </a:solidFill>
                          <a:latin typeface="Arial"/>
                        </a:rPr>
                        <a:t>Số “3” nào?</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Ý nghĩa</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200" b="0">
                          <a:solidFill>
                            <a:srgbClr val="123047"/>
                          </a:solidFill>
                          <a:latin typeface="Arial"/>
                        </a:rPr>
                        <a:t>3 ngày dự đoán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Một mô hình trả lượng mưa ngày 1, ngày 2 và ngày 3</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200" b="0">
                          <a:solidFill>
                            <a:srgbClr val="123047"/>
                          </a:solidFill>
                          <a:latin typeface="Arial"/>
                        </a:rPr>
                        <a:t>3 seed</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Cùng cấu hình train ba lần: seed 42, 43, 44</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200" b="0">
                          <a:solidFill>
                            <a:srgbClr val="123047"/>
                          </a:solidFill>
                          <a:latin typeface="Arial"/>
                        </a:rPr>
                        <a:t>3 lượt chia thời gian</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Lần lượt đánh giá năm 2021, 2022 và 2023</a:t>
                      </a:r>
                    </a:p>
                  </a:txBody>
                  <a:tcPr marL="50292" marR="50292" marT="32004" marB="32004" anchor="ctr">
                    <a:solidFill>
                      <a:srgbClr val="FFFFFF"/>
                    </a:solidFill>
                  </a:tcPr>
                </a:tc>
              </a:tr>
            </a:tbl>
          </a:graphicData>
        </a:graphic>
      </p:graphicFrame>
      <p:sp>
        <p:nvSpPr>
          <p:cNvPr id="7" name="TextBox 6"/>
          <p:cNvSpPr txBox="1"/>
          <p:nvPr/>
        </p:nvSpPr>
        <p:spPr>
          <a:xfrm>
            <a:off x="685800" y="4663440"/>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Mỗi E: 3 seed × 3 lượt chia = </a:t>
            </a:r>
            <a:r>
              <a:rPr sz="2300" b="1">
                <a:solidFill>
                  <a:srgbClr val="123047"/>
                </a:solidFill>
                <a:latin typeface="Arial"/>
              </a:rPr>
              <a:t>9 lượt TFT</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Tám E: 8 × 9 = </a:t>
            </a:r>
            <a:r>
              <a:rPr sz="2300" b="1">
                <a:solidFill>
                  <a:srgbClr val="123047"/>
                </a:solidFill>
                <a:latin typeface="Arial"/>
              </a:rPr>
              <a:t>72 lượt TFT</a:t>
            </a:r>
            <a:r>
              <a:rPr sz="2300" b="0">
                <a:solidFill>
                  <a:srgbClr val="123047"/>
                </a:solidFill>
                <a:latin typeface="Arial"/>
              </a:rPr>
              <a:t>; LightGBM có </a:t>
            </a:r>
            <a:r>
              <a:rPr sz="2300" b="1">
                <a:solidFill>
                  <a:srgbClr val="123047"/>
                </a:solidFill>
                <a:latin typeface="Arial"/>
              </a:rPr>
              <a:t>24 pipeline</a:t>
            </a:r>
            <a:r>
              <a:rPr sz="2300" b="0">
                <a:solidFill>
                  <a:srgbClr val="123047"/>
                </a:solidFill>
                <a:latin typeface="Arial"/>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09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Vì sao thử TFT? Informer đã bị loại chưa?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Cơ sở: [A2] TFT • [A3–A4] Informer • Pilot cùng dữ liệu; chưa đủ ma trận</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TFT: có cơ sở để thử</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Học trọng số cho các biến</a:t>
            </a:r>
          </a:p>
          <a:p>
            <a:pPr algn="l">
              <a:lnSpc>
                <a:spcPct val="112000"/>
              </a:lnSpc>
              <a:spcBef>
                <a:spcPts val="0"/>
              </a:spcBef>
              <a:spcAft>
                <a:spcPts val="0"/>
              </a:spcAft>
            </a:pPr>
            <a:r>
              <a:rPr sz="2200" b="0">
                <a:solidFill>
                  <a:srgbClr val="123047"/>
                </a:solidFill>
                <a:latin typeface="Arial"/>
              </a:rPr>
              <a:t>Kết hợp chuỗi và attention</a:t>
            </a:r>
          </a:p>
          <a:p>
            <a:pPr algn="l">
              <a:lnSpc>
                <a:spcPct val="112000"/>
              </a:lnSpc>
              <a:spcBef>
                <a:spcPts val="0"/>
              </a:spcBef>
              <a:spcAft>
                <a:spcPts val="0"/>
              </a:spcAft>
            </a:pPr>
            <a:r>
              <a:rPr sz="2200" b="0">
                <a:solidFill>
                  <a:srgbClr val="123047"/>
                </a:solidFill>
                <a:latin typeface="Arial"/>
              </a:rPr>
              <a:t>Dự đoán nhiều hạn cùng lúc</a:t>
            </a:r>
          </a:p>
          <a:p>
            <a:pPr algn="l">
              <a:lnSpc>
                <a:spcPct val="112000"/>
              </a:lnSpc>
              <a:spcBef>
                <a:spcPts val="0"/>
              </a:spcBef>
              <a:spcAft>
                <a:spcPts val="0"/>
              </a:spcAft>
            </a:pPr>
            <a:r>
              <a:rPr sz="2200" b="0">
                <a:solidFill>
                  <a:srgbClr val="123047"/>
                </a:solidFill>
                <a:latin typeface="Arial"/>
              </a:rPr>
              <a:t>Bản hiện tại là adaptation</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Informer: đã thử pilot vùng</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Đã thử E0/E7 cùng dữ liệu vùng</a:t>
            </a:r>
          </a:p>
          <a:p>
            <a:pPr algn="l">
              <a:lnSpc>
                <a:spcPct val="112000"/>
              </a:lnSpc>
              <a:spcBef>
                <a:spcPts val="0"/>
              </a:spcBef>
              <a:spcAft>
                <a:spcPts val="0"/>
              </a:spcAft>
            </a:pPr>
            <a:r>
              <a:rPr sz="2100" b="0">
                <a:solidFill>
                  <a:srgbClr val="123047"/>
                </a:solidFill>
                <a:latin typeface="Arial"/>
              </a:rPr>
              <a:t>Có đầu vào thông tin thời gian</a:t>
            </a:r>
          </a:p>
          <a:p>
            <a:pPr algn="l">
              <a:lnSpc>
                <a:spcPct val="112000"/>
              </a:lnSpc>
              <a:spcBef>
                <a:spcPts val="0"/>
              </a:spcBef>
              <a:spcAft>
                <a:spcPts val="0"/>
              </a:spcAft>
            </a:pPr>
            <a:r>
              <a:rPr sz="2100" b="0">
                <a:solidFill>
                  <a:srgbClr val="123047"/>
                </a:solidFill>
                <a:latin typeface="Arial"/>
              </a:rPr>
              <a:t>Chuỗi hiện tại chỉ 28 bước</a:t>
            </a:r>
          </a:p>
          <a:p>
            <a:pPr algn="l">
              <a:lnSpc>
                <a:spcPct val="112000"/>
              </a:lnSpc>
              <a:spcBef>
                <a:spcPts val="0"/>
              </a:spcBef>
              <a:spcAft>
                <a:spcPts val="0"/>
              </a:spcAft>
            </a:pPr>
            <a:r>
              <a:rPr sz="2100" b="0">
                <a:solidFill>
                  <a:srgbClr val="123047"/>
                </a:solidFill>
                <a:latin typeface="Arial"/>
              </a:rPr>
              <a:t>Điểm R² cũ không loại được nó</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Lý do lựa chọn là giả thuyết để đo; chưa phải bằng chứng TFT thắng.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LightGBM đối chứng: cùng nguyên liệu, khác cách học</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[A1] Ke et al. 2017 + cấu hình LightGBM đã lưu trong run.json</a:t>
            </a:r>
          </a:p>
        </p:txBody>
      </p:sp>
      <p:graphicFrame>
        <p:nvGraphicFramePr>
          <p:cNvPr id="6" name="Table 5"/>
          <p:cNvGraphicFramePr>
            <a:graphicFrameLocks noGrp="1"/>
          </p:cNvGraphicFramePr>
          <p:nvPr/>
        </p:nvGraphicFramePr>
        <p:xfrm>
          <a:off x="502920" y="1508760"/>
          <a:ext cx="11201400" cy="3520440"/>
        </p:xfrm>
        <a:graphic>
          <a:graphicData uri="http://schemas.openxmlformats.org/drawingml/2006/table">
            <a:tbl>
              <a:tblPr firstRow="1" bandRow="1">
                <a:tableStyleId>{5C22544A-7EE6-4342-B048-85BDC9FD1C3A}</a:tableStyleId>
              </a:tblPr>
              <a:tblGrid>
                <a:gridCol w="2743200"/>
                <a:gridCol w="4229100"/>
                <a:gridCol w="4229100"/>
              </a:tblGrid>
              <a:tr h="704088">
                <a:tc>
                  <a:txBody>
                    <a:bodyPr/>
                    <a:lstStyle/>
                    <a:p>
                      <a:pPr algn="ctr">
                        <a:lnSpc>
                          <a:spcPct val="100000"/>
                        </a:lnSpc>
                        <a:spcBef>
                          <a:spcPts val="0"/>
                        </a:spcBef>
                        <a:spcAft>
                          <a:spcPts val="0"/>
                        </a:spcAft>
                      </a:pPr>
                      <a:r>
                        <a:rPr sz="200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TFT</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LightGBM</a:t>
                      </a:r>
                    </a:p>
                  </a:txBody>
                  <a:tcPr marL="50292" marR="50292" marT="32004" marB="32004" anchor="ctr">
                    <a:solidFill>
                      <a:srgbClr val="123047"/>
                    </a:solidFill>
                  </a:tcPr>
                </a:tc>
              </a:tr>
              <a:tr h="704088">
                <a:tc>
                  <a:txBody>
                    <a:bodyPr/>
                    <a:lstStyle/>
                    <a:p>
                      <a:pPr algn="ctr">
                        <a:lnSpc>
                          <a:spcPct val="100000"/>
                        </a:lnSpc>
                        <a:spcBef>
                          <a:spcPts val="0"/>
                        </a:spcBef>
                        <a:spcAft>
                          <a:spcPts val="0"/>
                        </a:spcAft>
                      </a:pPr>
                      <a:r>
                        <a:rPr sz="2000" b="0">
                          <a:solidFill>
                            <a:srgbClr val="123047"/>
                          </a:solidFill>
                          <a:latin typeface="Arial"/>
                        </a:rPr>
                        <a:t>Nguyên liệu</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Khí tượng quá khứ + lịch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Cùng nguyên liệu</a:t>
                      </a:r>
                    </a:p>
                  </a:txBody>
                  <a:tcPr marL="50292" marR="50292" marT="32004" marB="32004" anchor="ctr">
                    <a:solidFill>
                      <a:srgbClr val="FFFFFF"/>
                    </a:solidFill>
                  </a:tcPr>
                </a:tc>
              </a:tr>
              <a:tr h="704088">
                <a:tc>
                  <a:txBody>
                    <a:bodyPr/>
                    <a:lstStyle/>
                    <a:p>
                      <a:pPr algn="ctr">
                        <a:lnSpc>
                          <a:spcPct val="100000"/>
                        </a:lnSpc>
                        <a:spcBef>
                          <a:spcPts val="0"/>
                        </a:spcBef>
                        <a:spcAft>
                          <a:spcPts val="0"/>
                        </a:spcAft>
                      </a:pPr>
                      <a:r>
                        <a:rPr sz="2000" b="0">
                          <a:solidFill>
                            <a:srgbClr val="123047"/>
                          </a:solidFill>
                          <a:latin typeface="Arial"/>
                        </a:rPr>
                        <a:t>Biểu diễn</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Chuỗi 28 bước</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Thống kê lịch sử thành bảng</a:t>
                      </a:r>
                    </a:p>
                  </a:txBody>
                  <a:tcPr marL="50292" marR="50292" marT="32004" marB="32004" anchor="ctr">
                    <a:solidFill>
                      <a:srgbClr val="EDF2F7"/>
                    </a:solidFill>
                  </a:tcPr>
                </a:tc>
              </a:tr>
              <a:tr h="704088">
                <a:tc>
                  <a:txBody>
                    <a:bodyPr/>
                    <a:lstStyle/>
                    <a:p>
                      <a:pPr algn="ctr">
                        <a:lnSpc>
                          <a:spcPct val="100000"/>
                        </a:lnSpc>
                        <a:spcBef>
                          <a:spcPts val="0"/>
                        </a:spcBef>
                        <a:spcAft>
                          <a:spcPts val="0"/>
                        </a:spcAft>
                      </a:pPr>
                      <a:r>
                        <a:rPr sz="2000" b="0">
                          <a:solidFill>
                            <a:srgbClr val="123047"/>
                          </a:solidFill>
                          <a:latin typeface="Arial"/>
                        </a:rPr>
                        <a:t>Mô hình</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Mạng neural</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Tổ hợp cây boosting</a:t>
                      </a:r>
                    </a:p>
                  </a:txBody>
                  <a:tcPr marL="50292" marR="50292" marT="32004" marB="32004" anchor="ctr">
                    <a:solidFill>
                      <a:srgbClr val="FFFFFF"/>
                    </a:solidFill>
                  </a:tcPr>
                </a:tc>
              </a:tr>
              <a:tr h="704088">
                <a:tc>
                  <a:txBody>
                    <a:bodyPr/>
                    <a:lstStyle/>
                    <a:p>
                      <a:pPr algn="ctr">
                        <a:lnSpc>
                          <a:spcPct val="100000"/>
                        </a:lnSpc>
                        <a:spcBef>
                          <a:spcPts val="0"/>
                        </a:spcBef>
                        <a:spcAft>
                          <a:spcPts val="0"/>
                        </a:spcAft>
                      </a:pPr>
                      <a:r>
                        <a:rPr sz="2000" b="0">
                          <a:solidFill>
                            <a:srgbClr val="123047"/>
                          </a:solidFill>
                          <a:latin typeface="Arial"/>
                        </a:rPr>
                        <a:t>Đầu ra / mẫu chấm</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ngày, cùng nhãn/mốc</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Ba ngày, cùng nhãn/mốc</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E0/E7 là cách chọn biến; TFT/LightGBM là cách học từ những biến đó.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LightGBM có cơ sở ứng dụng trong dự đoán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[R1–R3]; tiêu đề, DOI và giới hạn ở phụ lục tài liệu tham khảo</a:t>
            </a:r>
          </a:p>
        </p:txBody>
      </p:sp>
      <p:graphicFrame>
        <p:nvGraphicFramePr>
          <p:cNvPr id="6" name="Table 5"/>
          <p:cNvGraphicFramePr>
            <a:graphicFrameLocks noGrp="1"/>
          </p:cNvGraphicFramePr>
          <p:nvPr/>
        </p:nvGraphicFramePr>
        <p:xfrm>
          <a:off x="502920" y="1508760"/>
          <a:ext cx="11201400" cy="3730752"/>
        </p:xfrm>
        <a:graphic>
          <a:graphicData uri="http://schemas.openxmlformats.org/drawingml/2006/table">
            <a:tbl>
              <a:tblPr firstRow="1" bandRow="1">
                <a:tableStyleId>{5C22544A-7EE6-4342-B048-85BDC9FD1C3A}</a:tableStyleId>
              </a:tblPr>
              <a:tblGrid>
                <a:gridCol w="2880360"/>
                <a:gridCol w="4297680"/>
                <a:gridCol w="4023360"/>
              </a:tblGrid>
              <a:tr h="932688">
                <a:tc>
                  <a:txBody>
                    <a:bodyPr/>
                    <a:lstStyle/>
                    <a:p>
                      <a:pPr algn="ctr">
                        <a:lnSpc>
                          <a:spcPct val="100000"/>
                        </a:lnSpc>
                        <a:spcBef>
                          <a:spcPts val="0"/>
                        </a:spcBef>
                        <a:spcAft>
                          <a:spcPts val="0"/>
                        </a:spcAft>
                      </a:pPr>
                      <a:r>
                        <a:rPr sz="1800" b="1">
                          <a:solidFill>
                            <a:srgbClr val="FFFFFF"/>
                          </a:solidFill>
                          <a:latin typeface="Arial"/>
                        </a:rPr>
                        <a:t>Nghiên cứu</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LightGBM làm gì?</a:t>
                      </a:r>
                    </a:p>
                  </a:txBody>
                  <a:tcPr marL="50292" marR="50292" marT="32004" marB="32004" anchor="ctr">
                    <a:solidFill>
                      <a:srgbClr val="123047"/>
                    </a:solidFill>
                  </a:tcPr>
                </a:tc>
                <a:tc>
                  <a:txBody>
                    <a:bodyPr/>
                    <a:lstStyle/>
                    <a:p>
                      <a:pPr algn="ctr">
                        <a:lnSpc>
                          <a:spcPct val="100000"/>
                        </a:lnSpc>
                        <a:spcBef>
                          <a:spcPts val="0"/>
                        </a:spcBef>
                        <a:spcAft>
                          <a:spcPts val="0"/>
                        </a:spcAft>
                      </a:pPr>
                      <a:r>
                        <a:rPr sz="1800" b="1">
                          <a:solidFill>
                            <a:srgbClr val="FFFFFF"/>
                          </a:solidFill>
                          <a:latin typeface="Arial"/>
                        </a:rPr>
                        <a:t>Giới hạn khi vận dụng</a:t>
                      </a:r>
                    </a:p>
                  </a:txBody>
                  <a:tcPr marL="50292" marR="50292" marT="32004" marB="32004" anchor="ctr">
                    <a:solidFill>
                      <a:srgbClr val="123047"/>
                    </a:solidFill>
                  </a:tcPr>
                </a:tc>
              </a:tr>
              <a:tr h="932688">
                <a:tc>
                  <a:txBody>
                    <a:bodyPr/>
                    <a:lstStyle/>
                    <a:p>
                      <a:pPr algn="ctr">
                        <a:lnSpc>
                          <a:spcPct val="100000"/>
                        </a:lnSpc>
                        <a:spcBef>
                          <a:spcPts val="0"/>
                        </a:spcBef>
                        <a:spcAft>
                          <a:spcPts val="0"/>
                        </a:spcAft>
                      </a:pPr>
                      <a:r>
                        <a:rPr sz="1800" b="0">
                          <a:solidFill>
                            <a:srgbClr val="123047"/>
                          </a:solidFill>
                          <a:latin typeface="Arial"/>
                        </a:rPr>
                        <a:t>R1 · He và cs.</a:t>
                      </a:r>
                    </a:p>
                    <a:p>
                      <a:r>
                        <a:t>2022 · KBS</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Học phần dư trong mô hình lai</a:t>
                      </a:r>
                    </a:p>
                    <a:p>
                      <a:r>
                        <a:t>dự đoán mưa ngày kế tiếp</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Cairns; có mưa quá khứ;</a:t>
                      </a:r>
                    </a:p>
                    <a:p>
                      <a:r>
                        <a:t>không phải cây đơn lẻ</a:t>
                      </a:r>
                    </a:p>
                  </a:txBody>
                  <a:tcPr marL="50292" marR="50292" marT="32004" marB="32004" anchor="ctr">
                    <a:solidFill>
                      <a:srgbClr val="FFFFFF"/>
                    </a:solidFill>
                  </a:tcPr>
                </a:tc>
              </a:tr>
              <a:tr h="932688">
                <a:tc>
                  <a:txBody>
                    <a:bodyPr/>
                    <a:lstStyle/>
                    <a:p>
                      <a:pPr algn="ctr">
                        <a:lnSpc>
                          <a:spcPct val="100000"/>
                        </a:lnSpc>
                        <a:spcBef>
                          <a:spcPts val="0"/>
                        </a:spcBef>
                        <a:spcAft>
                          <a:spcPts val="0"/>
                        </a:spcAft>
                      </a:pPr>
                      <a:r>
                        <a:rPr sz="1800" b="0">
                          <a:solidFill>
                            <a:srgbClr val="123047"/>
                          </a:solidFill>
                          <a:latin typeface="Arial"/>
                        </a:rPr>
                        <a:t>R2 · Iwase &amp; Takenawa</a:t>
                      </a:r>
                    </a:p>
                    <a:p>
                      <a:r>
                        <a:t>2024 · JIP</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lượng mưa vùng núi</a:t>
                      </a:r>
                    </a:p>
                    <a:p>
                      <a:r>
                        <a:t>từ forecast và quan trắc</a:t>
                      </a:r>
                    </a:p>
                  </a:txBody>
                  <a:tcPr marL="50292" marR="50292" marT="32004" marB="32004" anchor="ctr">
                    <a:solidFill>
                      <a:srgbClr val="EDF2F7"/>
                    </a:solidFill>
                  </a:tcPr>
                </a:tc>
                <a:tc>
                  <a:txBody>
                    <a:bodyPr/>
                    <a:lstStyle/>
                    <a:p>
                      <a:pPr algn="ctr">
                        <a:lnSpc>
                          <a:spcPct val="100000"/>
                        </a:lnSpc>
                        <a:spcBef>
                          <a:spcPts val="0"/>
                        </a:spcBef>
                        <a:spcAft>
                          <a:spcPts val="0"/>
                        </a:spcAft>
                      </a:pPr>
                      <a:r>
                        <a:rPr sz="1800" b="0">
                          <a:solidFill>
                            <a:srgbClr val="123047"/>
                          </a:solidFill>
                          <a:latin typeface="Arial"/>
                        </a:rPr>
                        <a:t>Dự đoán tại điểm;</a:t>
                      </a:r>
                    </a:p>
                    <a:p>
                      <a:r>
                        <a:t>có forecast đầu vào</a:t>
                      </a:r>
                    </a:p>
                  </a:txBody>
                  <a:tcPr marL="50292" marR="50292" marT="32004" marB="32004" anchor="ctr">
                    <a:solidFill>
                      <a:srgbClr val="EDF2F7"/>
                    </a:solidFill>
                  </a:tcPr>
                </a:tc>
              </a:tr>
              <a:tr h="932688">
                <a:tc>
                  <a:txBody>
                    <a:bodyPr/>
                    <a:lstStyle/>
                    <a:p>
                      <a:pPr algn="ctr">
                        <a:lnSpc>
                          <a:spcPct val="100000"/>
                        </a:lnSpc>
                        <a:spcBef>
                          <a:spcPts val="0"/>
                        </a:spcBef>
                        <a:spcAft>
                          <a:spcPts val="0"/>
                        </a:spcAft>
                      </a:pPr>
                      <a:r>
                        <a:rPr sz="1800" b="0">
                          <a:solidFill>
                            <a:srgbClr val="123047"/>
                          </a:solidFill>
                          <a:latin typeface="Arial"/>
                        </a:rPr>
                        <a:t>R3 · Qian &amp; Jia</a:t>
                      </a:r>
                    </a:p>
                    <a:p>
                      <a:r>
                        <a:t>2023 · Atmos. Research</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Dự đoán giáng thủy mùa đông</a:t>
                      </a:r>
                    </a:p>
                    <a:p>
                      <a:r>
                        <a:t>bằng LightGBM/XGBoost</a:t>
                      </a:r>
                    </a:p>
                  </a:txBody>
                  <a:tcPr marL="50292" marR="50292" marT="32004" marB="32004" anchor="ctr">
                    <a:solidFill>
                      <a:srgbClr val="FFFFFF"/>
                    </a:solidFill>
                  </a:tcPr>
                </a:tc>
                <a:tc>
                  <a:txBody>
                    <a:bodyPr/>
                    <a:lstStyle/>
                    <a:p>
                      <a:pPr algn="ctr">
                        <a:lnSpc>
                          <a:spcPct val="100000"/>
                        </a:lnSpc>
                        <a:spcBef>
                          <a:spcPts val="0"/>
                        </a:spcBef>
                        <a:spcAft>
                          <a:spcPts val="0"/>
                        </a:spcAft>
                      </a:pPr>
                      <a:r>
                        <a:rPr sz="1800" b="0">
                          <a:solidFill>
                            <a:srgbClr val="123047"/>
                          </a:solidFill>
                          <a:latin typeface="Arial"/>
                        </a:rPr>
                        <a:t>Hạn mùa; không chứng minh</a:t>
                      </a:r>
                    </a:p>
                    <a:p>
                      <a:r>
                        <a:t>kỹ năng ở 24–72 giờ</a:t>
                      </a:r>
                    </a:p>
                  </a:txBody>
                  <a:tcPr marL="50292" marR="50292" marT="32004" marB="32004" anchor="ctr">
                    <a:solidFill>
                      <a:srgbClr val="FFFFFF"/>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Paper tạo cơ sở thử nghiệm; kết quả cùng giao thức mới quyết định giá trị.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Ba câu hỏi đánh giá cần ba nhóm chỉ số</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[V1] Kiểm chứng sự kiện • [V2] Kiểm chứng xác suất • src/short_range_evaluation.py</a:t>
            </a:r>
          </a:p>
        </p:txBody>
      </p:sp>
      <p:sp>
        <p:nvSpPr>
          <p:cNvPr id="6" name="Rectangle 5"/>
          <p:cNvSpPr/>
          <p:nvPr/>
        </p:nvSpPr>
        <p:spPr>
          <a:xfrm>
            <a:off x="594360"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1 · Lượng mưa</a:t>
            </a:r>
          </a:p>
        </p:txBody>
      </p:sp>
      <p:sp>
        <p:nvSpPr>
          <p:cNvPr id="8" name="TextBox 7"/>
          <p:cNvSpPr txBox="1"/>
          <p:nvPr/>
        </p:nvSpPr>
        <p:spPr>
          <a:xfrm>
            <a:off x="749808"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Sai bao nhiêu mm?</a:t>
            </a:r>
          </a:p>
          <a:p>
            <a:pPr algn="l">
              <a:lnSpc>
                <a:spcPct val="112000"/>
              </a:lnSpc>
              <a:spcBef>
                <a:spcPts val="0"/>
              </a:spcBef>
              <a:spcAft>
                <a:spcPts val="0"/>
              </a:spcAft>
            </a:pPr>
            <a:r>
              <a:rPr sz="2200" b="0">
                <a:solidFill>
                  <a:srgbClr val="123047"/>
                </a:solidFill>
                <a:latin typeface="Arial"/>
              </a:rPr>
              <a:t>RMSE: chú ý lỗi lớn</a:t>
            </a:r>
          </a:p>
          <a:p>
            <a:pPr algn="l">
              <a:lnSpc>
                <a:spcPct val="112000"/>
              </a:lnSpc>
              <a:spcBef>
                <a:spcPts val="0"/>
              </a:spcBef>
              <a:spcAft>
                <a:spcPts val="0"/>
              </a:spcAft>
            </a:pPr>
            <a:r>
              <a:rPr sz="2200" b="0">
                <a:solidFill>
                  <a:srgbClr val="123047"/>
                </a:solidFill>
                <a:latin typeface="Arial"/>
              </a:rPr>
              <a:t>MAE: lỗi tuyệt đối</a:t>
            </a:r>
          </a:p>
          <a:p>
            <a:pPr algn="l">
              <a:lnSpc>
                <a:spcPct val="112000"/>
              </a:lnSpc>
              <a:spcBef>
                <a:spcPts val="0"/>
              </a:spcBef>
              <a:spcAft>
                <a:spcPts val="0"/>
              </a:spcAft>
            </a:pPr>
            <a:r>
              <a:rPr sz="2200" b="0">
                <a:solidFill>
                  <a:srgbClr val="123047"/>
                </a:solidFill>
                <a:latin typeface="Arial"/>
              </a:rPr>
              <a:t>Bias: thừa hay thiếu</a:t>
            </a:r>
          </a:p>
        </p:txBody>
      </p:sp>
      <p:sp>
        <p:nvSpPr>
          <p:cNvPr id="9" name="Rectangle 8"/>
          <p:cNvSpPr/>
          <p:nvPr/>
        </p:nvSpPr>
        <p:spPr>
          <a:xfrm>
            <a:off x="4315968"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2 · Xác suất</a:t>
            </a:r>
          </a:p>
        </p:txBody>
      </p:sp>
      <p:sp>
        <p:nvSpPr>
          <p:cNvPr id="11" name="TextBox 10"/>
          <p:cNvSpPr txBox="1"/>
          <p:nvPr/>
        </p:nvSpPr>
        <p:spPr>
          <a:xfrm>
            <a:off x="4471416"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Xác suất có ích không?</a:t>
            </a:r>
          </a:p>
          <a:p>
            <a:pPr algn="l">
              <a:lnSpc>
                <a:spcPct val="112000"/>
              </a:lnSpc>
              <a:spcBef>
                <a:spcPts val="0"/>
              </a:spcBef>
              <a:spcAft>
                <a:spcPts val="0"/>
              </a:spcAft>
            </a:pPr>
            <a:r>
              <a:rPr sz="2100" b="0">
                <a:solidFill>
                  <a:srgbClr val="123047"/>
                </a:solidFill>
                <a:latin typeface="Arial"/>
              </a:rPr>
              <a:t>BS: lỗi xác suất</a:t>
            </a:r>
          </a:p>
          <a:p>
            <a:pPr algn="l">
              <a:lnSpc>
                <a:spcPct val="112000"/>
              </a:lnSpc>
              <a:spcBef>
                <a:spcPts val="0"/>
              </a:spcBef>
              <a:spcAft>
                <a:spcPts val="0"/>
              </a:spcAft>
            </a:pPr>
            <a:r>
              <a:rPr sz="2100" b="0">
                <a:solidFill>
                  <a:srgbClr val="123047"/>
                </a:solidFill>
                <a:latin typeface="Arial"/>
              </a:rPr>
              <a:t>BSS: hơn khí hậu?</a:t>
            </a:r>
          </a:p>
          <a:p>
            <a:pPr algn="l">
              <a:lnSpc>
                <a:spcPct val="112000"/>
              </a:lnSpc>
              <a:spcBef>
                <a:spcPts val="0"/>
              </a:spcBef>
              <a:spcAft>
                <a:spcPts val="0"/>
              </a:spcAft>
            </a:pPr>
            <a:r>
              <a:rPr sz="2100" b="0">
                <a:solidFill>
                  <a:srgbClr val="123047"/>
                </a:solidFill>
                <a:latin typeface="Arial"/>
              </a:rPr>
              <a:t>Reliability: có đúng mức?</a:t>
            </a:r>
          </a:p>
        </p:txBody>
      </p:sp>
      <p:sp>
        <p:nvSpPr>
          <p:cNvPr id="12" name="Rectangle 11"/>
          <p:cNvSpPr/>
          <p:nvPr/>
        </p:nvSpPr>
        <p:spPr>
          <a:xfrm>
            <a:off x="8037575" y="1572768"/>
            <a:ext cx="3520440" cy="33375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3023" y="1700784"/>
            <a:ext cx="320954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3 · Quyết định</a:t>
            </a:r>
          </a:p>
        </p:txBody>
      </p:sp>
      <p:sp>
        <p:nvSpPr>
          <p:cNvPr id="14" name="TextBox 13"/>
          <p:cNvSpPr txBox="1"/>
          <p:nvPr/>
        </p:nvSpPr>
        <p:spPr>
          <a:xfrm>
            <a:off x="8193023" y="2368296"/>
            <a:ext cx="3209544" cy="242316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Báo có/không thế nào?</a:t>
            </a:r>
          </a:p>
          <a:p>
            <a:pPr algn="l">
              <a:lnSpc>
                <a:spcPct val="112000"/>
              </a:lnSpc>
              <a:spcBef>
                <a:spcPts val="0"/>
              </a:spcBef>
              <a:spcAft>
                <a:spcPts val="0"/>
              </a:spcAft>
            </a:pPr>
            <a:r>
              <a:rPr sz="2000" b="0">
                <a:solidFill>
                  <a:srgbClr val="123047"/>
                </a:solidFill>
                <a:latin typeface="Arial"/>
              </a:rPr>
              <a:t>POD: bắt được bao nhiêu</a:t>
            </a:r>
          </a:p>
          <a:p>
            <a:pPr algn="l">
              <a:lnSpc>
                <a:spcPct val="112000"/>
              </a:lnSpc>
              <a:spcBef>
                <a:spcPts val="0"/>
              </a:spcBef>
              <a:spcAft>
                <a:spcPts val="0"/>
              </a:spcAft>
            </a:pPr>
            <a:r>
              <a:rPr sz="2000" b="0">
                <a:solidFill>
                  <a:srgbClr val="123047"/>
                </a:solidFill>
                <a:latin typeface="Arial"/>
              </a:rPr>
              <a:t>FAR: báo nhầm bao nhiêu</a:t>
            </a:r>
          </a:p>
          <a:p>
            <a:pPr algn="l">
              <a:lnSpc>
                <a:spcPct val="112000"/>
              </a:lnSpc>
              <a:spcBef>
                <a:spcPts val="0"/>
              </a:spcBef>
              <a:spcAft>
                <a:spcPts val="0"/>
              </a:spcAft>
            </a:pPr>
            <a:r>
              <a:rPr sz="2000" b="0">
                <a:solidFill>
                  <a:srgbClr val="123047"/>
                </a:solidFill>
                <a:latin typeface="Arial"/>
              </a:rPr>
              <a:t>CSI: tổng hợp ba số đếm</a:t>
            </a:r>
          </a:p>
        </p:txBody>
      </p:sp>
      <p:sp>
        <p:nvSpPr>
          <p:cNvPr id="15" name="Rectangle 14"/>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RMSE/MAE nhỏ hơn; Bias gần 0; BSS/CSI/POD lớn hơn; FAR nhỏ hơn.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Bảng metrics: ý nghĩa, vì sao dùng và chiều tốt</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H: báo trúng · M: bỏ sót · F: báo nhầm • RMSE/MAE/Bias: mm/24h; các chỉ số còn lại không có đơn vị mm</a:t>
            </a:r>
          </a:p>
        </p:txBody>
      </p:sp>
      <p:graphicFrame>
        <p:nvGraphicFramePr>
          <p:cNvPr id="6" name="Table 5"/>
          <p:cNvGraphicFramePr>
            <a:graphicFrameLocks noGrp="1"/>
          </p:cNvGraphicFramePr>
          <p:nvPr/>
        </p:nvGraphicFramePr>
        <p:xfrm>
          <a:off x="502920" y="1389888"/>
          <a:ext cx="11201400" cy="4649715"/>
        </p:xfrm>
        <a:graphic>
          <a:graphicData uri="http://schemas.openxmlformats.org/drawingml/2006/table">
            <a:tbl>
              <a:tblPr firstRow="1" bandRow="1">
                <a:tableStyleId>{5C22544A-7EE6-4342-B048-85BDC9FD1C3A}</a:tableStyleId>
              </a:tblPr>
              <a:tblGrid>
                <a:gridCol w="914400"/>
                <a:gridCol w="3794760"/>
                <a:gridCol w="4800600"/>
                <a:gridCol w="1691640"/>
              </a:tblGrid>
              <a:tr h="516635">
                <a:tc>
                  <a:txBody>
                    <a:bodyPr/>
                    <a:lstStyle/>
                    <a:p>
                      <a:pPr algn="ctr">
                        <a:lnSpc>
                          <a:spcPct val="100000"/>
                        </a:lnSpc>
                        <a:spcBef>
                          <a:spcPts val="0"/>
                        </a:spcBef>
                        <a:spcAft>
                          <a:spcPts val="0"/>
                        </a:spcAft>
                      </a:pPr>
                      <a:r>
                        <a:rPr sz="1660" b="1">
                          <a:solidFill>
                            <a:srgbClr val="FFFFFF"/>
                          </a:solidFill>
                          <a:latin typeface="Arial"/>
                        </a:rPr>
                        <a:t>Chỉ số</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Ý nghĩa dễ hiểu</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Vì sao dùng?</a:t>
                      </a:r>
                    </a:p>
                  </a:txBody>
                  <a:tcPr marL="50292" marR="50292" marT="32004" marB="32004" anchor="ctr">
                    <a:solidFill>
                      <a:srgbClr val="123047"/>
                    </a:solidFill>
                  </a:tcPr>
                </a:tc>
                <a:tc>
                  <a:txBody>
                    <a:bodyPr/>
                    <a:lstStyle/>
                    <a:p>
                      <a:pPr algn="ctr">
                        <a:lnSpc>
                          <a:spcPct val="100000"/>
                        </a:lnSpc>
                        <a:spcBef>
                          <a:spcPts val="0"/>
                        </a:spcBef>
                        <a:spcAft>
                          <a:spcPts val="0"/>
                        </a:spcAft>
                      </a:pPr>
                      <a:r>
                        <a:rPr sz="1660" b="1">
                          <a:solidFill>
                            <a:srgbClr val="FFFFFF"/>
                          </a:solidFill>
                          <a:latin typeface="Arial"/>
                        </a:rPr>
                        <a:t>Chiều tốt</a:t>
                      </a:r>
                    </a:p>
                  </a:txBody>
                  <a:tcPr marL="50292" marR="50292" marT="32004" marB="32004" anchor="ctr">
                    <a:solidFill>
                      <a:srgbClr val="123047"/>
                    </a:solidFill>
                  </a:tcPr>
                </a:tc>
              </a:tr>
              <a:tr h="516635">
                <a:tc>
                  <a:txBody>
                    <a:bodyPr/>
                    <a:lstStyle/>
                    <a:p>
                      <a:pPr algn="ctr">
                        <a:lnSpc>
                          <a:spcPct val="100000"/>
                        </a:lnSpc>
                        <a:spcBef>
                          <a:spcPts val="0"/>
                        </a:spcBef>
                        <a:spcAft>
                          <a:spcPts val="0"/>
                        </a:spcAft>
                      </a:pPr>
                      <a:r>
                        <a:rPr sz="1660" b="1">
                          <a:solidFill>
                            <a:srgbClr val="123047"/>
                          </a:solidFill>
                          <a:latin typeface="Arial"/>
                        </a:rPr>
                        <a:t>RMSE</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Sai số lượng mưa, phạt mạnh lỗi lớn</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Không để những ngày dự đoán sai nặng bị che khuất</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MAE</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Trung bình sai lệch tuyệt đối bao nhiêu mm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Dễ đọc mức sai số lượng mưa</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Bias</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Trung bình dự báo thừa hay thiếu</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Phát hiện xu hướng dự báo thiếu hoặc thừa mưa</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Gần 0</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BS</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Sai số của xác suất dự báo</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Chấm toàn bộ xác suất, chưa cần chọn ngưỡng báo có/không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BSS</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BS cải thiện bao nhiêu so với khí hậu tham chiếu</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Kiểm tra có hơn cách dự báo theo mùa đơn giản không</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CSI</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H / (H + M + F)</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Cân nhắc đồng thời báo trúng, bỏ sót và báo nhầm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EDF2F7"/>
                    </a:solidFill>
                  </a:tcPr>
                </a:tc>
              </a:tr>
              <a:tr h="516635">
                <a:tc>
                  <a:txBody>
                    <a:bodyPr/>
                    <a:lstStyle/>
                    <a:p>
                      <a:pPr algn="ctr">
                        <a:lnSpc>
                          <a:spcPct val="100000"/>
                        </a:lnSpc>
                        <a:spcBef>
                          <a:spcPts val="0"/>
                        </a:spcBef>
                        <a:spcAft>
                          <a:spcPts val="0"/>
                        </a:spcAft>
                      </a:pPr>
                      <a:r>
                        <a:rPr sz="1660" b="1">
                          <a:solidFill>
                            <a:srgbClr val="123047"/>
                          </a:solidFill>
                          <a:latin typeface="Arial"/>
                        </a:rPr>
                        <a:t>POD</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H / (H + M)</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Bắt được bao nhiêu sự kiện thực tế</a:t>
                      </a:r>
                    </a:p>
                  </a:txBody>
                  <a:tcPr marL="50292" marR="50292" marT="32004" marB="32004" anchor="ctr">
                    <a:solidFill>
                      <a:srgbClr val="FFFFFF"/>
                    </a:solidFill>
                  </a:tcPr>
                </a:tc>
                <a:tc>
                  <a:txBody>
                    <a:bodyPr/>
                    <a:lstStyle/>
                    <a:p>
                      <a:pPr algn="ctr">
                        <a:lnSpc>
                          <a:spcPct val="100000"/>
                        </a:lnSpc>
                        <a:spcBef>
                          <a:spcPts val="0"/>
                        </a:spcBef>
                        <a:spcAft>
                          <a:spcPts val="0"/>
                        </a:spcAft>
                      </a:pPr>
                      <a:r>
                        <a:rPr sz="1660" b="0">
                          <a:solidFill>
                            <a:srgbClr val="123047"/>
                          </a:solidFill>
                          <a:latin typeface="Arial"/>
                        </a:rPr>
                        <a:t>Lớn hơn</a:t>
                      </a:r>
                    </a:p>
                  </a:txBody>
                  <a:tcPr marL="50292" marR="50292" marT="32004" marB="32004" anchor="ctr">
                    <a:solidFill>
                      <a:srgbClr val="FFFFFF"/>
                    </a:solidFill>
                  </a:tcPr>
                </a:tc>
              </a:tr>
              <a:tr h="516635">
                <a:tc>
                  <a:txBody>
                    <a:bodyPr/>
                    <a:lstStyle/>
                    <a:p>
                      <a:pPr algn="ctr">
                        <a:lnSpc>
                          <a:spcPct val="100000"/>
                        </a:lnSpc>
                        <a:spcBef>
                          <a:spcPts val="0"/>
                        </a:spcBef>
                        <a:spcAft>
                          <a:spcPts val="0"/>
                        </a:spcAft>
                      </a:pPr>
                      <a:r>
                        <a:rPr sz="1660" b="1">
                          <a:solidFill>
                            <a:srgbClr val="123047"/>
                          </a:solidFill>
                          <a:latin typeface="Arial"/>
                        </a:rPr>
                        <a:t>FAR</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F / (H + F)</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Trong các lần báo có, bao nhiêu lần bị nhầm</a:t>
                      </a:r>
                    </a:p>
                  </a:txBody>
                  <a:tcPr marL="50292" marR="50292" marT="32004" marB="32004" anchor="ctr">
                    <a:solidFill>
                      <a:srgbClr val="EDF2F7"/>
                    </a:solidFill>
                  </a:tcPr>
                </a:tc>
                <a:tc>
                  <a:txBody>
                    <a:bodyPr/>
                    <a:lstStyle/>
                    <a:p>
                      <a:pPr algn="ctr">
                        <a:lnSpc>
                          <a:spcPct val="100000"/>
                        </a:lnSpc>
                        <a:spcBef>
                          <a:spcPts val="0"/>
                        </a:spcBef>
                        <a:spcAft>
                          <a:spcPts val="0"/>
                        </a:spcAft>
                      </a:pPr>
                      <a:r>
                        <a:rPr sz="1660" b="0">
                          <a:solidFill>
                            <a:srgbClr val="123047"/>
                          </a:solidFill>
                          <a:latin typeface="Arial"/>
                        </a:rPr>
                        <a:t>Nhỏ hơn</a:t>
                      </a:r>
                    </a:p>
                  </a:txBody>
                  <a:tcPr marL="50292" marR="50292" marT="32004" marB="32004" anchor="ctr">
                    <a:solidFill>
                      <a:srgbClr val="EDF2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Lượng mưa: vì sao cần cả RMSE, MAE và Bias?</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để giải thích; không phải kết quả mô hình</a:t>
            </a:r>
          </a:p>
        </p:txBody>
      </p:sp>
      <p:graphicFrame>
        <p:nvGraphicFramePr>
          <p:cNvPr id="6" name="Table 5"/>
          <p:cNvGraphicFramePr>
            <a:graphicFrameLocks noGrp="1"/>
          </p:cNvGraphicFramePr>
          <p:nvPr/>
        </p:nvGraphicFramePr>
        <p:xfrm>
          <a:off x="502920" y="1508760"/>
          <a:ext cx="11201400" cy="2304288"/>
        </p:xfrm>
        <a:graphic>
          <a:graphicData uri="http://schemas.openxmlformats.org/drawingml/2006/table">
            <a:tbl>
              <a:tblPr firstRow="1" bandRow="1">
                <a:tableStyleId>{5C22544A-7EE6-4342-B048-85BDC9FD1C3A}</a:tableStyleId>
              </a:tblPr>
              <a:tblGrid>
                <a:gridCol w="3657600"/>
                <a:gridCol w="2514600"/>
                <a:gridCol w="2514600"/>
                <a:gridCol w="2514600"/>
              </a:tblGrid>
              <a:tr h="576072">
                <a:tc>
                  <a:txBody>
                    <a:bodyPr/>
                    <a:lstStyle/>
                    <a:p>
                      <a:pPr algn="ctr">
                        <a:lnSpc>
                          <a:spcPct val="100000"/>
                        </a:lnSpc>
                        <a:spcBef>
                          <a:spcPts val="0"/>
                        </a:spcBef>
                        <a:spcAft>
                          <a:spcPts val="0"/>
                        </a:spcAft>
                      </a:pPr>
                      <a:r>
                        <a:rPr sz="2300" b="1">
                          <a:solidFill>
                            <a:srgbClr val="FFFFFF"/>
                          </a:solidFill>
                          <a:latin typeface="Arial"/>
                        </a:rPr>
                        <a:t>Ví dụ 3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A</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B</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Ngày C</a:t>
                      </a:r>
                    </a:p>
                  </a:txBody>
                  <a:tcPr marL="50292" marR="50292" marT="32004" marB="32004" anchor="ctr">
                    <a:solidFill>
                      <a:srgbClr val="123047"/>
                    </a:solidFill>
                  </a:tcPr>
                </a:tc>
              </a:tr>
              <a:tr h="576072">
                <a:tc>
                  <a:txBody>
                    <a:bodyPr/>
                    <a:lstStyle/>
                    <a:p>
                      <a:pPr algn="ctr">
                        <a:lnSpc>
                          <a:spcPct val="100000"/>
                        </a:lnSpc>
                        <a:spcBef>
                          <a:spcPts val="0"/>
                        </a:spcBef>
                        <a:spcAft>
                          <a:spcPts val="0"/>
                        </a:spcAft>
                      </a:pPr>
                      <a:r>
                        <a:rPr sz="2300" b="0">
                          <a:solidFill>
                            <a:srgbClr val="123047"/>
                          </a:solidFill>
                          <a:latin typeface="Arial"/>
                        </a:rPr>
                        <a:t>Mưa nhãn 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40</a:t>
                      </a:r>
                    </a:p>
                  </a:txBody>
                  <a:tcPr marL="50292" marR="50292" marT="32004" marB="32004" anchor="ctr">
                    <a:solidFill>
                      <a:srgbClr val="FFFFFF"/>
                    </a:solidFill>
                  </a:tcPr>
                </a:tc>
              </a:tr>
              <a:tr h="576072">
                <a:tc>
                  <a:txBody>
                    <a:bodyPr/>
                    <a:lstStyle/>
                    <a:p>
                      <a:pPr algn="ctr">
                        <a:lnSpc>
                          <a:spcPct val="100000"/>
                        </a:lnSpc>
                        <a:spcBef>
                          <a:spcPts val="0"/>
                        </a:spcBef>
                        <a:spcAft>
                          <a:spcPts val="0"/>
                        </a:spcAft>
                      </a:pPr>
                      <a:r>
                        <a:rPr sz="2300" b="0">
                          <a:solidFill>
                            <a:srgbClr val="123047"/>
                          </a:solidFill>
                          <a:latin typeface="Arial"/>
                        </a:rPr>
                        <a:t>Dự đoán f (mm)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25</a:t>
                      </a:r>
                    </a:p>
                  </a:txBody>
                  <a:tcPr marL="50292" marR="50292" marT="32004" marB="32004" anchor="ctr">
                    <a:solidFill>
                      <a:srgbClr val="EDF2F7"/>
                    </a:solidFill>
                  </a:tcPr>
                </a:tc>
              </a:tr>
              <a:tr h="576072">
                <a:tc>
                  <a:txBody>
                    <a:bodyPr/>
                    <a:lstStyle/>
                    <a:p>
                      <a:pPr algn="ctr">
                        <a:lnSpc>
                          <a:spcPct val="100000"/>
                        </a:lnSpc>
                        <a:spcBef>
                          <a:spcPts val="0"/>
                        </a:spcBef>
                        <a:spcAft>
                          <a:spcPts val="0"/>
                        </a:spcAft>
                      </a:pPr>
                      <a:r>
                        <a:rPr sz="2300" b="0">
                          <a:solidFill>
                            <a:srgbClr val="123047"/>
                          </a:solidFill>
                          <a:latin typeface="Arial"/>
                        </a:rPr>
                        <a:t>Sai số f−y (mm)</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−15</a:t>
                      </a:r>
                    </a:p>
                  </a:txBody>
                  <a:tcPr marL="50292" marR="50292" marT="32004" marB="32004" anchor="ctr">
                    <a:solidFill>
                      <a:srgbClr val="FFFFFF"/>
                    </a:solidFill>
                  </a:tcPr>
                </a:tc>
              </a:tr>
            </a:tbl>
          </a:graphicData>
        </a:graphic>
      </p:graphicFrame>
      <p:sp>
        <p:nvSpPr>
          <p:cNvPr id="7" name="TextBox 6"/>
          <p:cNvSpPr txBox="1"/>
          <p:nvPr/>
        </p:nvSpPr>
        <p:spPr>
          <a:xfrm>
            <a:off x="685800" y="4160520"/>
            <a:ext cx="10835640" cy="1042415"/>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MAE = trung bình |f−y| = </a:t>
            </a:r>
            <a:r>
              <a:rPr sz="2100" b="1">
                <a:solidFill>
                  <a:srgbClr val="123047"/>
                </a:solidFill>
                <a:latin typeface="Arial"/>
              </a:rPr>
              <a:t>6,67 mm</a:t>
            </a:r>
          </a:p>
          <a:p>
            <a:pPr algn="l">
              <a:lnSpc>
                <a:spcPct val="112000"/>
              </a:lnSpc>
              <a:spcBef>
                <a:spcPts val="0"/>
              </a:spcBef>
              <a:spcAft>
                <a:spcPts val="0"/>
              </a:spcAft>
            </a:pPr>
            <a:r>
              <a:rPr sz="2100" b="0">
                <a:solidFill>
                  <a:srgbClr val="123047"/>
                </a:solidFill>
                <a:latin typeface="Arial"/>
              </a:rPr>
              <a:t>RMSE = căn trung bình (f−y)² = </a:t>
            </a:r>
            <a:r>
              <a:rPr sz="2100" b="1">
                <a:solidFill>
                  <a:srgbClr val="123047"/>
                </a:solidFill>
                <a:latin typeface="Arial"/>
              </a:rPr>
              <a:t>9,13 mm</a:t>
            </a:r>
          </a:p>
          <a:p>
            <a:pPr algn="l">
              <a:lnSpc>
                <a:spcPct val="112000"/>
              </a:lnSpc>
              <a:spcBef>
                <a:spcPts val="0"/>
              </a:spcBef>
              <a:spcAft>
                <a:spcPts val="0"/>
              </a:spcAft>
            </a:pPr>
            <a:r>
              <a:rPr sz="2100" b="0">
                <a:solidFill>
                  <a:srgbClr val="123047"/>
                </a:solidFill>
                <a:latin typeface="Arial"/>
              </a:rPr>
              <a:t>Bias = trung bình (f−y) = </a:t>
            </a:r>
            <a:r>
              <a:rPr sz="2100" b="1">
                <a:solidFill>
                  <a:srgbClr val="123047"/>
                </a:solidFill>
                <a:latin typeface="Arial"/>
              </a:rPr>
              <a:t>−3,33 mm</a:t>
            </a:r>
            <a:r>
              <a:rPr sz="2100" b="0">
                <a:solidFill>
                  <a:srgbClr val="123047"/>
                </a:solidFill>
                <a:latin typeface="Arial"/>
              </a:rPr>
              <a:t>: dự đoán thiếu</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Bias có thể triệt tiêu lỗi dương/âm; một chỉ số riêng không mô tả đủ sai số lượng.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Xác suất: BSS so với khí hậu, không phải accuracy</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Định nghĩa BS/BSS [V2]; số minh họa tự tạo</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 · lỗi xác suất</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Nhãn o: 1 nếu mưa đạt ngưỡng</a:t>
            </a:r>
          </a:p>
          <a:p>
            <a:pPr algn="l">
              <a:lnSpc>
                <a:spcPct val="112000"/>
              </a:lnSpc>
              <a:spcBef>
                <a:spcPts val="0"/>
              </a:spcBef>
              <a:spcAft>
                <a:spcPts val="0"/>
              </a:spcAft>
            </a:pPr>
            <a:r>
              <a:rPr sz="2100" b="0">
                <a:solidFill>
                  <a:srgbClr val="123047"/>
                </a:solidFill>
                <a:latin typeface="Arial"/>
              </a:rPr>
              <a:t>BS = trung bình (p−o)²</a:t>
            </a:r>
          </a:p>
          <a:p>
            <a:pPr algn="l">
              <a:lnSpc>
                <a:spcPct val="112000"/>
              </a:lnSpc>
              <a:spcBef>
                <a:spcPts val="0"/>
              </a:spcBef>
              <a:spcAft>
                <a:spcPts val="0"/>
              </a:spcAft>
            </a:pPr>
            <a:r>
              <a:rPr sz="2100" b="0">
                <a:solidFill>
                  <a:srgbClr val="123047"/>
                </a:solidFill>
                <a:latin typeface="Arial"/>
              </a:rPr>
              <a:t>Thực có mưa: p=0,8 → lỗi 0,04</a:t>
            </a:r>
          </a:p>
          <a:p>
            <a:pPr algn="l">
              <a:lnSpc>
                <a:spcPct val="112000"/>
              </a:lnSpc>
              <a:spcBef>
                <a:spcPts val="0"/>
              </a:spcBef>
              <a:spcAft>
                <a:spcPts val="0"/>
              </a:spcAft>
            </a:pPr>
            <a:r>
              <a:rPr sz="2100" b="0">
                <a:solidFill>
                  <a:srgbClr val="123047"/>
                </a:solidFill>
                <a:latin typeface="Arial"/>
              </a:rPr>
              <a:t>Thực có mưa: p=0,2 → lỗi 0,64</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BSS · hơn khí hậu bao nhiêu?</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000" b="0">
                <a:solidFill>
                  <a:srgbClr val="123047"/>
                </a:solidFill>
                <a:latin typeface="Arial"/>
              </a:rPr>
              <a:t>BSS = 1 − BS / BS_khí_hậu</a:t>
            </a:r>
          </a:p>
          <a:p>
            <a:pPr algn="l">
              <a:lnSpc>
                <a:spcPct val="112000"/>
              </a:lnSpc>
              <a:spcBef>
                <a:spcPts val="0"/>
              </a:spcBef>
              <a:spcAft>
                <a:spcPts val="0"/>
              </a:spcAft>
            </a:pPr>
            <a:r>
              <a:rPr sz="2000" b="0">
                <a:solidFill>
                  <a:srgbClr val="123047"/>
                </a:solidFill>
                <a:latin typeface="Arial"/>
              </a:rPr>
              <a:t>Ví dụ: 1 − 0,06/0,08 = 0,25</a:t>
            </a:r>
          </a:p>
          <a:p>
            <a:pPr algn="l">
              <a:lnSpc>
                <a:spcPct val="112000"/>
              </a:lnSpc>
              <a:spcBef>
                <a:spcPts val="0"/>
              </a:spcBef>
              <a:spcAft>
                <a:spcPts val="0"/>
              </a:spcAft>
            </a:pPr>
            <a:r>
              <a:rPr sz="2000" b="0">
                <a:solidFill>
                  <a:srgbClr val="123047"/>
                </a:solidFill>
                <a:latin typeface="Arial"/>
              </a:rPr>
              <a:t>Giảm 25% lỗi Brier so tham chiếu</a:t>
            </a:r>
          </a:p>
          <a:p>
            <a:pPr algn="l">
              <a:lnSpc>
                <a:spcPct val="112000"/>
              </a:lnSpc>
              <a:spcBef>
                <a:spcPts val="0"/>
              </a:spcBef>
              <a:spcAft>
                <a:spcPts val="0"/>
              </a:spcAft>
            </a:pPr>
            <a:r>
              <a:rPr sz="2000" b="0">
                <a:solidFill>
                  <a:srgbClr val="123047"/>
                </a:solidFill>
                <a:latin typeface="Arial"/>
              </a:rPr>
              <a:t>Dương: hơn; âm: kém tham chiếu</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BSS = 0,25 không có nghĩa dự đoán đúng 25% số ngày; không có đơn vị mm.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FAR, CSI: cùng xuất phát từ bảng đếm</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Công thức [V1]; ví dụ tự tạo, không phải kết quả mô hình</a:t>
            </a:r>
          </a:p>
        </p:txBody>
      </p:sp>
      <p:graphicFrame>
        <p:nvGraphicFramePr>
          <p:cNvPr id="6" name="Table 5"/>
          <p:cNvGraphicFramePr>
            <a:graphicFrameLocks noGrp="1"/>
          </p:cNvGraphicFramePr>
          <p:nvPr/>
        </p:nvGraphicFramePr>
        <p:xfrm>
          <a:off x="502920" y="1508760"/>
          <a:ext cx="11201400" cy="2276856"/>
        </p:xfrm>
        <a:graphic>
          <a:graphicData uri="http://schemas.openxmlformats.org/drawingml/2006/table">
            <a:tbl>
              <a:tblPr firstRow="1" bandRow="1">
                <a:tableStyleId>{5C22544A-7EE6-4342-B048-85BDC9FD1C3A}</a:tableStyleId>
              </a:tblPr>
              <a:tblGrid>
                <a:gridCol w="3657600"/>
                <a:gridCol w="3771900"/>
                <a:gridCol w="3771900"/>
              </a:tblGrid>
              <a:tr h="758952">
                <a:tc>
                  <a:txBody>
                    <a:bodyPr/>
                    <a:lstStyle/>
                    <a:p>
                      <a:pPr algn="ctr">
                        <a:lnSpc>
                          <a:spcPct val="100000"/>
                        </a:lnSpc>
                        <a:spcBef>
                          <a:spcPts val="0"/>
                        </a:spcBef>
                        <a:spcAft>
                          <a:spcPts val="0"/>
                        </a:spcAft>
                      </a:pPr>
                      <a:r>
                        <a:rPr sz="2200" b="1">
                          <a:solidFill>
                            <a:srgbClr val="FFFFFF"/>
                          </a:solidFill>
                          <a:latin typeface="Arial"/>
                        </a:rPr>
                        <a:t>Ví dụ 100 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có sự kiện</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Thực không có</a:t>
                      </a:r>
                    </a:p>
                  </a:txBody>
                  <a:tcPr marL="50292" marR="50292" marT="32004" marB="32004" anchor="ctr">
                    <a:solidFill>
                      <a:srgbClr val="123047"/>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có</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H = 7 · báo trúng</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F = 5 · báo nhầm</a:t>
                      </a:r>
                    </a:p>
                  </a:txBody>
                  <a:tcPr marL="50292" marR="50292" marT="32004" marB="32004" anchor="ctr">
                    <a:solidFill>
                      <a:srgbClr val="FFFFFF"/>
                    </a:solidFill>
                  </a:tcPr>
                </a:tc>
              </a:tr>
              <a:tr h="758952">
                <a:tc>
                  <a:txBody>
                    <a:bodyPr/>
                    <a:lstStyle/>
                    <a:p>
                      <a:pPr algn="ctr">
                        <a:lnSpc>
                          <a:spcPct val="100000"/>
                        </a:lnSpc>
                        <a:spcBef>
                          <a:spcPts val="0"/>
                        </a:spcBef>
                        <a:spcAft>
                          <a:spcPts val="0"/>
                        </a:spcAft>
                      </a:pPr>
                      <a:r>
                        <a:rPr sz="2200" b="0">
                          <a:solidFill>
                            <a:srgbClr val="123047"/>
                          </a:solidFill>
                          <a:latin typeface="Arial"/>
                        </a:rPr>
                        <a:t>Mô hình báo không</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M = 3 · bỏ sót</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TN = 85 · đúng không</a:t>
                      </a:r>
                    </a:p>
                  </a:txBody>
                  <a:tcPr marL="50292" marR="50292" marT="32004" marB="32004" anchor="ctr">
                    <a:solidFill>
                      <a:srgbClr val="EDF2F7"/>
                    </a:solidFill>
                  </a:tcPr>
                </a:tc>
              </a:tr>
            </a:tbl>
          </a:graphicData>
        </a:graphic>
      </p:graphicFrame>
      <p:sp>
        <p:nvSpPr>
          <p:cNvPr id="7" name="TextBox 6"/>
          <p:cNvSpPr txBox="1"/>
          <p:nvPr/>
        </p:nvSpPr>
        <p:spPr>
          <a:xfrm>
            <a:off x="685800" y="4133087"/>
            <a:ext cx="10789920" cy="10972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POD = H/(H+M) = 0,700       FAR = F/(H+F) = 0,417</a:t>
            </a:r>
          </a:p>
          <a:p>
            <a:pPr algn="l">
              <a:lnSpc>
                <a:spcPct val="112000"/>
              </a:lnSpc>
              <a:spcBef>
                <a:spcPts val="0"/>
              </a:spcBef>
              <a:spcAft>
                <a:spcPts val="0"/>
              </a:spcAft>
            </a:pPr>
            <a:r>
              <a:rPr sz="2300" b="0">
                <a:solidFill>
                  <a:srgbClr val="123047"/>
                </a:solidFill>
                <a:latin typeface="Arial"/>
              </a:rPr>
              <a:t>CSI = H/(H+M+F) = 0,467       FAR khác FPR = F/(F+TN)</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AD3434"/>
                </a:solidFill>
                <a:latin typeface="Arial"/>
              </a:rPr>
              <a:t>Luôn báo khô có accuracy 90% trong ví dụ; POD = 0 và CSI = 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 0,4 có tự động được coi là tốt không?</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Ví dụ tự tạo: 300 ngày, 100 sự kiện • Hướng dẫn: JWGFVR Forecast Verification [V3]</a:t>
            </a:r>
          </a:p>
        </p:txBody>
      </p:sp>
      <p:graphicFrame>
        <p:nvGraphicFramePr>
          <p:cNvPr id="6" name="Table 5"/>
          <p:cNvGraphicFramePr>
            <a:graphicFrameLocks noGrp="1"/>
          </p:cNvGraphicFramePr>
          <p:nvPr/>
        </p:nvGraphicFramePr>
        <p:xfrm>
          <a:off x="502920" y="1508760"/>
          <a:ext cx="11201400" cy="2194560"/>
        </p:xfrm>
        <a:graphic>
          <a:graphicData uri="http://schemas.openxmlformats.org/drawingml/2006/table">
            <a:tbl>
              <a:tblPr firstRow="1" bandRow="1">
                <a:tableStyleId>{5C22544A-7EE6-4342-B048-85BDC9FD1C3A}</a:tableStyleId>
              </a:tblPr>
              <a:tblGrid>
                <a:gridCol w="2286000"/>
                <a:gridCol w="1371600"/>
                <a:gridCol w="1371600"/>
                <a:gridCol w="1371600"/>
                <a:gridCol w="1600200"/>
                <a:gridCol w="1600200"/>
                <a:gridCol w="1600200"/>
              </a:tblGrid>
              <a:tr h="731520">
                <a:tc>
                  <a:txBody>
                    <a:bodyPr/>
                    <a:lstStyle/>
                    <a:p>
                      <a:pPr algn="ctr">
                        <a:lnSpc>
                          <a:spcPct val="100000"/>
                        </a:lnSpc>
                        <a:spcBef>
                          <a:spcPts val="0"/>
                        </a:spcBef>
                        <a:spcAft>
                          <a:spcPts val="0"/>
                        </a:spcAft>
                      </a:pPr>
                      <a:r>
                        <a:rPr sz="2200" b="1">
                          <a:solidFill>
                            <a:srgbClr val="FFFFFF"/>
                          </a:solidFill>
                          <a:latin typeface="Arial"/>
                        </a:rPr>
                        <a:t>Ví dụ</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Bỏ sót</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CSI ↑</a:t>
                      </a:r>
                    </a:p>
                  </a:txBody>
                  <a:tcPr marL="50292" marR="50292" marT="32004" marB="32004" anchor="ctr">
                    <a:solidFill>
                      <a:srgbClr val="123047"/>
                    </a:solidFill>
                  </a:tcPr>
                </a:tc>
              </a:tr>
              <a:tr h="731520">
                <a:tc>
                  <a:txBody>
                    <a:bodyPr/>
                    <a:lstStyle/>
                    <a:p>
                      <a:pPr algn="ctr">
                        <a:lnSpc>
                          <a:spcPct val="100000"/>
                        </a:lnSpc>
                        <a:spcBef>
                          <a:spcPts val="0"/>
                        </a:spcBef>
                        <a:spcAft>
                          <a:spcPts val="0"/>
                        </a:spcAft>
                      </a:pPr>
                      <a:r>
                        <a:rPr sz="22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10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0,400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087E8B"/>
                          </a:solidFill>
                          <a:latin typeface="Arial"/>
                        </a:rPr>
                        <a:t>0,200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0,364</a:t>
                      </a:r>
                    </a:p>
                  </a:txBody>
                  <a:tcPr marL="50292" marR="50292" marT="32004" marB="32004" anchor="ctr">
                    <a:solidFill>
                      <a:srgbClr val="FFFFFF"/>
                    </a:solidFill>
                  </a:tcPr>
                </a:tc>
              </a:tr>
              <a:tr h="731520">
                <a:tc>
                  <a:txBody>
                    <a:bodyPr/>
                    <a:lstStyle/>
                    <a:p>
                      <a:pPr algn="ctr">
                        <a:lnSpc>
                          <a:spcPct val="100000"/>
                        </a:lnSpc>
                        <a:spcBef>
                          <a:spcPts val="0"/>
                        </a:spcBef>
                        <a:spcAft>
                          <a:spcPts val="0"/>
                        </a:spcAft>
                      </a:pPr>
                      <a:r>
                        <a:rPr sz="22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40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160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0,400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AD3434"/>
                          </a:solidFill>
                          <a:latin typeface="Arial"/>
                        </a:rPr>
                        <a:t>0,800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0,154</a:t>
                      </a:r>
                    </a:p>
                  </a:txBody>
                  <a:tcPr marL="50292" marR="50292" marT="32004" marB="32004" anchor="ctr">
                    <a:solidFill>
                      <a:srgbClr val="EDF2F7"/>
                    </a:solidFill>
                  </a:tcPr>
                </a:tc>
              </a:tr>
            </a:tbl>
          </a:graphicData>
        </a:graphic>
      </p:graphicFrame>
      <p:sp>
        <p:nvSpPr>
          <p:cNvPr id="7" name="TextBox 6"/>
          <p:cNvSpPr txBox="1"/>
          <p:nvPr/>
        </p:nvSpPr>
        <p:spPr>
          <a:xfrm>
            <a:off x="685800" y="4069080"/>
            <a:ext cx="10835640" cy="1051560"/>
          </a:xfrm>
          <a:prstGeom prst="rect">
            <a:avLst/>
          </a:prstGeom>
          <a:noFill/>
        </p:spPr>
        <p:txBody>
          <a:bodyPr wrap="square" lIns="0" rIns="0" tIns="0" bIns="0" anchor="t">
            <a:spAutoFit/>
          </a:bodyPr>
          <a:lstStyle/>
          <a:p>
            <a:pPr algn="l">
              <a:lnSpc>
                <a:spcPct val="112000"/>
              </a:lnSpc>
              <a:spcBef>
                <a:spcPts val="0"/>
              </a:spcBef>
              <a:spcAft>
                <a:spcPts val="0"/>
              </a:spcAft>
            </a:pPr>
            <a:r>
              <a:rPr sz="2400" b="0">
                <a:solidFill>
                  <a:srgbClr val="123047"/>
                </a:solidFill>
                <a:latin typeface="Arial"/>
              </a:rPr>
              <a:t>Cùng bắt </a:t>
            </a:r>
            <a:r>
              <a:rPr sz="2400" b="1">
                <a:solidFill>
                  <a:srgbClr val="123047"/>
                </a:solidFill>
                <a:latin typeface="Arial"/>
              </a:rPr>
              <a:t>40/100 sự kiện</a:t>
            </a:r>
            <a:r>
              <a:rPr sz="2400" b="0">
                <a:solidFill>
                  <a:srgbClr val="123047"/>
                </a:solidFill>
                <a:latin typeface="Arial"/>
              </a:rPr>
              <a:t>, nhưng số báo nhầm rất khác.</a:t>
            </a:r>
          </a:p>
          <a:p>
            <a:pPr algn="l">
              <a:lnSpc>
                <a:spcPct val="112000"/>
              </a:lnSpc>
              <a:spcBef>
                <a:spcPts val="0"/>
              </a:spcBef>
              <a:spcAft>
                <a:spcPts val="0"/>
              </a:spcAft>
            </a:pPr>
            <a:r>
              <a:rPr sz="2400" b="0">
                <a:solidFill>
                  <a:srgbClr val="123047"/>
                </a:solidFill>
                <a:latin typeface="Arial"/>
              </a:rPr>
              <a:t>Muốn đánh giá tốt hay chưa: xem FAR, CSI và mô hình đối chứng.</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80" b="1">
                <a:solidFill>
                  <a:srgbClr val="AD3434"/>
                </a:solidFill>
                <a:latin typeface="Arial"/>
              </a:rPr>
              <a:t>0,4 là mức phát hiện 40%; chưa phải một “tem đạt chuẩn” cho mọi nghiên cứu.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Paper có POD khoảng 0,4: phải đọc trong ngữ cảnh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sơ cấp: [P1] Atmosphere 2025, 16, 224, §4.3 • [P2] Remote Sensing 2022, 14, 928, đánh giá giờ</a:t>
            </a:r>
          </a:p>
        </p:txBody>
      </p:sp>
      <p:graphicFrame>
        <p:nvGraphicFramePr>
          <p:cNvPr id="6" name="Table 5"/>
          <p:cNvGraphicFramePr>
            <a:graphicFrameLocks noGrp="1"/>
          </p:cNvGraphicFramePr>
          <p:nvPr/>
        </p:nvGraphicFramePr>
        <p:xfrm>
          <a:off x="502920" y="1508760"/>
          <a:ext cx="11201399" cy="3099813"/>
        </p:xfrm>
        <a:graphic>
          <a:graphicData uri="http://schemas.openxmlformats.org/drawingml/2006/table">
            <a:tbl>
              <a:tblPr firstRow="1" bandRow="1">
                <a:tableStyleId>{5C22544A-7EE6-4342-B048-85BDC9FD1C3A}</a:tableStyleId>
              </a:tblPr>
              <a:tblGrid>
                <a:gridCol w="2834640"/>
                <a:gridCol w="4389120"/>
                <a:gridCol w="3977639"/>
              </a:tblGrid>
              <a:tr h="1033271">
                <a:tc>
                  <a:txBody>
                    <a:bodyPr/>
                    <a:lstStyle/>
                    <a:p>
                      <a:pPr algn="ctr">
                        <a:lnSpc>
                          <a:spcPct val="100000"/>
                        </a:lnSpc>
                        <a:spcBef>
                          <a:spcPts val="0"/>
                        </a:spcBef>
                        <a:spcAft>
                          <a:spcPts val="0"/>
                        </a:spcAft>
                      </a:pPr>
                      <a:r>
                        <a:rPr sz="2000" b="1">
                          <a:solidFill>
                            <a:srgbClr val="FFFFFF"/>
                          </a:solidFill>
                          <a:latin typeface="Arial"/>
                        </a:rPr>
                        <a:t>Nguồn</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Điểm cần đọc</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Không được suy ra</a:t>
                      </a:r>
                    </a:p>
                  </a:txBody>
                  <a:tcPr marL="50292" marR="50292" marT="32004" marB="32004" anchor="ctr">
                    <a:solidFill>
                      <a:srgbClr val="123047"/>
                    </a:solidFill>
                  </a:tcPr>
                </a:tc>
              </a:tr>
              <a:tr h="1033271">
                <a:tc>
                  <a:txBody>
                    <a:bodyPr/>
                    <a:lstStyle/>
                    <a:p>
                      <a:pPr algn="ctr">
                        <a:lnSpc>
                          <a:spcPct val="100000"/>
                        </a:lnSpc>
                        <a:spcBef>
                          <a:spcPts val="0"/>
                        </a:spcBef>
                        <a:spcAft>
                          <a:spcPts val="0"/>
                        </a:spcAft>
                      </a:pPr>
                      <a:r>
                        <a:rPr sz="2000" b="0">
                          <a:solidFill>
                            <a:srgbClr val="123047"/>
                          </a:solidFill>
                          <a:latin typeface="Arial"/>
                        </a:rPr>
                        <a:t>P1 · Việt Nam</a:t>
                      </a:r>
                    </a:p>
                    <a:p>
                      <a:r>
                        <a:t>IFS/WRF · 2025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Có POD khoảng 0,3–0,4;</a:t>
                      </a:r>
                    </a:p>
                    <a:p>
                      <a:r>
                        <a:t>một số trạm đạt 0,5–0,7</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POD 0,4 là chuẩn chung;</a:t>
                      </a:r>
                    </a:p>
                    <a:p>
                      <a:r>
                        <a:t>dự án POD 0,64 đã thắng paper</a:t>
                      </a:r>
                    </a:p>
                  </a:txBody>
                  <a:tcPr marL="50292" marR="50292" marT="32004" marB="32004" anchor="ctr">
                    <a:solidFill>
                      <a:srgbClr val="FFFFFF"/>
                    </a:solidFill>
                  </a:tcPr>
                </a:tc>
              </a:tr>
              <a:tr h="1033271">
                <a:tc>
                  <a:txBody>
                    <a:bodyPr/>
                    <a:lstStyle/>
                    <a:p>
                      <a:pPr algn="ctr">
                        <a:lnSpc>
                          <a:spcPct val="100000"/>
                        </a:lnSpc>
                        <a:spcBef>
                          <a:spcPts val="0"/>
                        </a:spcBef>
                        <a:spcAft>
                          <a:spcPts val="0"/>
                        </a:spcAft>
                      </a:pPr>
                      <a:r>
                        <a:rPr sz="2000" b="0">
                          <a:solidFill>
                            <a:srgbClr val="123047"/>
                          </a:solidFill>
                          <a:latin typeface="Arial"/>
                        </a:rPr>
                        <a:t>P2 · IMERG</a:t>
                      </a:r>
                    </a:p>
                    <a:p>
                      <a:r>
                        <a:t>Bắc Trung Quốc · 2022</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POD tối đa ≈0,4 cùng FAR ≥0,6;</a:t>
                      </a:r>
                    </a:p>
                    <a:p>
                      <a:r>
                        <a:t>tác giả nhận xét phát hiện thấp</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0">
                          <a:solidFill>
                            <a:srgbClr val="123047"/>
                          </a:solidFill>
                          <a:latin typeface="Arial"/>
                        </a:rPr>
                        <a:t>Chỉ nhìn POD 0,4</a:t>
                      </a:r>
                    </a:p>
                    <a:p>
                      <a:r>
                        <a:t>là đủ để gọi kết quả tốt</a:t>
                      </a:r>
                    </a:p>
                  </a:txBody>
                  <a:tcPr marL="50292" marR="50292" marT="32004" marB="32004" anchor="ctr">
                    <a:solidFill>
                      <a:srgbClr val="EDF2F7"/>
                    </a:solidFill>
                  </a:tcPr>
                </a:tc>
              </a:tr>
            </a:tbl>
          </a:graphicData>
        </a:graphic>
      </p:graphicFrame>
      <p:sp>
        <p:nvSpPr>
          <p:cNvPr id="7" name="TextBox 6"/>
          <p:cNvSpPr txBox="1"/>
          <p:nvPr/>
        </p:nvSpPr>
        <p:spPr>
          <a:xfrm>
            <a:off x="685800" y="4892040"/>
            <a:ext cx="10835640" cy="502920"/>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123047"/>
                </a:solidFill>
                <a:latin typeface="Arial"/>
              </a:rPr>
              <a:t>Cần cùng: hạn, ngưỡng mưa, không gian, nhãn, cách báo có và tập đánh giá.</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Điểm POD trong paper khác giao thức không phải mốc chuẩn để xếp hạng trực tiếp.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19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POD cao hơn có đủ để kết luận tốt hơn?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2249424"/>
        </p:xfrm>
        <a:graphic>
          <a:graphicData uri="http://schemas.openxmlformats.org/drawingml/2006/table">
            <a:tbl>
              <a:tblPr firstRow="1" bandRow="1">
                <a:tableStyleId>{5C22544A-7EE6-4342-B048-85BDC9FD1C3A}</a:tableStyleId>
              </a:tblPr>
              <a:tblGrid>
                <a:gridCol w="2194560"/>
                <a:gridCol w="1645920"/>
                <a:gridCol w="1828800"/>
                <a:gridCol w="2057400"/>
                <a:gridCol w="1737360"/>
                <a:gridCol w="1737360"/>
              </a:tblGrid>
              <a:tr h="749808">
                <a:tc>
                  <a:txBody>
                    <a:bodyPr/>
                    <a:lstStyle/>
                    <a:p>
                      <a:pPr algn="ctr">
                        <a:lnSpc>
                          <a:spcPct val="100000"/>
                        </a:lnSpc>
                        <a:spcBef>
                          <a:spcPts val="0"/>
                        </a:spcBef>
                        <a:spcAft>
                          <a:spcPts val="0"/>
                        </a:spcAft>
                      </a:pPr>
                      <a:r>
                        <a:rPr sz="2200" b="1">
                          <a:solidFill>
                            <a:srgbClr val="FFFFFF"/>
                          </a:solidFill>
                          <a:latin typeface="Arial"/>
                        </a:rPr>
                        <a:t>E7 · ngày 1</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 H</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Bỏ sót 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 F</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2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73</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41</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66</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0.475</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2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60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54</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32</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087E8B"/>
                          </a:solidFill>
                          <a:latin typeface="Arial"/>
                        </a:rPr>
                        <a:t>0.348</a:t>
                      </a:r>
                    </a:p>
                  </a:txBody>
                  <a:tcPr marL="50292" marR="50292" marT="32004" marB="32004" anchor="ctr">
                    <a:solidFill>
                      <a:srgbClr val="EDF2F7"/>
                    </a:solidFill>
                  </a:tcPr>
                </a:tc>
              </a:tr>
            </a:tbl>
          </a:graphicData>
        </a:graphic>
      </p:graphicFrame>
      <p:sp>
        <p:nvSpPr>
          <p:cNvPr id="7" name="TextBox 6"/>
          <p:cNvSpPr txBox="1"/>
          <p:nvPr/>
        </p:nvSpPr>
        <p:spPr>
          <a:xfrm>
            <a:off x="685800" y="4078224"/>
            <a:ext cx="10789920" cy="1097280"/>
          </a:xfrm>
          <a:prstGeom prst="rect">
            <a:avLst/>
          </a:prstGeom>
          <a:noFill/>
        </p:spPr>
        <p:txBody>
          <a:bodyPr wrap="square" lIns="0" rIns="0" tIns="0" bIns="0" anchor="t">
            <a:spAutoFit/>
          </a:bodyPr>
          <a:lstStyle/>
          <a:p>
            <a:pPr algn="l">
              <a:lnSpc>
                <a:spcPct val="112000"/>
              </a:lnSpc>
              <a:spcBef>
                <a:spcPts val="0"/>
              </a:spcBef>
              <a:spcAft>
                <a:spcPts val="0"/>
              </a:spcAft>
            </a:pPr>
            <a:r>
              <a:rPr sz="2300" b="0">
                <a:solidFill>
                  <a:srgbClr val="123047"/>
                </a:solidFill>
                <a:latin typeface="Arial"/>
              </a:rPr>
              <a:t>TFT bắt thêm </a:t>
            </a:r>
            <a:r>
              <a:rPr sz="2300" b="1">
                <a:solidFill>
                  <a:srgbClr val="123047"/>
                </a:solidFill>
                <a:latin typeface="Arial"/>
              </a:rPr>
              <a:t>13 sự kiện</a:t>
            </a:r>
            <a:r>
              <a:rPr sz="2300" b="0">
                <a:solidFill>
                  <a:srgbClr val="123047"/>
                </a:solidFill>
                <a:latin typeface="Arial"/>
              </a:rPr>
              <a:t>, đồng thời thêm </a:t>
            </a:r>
            <a:r>
              <a:rPr sz="2300" b="1">
                <a:solidFill>
                  <a:srgbClr val="123047"/>
                </a:solidFill>
                <a:latin typeface="Arial"/>
              </a:rPr>
              <a:t>34 lần báo nhầm</a:t>
            </a:r>
            <a:r>
              <a:rPr sz="2300" b="0">
                <a:solidFill>
                  <a:srgbClr val="123047"/>
                </a:solidFill>
                <a:latin typeface="Arial"/>
              </a:rPr>
              <a:t>.</a:t>
            </a:r>
          </a:p>
          <a:p>
            <a:pPr algn="l">
              <a:lnSpc>
                <a:spcPct val="112000"/>
              </a:lnSpc>
              <a:spcBef>
                <a:spcPts val="0"/>
              </a:spcBef>
              <a:spcAft>
                <a:spcPts val="0"/>
              </a:spcAft>
            </a:pPr>
            <a:r>
              <a:rPr sz="2300" b="0">
                <a:solidFill>
                  <a:srgbClr val="123047"/>
                </a:solidFill>
                <a:latin typeface="Arial"/>
              </a:rPr>
              <a:t>POD/FAR phải đọc thành một cặp, cùng CSI và số lượng sự kiện.</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750" b="1">
                <a:solidFill>
                  <a:srgbClr val="087E8B"/>
                </a:solidFill>
                <a:latin typeface="Arial"/>
              </a:rPr>
              <a:t>In đậm: số để đối chiếu trong bảng; chưa phải kết luận khác biệt có ý nghĩa thống kê.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Nên ưu tiên metrics thế nào trong nghiên cứu hiện tại?</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Giữ protocol đã khóa; đây là khuyến nghị cách báo cáo, không đổi tiêu chí sau khi thấy điểm</a:t>
            </a:r>
          </a:p>
        </p:txBody>
      </p:sp>
      <p:graphicFrame>
        <p:nvGraphicFramePr>
          <p:cNvPr id="6" name="Table 5"/>
          <p:cNvGraphicFramePr>
            <a:graphicFrameLocks noGrp="1"/>
          </p:cNvGraphicFramePr>
          <p:nvPr/>
        </p:nvGraphicFramePr>
        <p:xfrm>
          <a:off x="502920" y="1508760"/>
          <a:ext cx="11201400" cy="3749040"/>
        </p:xfrm>
        <a:graphic>
          <a:graphicData uri="http://schemas.openxmlformats.org/drawingml/2006/table">
            <a:tbl>
              <a:tblPr firstRow="1" bandRow="1">
                <a:tableStyleId>{5C22544A-7EE6-4342-B048-85BDC9FD1C3A}</a:tableStyleId>
              </a:tblPr>
              <a:tblGrid>
                <a:gridCol w="4572000"/>
                <a:gridCol w="6629400"/>
              </a:tblGrid>
              <a:tr h="749808">
                <a:tc>
                  <a:txBody>
                    <a:bodyPr/>
                    <a:lstStyle/>
                    <a:p>
                      <a:pPr algn="ctr">
                        <a:lnSpc>
                          <a:spcPct val="100000"/>
                        </a:lnSpc>
                        <a:spcBef>
                          <a:spcPts val="0"/>
                        </a:spcBef>
                        <a:spcAft>
                          <a:spcPts val="0"/>
                        </a:spcAft>
                      </a:pPr>
                      <a:r>
                        <a:rPr sz="1900" b="1">
                          <a:solidFill>
                            <a:srgbClr val="FFFFFF"/>
                          </a:solidFill>
                          <a:latin typeface="Arial"/>
                        </a:rPr>
                        <a:t>Mục đích</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Vai trò đề nghị</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1900" b="0">
                          <a:solidFill>
                            <a:srgbClr val="123047"/>
                          </a:solidFill>
                          <a:latin typeface="Arial"/>
                        </a:rPr>
                        <a:t>Đóng góp đặc trưng trong protocol hiện tại</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BSS16 chính; CSI + POD + FAR luôn đi cùng</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Đánh giá lượng mưa vùng dự đoán</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RMSE + MAE + Bias hiển thị ngang phần kết quả</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1900" b="0">
                          <a:solidFill>
                            <a:srgbClr val="123047"/>
                          </a:solidFill>
                          <a:latin typeface="Arial"/>
                        </a:rPr>
                        <a:t>Nếu ưu tiên cảnh báo ít bỏ sót</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Cần chốt yêu cầu POD và mức FAR chấp nhận</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1900" b="0">
                          <a:solidFill>
                            <a:srgbClr val="123047"/>
                          </a:solidFill>
                          <a:latin typeface="Arial"/>
                        </a:rPr>
                        <a:t>Nếu đổi mục tiêu chọn mô hình</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Khóa lại trước holdout; chưa tự đổi trong lượt này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POD/FAR cần thiết; chưa có cơ sở ưu tiên riêng một chỉ số lên trên mọi mục tiêu.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Chia theo thời gian, cùng mẫu, giữ kín năm 2025</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graphicFrame>
        <p:nvGraphicFramePr>
          <p:cNvPr id="6" name="Table 5"/>
          <p:cNvGraphicFramePr>
            <a:graphicFrameLocks noGrp="1"/>
          </p:cNvGraphicFramePr>
          <p:nvPr/>
        </p:nvGraphicFramePr>
        <p:xfrm>
          <a:off x="502920" y="1508760"/>
          <a:ext cx="11201400" cy="2560320"/>
        </p:xfrm>
        <a:graphic>
          <a:graphicData uri="http://schemas.openxmlformats.org/drawingml/2006/table">
            <a:tbl>
              <a:tblPr firstRow="1" bandRow="1">
                <a:tableStyleId>{5C22544A-7EE6-4342-B048-85BDC9FD1C3A}</a:tableStyleId>
              </a:tblPr>
              <a:tblGrid>
                <a:gridCol w="914400"/>
                <a:gridCol w="3657600"/>
                <a:gridCol w="3314700"/>
                <a:gridCol w="3314700"/>
              </a:tblGrid>
              <a:tr h="640080">
                <a:tc>
                  <a:txBody>
                    <a:bodyPr/>
                    <a:lstStyle/>
                    <a:p>
                      <a:pPr algn="ctr">
                        <a:lnSpc>
                          <a:spcPct val="100000"/>
                        </a:lnSpc>
                        <a:spcBef>
                          <a:spcPts val="0"/>
                        </a:spcBef>
                        <a:spcAft>
                          <a:spcPts val="0"/>
                        </a:spcAft>
                      </a:pPr>
                      <a:r>
                        <a:rPr sz="2300" b="1">
                          <a:solidFill>
                            <a:srgbClr val="FFFFFF"/>
                          </a:solidFill>
                          <a:latin typeface="Arial"/>
                        </a:rPr>
                        <a:t>Fold</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Train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Calibration</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Evaluation</a:t>
                      </a:r>
                    </a:p>
                  </a:txBody>
                  <a:tcPr marL="50292" marR="50292" marT="32004" marB="32004" anchor="ctr">
                    <a:solidFill>
                      <a:srgbClr val="123047"/>
                    </a:solidFill>
                  </a:tcPr>
                </a:tc>
              </a:tr>
              <a:tr h="640080">
                <a:tc>
                  <a:txBody>
                    <a:bodyPr/>
                    <a:lstStyle/>
                    <a:p>
                      <a:pPr algn="ctr">
                        <a:lnSpc>
                          <a:spcPct val="100000"/>
                        </a:lnSpc>
                        <a:spcBef>
                          <a:spcPts val="0"/>
                        </a:spcBef>
                        <a:spcAft>
                          <a:spcPts val="0"/>
                        </a:spcAft>
                      </a:pPr>
                      <a:r>
                        <a:rPr sz="2300" b="0">
                          <a:solidFill>
                            <a:srgbClr val="123047"/>
                          </a:solidFill>
                          <a:latin typeface="Arial"/>
                        </a:rPr>
                        <a:t>F1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2015–2019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FFFFFF"/>
                    </a:solidFill>
                  </a:tcPr>
                </a:tc>
              </a:tr>
              <a:tr h="640080">
                <a:tc>
                  <a:txBody>
                    <a:bodyPr/>
                    <a:lstStyle/>
                    <a:p>
                      <a:pPr algn="ctr">
                        <a:lnSpc>
                          <a:spcPct val="100000"/>
                        </a:lnSpc>
                        <a:spcBef>
                          <a:spcPts val="0"/>
                        </a:spcBef>
                        <a:spcAft>
                          <a:spcPts val="0"/>
                        </a:spcAft>
                      </a:pPr>
                      <a:r>
                        <a:rPr sz="2300" b="0">
                          <a:solidFill>
                            <a:srgbClr val="123047"/>
                          </a:solidFill>
                          <a:latin typeface="Arial"/>
                        </a:rPr>
                        <a:t>F2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2015–2020</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EDF2F7"/>
                    </a:solidFill>
                  </a:tcPr>
                </a:tc>
              </a:tr>
              <a:tr h="640080">
                <a:tc>
                  <a:txBody>
                    <a:bodyPr/>
                    <a:lstStyle/>
                    <a:p>
                      <a:pPr algn="ctr">
                        <a:lnSpc>
                          <a:spcPct val="100000"/>
                        </a:lnSpc>
                        <a:spcBef>
                          <a:spcPts val="0"/>
                        </a:spcBef>
                        <a:spcAft>
                          <a:spcPts val="0"/>
                        </a:spcAft>
                      </a:pPr>
                      <a:r>
                        <a:rPr sz="2300" b="0">
                          <a:solidFill>
                            <a:srgbClr val="123047"/>
                          </a:solidFill>
                          <a:latin typeface="Arial"/>
                        </a:rPr>
                        <a:t>F3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2015–2021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2023</a:t>
                      </a:r>
                    </a:p>
                  </a:txBody>
                  <a:tcPr marL="50292" marR="50292" marT="32004" marB="32004" anchor="ctr">
                    <a:solidFill>
                      <a:srgbClr val="FFFFFF"/>
                    </a:solidFill>
                  </a:tcPr>
                </a:tc>
              </a:tr>
            </a:tbl>
          </a:graphicData>
        </a:graphic>
      </p:graphicFrame>
      <p:sp>
        <p:nvSpPr>
          <p:cNvPr id="7" name="TextBox 6"/>
          <p:cNvSpPr txBox="1"/>
          <p:nvPr/>
        </p:nvSpPr>
        <p:spPr>
          <a:xfrm>
            <a:off x="685800" y="4434840"/>
            <a:ext cx="10835640" cy="914400"/>
          </a:xfrm>
          <a:prstGeom prst="rect">
            <a:avLst/>
          </a:prstGeom>
          <a:noFill/>
        </p:spPr>
        <p:txBody>
          <a:bodyPr wrap="square" lIns="0" rIns="0" tIns="0" bIns="0" anchor="t">
            <a:spAutoFit/>
          </a:bodyPr>
          <a:lstStyle/>
          <a:p>
            <a:pPr algn="l">
              <a:lnSpc>
                <a:spcPct val="112000"/>
              </a:lnSpc>
              <a:spcBef>
                <a:spcPts val="0"/>
              </a:spcBef>
              <a:spcAft>
                <a:spcPts val="0"/>
              </a:spcAft>
            </a:pPr>
            <a:r>
              <a:rPr sz="2300" b="1">
                <a:solidFill>
                  <a:srgbClr val="123047"/>
                </a:solidFill>
                <a:latin typeface="Arial"/>
              </a:rPr>
              <a:t>1.075 mốc / ngày dự đoán · 114 sự kiện ≥16 mm</a:t>
            </a:r>
          </a:p>
          <a:p>
            <a:pPr algn="l">
              <a:lnSpc>
                <a:spcPct val="112000"/>
              </a:lnSpc>
              <a:spcBef>
                <a:spcPts val="0"/>
              </a:spcBef>
              <a:spcAft>
                <a:spcPts val="0"/>
              </a:spcAft>
            </a:pPr>
            <a:r>
              <a:rPr sz="2300" b="1">
                <a:solidFill>
                  <a:srgbClr val="123047"/>
                </a:solidFill>
                <a:latin typeface="Arial"/>
              </a:rPr>
              <a:t>Chỉ 37 / 15 sự kiện ≥50 / ≥100 mm: độ bất định cao.</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Ba seed không nhân ba số ngày thời tiết. Development chưa thay kiểm định cuối.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Hai ngưỡng khác nhau: lượng mưa q và xác suất τ</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src/short_range_evaluation.py + ensemble_calibration_thresholds.csv • Không chọn τ bằng evaluation</a:t>
            </a:r>
          </a:p>
        </p:txBody>
      </p:sp>
      <p:sp>
        <p:nvSpPr>
          <p:cNvPr id="6" name="Rectangle 5"/>
          <p:cNvSpPr/>
          <p:nvPr/>
        </p:nvSpPr>
        <p:spPr>
          <a:xfrm>
            <a:off x="594360" y="1508760"/>
            <a:ext cx="548640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q · định nghĩa sự kiện</a:t>
            </a:r>
          </a:p>
        </p:txBody>
      </p:sp>
      <p:sp>
        <p:nvSpPr>
          <p:cNvPr id="8" name="TextBox 7"/>
          <p:cNvSpPr txBox="1"/>
          <p:nvPr/>
        </p:nvSpPr>
        <p:spPr>
          <a:xfrm>
            <a:off x="749808" y="2304288"/>
            <a:ext cx="5175504" cy="2651760"/>
          </a:xfrm>
          <a:prstGeom prst="rect">
            <a:avLst/>
          </a:prstGeom>
          <a:noFill/>
        </p:spPr>
        <p:txBody>
          <a:bodyPr wrap="square" lIns="0" rIns="0" tIns="0" bIns="0" anchor="t">
            <a:spAutoFit/>
          </a:bodyPr>
          <a:lstStyle/>
          <a:p>
            <a:pPr algn="l">
              <a:lnSpc>
                <a:spcPct val="112000"/>
              </a:lnSpc>
              <a:spcBef>
                <a:spcPts val="0"/>
              </a:spcBef>
              <a:spcAft>
                <a:spcPts val="0"/>
              </a:spcAft>
            </a:pPr>
            <a:r>
              <a:rPr sz="2100" b="0">
                <a:solidFill>
                  <a:srgbClr val="123047"/>
                </a:solidFill>
                <a:latin typeface="Arial"/>
              </a:rPr>
              <a:t>Mưa thực vùng ≥16 mm/24h?</a:t>
            </a:r>
          </a:p>
          <a:p>
            <a:pPr algn="l">
              <a:lnSpc>
                <a:spcPct val="112000"/>
              </a:lnSpc>
              <a:spcBef>
                <a:spcPts val="0"/>
              </a:spcBef>
              <a:spcAft>
                <a:spcPts val="0"/>
              </a:spcAft>
            </a:pPr>
            <a:r>
              <a:rPr sz="2100" b="0">
                <a:solidFill>
                  <a:srgbClr val="123047"/>
                </a:solidFill>
                <a:latin typeface="Arial"/>
              </a:rPr>
              <a:t>Có → nhãn 1; không → nhãn 0</a:t>
            </a:r>
          </a:p>
          <a:p>
            <a:pPr algn="l">
              <a:lnSpc>
                <a:spcPct val="112000"/>
              </a:lnSpc>
              <a:spcBef>
                <a:spcPts val="0"/>
              </a:spcBef>
              <a:spcAft>
                <a:spcPts val="0"/>
              </a:spcAft>
            </a:pPr>
            <a:r>
              <a:rPr sz="2100" b="0">
                <a:solidFill>
                  <a:srgbClr val="123047"/>
                </a:solidFill>
                <a:latin typeface="Arial"/>
              </a:rPr>
              <a:t>50/100 mm: các mức hiếm hơn</a:t>
            </a:r>
          </a:p>
          <a:p>
            <a:pPr algn="l">
              <a:lnSpc>
                <a:spcPct val="112000"/>
              </a:lnSpc>
              <a:spcBef>
                <a:spcPts val="0"/>
              </a:spcBef>
              <a:spcAft>
                <a:spcPts val="0"/>
              </a:spcAft>
            </a:pPr>
            <a:r>
              <a:rPr sz="2100" b="0">
                <a:solidFill>
                  <a:srgbClr val="123047"/>
                </a:solidFill>
                <a:latin typeface="Arial"/>
              </a:rPr>
              <a:t>Không phải cấp cảnh báo tại điểm</a:t>
            </a:r>
          </a:p>
        </p:txBody>
      </p:sp>
      <p:sp>
        <p:nvSpPr>
          <p:cNvPr id="9" name="Rectangle 8"/>
          <p:cNvSpPr/>
          <p:nvPr/>
        </p:nvSpPr>
        <p:spPr>
          <a:xfrm>
            <a:off x="6291072" y="1508760"/>
            <a:ext cx="5303520" cy="356616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τ · quyết định báo có</a:t>
            </a:r>
          </a:p>
        </p:txBody>
      </p:sp>
      <p:sp>
        <p:nvSpPr>
          <p:cNvPr id="11" name="TextBox 10"/>
          <p:cNvSpPr txBox="1"/>
          <p:nvPr/>
        </p:nvSpPr>
        <p:spPr>
          <a:xfrm>
            <a:off x="6446520" y="2304288"/>
            <a:ext cx="4992624" cy="265176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Xác suất dự báo p ≥ τ?</a:t>
            </a:r>
          </a:p>
          <a:p>
            <a:pPr algn="l">
              <a:lnSpc>
                <a:spcPct val="112000"/>
              </a:lnSpc>
              <a:spcBef>
                <a:spcPts val="0"/>
              </a:spcBef>
              <a:spcAft>
                <a:spcPts val="0"/>
              </a:spcAft>
            </a:pPr>
            <a:r>
              <a:rPr sz="2200" b="0">
                <a:solidFill>
                  <a:srgbClr val="123047"/>
                </a:solidFill>
                <a:latin typeface="Arial"/>
              </a:rPr>
              <a:t>τ chọn trên calibration</a:t>
            </a:r>
          </a:p>
          <a:p>
            <a:pPr algn="l">
              <a:lnSpc>
                <a:spcPct val="112000"/>
              </a:lnSpc>
              <a:spcBef>
                <a:spcPts val="0"/>
              </a:spcBef>
              <a:spcAft>
                <a:spcPts val="0"/>
              </a:spcAft>
            </a:pPr>
            <a:r>
              <a:rPr sz="2200" b="0">
                <a:solidFill>
                  <a:srgbClr val="123047"/>
                </a:solidFill>
                <a:latin typeface="Arial"/>
              </a:rPr>
              <a:t>Giữ cố định khi chấm evaluation</a:t>
            </a:r>
          </a:p>
          <a:p>
            <a:pPr algn="l">
              <a:lnSpc>
                <a:spcPct val="112000"/>
              </a:lnSpc>
              <a:spcBef>
                <a:spcPts val="0"/>
              </a:spcBef>
              <a:spcAft>
                <a:spcPts val="0"/>
              </a:spcAft>
            </a:pPr>
            <a:r>
              <a:rPr sz="2200" b="0">
                <a:solidFill>
                  <a:srgbClr val="123047"/>
                </a:solidFill>
                <a:latin typeface="Arial"/>
              </a:rPr>
              <a:t>BSS không cần chọn τ</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POD/FAR giữa hai mô hình hiện chưa ở cùng mức POD hoặc cùng mức FAR.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Vì sao POD trên slide lên 0,640? Hai cách báo khác nhau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Cùng TFT E7, ngày 1, 1.075 mốc /114 sự kiện • DECISION_RULES_E7.csv • Không đổi ngưỡng trên evaluation</a:t>
            </a:r>
          </a:p>
        </p:txBody>
      </p:sp>
      <p:graphicFrame>
        <p:nvGraphicFramePr>
          <p:cNvPr id="6" name="Table 5"/>
          <p:cNvGraphicFramePr>
            <a:graphicFrameLocks noGrp="1"/>
          </p:cNvGraphicFramePr>
          <p:nvPr/>
        </p:nvGraphicFramePr>
        <p:xfrm>
          <a:off x="502920" y="1508760"/>
          <a:ext cx="11201400" cy="2359152"/>
        </p:xfrm>
        <a:graphic>
          <a:graphicData uri="http://schemas.openxmlformats.org/drawingml/2006/table">
            <a:tbl>
              <a:tblPr firstRow="1" bandRow="1">
                <a:tableStyleId>{5C22544A-7EE6-4342-B048-85BDC9FD1C3A}</a:tableStyleId>
              </a:tblPr>
              <a:tblGrid>
                <a:gridCol w="3931920"/>
                <a:gridCol w="1234440"/>
                <a:gridCol w="1508760"/>
                <a:gridCol w="1508760"/>
                <a:gridCol w="1508760"/>
                <a:gridCol w="1508760"/>
              </a:tblGrid>
              <a:tr h="786384">
                <a:tc>
                  <a:txBody>
                    <a:bodyPr/>
                    <a:lstStyle/>
                    <a:p>
                      <a:pPr algn="ctr">
                        <a:lnSpc>
                          <a:spcPct val="100000"/>
                        </a:lnSpc>
                        <a:spcBef>
                          <a:spcPts val="0"/>
                        </a:spcBef>
                        <a:spcAft>
                          <a:spcPts val="0"/>
                        </a:spcAft>
                      </a:pPr>
                      <a:r>
                        <a:rPr sz="2200" b="1">
                          <a:solidFill>
                            <a:srgbClr val="FFFFFF"/>
                          </a:solidFill>
                          <a:latin typeface="Arial"/>
                        </a:rPr>
                        <a:t>Quy tắc báo có</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Trúng</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Báo nhầm</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200" b="1">
                          <a:solidFill>
                            <a:srgbClr val="FFFFFF"/>
                          </a:solidFill>
                          <a:latin typeface="Arial"/>
                        </a:rPr>
                        <a:t>CSI ↑</a:t>
                      </a:r>
                    </a:p>
                  </a:txBody>
                  <a:tcPr marL="50292" marR="50292" marT="32004" marB="32004" anchor="ctr">
                    <a:solidFill>
                      <a:srgbClr val="123047"/>
                    </a:solidFill>
                  </a:tcPr>
                </a:tc>
              </a:tr>
              <a:tr h="786384">
                <a:tc>
                  <a:txBody>
                    <a:bodyPr/>
                    <a:lstStyle/>
                    <a:p>
                      <a:pPr algn="ctr">
                        <a:lnSpc>
                          <a:spcPct val="100000"/>
                        </a:lnSpc>
                        <a:spcBef>
                          <a:spcPts val="0"/>
                        </a:spcBef>
                        <a:spcAft>
                          <a:spcPts val="0"/>
                        </a:spcAft>
                      </a:pPr>
                      <a:r>
                        <a:rPr sz="2200" b="0">
                          <a:solidFill>
                            <a:srgbClr val="123047"/>
                          </a:solidFill>
                          <a:latin typeface="Arial"/>
                        </a:rPr>
                        <a:t>Lượng mm dự đoán ≥16</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67</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48</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1">
                          <a:solidFill>
                            <a:srgbClr val="123047"/>
                          </a:solidFill>
                          <a:latin typeface="Arial"/>
                        </a:rPr>
                        <a:t>0.588</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0.417</a:t>
                      </a:r>
                    </a:p>
                  </a:txBody>
                  <a:tcPr marL="50292" marR="50292" marT="32004" marB="32004" anchor="ctr">
                    <a:solidFill>
                      <a:srgbClr val="FFFFFF"/>
                    </a:solidFill>
                  </a:tcPr>
                </a:tc>
                <a:tc>
                  <a:txBody>
                    <a:bodyPr/>
                    <a:lstStyle/>
                    <a:p>
                      <a:pPr algn="ctr">
                        <a:lnSpc>
                          <a:spcPct val="100000"/>
                        </a:lnSpc>
                        <a:spcBef>
                          <a:spcPts val="0"/>
                        </a:spcBef>
                        <a:spcAft>
                          <a:spcPts val="0"/>
                        </a:spcAft>
                      </a:pPr>
                      <a:r>
                        <a:rPr sz="2200" b="0">
                          <a:solidFill>
                            <a:srgbClr val="123047"/>
                          </a:solidFill>
                          <a:latin typeface="Arial"/>
                        </a:rPr>
                        <a:t>0.414</a:t>
                      </a:r>
                    </a:p>
                  </a:txBody>
                  <a:tcPr marL="50292" marR="50292" marT="32004" marB="32004" anchor="ctr">
                    <a:solidFill>
                      <a:srgbClr val="FFFFFF"/>
                    </a:solidFill>
                  </a:tcPr>
                </a:tc>
              </a:tr>
              <a:tr h="786384">
                <a:tc>
                  <a:txBody>
                    <a:bodyPr/>
                    <a:lstStyle/>
                    <a:p>
                      <a:pPr algn="ctr">
                        <a:lnSpc>
                          <a:spcPct val="100000"/>
                        </a:lnSpc>
                        <a:spcBef>
                          <a:spcPts val="0"/>
                        </a:spcBef>
                        <a:spcAft>
                          <a:spcPts val="0"/>
                        </a:spcAft>
                      </a:pPr>
                      <a:r>
                        <a:rPr sz="2200" b="0">
                          <a:solidFill>
                            <a:srgbClr val="123047"/>
                          </a:solidFill>
                          <a:latin typeface="Arial"/>
                        </a:rPr>
                        <a:t>Xác suất ≥τ đã chọn</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73</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66</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1">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0.475</a:t>
                      </a:r>
                    </a:p>
                  </a:txBody>
                  <a:tcPr marL="50292" marR="50292" marT="32004" marB="32004" anchor="ctr">
                    <a:solidFill>
                      <a:srgbClr val="EDF2F7"/>
                    </a:solidFill>
                  </a:tcPr>
                </a:tc>
                <a:tc>
                  <a:txBody>
                    <a:bodyPr/>
                    <a:lstStyle/>
                    <a:p>
                      <a:pPr algn="ctr">
                        <a:lnSpc>
                          <a:spcPct val="100000"/>
                        </a:lnSpc>
                        <a:spcBef>
                          <a:spcPts val="0"/>
                        </a:spcBef>
                        <a:spcAft>
                          <a:spcPts val="0"/>
                        </a:spcAft>
                      </a:pPr>
                      <a:r>
                        <a:rPr sz="2200" b="0">
                          <a:solidFill>
                            <a:srgbClr val="123047"/>
                          </a:solidFill>
                          <a:latin typeface="Arial"/>
                        </a:rPr>
                        <a:t>0.406</a:t>
                      </a:r>
                    </a:p>
                  </a:txBody>
                  <a:tcPr marL="50292" marR="50292" marT="32004" marB="32004" anchor="ctr">
                    <a:solidFill>
                      <a:srgbClr val="EDF2F7"/>
                    </a:solidFill>
                  </a:tcPr>
                </a:tc>
              </a:tr>
            </a:tbl>
          </a:graphicData>
        </a:graphic>
      </p:graphicFrame>
      <p:sp>
        <p:nvSpPr>
          <p:cNvPr id="7" name="TextBox 6"/>
          <p:cNvSpPr txBox="1"/>
          <p:nvPr/>
        </p:nvSpPr>
        <p:spPr>
          <a:xfrm>
            <a:off x="685800" y="4160520"/>
            <a:ext cx="10835640" cy="96012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Đầu xác suất bắt được nhiều sự kiện hơn, đồng thời báo nhầm nhiều hơn.</a:t>
            </a:r>
          </a:p>
          <a:p>
            <a:pPr algn="l">
              <a:lnSpc>
                <a:spcPct val="112000"/>
              </a:lnSpc>
              <a:spcBef>
                <a:spcPts val="0"/>
              </a:spcBef>
              <a:spcAft>
                <a:spcPts val="0"/>
              </a:spcAft>
            </a:pPr>
            <a:r>
              <a:rPr sz="2200" b="0">
                <a:solidFill>
                  <a:srgbClr val="123047"/>
                </a:solidFill>
                <a:latin typeface="Arial"/>
              </a:rPr>
              <a:t>Không so POD này với paper dùng lượng mm mà bỏ qua khác biệt quy tắc.</a:t>
            </a:r>
          </a:p>
        </p:txBody>
      </p:sp>
      <p:sp>
        <p:nvSpPr>
          <p:cNvPr id="8" name="Rectangle 7"/>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87E8B"/>
                </a:solidFill>
                <a:latin typeface="Arial"/>
              </a:rPr>
              <a:t>POD 0,640 = 73/114, không phải “độ chính xác chung 64%”.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BSS toàn ma trận: ngày 1 có ích, ngày 3 chưa vượt khí hậu</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640080"/>
                <a:gridCol w="1760220"/>
                <a:gridCol w="1760220"/>
                <a:gridCol w="1760220"/>
                <a:gridCol w="1760220"/>
                <a:gridCol w="1760220"/>
                <a:gridCol w="1760220"/>
              </a:tblGrid>
              <a:tr h="438912">
                <a:tc>
                  <a:txBody>
                    <a:bodyPr/>
                    <a:lstStyle/>
                    <a:p>
                      <a:pPr algn="ctr">
                        <a:lnSpc>
                          <a:spcPct val="100000"/>
                        </a:lnSpc>
                        <a:spcBef>
                          <a:spcPts val="0"/>
                        </a:spcBef>
                        <a:spcAft>
                          <a:spcPts val="0"/>
                        </a:spcAft>
                      </a:pPr>
                      <a:r>
                        <a:rPr sz="190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TFT 1</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TFT 2</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TFT 3</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LightGBM 1</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LightGBM 2</a:t>
                      </a:r>
                    </a:p>
                  </a:txBody>
                  <a:tcPr marL="50292" marR="50292" marT="32004" marB="32004" anchor="ctr">
                    <a:solidFill>
                      <a:srgbClr val="123047"/>
                    </a:solidFill>
                  </a:tcPr>
                </a:tc>
                <a:tc>
                  <a:txBody>
                    <a:bodyPr/>
                    <a:lstStyle/>
                    <a:p>
                      <a:pPr algn="ctr">
                        <a:lnSpc>
                          <a:spcPct val="100000"/>
                        </a:lnSpc>
                        <a:spcBef>
                          <a:spcPts val="0"/>
                        </a:spcBef>
                        <a:spcAft>
                          <a:spcPts val="0"/>
                        </a:spcAft>
                      </a:pPr>
                      <a:r>
                        <a:rPr sz="1900" b="1">
                          <a:solidFill>
                            <a:srgbClr val="FFFFFF"/>
                          </a:solidFill>
                          <a:latin typeface="Arial"/>
                        </a:rPr>
                        <a:t>LightGBM 3</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90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0.1355</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0.0176</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-0.0338</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0.1437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-0.0148</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-0.0530</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0.2208</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0.0407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0.2645</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-0.0344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-0.0708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90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0.2797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0.0474</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-0.0305</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0.2827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0.0601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-0.0613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0.1329</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0.0267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-0.0257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0.1754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-0.0377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1">
                          <a:solidFill>
                            <a:srgbClr val="AD3434"/>
                          </a:solidFill>
                          <a:latin typeface="Arial"/>
                        </a:rPr>
                        <a:t>-0.0368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90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0.2367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0.0227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-0.0287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0.3146</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0.0457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-0.0606</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0.1707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0.0260</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-0.0282</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0.2819</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-0.0353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-0.0630</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90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0.2801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087E8B"/>
                          </a:solidFill>
                          <a:latin typeface="Arial"/>
                        </a:rPr>
                        <a:t>0.0537</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1">
                          <a:solidFill>
                            <a:srgbClr val="AD3434"/>
                          </a:solidFill>
                          <a:latin typeface="Arial"/>
                        </a:rPr>
                        <a:t>-0.0163</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0.3061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123047"/>
                          </a:solidFill>
                          <a:latin typeface="Arial"/>
                        </a:rPr>
                        <a:t>0.0561</a:t>
                      </a:r>
                    </a:p>
                  </a:txBody>
                  <a:tcPr marL="50292" marR="50292" marT="32004" marB="32004" anchor="ctr">
                    <a:solidFill>
                      <a:srgbClr val="FFFFFF"/>
                    </a:solidFill>
                  </a:tcPr>
                </a:tc>
                <a:tc>
                  <a:txBody>
                    <a:bodyPr/>
                    <a:lstStyle/>
                    <a:p>
                      <a:pPr algn="ctr">
                        <a:lnSpc>
                          <a:spcPct val="100000"/>
                        </a:lnSpc>
                        <a:spcBef>
                          <a:spcPts val="0"/>
                        </a:spcBef>
                        <a:spcAft>
                          <a:spcPts val="0"/>
                        </a:spcAft>
                      </a:pPr>
                      <a:r>
                        <a:rPr sz="1900" b="0">
                          <a:solidFill>
                            <a:srgbClr val="AD3434"/>
                          </a:solidFill>
                          <a:latin typeface="Arial"/>
                        </a:rPr>
                        <a:t>-0.0498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90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0.2463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0.0284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-0.0381</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0.3034</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123047"/>
                          </a:solidFill>
                          <a:latin typeface="Arial"/>
                        </a:rPr>
                        <a:t>0.0433</a:t>
                      </a:r>
                    </a:p>
                  </a:txBody>
                  <a:tcPr marL="50292" marR="50292" marT="32004" marB="32004" anchor="ctr">
                    <a:solidFill>
                      <a:srgbClr val="EDF2F7"/>
                    </a:solidFill>
                  </a:tcPr>
                </a:tc>
                <a:tc>
                  <a:txBody>
                    <a:bodyPr/>
                    <a:lstStyle/>
                    <a:p>
                      <a:pPr algn="ctr">
                        <a:lnSpc>
                          <a:spcPct val="100000"/>
                        </a:lnSpc>
                        <a:spcBef>
                          <a:spcPts val="0"/>
                        </a:spcBef>
                        <a:spcAft>
                          <a:spcPts val="0"/>
                        </a:spcAft>
                      </a:pPr>
                      <a:r>
                        <a:rPr sz="1900" b="0">
                          <a:solidFill>
                            <a:srgbClr val="AD3434"/>
                          </a:solidFill>
                          <a:latin typeface="Arial"/>
                        </a:rPr>
                        <a:t>-0.0749</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750" b="1">
                <a:solidFill>
                  <a:srgbClr val="087E8B"/>
                </a:solidFill>
                <a:latin typeface="Arial"/>
              </a:rPr>
              <a:t>Đậm: tốt nhất trong cột; đỏ: kém khí hậu. BSS 0,246 không phải accuracy 24,6%.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Đọc đủ POD, FAR, CSI và BSS: E7 ở ba ngày</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Ngưỡng mưa vùng ≥16 mm/24h; quyết định từ xác suất • In đậm theo cặp cùng ngày; chưa là ý nghĩa thống kê</a:t>
            </a:r>
          </a:p>
        </p:txBody>
      </p:sp>
      <p:graphicFrame>
        <p:nvGraphicFramePr>
          <p:cNvPr id="6" name="Table 5"/>
          <p:cNvGraphicFramePr>
            <a:graphicFrameLocks noGrp="1"/>
          </p:cNvGraphicFramePr>
          <p:nvPr/>
        </p:nvGraphicFramePr>
        <p:xfrm>
          <a:off x="502920" y="1508760"/>
          <a:ext cx="11201400" cy="3968496"/>
        </p:xfrm>
        <a:graphic>
          <a:graphicData uri="http://schemas.openxmlformats.org/drawingml/2006/table">
            <a:tbl>
              <a:tblPr firstRow="1" bandRow="1">
                <a:tableStyleId>{5C22544A-7EE6-4342-B048-85BDC9FD1C3A}</a:tableStyleId>
              </a:tblPr>
              <a:tblGrid>
                <a:gridCol w="731520"/>
                <a:gridCol w="2057400"/>
                <a:gridCol w="2103120"/>
                <a:gridCol w="2103120"/>
                <a:gridCol w="2103120"/>
                <a:gridCol w="2103120"/>
              </a:tblGrid>
              <a:tr h="566928">
                <a:tc>
                  <a:txBody>
                    <a:bodyPr/>
                    <a:lstStyle/>
                    <a:p>
                      <a:pPr algn="ctr">
                        <a:lnSpc>
                          <a:spcPct val="100000"/>
                        </a:lnSpc>
                        <a:spcBef>
                          <a:spcPts val="0"/>
                        </a:spcBef>
                        <a:spcAft>
                          <a:spcPts val="0"/>
                        </a:spcAft>
                      </a:pPr>
                      <a:r>
                        <a:rPr sz="2300" b="1">
                          <a:solidFill>
                            <a:srgbClr val="FFFFFF"/>
                          </a:solidFill>
                          <a:latin typeface="Arial"/>
                        </a:rPr>
                        <a:t>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FAR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BSS ↑</a:t>
                      </a:r>
                    </a:p>
                  </a:txBody>
                  <a:tcPr marL="50292" marR="50292" marT="32004" marB="32004" anchor="ctr">
                    <a:solidFill>
                      <a:srgbClr val="123047"/>
                    </a:solidFill>
                  </a:tcPr>
                </a:tc>
              </a:tr>
              <a:tr h="566928">
                <a:tc>
                  <a:txBody>
                    <a:bodyPr/>
                    <a:lstStyle/>
                    <a:p>
                      <a:pPr algn="ctr">
                        <a:lnSpc>
                          <a:spcPct val="100000"/>
                        </a:lnSpc>
                        <a:spcBef>
                          <a:spcPts val="0"/>
                        </a:spcBef>
                        <a:spcAft>
                          <a:spcPts val="0"/>
                        </a:spcAft>
                      </a:pPr>
                      <a:r>
                        <a:rPr sz="23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0.475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0.406</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0.246</a:t>
                      </a:r>
                    </a:p>
                  </a:txBody>
                  <a:tcPr marL="50292" marR="50292" marT="32004" marB="32004" anchor="ctr">
                    <a:solidFill>
                      <a:srgbClr val="FFFFFF"/>
                    </a:solidFill>
                  </a:tcPr>
                </a:tc>
              </a:tr>
              <a:tr h="566928">
                <a:tc>
                  <a:txBody>
                    <a:bodyPr/>
                    <a:lstStyle/>
                    <a:p>
                      <a:pPr algn="ctr">
                        <a:lnSpc>
                          <a:spcPct val="100000"/>
                        </a:lnSpc>
                        <a:spcBef>
                          <a:spcPts val="0"/>
                        </a:spcBef>
                        <a:spcAft>
                          <a:spcPts val="0"/>
                        </a:spcAft>
                      </a:pPr>
                      <a:r>
                        <a:rPr sz="2300" b="0">
                          <a:solidFill>
                            <a:srgbClr val="123047"/>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0.348</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0.411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0.303</a:t>
                      </a:r>
                    </a:p>
                  </a:txBody>
                  <a:tcPr marL="50292" marR="50292" marT="32004" marB="32004" anchor="ctr">
                    <a:solidFill>
                      <a:srgbClr val="EDF2F7"/>
                    </a:solidFill>
                  </a:tcPr>
                </a:tc>
              </a:tr>
              <a:tr h="566928">
                <a:tc>
                  <a:txBody>
                    <a:bodyPr/>
                    <a:lstStyle/>
                    <a:p>
                      <a:pPr algn="ctr">
                        <a:lnSpc>
                          <a:spcPct val="100000"/>
                        </a:lnSpc>
                        <a:spcBef>
                          <a:spcPts val="0"/>
                        </a:spcBef>
                        <a:spcAft>
                          <a:spcPts val="0"/>
                        </a:spcAft>
                      </a:pPr>
                      <a:r>
                        <a:rPr sz="2300" b="0">
                          <a:solidFill>
                            <a:srgbClr val="123047"/>
                          </a:solidFill>
                          <a:latin typeface="Arial"/>
                        </a:rPr>
                        <a:t>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0.659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0.028</a:t>
                      </a:r>
                    </a:p>
                  </a:txBody>
                  <a:tcPr marL="50292" marR="50292" marT="32004" marB="32004" anchor="ctr">
                    <a:solidFill>
                      <a:srgbClr val="FFFFFF"/>
                    </a:solidFill>
                  </a:tcPr>
                </a:tc>
              </a:tr>
              <a:tr h="566928">
                <a:tc>
                  <a:txBody>
                    <a:bodyPr/>
                    <a:lstStyle/>
                    <a:p>
                      <a:pPr algn="ctr">
                        <a:lnSpc>
                          <a:spcPct val="100000"/>
                        </a:lnSpc>
                        <a:spcBef>
                          <a:spcPts val="0"/>
                        </a:spcBef>
                        <a:spcAft>
                          <a:spcPts val="0"/>
                        </a:spcAft>
                      </a:pPr>
                      <a:r>
                        <a:rPr sz="23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0.587</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0.277</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0.043</a:t>
                      </a:r>
                    </a:p>
                  </a:txBody>
                  <a:tcPr marL="50292" marR="50292" marT="32004" marB="32004" anchor="ctr">
                    <a:solidFill>
                      <a:srgbClr val="EDF2F7"/>
                    </a:solidFill>
                  </a:tcPr>
                </a:tc>
              </a:tr>
              <a:tr h="566928">
                <a:tc>
                  <a:txBody>
                    <a:bodyPr/>
                    <a:lstStyle/>
                    <a:p>
                      <a:pPr algn="ctr">
                        <a:lnSpc>
                          <a:spcPct val="100000"/>
                        </a:lnSpc>
                        <a:spcBef>
                          <a:spcPts val="0"/>
                        </a:spcBef>
                        <a:spcAft>
                          <a:spcPts val="0"/>
                        </a:spcAft>
                      </a:pPr>
                      <a:r>
                        <a:rPr sz="23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0.719</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0.201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AD3434"/>
                          </a:solidFill>
                          <a:latin typeface="Arial"/>
                        </a:rPr>
                        <a:t>-0.038</a:t>
                      </a:r>
                    </a:p>
                  </a:txBody>
                  <a:tcPr marL="50292" marR="50292" marT="32004" marB="32004" anchor="ctr">
                    <a:solidFill>
                      <a:srgbClr val="FFFFFF"/>
                    </a:solidFill>
                  </a:tcPr>
                </a:tc>
              </a:tr>
              <a:tr h="566928">
                <a:tc>
                  <a:txBody>
                    <a:bodyPr/>
                    <a:lstStyle/>
                    <a:p>
                      <a:pPr algn="ctr">
                        <a:lnSpc>
                          <a:spcPct val="100000"/>
                        </a:lnSpc>
                        <a:spcBef>
                          <a:spcPts val="0"/>
                        </a:spcBef>
                        <a:spcAft>
                          <a:spcPts val="0"/>
                        </a:spcAft>
                      </a:pPr>
                      <a:r>
                        <a:rPr sz="23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0.741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0.203</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AD3434"/>
                          </a:solidFill>
                          <a:latin typeface="Arial"/>
                        </a:rPr>
                        <a:t>-0.075</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AD3434"/>
                </a:solidFill>
                <a:latin typeface="Arial"/>
              </a:rPr>
              <a:t>Ngày 3: POD còn &gt;0,4 nhưng FAR cao và BSS âm; chưa vượt khí hậu về xác suất.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Lượng mm vẫn phải báo rõ: RMSE, MAE và Bias</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04488"/>
        </p:xfrm>
        <a:graphic>
          <a:graphicData uri="http://schemas.openxmlformats.org/drawingml/2006/table">
            <a:tbl>
              <a:tblPr firstRow="1" bandRow="1">
                <a:tableStyleId>{5C22544A-7EE6-4342-B048-85BDC9FD1C3A}</a:tableStyleId>
              </a:tblPr>
              <a:tblGrid>
                <a:gridCol w="731520"/>
                <a:gridCol w="3063240"/>
                <a:gridCol w="2468880"/>
                <a:gridCol w="2468880"/>
                <a:gridCol w="2468880"/>
              </a:tblGrid>
              <a:tr h="557784">
                <a:tc>
                  <a:txBody>
                    <a:bodyPr/>
                    <a:lstStyle/>
                    <a:p>
                      <a:pPr algn="ctr">
                        <a:lnSpc>
                          <a:spcPct val="100000"/>
                        </a:lnSpc>
                        <a:spcBef>
                          <a:spcPts val="0"/>
                        </a:spcBef>
                        <a:spcAft>
                          <a:spcPts val="0"/>
                        </a:spcAft>
                      </a:pPr>
                      <a:r>
                        <a:rPr sz="2300" b="1">
                          <a:solidFill>
                            <a:srgbClr val="FFFFFF"/>
                          </a:solidFill>
                          <a:latin typeface="Arial"/>
                        </a:rPr>
                        <a:t>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E7</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2300" b="1">
                          <a:solidFill>
                            <a:srgbClr val="FFFFFF"/>
                          </a:solidFill>
                          <a:latin typeface="Arial"/>
                        </a:rPr>
                        <a:t>Bias ≈0</a:t>
                      </a:r>
                    </a:p>
                  </a:txBody>
                  <a:tcPr marL="50292" marR="50292" marT="32004" marB="32004" anchor="ctr">
                    <a:solidFill>
                      <a:srgbClr val="123047"/>
                    </a:solidFill>
                  </a:tcPr>
                </a:tc>
              </a:tr>
              <a:tr h="557784">
                <a:tc>
                  <a:txBody>
                    <a:bodyPr/>
                    <a:lstStyle/>
                    <a:p>
                      <a:pPr algn="ctr">
                        <a:lnSpc>
                          <a:spcPct val="100000"/>
                        </a:lnSpc>
                        <a:spcBef>
                          <a:spcPts val="0"/>
                        </a:spcBef>
                        <a:spcAft>
                          <a:spcPts val="0"/>
                        </a:spcAft>
                      </a:pPr>
                      <a:r>
                        <a:rPr sz="23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20.361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6.695</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-2.710</a:t>
                      </a:r>
                    </a:p>
                  </a:txBody>
                  <a:tcPr marL="50292" marR="50292" marT="32004" marB="32004" anchor="ctr">
                    <a:solidFill>
                      <a:srgbClr val="FFFFFF"/>
                    </a:solidFill>
                  </a:tcPr>
                </a:tc>
              </a:tr>
              <a:tr h="557784">
                <a:tc>
                  <a:txBody>
                    <a:bodyPr/>
                    <a:lstStyle/>
                    <a:p>
                      <a:pPr algn="ctr">
                        <a:lnSpc>
                          <a:spcPct val="100000"/>
                        </a:lnSpc>
                        <a:spcBef>
                          <a:spcPts val="0"/>
                        </a:spcBef>
                        <a:spcAft>
                          <a:spcPts val="0"/>
                        </a:spcAft>
                      </a:pPr>
                      <a:r>
                        <a:rPr sz="2300" b="0">
                          <a:solidFill>
                            <a:srgbClr val="123047"/>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17.706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5.731</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-2.003</a:t>
                      </a:r>
                    </a:p>
                  </a:txBody>
                  <a:tcPr marL="50292" marR="50292" marT="32004" marB="32004" anchor="ctr">
                    <a:solidFill>
                      <a:srgbClr val="EDF2F7"/>
                    </a:solidFill>
                  </a:tcPr>
                </a:tc>
              </a:tr>
              <a:tr h="557784">
                <a:tc>
                  <a:txBody>
                    <a:bodyPr/>
                    <a:lstStyle/>
                    <a:p>
                      <a:pPr algn="ctr">
                        <a:lnSpc>
                          <a:spcPct val="100000"/>
                        </a:lnSpc>
                        <a:spcBef>
                          <a:spcPts val="0"/>
                        </a:spcBef>
                        <a:spcAft>
                          <a:spcPts val="0"/>
                        </a:spcAft>
                      </a:pPr>
                      <a:r>
                        <a:rPr sz="2300" b="0">
                          <a:solidFill>
                            <a:srgbClr val="123047"/>
                          </a:solidFill>
                          <a:latin typeface="Arial"/>
                        </a:rPr>
                        <a:t>2</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21.018</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7.566</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-2.105</a:t>
                      </a:r>
                    </a:p>
                  </a:txBody>
                  <a:tcPr marL="50292" marR="50292" marT="32004" marB="32004" anchor="ctr">
                    <a:solidFill>
                      <a:srgbClr val="FFFFFF"/>
                    </a:solidFill>
                  </a:tcPr>
                </a:tc>
              </a:tr>
              <a:tr h="557784">
                <a:tc>
                  <a:txBody>
                    <a:bodyPr/>
                    <a:lstStyle/>
                    <a:p>
                      <a:pPr algn="ctr">
                        <a:lnSpc>
                          <a:spcPct val="100000"/>
                        </a:lnSpc>
                        <a:spcBef>
                          <a:spcPts val="0"/>
                        </a:spcBef>
                        <a:spcAft>
                          <a:spcPts val="0"/>
                        </a:spcAft>
                      </a:pPr>
                      <a:r>
                        <a:rPr sz="23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20.756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7.238</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-2.551</a:t>
                      </a:r>
                    </a:p>
                  </a:txBody>
                  <a:tcPr marL="50292" marR="50292" marT="32004" marB="32004" anchor="ctr">
                    <a:solidFill>
                      <a:srgbClr val="EDF2F7"/>
                    </a:solidFill>
                  </a:tcPr>
                </a:tc>
              </a:tr>
              <a:tr h="557784">
                <a:tc>
                  <a:txBody>
                    <a:bodyPr/>
                    <a:lstStyle/>
                    <a:p>
                      <a:pPr algn="ctr">
                        <a:lnSpc>
                          <a:spcPct val="100000"/>
                        </a:lnSpc>
                        <a:spcBef>
                          <a:spcPts val="0"/>
                        </a:spcBef>
                        <a:spcAft>
                          <a:spcPts val="0"/>
                        </a:spcAft>
                      </a:pPr>
                      <a:r>
                        <a:rPr sz="23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21.321</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0">
                          <a:solidFill>
                            <a:srgbClr val="123047"/>
                          </a:solidFill>
                          <a:latin typeface="Arial"/>
                        </a:rPr>
                        <a:t>8.104</a:t>
                      </a:r>
                    </a:p>
                  </a:txBody>
                  <a:tcPr marL="50292" marR="50292" marT="32004" marB="32004" anchor="ctr">
                    <a:solidFill>
                      <a:srgbClr val="FFFFFF"/>
                    </a:solidFill>
                  </a:tcPr>
                </a:tc>
                <a:tc>
                  <a:txBody>
                    <a:bodyPr/>
                    <a:lstStyle/>
                    <a:p>
                      <a:pPr algn="ctr">
                        <a:lnSpc>
                          <a:spcPct val="100000"/>
                        </a:lnSpc>
                        <a:spcBef>
                          <a:spcPts val="0"/>
                        </a:spcBef>
                        <a:spcAft>
                          <a:spcPts val="0"/>
                        </a:spcAft>
                      </a:pPr>
                      <a:r>
                        <a:rPr sz="2300" b="1">
                          <a:solidFill>
                            <a:srgbClr val="087E8B"/>
                          </a:solidFill>
                          <a:latin typeface="Arial"/>
                        </a:rPr>
                        <a:t>-1.565</a:t>
                      </a:r>
                    </a:p>
                  </a:txBody>
                  <a:tcPr marL="50292" marR="50292" marT="32004" marB="32004" anchor="ctr">
                    <a:solidFill>
                      <a:srgbClr val="FFFFFF"/>
                    </a:solidFill>
                  </a:tcPr>
                </a:tc>
              </a:tr>
              <a:tr h="557784">
                <a:tc>
                  <a:txBody>
                    <a:bodyPr/>
                    <a:lstStyle/>
                    <a:p>
                      <a:pPr algn="ctr">
                        <a:lnSpc>
                          <a:spcPct val="100000"/>
                        </a:lnSpc>
                        <a:spcBef>
                          <a:spcPts val="0"/>
                        </a:spcBef>
                        <a:spcAft>
                          <a:spcPts val="0"/>
                        </a:spcAft>
                      </a:pPr>
                      <a:r>
                        <a:rPr sz="23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LightGBM</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21.742</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1">
                          <a:solidFill>
                            <a:srgbClr val="087E8B"/>
                          </a:solidFill>
                          <a:latin typeface="Arial"/>
                        </a:rPr>
                        <a:t>7.666</a:t>
                      </a:r>
                    </a:p>
                  </a:txBody>
                  <a:tcPr marL="50292" marR="50292" marT="32004" marB="32004" anchor="ctr">
                    <a:solidFill>
                      <a:srgbClr val="EDF2F7"/>
                    </a:solidFill>
                  </a:tcPr>
                </a:tc>
                <a:tc>
                  <a:txBody>
                    <a:bodyPr/>
                    <a:lstStyle/>
                    <a:p>
                      <a:pPr algn="ctr">
                        <a:lnSpc>
                          <a:spcPct val="100000"/>
                        </a:lnSpc>
                        <a:spcBef>
                          <a:spcPts val="0"/>
                        </a:spcBef>
                        <a:spcAft>
                          <a:spcPts val="0"/>
                        </a:spcAft>
                      </a:pPr>
                      <a:r>
                        <a:rPr sz="2300" b="0">
                          <a:solidFill>
                            <a:srgbClr val="123047"/>
                          </a:solidFill>
                          <a:latin typeface="Arial"/>
                        </a:rPr>
                        <a:t>-2.900</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50" b="1">
                <a:solidFill>
                  <a:srgbClr val="087E8B"/>
                </a:solidFill>
                <a:latin typeface="Arial"/>
              </a:rPr>
              <a:t>Đơn vị mm/24h • In đậm theo cặp cùng ngày • Bias âm: dự báo thiếu.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Informer: đã chạy được; kết quả pilot cần đọc thế nào?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E7 · Cùng seed TFT/Informer · Đậm: điểm tốt hơn trong cặp; chưa kiểm định khác biệt kiến trúc</a:t>
            </a:r>
          </a:p>
        </p:txBody>
      </p:sp>
      <p:graphicFrame>
        <p:nvGraphicFramePr>
          <p:cNvPr id="6" name="Table 5"/>
          <p:cNvGraphicFramePr>
            <a:graphicFrameLocks noGrp="1"/>
          </p:cNvGraphicFramePr>
          <p:nvPr/>
        </p:nvGraphicFramePr>
        <p:xfrm>
          <a:off x="502920" y="1508760"/>
          <a:ext cx="11201399" cy="3776472"/>
        </p:xfrm>
        <a:graphic>
          <a:graphicData uri="http://schemas.openxmlformats.org/drawingml/2006/table">
            <a:tbl>
              <a:tblPr firstRow="1" bandRow="1">
                <a:tableStyleId>{5C22544A-7EE6-4342-B048-85BDC9FD1C3A}</a:tableStyleId>
              </a:tblPr>
              <a:tblGrid>
                <a:gridCol w="777240"/>
                <a:gridCol w="1874519"/>
                <a:gridCol w="1709928"/>
                <a:gridCol w="1709928"/>
                <a:gridCol w="1709928"/>
                <a:gridCol w="1709928"/>
                <a:gridCol w="1709928"/>
              </a:tblGrid>
              <a:tr h="539496">
                <a:tc>
                  <a:txBody>
                    <a:bodyPr/>
                    <a:lstStyle/>
                    <a:p>
                      <a:pPr algn="ctr">
                        <a:lnSpc>
                          <a:spcPct val="100000"/>
                        </a:lnSpc>
                        <a:spcBef>
                          <a:spcPts val="0"/>
                        </a:spcBef>
                        <a:spcAft>
                          <a:spcPts val="0"/>
                        </a:spcAft>
                      </a:pPr>
                      <a:r>
                        <a:rPr sz="2100" b="1">
                          <a:solidFill>
                            <a:srgbClr val="FFFFFF"/>
                          </a:solidFill>
                          <a:latin typeface="Arial"/>
                        </a:rPr>
                        <a:t>Ngày</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Mô hình</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2100" b="1">
                          <a:solidFill>
                            <a:srgbClr val="FFFFFF"/>
                          </a:solidFill>
                          <a:latin typeface="Arial"/>
                        </a:rPr>
                        <a:t>FAR ↓</a:t>
                      </a:r>
                    </a:p>
                  </a:txBody>
                  <a:tcPr marL="50292" marR="50292" marT="32004" marB="32004" anchor="ctr">
                    <a:solidFill>
                      <a:srgbClr val="123047"/>
                    </a:solidFill>
                  </a:tcPr>
                </a:tc>
              </a:tr>
              <a:tr h="539496">
                <a:tc>
                  <a:txBody>
                    <a:bodyPr/>
                    <a:lstStyle/>
                    <a:p>
                      <a:pPr algn="ctr">
                        <a:lnSpc>
                          <a:spcPct val="100000"/>
                        </a:lnSpc>
                        <a:spcBef>
                          <a:spcPts val="0"/>
                        </a:spcBef>
                        <a:spcAft>
                          <a:spcPts val="0"/>
                        </a:spcAft>
                      </a:pPr>
                      <a:r>
                        <a:rPr sz="2100" b="0">
                          <a:solidFill>
                            <a:srgbClr val="123047"/>
                          </a:solidFill>
                          <a:latin typeface="Arial"/>
                        </a:rPr>
                        <a:t>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20.361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0.246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0.406</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0.475</a:t>
                      </a:r>
                    </a:p>
                  </a:txBody>
                  <a:tcPr marL="50292" marR="50292" marT="32004" marB="32004" anchor="ctr">
                    <a:solidFill>
                      <a:srgbClr val="FFFFFF"/>
                    </a:solidFill>
                  </a:tcPr>
                </a:tc>
              </a:tr>
              <a:tr h="539496">
                <a:tc>
                  <a:txBody>
                    <a:bodyPr/>
                    <a:lstStyle/>
                    <a:p>
                      <a:pPr algn="ctr">
                        <a:lnSpc>
                          <a:spcPct val="100000"/>
                        </a:lnSpc>
                        <a:spcBef>
                          <a:spcPts val="0"/>
                        </a:spcBef>
                        <a:spcAft>
                          <a:spcPts val="0"/>
                        </a:spcAft>
                      </a:pPr>
                      <a:r>
                        <a:rPr sz="2100" b="0">
                          <a:solidFill>
                            <a:srgbClr val="123047"/>
                          </a:solidFill>
                          <a:latin typeface="Arial"/>
                        </a:rPr>
                        <a:t>1</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20.486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0.278</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0.440</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0.614</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0.391</a:t>
                      </a:r>
                    </a:p>
                  </a:txBody>
                  <a:tcPr marL="50292" marR="50292" marT="32004" marB="32004" anchor="ctr">
                    <a:solidFill>
                      <a:srgbClr val="EDF2F7"/>
                    </a:solidFill>
                  </a:tcPr>
                </a:tc>
              </a:tr>
              <a:tr h="539496">
                <a:tc>
                  <a:txBody>
                    <a:bodyPr/>
                    <a:lstStyle/>
                    <a:p>
                      <a:pPr algn="ctr">
                        <a:lnSpc>
                          <a:spcPct val="100000"/>
                        </a:lnSpc>
                        <a:spcBef>
                          <a:spcPts val="0"/>
                        </a:spcBef>
                        <a:spcAft>
                          <a:spcPts val="0"/>
                        </a:spcAft>
                      </a:pPr>
                      <a:r>
                        <a:rPr sz="2100" b="0">
                          <a:solidFill>
                            <a:srgbClr val="123047"/>
                          </a:solidFill>
                          <a:latin typeface="Arial"/>
                        </a:rPr>
                        <a:t>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21.018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0.028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0.659</a:t>
                      </a:r>
                    </a:p>
                  </a:txBody>
                  <a:tcPr marL="50292" marR="50292" marT="32004" marB="32004" anchor="ctr">
                    <a:solidFill>
                      <a:srgbClr val="FFFFFF"/>
                    </a:solidFill>
                  </a:tcPr>
                </a:tc>
              </a:tr>
              <a:tr h="539496">
                <a:tc>
                  <a:txBody>
                    <a:bodyPr/>
                    <a:lstStyle/>
                    <a:p>
                      <a:pPr algn="ctr">
                        <a:lnSpc>
                          <a:spcPct val="100000"/>
                        </a:lnSpc>
                        <a:spcBef>
                          <a:spcPts val="0"/>
                        </a:spcBef>
                        <a:spcAft>
                          <a:spcPts val="0"/>
                        </a:spcAft>
                      </a:pPr>
                      <a:r>
                        <a:rPr sz="2100" b="0">
                          <a:solidFill>
                            <a:srgbClr val="123047"/>
                          </a:solidFill>
                          <a:latin typeface="Arial"/>
                        </a:rPr>
                        <a:t>2</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21.190</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0.025</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0.239</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0.447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0.660</a:t>
                      </a:r>
                    </a:p>
                  </a:txBody>
                  <a:tcPr marL="50292" marR="50292" marT="32004" marB="32004" anchor="ctr">
                    <a:solidFill>
                      <a:srgbClr val="EDF2F7"/>
                    </a:solidFill>
                  </a:tcPr>
                </a:tc>
              </a:tr>
              <a:tr h="539496">
                <a:tc>
                  <a:txBody>
                    <a:bodyPr/>
                    <a:lstStyle/>
                    <a:p>
                      <a:pPr algn="ctr">
                        <a:lnSpc>
                          <a:spcPct val="100000"/>
                        </a:lnSpc>
                        <a:spcBef>
                          <a:spcPts val="0"/>
                        </a:spcBef>
                        <a:spcAft>
                          <a:spcPts val="0"/>
                        </a:spcAft>
                      </a:pPr>
                      <a:r>
                        <a:rPr sz="2100" b="0">
                          <a:solidFill>
                            <a:srgbClr val="123047"/>
                          </a:solidFill>
                          <a:latin typeface="Arial"/>
                        </a:rPr>
                        <a:t>3</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TFT</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1">
                          <a:solidFill>
                            <a:srgbClr val="087E8B"/>
                          </a:solidFill>
                          <a:latin typeface="Arial"/>
                        </a:rPr>
                        <a:t>21.321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AD3434"/>
                          </a:solidFill>
                          <a:latin typeface="Arial"/>
                        </a:rPr>
                        <a:t>-0.038</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0.201</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2100" b="0">
                          <a:solidFill>
                            <a:srgbClr val="123047"/>
                          </a:solidFill>
                          <a:latin typeface="Arial"/>
                        </a:rPr>
                        <a:t>0.719</a:t>
                      </a:r>
                    </a:p>
                  </a:txBody>
                  <a:tcPr marL="50292" marR="50292" marT="32004" marB="32004" anchor="ctr">
                    <a:solidFill>
                      <a:srgbClr val="FFFFFF"/>
                    </a:solidFill>
                  </a:tcPr>
                </a:tc>
              </a:tr>
              <a:tr h="539496">
                <a:tc>
                  <a:txBody>
                    <a:bodyPr/>
                    <a:lstStyle/>
                    <a:p>
                      <a:pPr algn="ctr">
                        <a:lnSpc>
                          <a:spcPct val="100000"/>
                        </a:lnSpc>
                        <a:spcBef>
                          <a:spcPts val="0"/>
                        </a:spcBef>
                        <a:spcAft>
                          <a:spcPts val="0"/>
                        </a:spcAft>
                      </a:pPr>
                      <a:r>
                        <a:rPr sz="2100" b="0">
                          <a:solidFill>
                            <a:srgbClr val="123047"/>
                          </a:solidFill>
                          <a:latin typeface="Arial"/>
                        </a:rPr>
                        <a:t>3</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Informer</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0">
                          <a:solidFill>
                            <a:srgbClr val="123047"/>
                          </a:solidFill>
                          <a:latin typeface="Arial"/>
                        </a:rPr>
                        <a:t>21.347</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AD3434"/>
                          </a:solidFill>
                          <a:latin typeface="Arial"/>
                        </a:rPr>
                        <a:t>-0.019</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0.216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2100" b="1">
                          <a:solidFill>
                            <a:srgbClr val="087E8B"/>
                          </a:solidFill>
                          <a:latin typeface="Arial"/>
                        </a:rPr>
                        <a:t>0.709</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900" b="1">
                <a:solidFill>
                  <a:srgbClr val="087E8B"/>
                </a:solidFill>
                <a:latin typeface="Arial"/>
              </a:rPr>
              <a:t>18 lượt Informer · 3 seed hoàn chỉnh · 5.3 phút · E0/E7; chưa tuning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GIẢI THÍCH VÀ KẾT QUẢ</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Nhóm nào cải thiện? Đọc điểm cùng khoảng tin cậy</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TFT • Thêm riêng từng nhóm vào E0, ngày 1 • 20.000 bootstrap khối 7 ngày • Điều chỉnh gia đình 9 phép so</a:t>
            </a:r>
          </a:p>
        </p:txBody>
      </p:sp>
      <p:graphicFrame>
        <p:nvGraphicFramePr>
          <p:cNvPr id="6" name="Table 5"/>
          <p:cNvGraphicFramePr>
            <a:graphicFrameLocks noGrp="1"/>
          </p:cNvGraphicFramePr>
          <p:nvPr/>
        </p:nvGraphicFramePr>
        <p:xfrm>
          <a:off x="502920" y="1508760"/>
          <a:ext cx="11201400" cy="2999232"/>
        </p:xfrm>
        <a:graphic>
          <a:graphicData uri="http://schemas.openxmlformats.org/drawingml/2006/table">
            <a:tbl>
              <a:tblPr firstRow="1" bandRow="1">
                <a:tableStyleId>{5C22544A-7EE6-4342-B048-85BDC9FD1C3A}</a:tableStyleId>
              </a:tblPr>
              <a:tblGrid>
                <a:gridCol w="4572000"/>
                <a:gridCol w="1417320"/>
                <a:gridCol w="3063240"/>
                <a:gridCol w="2148840"/>
              </a:tblGrid>
              <a:tr h="749808">
                <a:tc>
                  <a:txBody>
                    <a:bodyPr/>
                    <a:lstStyle/>
                    <a:p>
                      <a:pPr algn="ctr">
                        <a:lnSpc>
                          <a:spcPct val="100000"/>
                        </a:lnSpc>
                        <a:spcBef>
                          <a:spcPts val="0"/>
                        </a:spcBef>
                        <a:spcAft>
                          <a:spcPts val="0"/>
                        </a:spcAft>
                      </a:pPr>
                      <a:r>
                        <a:rPr sz="2000" b="1">
                          <a:solidFill>
                            <a:srgbClr val="FFFFFF"/>
                          </a:solidFill>
                          <a:latin typeface="Arial"/>
                        </a:rPr>
                        <a:t>Nhóm thêm vào nền</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Δ BSS ↑</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Khoảng tin cậy</a:t>
                      </a:r>
                    </a:p>
                  </a:txBody>
                  <a:tcPr marL="50292" marR="50292" marT="32004" marB="32004" anchor="ctr">
                    <a:solidFill>
                      <a:srgbClr val="123047"/>
                    </a:solidFill>
                  </a:tcPr>
                </a:tc>
                <a:tc>
                  <a:txBody>
                    <a:bodyPr/>
                    <a:lstStyle/>
                    <a:p>
                      <a:pPr algn="ctr">
                        <a:lnSpc>
                          <a:spcPct val="100000"/>
                        </a:lnSpc>
                        <a:spcBef>
                          <a:spcPts val="0"/>
                        </a:spcBef>
                        <a:spcAft>
                          <a:spcPts val="0"/>
                        </a:spcAft>
                      </a:pPr>
                      <a:r>
                        <a:rPr sz="2000" b="1">
                          <a:solidFill>
                            <a:srgbClr val="FFFFFF"/>
                          </a:solidFill>
                          <a:latin typeface="Arial"/>
                        </a:rPr>
                        <a:t>Cách đọc</a:t>
                      </a:r>
                    </a:p>
                  </a:txBody>
                  <a:tcPr marL="50292" marR="50292" marT="32004" marB="32004" anchor="ctr">
                    <a:solidFill>
                      <a:srgbClr val="123047"/>
                    </a:solidFill>
                  </a:tcPr>
                </a:tc>
              </a:tr>
              <a:tr h="749808">
                <a:tc>
                  <a:txBody>
                    <a:bodyPr/>
                    <a:lstStyle/>
                    <a:p>
                      <a:pPr algn="ctr">
                        <a:lnSpc>
                          <a:spcPct val="100000"/>
                        </a:lnSpc>
                        <a:spcBef>
                          <a:spcPts val="0"/>
                        </a:spcBef>
                        <a:spcAft>
                          <a:spcPts val="0"/>
                        </a:spcAft>
                      </a:pPr>
                      <a:r>
                        <a:rPr sz="2000" b="0">
                          <a:solidFill>
                            <a:srgbClr val="123047"/>
                          </a:solidFill>
                          <a:latin typeface="Arial"/>
                        </a:rPr>
                        <a:t>A: đối lưu, mây, lớp biên, đất</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+0.085</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[+0.002; +0.161]</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1">
                          <a:solidFill>
                            <a:srgbClr val="087E8B"/>
                          </a:solidFill>
                          <a:latin typeface="Arial"/>
                        </a:rPr>
                        <a:t>Trên 0</a:t>
                      </a:r>
                    </a:p>
                  </a:txBody>
                  <a:tcPr marL="50292" marR="50292" marT="32004" marB="32004" anchor="ctr">
                    <a:solidFill>
                      <a:srgbClr val="FFFFFF"/>
                    </a:solidFill>
                  </a:tcPr>
                </a:tc>
              </a:tr>
              <a:tr h="749808">
                <a:tc>
                  <a:txBody>
                    <a:bodyPr/>
                    <a:lstStyle/>
                    <a:p>
                      <a:pPr algn="ctr">
                        <a:lnSpc>
                          <a:spcPct val="100000"/>
                        </a:lnSpc>
                        <a:spcBef>
                          <a:spcPts val="0"/>
                        </a:spcBef>
                        <a:spcAft>
                          <a:spcPts val="0"/>
                        </a:spcAft>
                      </a:pPr>
                      <a:r>
                        <a:rPr sz="2000" b="0">
                          <a:solidFill>
                            <a:srgbClr val="123047"/>
                          </a:solidFill>
                          <a:latin typeface="Arial"/>
                        </a:rPr>
                        <a:t>M: hoàn lưu và vận chuyển ẩm</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+0.144</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[+0.068; +0.233]</a:t>
                      </a:r>
                    </a:p>
                  </a:txBody>
                  <a:tcPr marL="50292" marR="50292" marT="32004" marB="32004" anchor="ctr">
                    <a:solidFill>
                      <a:srgbClr val="EDF2F7"/>
                    </a:solidFill>
                  </a:tcPr>
                </a:tc>
                <a:tc>
                  <a:txBody>
                    <a:bodyPr/>
                    <a:lstStyle/>
                    <a:p>
                      <a:pPr algn="ctr">
                        <a:lnSpc>
                          <a:spcPct val="100000"/>
                        </a:lnSpc>
                        <a:spcBef>
                          <a:spcPts val="0"/>
                        </a:spcBef>
                        <a:spcAft>
                          <a:spcPts val="0"/>
                        </a:spcAft>
                      </a:pPr>
                      <a:r>
                        <a:rPr sz="2000" b="1">
                          <a:solidFill>
                            <a:srgbClr val="087E8B"/>
                          </a:solidFill>
                          <a:latin typeface="Arial"/>
                        </a:rPr>
                        <a:t>Trên 0</a:t>
                      </a:r>
                    </a:p>
                  </a:txBody>
                  <a:tcPr marL="50292" marR="50292" marT="32004" marB="32004" anchor="ctr">
                    <a:solidFill>
                      <a:srgbClr val="EDF2F7"/>
                    </a:solidFill>
                  </a:tcPr>
                </a:tc>
              </a:tr>
              <a:tr h="749808">
                <a:tc>
                  <a:txBody>
                    <a:bodyPr/>
                    <a:lstStyle/>
                    <a:p>
                      <a:pPr algn="ctr">
                        <a:lnSpc>
                          <a:spcPct val="100000"/>
                        </a:lnSpc>
                        <a:spcBef>
                          <a:spcPts val="0"/>
                        </a:spcBef>
                        <a:spcAft>
                          <a:spcPts val="0"/>
                        </a:spcAft>
                      </a:pPr>
                      <a:r>
                        <a:rPr sz="2000" b="0">
                          <a:solidFill>
                            <a:srgbClr val="123047"/>
                          </a:solidFill>
                          <a:latin typeface="Arial"/>
                        </a:rPr>
                        <a:t>C: SST vùng biển</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-0.003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[-0.043; +0.033]</a:t>
                      </a:r>
                    </a:p>
                  </a:txBody>
                  <a:tcPr marL="50292" marR="50292" marT="32004" marB="32004" anchor="ctr">
                    <a:solidFill>
                      <a:srgbClr val="FFFFFF"/>
                    </a:solidFill>
                  </a:tcPr>
                </a:tc>
                <a:tc>
                  <a:txBody>
                    <a:bodyPr/>
                    <a:lstStyle/>
                    <a:p>
                      <a:pPr algn="ctr">
                        <a:lnSpc>
                          <a:spcPct val="100000"/>
                        </a:lnSpc>
                        <a:spcBef>
                          <a:spcPts val="0"/>
                        </a:spcBef>
                        <a:spcAft>
                          <a:spcPts val="0"/>
                        </a:spcAft>
                      </a:pPr>
                      <a:r>
                        <a:rPr sz="2000" b="0">
                          <a:solidFill>
                            <a:srgbClr val="123047"/>
                          </a:solidFill>
                          <a:latin typeface="Arial"/>
                        </a:rPr>
                        <a:t>Chứa 0</a:t>
                      </a:r>
                    </a:p>
                  </a:txBody>
                  <a:tcPr marL="50292" marR="50292" marT="32004" marB="32004" anchor="ctr">
                    <a:solidFill>
                      <a:srgbClr val="FFFFFF"/>
                    </a:solidFill>
                  </a:tcPr>
                </a:tc>
              </a:tr>
            </a:tbl>
          </a:graphicData>
        </a:graphic>
      </p:graphicFrame>
      <p:sp>
        <p:nvSpPr>
          <p:cNvPr id="7" name="TextBox 6"/>
          <p:cNvSpPr txBox="1"/>
          <p:nvPr/>
        </p:nvSpPr>
        <p:spPr>
          <a:xfrm>
            <a:off x="685800" y="4681728"/>
            <a:ext cx="10835640" cy="8686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Khoảng hoàn toàn trên 0: có tín hiệu cải thiện trong phép thử này.</a:t>
            </a:r>
          </a:p>
          <a:p>
            <a:pPr algn="l">
              <a:lnSpc>
                <a:spcPct val="112000"/>
              </a:lnSpc>
              <a:spcBef>
                <a:spcPts val="0"/>
              </a:spcBef>
              <a:spcAft>
                <a:spcPts val="0"/>
              </a:spcAft>
            </a:pPr>
            <a:r>
              <a:rPr sz="2200" b="0">
                <a:solidFill>
                  <a:srgbClr val="123047"/>
                </a:solidFill>
                <a:latin typeface="Arial"/>
              </a:rPr>
              <a:t>Khoảng chứa 0: chưa phân biệt chắc có lợi hay không.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29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Khả thi về tính toán; còn cổng dữ liệu và kiểm định</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sp>
        <p:nvSpPr>
          <p:cNvPr id="6" name="Rectangle 5"/>
          <p:cNvSpPr/>
          <p:nvPr/>
        </p:nvSpPr>
        <p:spPr>
          <a:xfrm>
            <a:off x="594360" y="1508760"/>
            <a:ext cx="548640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36776"/>
            <a:ext cx="517550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Đã có bằng chứng</a:t>
            </a:r>
          </a:p>
        </p:txBody>
      </p:sp>
      <p:sp>
        <p:nvSpPr>
          <p:cNvPr id="8" name="TextBox 7"/>
          <p:cNvSpPr txBox="1"/>
          <p:nvPr/>
        </p:nvSpPr>
        <p:spPr>
          <a:xfrm>
            <a:off x="749808" y="2304288"/>
            <a:ext cx="517550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Đủ E0–E7; 96 lượt tái lập</a:t>
            </a:r>
          </a:p>
          <a:p>
            <a:pPr algn="l">
              <a:lnSpc>
                <a:spcPct val="112000"/>
              </a:lnSpc>
              <a:spcBef>
                <a:spcPts val="0"/>
              </a:spcBef>
              <a:spcAft>
                <a:spcPts val="0"/>
              </a:spcAft>
            </a:pPr>
            <a:r>
              <a:rPr sz="2200" b="0">
                <a:solidFill>
                  <a:srgbClr val="123047"/>
                </a:solidFill>
                <a:latin typeface="Arial"/>
              </a:rPr>
              <a:t>Tiến trình ma trận ≈28 phút</a:t>
            </a:r>
          </a:p>
          <a:p>
            <a:pPr algn="l">
              <a:lnSpc>
                <a:spcPct val="112000"/>
              </a:lnSpc>
              <a:spcBef>
                <a:spcPts val="0"/>
              </a:spcBef>
              <a:spcAft>
                <a:spcPts val="0"/>
              </a:spcAft>
            </a:pPr>
            <a:r>
              <a:rPr sz="2200" b="0">
                <a:solidFill>
                  <a:srgbClr val="123047"/>
                </a:solidFill>
                <a:latin typeface="Arial"/>
              </a:rPr>
              <a:t>Tín hiệu ngày 1 với A/M</a:t>
            </a:r>
          </a:p>
          <a:p>
            <a:pPr algn="l">
              <a:lnSpc>
                <a:spcPct val="112000"/>
              </a:lnSpc>
              <a:spcBef>
                <a:spcPts val="0"/>
              </a:spcBef>
              <a:spcAft>
                <a:spcPts val="0"/>
              </a:spcAft>
            </a:pPr>
            <a:r>
              <a:rPr sz="2200" b="0">
                <a:solidFill>
                  <a:srgbClr val="123047"/>
                </a:solidFill>
                <a:latin typeface="Arial"/>
              </a:rPr>
              <a:t>Có đối chứng và kết quả âm</a:t>
            </a:r>
          </a:p>
        </p:txBody>
      </p:sp>
      <p:sp>
        <p:nvSpPr>
          <p:cNvPr id="9" name="Rectangle 8"/>
          <p:cNvSpPr/>
          <p:nvPr/>
        </p:nvSpPr>
        <p:spPr>
          <a:xfrm>
            <a:off x="6291072" y="1508760"/>
            <a:ext cx="5303520" cy="3611880"/>
          </a:xfrm>
          <a:prstGeom prst="rect">
            <a:avLst/>
          </a:prstGeom>
          <a:solidFill>
            <a:srgbClr val="E9F3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636776"/>
            <a:ext cx="4992624" cy="502920"/>
          </a:xfrm>
          <a:prstGeom prst="rect">
            <a:avLst/>
          </a:prstGeom>
          <a:noFill/>
        </p:spPr>
        <p:txBody>
          <a:bodyPr wrap="square" lIns="0" rIns="0" tIns="0" bIns="0" anchor="t">
            <a:spAutoFit/>
          </a:bodyPr>
          <a:lstStyle/>
          <a:p>
            <a:pPr algn="l">
              <a:lnSpc>
                <a:spcPct val="112000"/>
              </a:lnSpc>
              <a:spcBef>
                <a:spcPts val="0"/>
              </a:spcBef>
              <a:spcAft>
                <a:spcPts val="0"/>
              </a:spcAft>
            </a:pPr>
            <a:r>
              <a:rPr sz="2200" b="1">
                <a:solidFill>
                  <a:srgbClr val="087E8B"/>
                </a:solidFill>
                <a:latin typeface="Arial"/>
              </a:rPr>
              <a:t>Việc tiếp theo</a:t>
            </a:r>
          </a:p>
        </p:txBody>
      </p:sp>
      <p:sp>
        <p:nvSpPr>
          <p:cNvPr id="11" name="TextBox 10"/>
          <p:cNvSpPr txBox="1"/>
          <p:nvPr/>
        </p:nvSpPr>
        <p:spPr>
          <a:xfrm>
            <a:off x="6446520" y="2304288"/>
            <a:ext cx="4992624" cy="2697480"/>
          </a:xfrm>
          <a:prstGeom prst="rect">
            <a:avLst/>
          </a:prstGeom>
          <a:noFill/>
        </p:spPr>
        <p:txBody>
          <a:bodyPr wrap="square" lIns="0" rIns="0" tIns="0" bIns="0" anchor="t">
            <a:spAutoFit/>
          </a:bodyPr>
          <a:lstStyle/>
          <a:p>
            <a:pPr algn="l">
              <a:lnSpc>
                <a:spcPct val="112000"/>
              </a:lnSpc>
              <a:spcBef>
                <a:spcPts val="0"/>
              </a:spcBef>
              <a:spcAft>
                <a:spcPts val="0"/>
              </a:spcAft>
            </a:pPr>
            <a:r>
              <a:rPr sz="2200" b="0">
                <a:solidFill>
                  <a:srgbClr val="123047"/>
                </a:solidFill>
                <a:latin typeface="Arial"/>
              </a:rPr>
              <a:t>Chốt ranh/trọng số vùng</a:t>
            </a:r>
          </a:p>
          <a:p>
            <a:pPr algn="l">
              <a:lnSpc>
                <a:spcPct val="112000"/>
              </a:lnSpc>
              <a:spcBef>
                <a:spcPts val="0"/>
              </a:spcBef>
              <a:spcAft>
                <a:spcPts val="0"/>
              </a:spcAft>
            </a:pPr>
            <a:r>
              <a:rPr sz="2200" b="0">
                <a:solidFill>
                  <a:srgbClr val="123047"/>
                </a:solidFill>
                <a:latin typeface="Arial"/>
              </a:rPr>
              <a:t>Kiểm chứng nhãn và biến</a:t>
            </a:r>
          </a:p>
          <a:p>
            <a:pPr algn="l">
              <a:lnSpc>
                <a:spcPct val="112000"/>
              </a:lnSpc>
              <a:spcBef>
                <a:spcPts val="0"/>
              </a:spcBef>
              <a:spcAft>
                <a:spcPts val="0"/>
              </a:spcAft>
            </a:pPr>
            <a:r>
              <a:rPr sz="2200" b="0">
                <a:solidFill>
                  <a:srgbClr val="123047"/>
                </a:solidFill>
                <a:latin typeface="Arial"/>
              </a:rPr>
              <a:t>Khóa mục tiêu/metrics/ngưỡng</a:t>
            </a:r>
          </a:p>
          <a:p>
            <a:pPr algn="l">
              <a:lnSpc>
                <a:spcPct val="112000"/>
              </a:lnSpc>
              <a:spcBef>
                <a:spcPts val="0"/>
              </a:spcBef>
              <a:spcAft>
                <a:spcPts val="0"/>
              </a:spcAft>
            </a:pPr>
            <a:r>
              <a:rPr sz="2200" b="0">
                <a:solidFill>
                  <a:srgbClr val="123047"/>
                </a:solidFill>
                <a:latin typeface="Arial"/>
              </a:rPr>
              <a:t>Sau đó mới chấm năm 2025</a:t>
            </a:r>
          </a:p>
        </p:txBody>
      </p:sp>
      <p:sp>
        <p:nvSpPr>
          <p:cNvPr id="12" name="Rectangle 11"/>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AD3434"/>
                </a:solidFill>
                <a:latin typeface="Arial"/>
              </a:rPr>
              <a:t>Kết quả phát triển ≠ đã bảo đảm vận hành hoặc dự đoán tốt mọi ngày tới 72 giờ.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NỘI DUNG CHÍNH</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Thông điệp có thể dùng khi báo cáo giảng viên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PBL6 • Đánh giá 2021–2023 • Vùng 93 ô xấp xỉ • Test 2025 giữ kín</a:t>
            </a:r>
          </a:p>
        </p:txBody>
      </p:sp>
      <p:sp>
        <p:nvSpPr>
          <p:cNvPr id="6" name="TextBox 5"/>
          <p:cNvSpPr txBox="1"/>
          <p:nvPr/>
        </p:nvSpPr>
        <p:spPr>
          <a:xfrm>
            <a:off x="685800" y="1554480"/>
            <a:ext cx="10835640" cy="3611880"/>
          </a:xfrm>
          <a:prstGeom prst="rect">
            <a:avLst/>
          </a:prstGeom>
          <a:noFill/>
        </p:spPr>
        <p:txBody>
          <a:bodyPr wrap="square" lIns="0" rIns="0" tIns="0" bIns="0" anchor="t">
            <a:spAutoFit/>
          </a:bodyPr>
          <a:lstStyle/>
          <a:p>
            <a:pPr algn="l">
              <a:lnSpc>
                <a:spcPct val="112000"/>
              </a:lnSpc>
              <a:spcBef>
                <a:spcPts val="0"/>
              </a:spcBef>
              <a:spcAft>
                <a:spcPts val="0"/>
              </a:spcAft>
            </a:pPr>
            <a:r>
              <a:rPr sz="2500" b="0">
                <a:solidFill>
                  <a:srgbClr val="123047"/>
                </a:solidFill>
                <a:latin typeface="Arial"/>
              </a:rPr>
              <a:t>1. LightGBM có cơ sở nghiên cứu mưa và là đối chứng đã huấn luyện.</a:t>
            </a:r>
          </a:p>
          <a:p>
            <a:pPr algn="l">
              <a:lnSpc>
                <a:spcPct val="112000"/>
              </a:lnSpc>
              <a:spcBef>
                <a:spcPts val="0"/>
              </a:spcBef>
              <a:spcAft>
                <a:spcPts val="0"/>
              </a:spcAft>
            </a:pPr>
          </a:p>
          <a:p>
            <a:pPr algn="l">
              <a:lnSpc>
                <a:spcPct val="112000"/>
              </a:lnSpc>
              <a:spcBef>
                <a:spcPts val="0"/>
              </a:spcBef>
              <a:spcAft>
                <a:spcPts val="0"/>
              </a:spcAft>
            </a:pPr>
            <a:r>
              <a:rPr sz="2500" b="0">
                <a:solidFill>
                  <a:srgbClr val="123047"/>
                </a:solidFill>
                <a:latin typeface="Arial"/>
              </a:rPr>
              <a:t>2. POD/FAR cần thiết, nhưng phải đi cùng CSI, BSS và sai số lượng mm.</a:t>
            </a:r>
          </a:p>
          <a:p>
            <a:pPr algn="l">
              <a:lnSpc>
                <a:spcPct val="112000"/>
              </a:lnSpc>
              <a:spcBef>
                <a:spcPts val="0"/>
              </a:spcBef>
              <a:spcAft>
                <a:spcPts val="0"/>
              </a:spcAft>
            </a:pPr>
          </a:p>
          <a:p>
            <a:pPr algn="l">
              <a:lnSpc>
                <a:spcPct val="112000"/>
              </a:lnSpc>
              <a:spcBef>
                <a:spcPts val="0"/>
              </a:spcBef>
              <a:spcAft>
                <a:spcPts val="0"/>
              </a:spcAft>
            </a:pPr>
            <a:r>
              <a:rPr sz="2500" b="0">
                <a:solidFill>
                  <a:srgbClr val="123047"/>
                </a:solidFill>
                <a:latin typeface="Arial"/>
              </a:rPr>
              <a:t>3. A/M có tín hiệu ngày 1; ngày 3 hiện chưa vượt khí hậu tham chiếu.</a:t>
            </a:r>
          </a:p>
        </p:txBody>
      </p:sp>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2000" b="1">
                <a:solidFill>
                  <a:srgbClr val="087E8B"/>
                </a:solidFill>
                <a:latin typeface="Arial"/>
              </a:rPr>
              <a:t>Phụ lục tiếp theo: đủ 48 dòng kết quả, 44 biến và nguồn sơ cấp.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ĐỐI CHIẾU NHÁNH DEV</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Nhánh dev có POD/FAR; có thực sự chọn model bằng nó?</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Read-only origin/dev fe27756 • LOCAL.py + Tweedie COLAB.ipynb • Chi tiết: dev_metrics_audit.json</a:t>
            </a:r>
          </a:p>
        </p:txBody>
      </p:sp>
      <p:graphicFrame>
        <p:nvGraphicFramePr>
          <p:cNvPr id="6" name="Table 5"/>
          <p:cNvGraphicFramePr>
            <a:graphicFrameLocks noGrp="1"/>
          </p:cNvGraphicFramePr>
          <p:nvPr/>
        </p:nvGraphicFramePr>
        <p:xfrm>
          <a:off x="502920" y="1508760"/>
          <a:ext cx="11201400" cy="3566160"/>
        </p:xfrm>
        <a:graphic>
          <a:graphicData uri="http://schemas.openxmlformats.org/drawingml/2006/table">
            <a:tbl>
              <a:tblPr firstRow="1" bandRow="1">
                <a:tableStyleId>{5C22544A-7EE6-4342-B048-85BDC9FD1C3A}</a:tableStyleId>
              </a:tblPr>
              <a:tblGrid>
                <a:gridCol w="2286000"/>
                <a:gridCol w="4480560"/>
                <a:gridCol w="4434840"/>
              </a:tblGrid>
              <a:tr h="713232">
                <a:tc>
                  <a:txBody>
                    <a:bodyPr/>
                    <a:lstStyle/>
                    <a:p>
                      <a:pPr algn="ctr">
                        <a:lnSpc>
                          <a:spcPct val="100000"/>
                        </a:lnSpc>
                        <a:spcBef>
                          <a:spcPts val="0"/>
                        </a:spcBef>
                        <a:spcAft>
                          <a:spcPts val="0"/>
                        </a:spcAft>
                      </a:pPr>
                      <a:r>
                        <a:rPr sz="1850" b="1">
                          <a:solidFill>
                            <a:srgbClr val="FFFFFF"/>
                          </a:solidFill>
                          <a:latin typeface="Arial"/>
                        </a:rPr>
                        <a:t>Nội dung</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Dev đã rà soát</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TFT vùng hiện tại</a:t>
                      </a:r>
                    </a:p>
                  </a:txBody>
                  <a:tcPr marL="50292" marR="50292" marT="32004" marB="32004" anchor="ctr">
                    <a:solidFill>
                      <a:srgbClr val="123047"/>
                    </a:solidFill>
                  </a:tcPr>
                </a:tc>
              </a:tr>
              <a:tr h="713232">
                <a:tc>
                  <a:txBody>
                    <a:bodyPr/>
                    <a:lstStyle/>
                    <a:p>
                      <a:pPr algn="ctr">
                        <a:lnSpc>
                          <a:spcPct val="100000"/>
                        </a:lnSpc>
                        <a:spcBef>
                          <a:spcPts val="0"/>
                        </a:spcBef>
                        <a:spcAft>
                          <a:spcPts val="0"/>
                        </a:spcAft>
                      </a:pPr>
                      <a:r>
                        <a:rPr sz="1850" b="0">
                          <a:solidFill>
                            <a:srgbClr val="123047"/>
                          </a:solidFill>
                          <a:latin typeface="Arial"/>
                        </a:rPr>
                        <a:t>Nhãn</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precipitation, full_features cũ</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GSMaP Gauge, vùng 93 ô</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Sự kiện</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6h / max giờ; nhiều ngưỡng</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Tổng 24h vùng; 16/50/100 mm</a:t>
                      </a:r>
                    </a:p>
                  </a:txBody>
                  <a:tcPr marL="50292" marR="50292" marT="32004" marB="32004" anchor="ctr">
                    <a:solidFill>
                      <a:srgbClr val="EDF2F7"/>
                    </a:solidFill>
                  </a:tcPr>
                </a:tc>
              </a:tr>
              <a:tr h="713232">
                <a:tc>
                  <a:txBody>
                    <a:bodyPr/>
                    <a:lstStyle/>
                    <a:p>
                      <a:pPr algn="ctr">
                        <a:lnSpc>
                          <a:spcPct val="100000"/>
                        </a:lnSpc>
                        <a:spcBef>
                          <a:spcPts val="0"/>
                        </a:spcBef>
                        <a:spcAft>
                          <a:spcPts val="0"/>
                        </a:spcAft>
                      </a:pPr>
                      <a:r>
                        <a:rPr sz="1850" b="0">
                          <a:solidFill>
                            <a:srgbClr val="123047"/>
                          </a:solidFill>
                          <a:latin typeface="Arial"/>
                        </a:rPr>
                        <a:t>Quyết định</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Nhiều cột từ lượng mm ≥ q</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Bảng chính: xác suất p ≥ τ cal</a:t>
                      </a:r>
                    </a:p>
                  </a:txBody>
                  <a:tcPr marL="50292" marR="50292" marT="32004" marB="32004" anchor="ctr">
                    <a:solidFill>
                      <a:srgbClr val="FFFFFF"/>
                    </a:solidFill>
                  </a:tcPr>
                </a:tc>
              </a:tr>
              <a:tr h="713232">
                <a:tc>
                  <a:txBody>
                    <a:bodyPr/>
                    <a:lstStyle/>
                    <a:p>
                      <a:pPr algn="ctr">
                        <a:lnSpc>
                          <a:spcPct val="100000"/>
                        </a:lnSpc>
                        <a:spcBef>
                          <a:spcPts val="0"/>
                        </a:spcBef>
                        <a:spcAft>
                          <a:spcPts val="0"/>
                        </a:spcAft>
                      </a:pPr>
                      <a:r>
                        <a:rPr sz="1850" b="0">
                          <a:solidFill>
                            <a:srgbClr val="123047"/>
                          </a:solidFill>
                          <a:latin typeface="Arial"/>
                        </a:rPr>
                        <a:t>Chọn epoch</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RMSE phần tử đầu ra giờ</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Brier calibration, 3 ngày</a:t>
                      </a:r>
                    </a:p>
                  </a:txBody>
                  <a:tcPr marL="50292" marR="50292" marT="32004" marB="32004" anchor="ctr">
                    <a:solidFill>
                      <a:srgbClr val="EDF2F7"/>
                    </a:solidFill>
                  </a:tcPr>
                </a:tc>
              </a:tr>
            </a:tbl>
          </a:graphicData>
        </a:graphic>
      </p:graphicFrame>
      <p:sp>
        <p:nvSpPr>
          <p:cNvPr id="7" name="Rectangle 6"/>
          <p:cNvSpPr/>
          <p:nvPr/>
        </p:nvSpPr>
        <p:spPr>
          <a:xfrm>
            <a:off x="502920" y="5596128"/>
            <a:ext cx="11201400" cy="54864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87568"/>
            <a:ext cx="10927080" cy="43891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rPr>
              <a:t>Cùng công thức POD/FAR chưa đủ để so điểm: phải cùng nhãn, khoảng giờ và quy tắc.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TFT · trung bình dự đoán 3 seed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20.720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7.090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-2.484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0.135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0.357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0.511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20.531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6.737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-2.819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0.395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0.493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20.341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6.610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-2.807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0.403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0.640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0.479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20.737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7.015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-2.802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0.133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0.344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0.579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0.542</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20.438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6.728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-2.516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0.237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0.426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0.632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20.578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6.767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-2.944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0.171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0.364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0.596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0.518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20.269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6.575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-2.879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0.423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0.553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0.357</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20.361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6.695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-2.710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0.406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0.475</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33</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1 · LightGBM xác định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19.379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6.474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-2.407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0.515</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18.205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5.963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-2.086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0.264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0.422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0.447</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17.701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5.746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0.283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0.396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0.465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0.274</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19.040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6.327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-2.294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0.175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0.314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0.448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17.775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5.758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-2.111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0.315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0.426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0.553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0.351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18.012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5.940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-2.010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0.413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0.468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17.706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5.795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-1.976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0.306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0.409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0.570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0.409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17.706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5.731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-2.003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0.303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0.411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0.348</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34</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TFT · trung bình dự đoán 3 seed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21.149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7.710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0.018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0.252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0.491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0.659</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21.087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7.476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-2.349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0.041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0.439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0.648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21.044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7.409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-2.351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0.047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0.583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21.151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7.487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-2.445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0.027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0.673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21.125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7.648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-1.980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0.023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0.257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0.611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21.089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-2.400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0.660</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20.958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7.354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-2.455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0.054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0.246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0.368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0.576</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21.018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7.566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-2.105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0.257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0.509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0.659</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35</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2 · LightGBM xác định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21.204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7.415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-2.701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-0.015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0.243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0.535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0.692</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21.374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7.502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-2.726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0.218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0.404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0.678</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20.579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7.093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-2.633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0.060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0.276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0.573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21.152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7.473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-2.553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0.247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0.665</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20.758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7.169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-2.661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0.046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0.295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0.500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0.581</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21.351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7.509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-2.651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0.252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0.491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0.659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20.631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7.130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-2.592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0.056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0.251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0.421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0.616</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20.756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7.238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-2.551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0.043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0.277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0.587</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36</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TFT · trung bình dự đoán 3 seed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21.292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8.130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-1.612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-0.034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0.197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0.725</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21.287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7.947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-1.935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0.231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0.544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0.713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21.344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7.985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-1.797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0.206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0.412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0.708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21.270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7.849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-0.026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0.206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0.474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0.733</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21.383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8.188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-1.459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-0.029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0.221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0.509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0.718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21.246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7.996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-1.838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-0.028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0.196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0.456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0.744</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21.237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7.926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-1.886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AD3434"/>
                          </a:solidFill>
                          <a:latin typeface="Arial"/>
                        </a:rPr>
                        <a:t>-0.016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0.227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0.491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0.704</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21.321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8.104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-1.565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-0.038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0.201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0.412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0.719</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BẢNG KẾT QUẢ ĐẦY ĐỦ</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37</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Ngày 3 · LightGBM xác định · đủ E0–E7</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scores_ensemble_pooled.csv • Ngưỡng 16 mm/24h • Đánh giá 2021–2023; chưa chấm 2025</a:t>
            </a:r>
          </a:p>
        </p:txBody>
      </p:sp>
      <p:graphicFrame>
        <p:nvGraphicFramePr>
          <p:cNvPr id="6" name="Table 5"/>
          <p:cNvGraphicFramePr>
            <a:graphicFrameLocks noGrp="1"/>
          </p:cNvGraphicFramePr>
          <p:nvPr/>
        </p:nvGraphicFramePr>
        <p:xfrm>
          <a:off x="502920" y="1508760"/>
          <a:ext cx="11201400" cy="3950208"/>
        </p:xfrm>
        <a:graphic>
          <a:graphicData uri="http://schemas.openxmlformats.org/drawingml/2006/table">
            <a:tbl>
              <a:tblPr firstRow="1" bandRow="1">
                <a:tableStyleId>{5C22544A-7EE6-4342-B048-85BDC9FD1C3A}</a:tableStyleId>
              </a:tblPr>
              <a:tblGrid>
                <a:gridCol w="576072"/>
                <a:gridCol w="1517904"/>
                <a:gridCol w="1517904"/>
                <a:gridCol w="1517904"/>
                <a:gridCol w="1517904"/>
                <a:gridCol w="1517904"/>
                <a:gridCol w="1517904"/>
                <a:gridCol w="1517904"/>
              </a:tblGrid>
              <a:tr h="438912">
                <a:tc>
                  <a:txBody>
                    <a:bodyPr/>
                    <a:lstStyle/>
                    <a:p>
                      <a:pPr algn="ctr">
                        <a:lnSpc>
                          <a:spcPct val="100000"/>
                        </a:lnSpc>
                        <a:spcBef>
                          <a:spcPts val="0"/>
                        </a:spcBef>
                        <a:spcAft>
                          <a:spcPts val="0"/>
                        </a:spcAft>
                      </a:pPr>
                      <a:r>
                        <a:rPr sz="1850" b="1">
                          <a:solidFill>
                            <a:srgbClr val="FFFFFF"/>
                          </a:solidFill>
                          <a:latin typeface="Arial"/>
                        </a:rPr>
                        <a:t>E</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RMSE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MAE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Bias ≈0</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BSS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CSI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POD ↑</a:t>
                      </a:r>
                    </a:p>
                  </a:txBody>
                  <a:tcPr marL="50292" marR="50292" marT="32004" marB="32004" anchor="ctr">
                    <a:solidFill>
                      <a:srgbClr val="123047"/>
                    </a:solidFill>
                  </a:tcPr>
                </a:tc>
                <a:tc>
                  <a:txBody>
                    <a:bodyPr/>
                    <a:lstStyle/>
                    <a:p>
                      <a:pPr algn="ctr">
                        <a:lnSpc>
                          <a:spcPct val="100000"/>
                        </a:lnSpc>
                        <a:spcBef>
                          <a:spcPts val="0"/>
                        </a:spcBef>
                        <a:spcAft>
                          <a:spcPts val="0"/>
                        </a:spcAft>
                      </a:pPr>
                      <a:r>
                        <a:rPr sz="1850" b="1">
                          <a:solidFill>
                            <a:srgbClr val="FFFFFF"/>
                          </a:solidFill>
                          <a:latin typeface="Arial"/>
                        </a:rPr>
                        <a:t>FAR ↓</a:t>
                      </a:r>
                    </a:p>
                  </a:txBody>
                  <a:tcPr marL="50292" marR="50292" marT="32004" marB="32004" anchor="ctr">
                    <a:solidFill>
                      <a:srgbClr val="123047"/>
                    </a:solidFill>
                  </a:tcPr>
                </a:tc>
              </a:tr>
              <a:tr h="438912">
                <a:tc>
                  <a:txBody>
                    <a:bodyPr/>
                    <a:lstStyle/>
                    <a:p>
                      <a:pPr algn="ctr">
                        <a:lnSpc>
                          <a:spcPct val="100000"/>
                        </a:lnSpc>
                        <a:spcBef>
                          <a:spcPts val="0"/>
                        </a:spcBef>
                        <a:spcAft>
                          <a:spcPts val="0"/>
                        </a:spcAft>
                      </a:pPr>
                      <a:r>
                        <a:rPr sz="1850" b="0">
                          <a:solidFill>
                            <a:srgbClr val="123047"/>
                          </a:solidFill>
                          <a:latin typeface="Arial"/>
                        </a:rPr>
                        <a:t>E0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1">
                          <a:solidFill>
                            <a:srgbClr val="087E8B"/>
                          </a:solidFill>
                          <a:latin typeface="Arial"/>
                        </a:rPr>
                        <a:t>21.637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7.658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-2.780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-0.053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0.173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0.430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0.775</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21.734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7.724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-2.822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-0.071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0.241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0.518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0.689</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21.759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7.780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-2.819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0.205</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0.737</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21.724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7.742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-2.719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AD3434"/>
                          </a:solidFill>
                          <a:latin typeface="Arial"/>
                        </a:rPr>
                        <a:t>-0.037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0.184</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0.377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0.736</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21.642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7.689</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-2.832</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-0.061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0.211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0.518</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0.738</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21.779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7.649</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-2.920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-0.063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0.231</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1">
                          <a:solidFill>
                            <a:srgbClr val="087E8B"/>
                          </a:solidFill>
                          <a:latin typeface="Arial"/>
                        </a:rPr>
                        <a:t>0.588</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0.724</a:t>
                      </a:r>
                    </a:p>
                  </a:txBody>
                  <a:tcPr marL="50292" marR="50292" marT="32004" marB="32004" anchor="ctr">
                    <a:solidFill>
                      <a:srgbClr val="EDF2F7"/>
                    </a:solidFill>
                  </a:tcPr>
                </a:tc>
              </a:tr>
              <a:tr h="438912">
                <a:tc>
                  <a:txBody>
                    <a:bodyPr/>
                    <a:lstStyle/>
                    <a:p>
                      <a:pPr algn="ctr">
                        <a:lnSpc>
                          <a:spcPct val="100000"/>
                        </a:lnSpc>
                        <a:spcBef>
                          <a:spcPts val="0"/>
                        </a:spcBef>
                        <a:spcAft>
                          <a:spcPts val="0"/>
                        </a:spcAft>
                      </a:pPr>
                      <a:r>
                        <a:rPr sz="1850" b="0">
                          <a:solidFill>
                            <a:srgbClr val="123047"/>
                          </a:solidFill>
                          <a:latin typeface="Arial"/>
                        </a:rPr>
                        <a:t>E6</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21.807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7.733</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-2.847</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AD3434"/>
                          </a:solidFill>
                          <a:latin typeface="Arial"/>
                        </a:rPr>
                        <a:t>-0.050</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0.231</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0.544</a:t>
                      </a:r>
                    </a:p>
                  </a:txBody>
                  <a:tcPr marL="50292" marR="50292" marT="32004" marB="32004" anchor="ctr">
                    <a:solidFill>
                      <a:srgbClr val="FFFFFF"/>
                    </a:solidFill>
                  </a:tcPr>
                </a:tc>
                <a:tc>
                  <a:txBody>
                    <a:bodyPr/>
                    <a:lstStyle/>
                    <a:p>
                      <a:pPr algn="ctr">
                        <a:lnSpc>
                          <a:spcPct val="100000"/>
                        </a:lnSpc>
                        <a:spcBef>
                          <a:spcPts val="0"/>
                        </a:spcBef>
                        <a:spcAft>
                          <a:spcPts val="0"/>
                        </a:spcAft>
                      </a:pPr>
                      <a:r>
                        <a:rPr sz="1850" b="0">
                          <a:solidFill>
                            <a:srgbClr val="123047"/>
                          </a:solidFill>
                          <a:latin typeface="Arial"/>
                        </a:rPr>
                        <a:t>0.713</a:t>
                      </a:r>
                    </a:p>
                  </a:txBody>
                  <a:tcPr marL="50292" marR="50292" marT="32004" marB="32004" anchor="ctr">
                    <a:solidFill>
                      <a:srgbClr val="FFFFFF"/>
                    </a:solidFill>
                  </a:tcPr>
                </a:tc>
              </a:tr>
              <a:tr h="438912">
                <a:tc>
                  <a:txBody>
                    <a:bodyPr/>
                    <a:lstStyle/>
                    <a:p>
                      <a:pPr algn="ctr">
                        <a:lnSpc>
                          <a:spcPct val="100000"/>
                        </a:lnSpc>
                        <a:spcBef>
                          <a:spcPts val="0"/>
                        </a:spcBef>
                        <a:spcAft>
                          <a:spcPts val="0"/>
                        </a:spcAft>
                      </a:pPr>
                      <a:r>
                        <a:rPr sz="1850" b="0">
                          <a:solidFill>
                            <a:srgbClr val="123047"/>
                          </a:solidFill>
                          <a:latin typeface="Arial"/>
                        </a:rPr>
                        <a:t>E7</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21.742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7.666</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-2.900</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AD3434"/>
                          </a:solidFill>
                          <a:latin typeface="Arial"/>
                        </a:rPr>
                        <a:t>-0.075</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0.203</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0.482</a:t>
                      </a:r>
                    </a:p>
                  </a:txBody>
                  <a:tcPr marL="50292" marR="50292" marT="32004" marB="32004" anchor="ctr">
                    <a:solidFill>
                      <a:srgbClr val="EDF2F7"/>
                    </a:solidFill>
                  </a:tcPr>
                </a:tc>
                <a:tc>
                  <a:txBody>
                    <a:bodyPr/>
                    <a:lstStyle/>
                    <a:p>
                      <a:pPr algn="ctr">
                        <a:lnSpc>
                          <a:spcPct val="100000"/>
                        </a:lnSpc>
                        <a:spcBef>
                          <a:spcPts val="0"/>
                        </a:spcBef>
                        <a:spcAft>
                          <a:spcPts val="0"/>
                        </a:spcAft>
                      </a:pPr>
                      <a:r>
                        <a:rPr sz="1850" b="0">
                          <a:solidFill>
                            <a:srgbClr val="123047"/>
                          </a:solidFill>
                          <a:latin typeface="Arial"/>
                        </a:rPr>
                        <a:t>0.741</a:t>
                      </a:r>
                    </a:p>
                  </a:txBody>
                  <a:tcPr marL="50292" marR="50292" marT="32004" marB="32004" anchor="ctr">
                    <a:solidFill>
                      <a:srgbClr val="EDF2F7"/>
                    </a:solidFill>
                  </a:tcPr>
                </a:tc>
              </a:tr>
            </a:tbl>
          </a:graphicData>
        </a:graphic>
      </p:graphicFrame>
      <p:sp>
        <p:nvSpPr>
          <p:cNvPr id="7" name="Rectangle 6"/>
          <p:cNvSpPr/>
          <p:nvPr/>
        </p:nvSpPr>
        <p:spPr>
          <a:xfrm>
            <a:off x="502920" y="5641848"/>
            <a:ext cx="11201400" cy="484632"/>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733288"/>
            <a:ext cx="10927080" cy="374904"/>
          </a:xfrm>
          <a:prstGeom prst="rect">
            <a:avLst/>
          </a:prstGeom>
          <a:noFill/>
        </p:spPr>
        <p:txBody>
          <a:bodyPr wrap="square" lIns="0" rIns="0" tIns="0" bIns="0" anchor="t">
            <a:spAutoFit/>
          </a:bodyPr>
          <a:lstStyle/>
          <a:p>
            <a:pPr algn="l">
              <a:lnSpc>
                <a:spcPct val="112000"/>
              </a:lnSpc>
              <a:spcBef>
                <a:spcPts val="0"/>
              </a:spcBef>
              <a:spcAft>
                <a:spcPts val="0"/>
              </a:spcAft>
            </a:pPr>
            <a:r>
              <a:rPr sz="1660" b="1">
                <a:solidFill>
                  <a:srgbClr val="087E8B"/>
                </a:solidFill>
                <a:latin typeface="Arial"/>
              </a:rPr>
              <a:t>Đậm: tốt nhất trong cột ở số hiển thị, cùng đậm nếu bằng nhau; chưa là ý nghĩa thống kê.</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38</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B và A: 23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416052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t2m_c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td2m_c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rh2m_pct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mslp_hpa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u10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v10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sin_hour</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cos_hour</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sin_doy</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B</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cos_doy</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dimensionless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cape</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EDF2F7"/>
                    </a:solidFill>
                  </a:tcPr>
                </a:tc>
              </a:tr>
            </a:tbl>
          </a:graphicData>
        </a:graphic>
      </p:graphicFrame>
      <p:graphicFrame>
        <p:nvGraphicFramePr>
          <p:cNvPr id="7" name="Table 6"/>
          <p:cNvGraphicFramePr>
            <a:graphicFrameLocks noGrp="1"/>
          </p:cNvGraphicFramePr>
          <p:nvPr/>
        </p:nvGraphicFramePr>
        <p:xfrm>
          <a:off x="6217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cin_capped</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J/kg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has_lfc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tcwv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kx</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blh</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tcc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lcc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mcc</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hcc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0-1</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swvl1</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m³/m³</a:t>
                      </a:r>
                    </a:p>
                  </a:txBody>
                  <a:tcPr marL="50292" marR="50292" marT="32004" marB="32004" anchor="ctr">
                    <a:solidFill>
                      <a:srgbClr val="FFFFFF"/>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TRA CỨU ĐẶC TRƯNG</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39</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Danh mục M và C: 21 biến</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feature_catalog.csv • Có tên cột V1 và đơn vị trong Excel 18 sheet</a:t>
            </a:r>
          </a:p>
        </p:txBody>
      </p:sp>
      <p:graphicFrame>
        <p:nvGraphicFramePr>
          <p:cNvPr id="6" name="Table 5"/>
          <p:cNvGraphicFramePr>
            <a:graphicFrameLocks noGrp="1"/>
          </p:cNvGraphicFramePr>
          <p:nvPr/>
        </p:nvGraphicFramePr>
        <p:xfrm>
          <a:off x="502920" y="1463040"/>
          <a:ext cx="5486400" cy="384048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u850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v850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q850_gkg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t850_c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rh850_pct</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w850_pas</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u500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v500</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q500_gkg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g/kg</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t500_c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w500_pas</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Pa/s</a:t>
                      </a:r>
                    </a:p>
                  </a:txBody>
                  <a:tcPr marL="50292" marR="50292" marT="32004" marB="32004" anchor="ctr">
                    <a:solidFill>
                      <a:srgbClr val="FFFFFF"/>
                    </a:solidFill>
                  </a:tcPr>
                </a:tc>
              </a:tr>
            </a:tbl>
          </a:graphicData>
        </a:graphic>
      </p:graphicFrame>
      <p:graphicFrame>
        <p:nvGraphicFramePr>
          <p:cNvPr id="7" name="Table 6"/>
          <p:cNvGraphicFramePr>
            <a:graphicFrameLocks noGrp="1"/>
          </p:cNvGraphicFramePr>
          <p:nvPr/>
        </p:nvGraphicFramePr>
        <p:xfrm>
          <a:off x="6217920" y="1463040"/>
          <a:ext cx="5486400" cy="3520440"/>
        </p:xfrm>
        <a:graphic>
          <a:graphicData uri="http://schemas.openxmlformats.org/drawingml/2006/table">
            <a:tbl>
              <a:tblPr firstRow="1" bandRow="1">
                <a:tableStyleId>{5C22544A-7EE6-4342-B048-85BDC9FD1C3A}</a:tableStyleId>
              </a:tblPr>
              <a:tblGrid>
                <a:gridCol w="566928"/>
                <a:gridCol w="3611880"/>
                <a:gridCol w="1307592"/>
              </a:tblGrid>
              <a:tr h="320040">
                <a:tc>
                  <a:txBody>
                    <a:bodyPr/>
                    <a:lstStyle/>
                    <a:p>
                      <a:pPr algn="ctr">
                        <a:lnSpc>
                          <a:spcPct val="100000"/>
                        </a:lnSpc>
                        <a:spcBef>
                          <a:spcPts val="0"/>
                        </a:spcBef>
                        <a:spcAft>
                          <a:spcPts val="0"/>
                        </a:spcAft>
                      </a:pPr>
                      <a:r>
                        <a:rPr sz="1500" b="1">
                          <a:solidFill>
                            <a:srgbClr val="FFFFFF"/>
                          </a:solidFill>
                          <a:latin typeface="Arial"/>
                        </a:rPr>
                        <a:t>Nhóm</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Biến gốc</a:t>
                      </a:r>
                    </a:p>
                  </a:txBody>
                  <a:tcPr marL="50292" marR="50292" marT="32004" marB="32004" anchor="ctr">
                    <a:solidFill>
                      <a:srgbClr val="123047"/>
                    </a:solidFill>
                  </a:tcPr>
                </a:tc>
                <a:tc>
                  <a:txBody>
                    <a:bodyPr/>
                    <a:lstStyle/>
                    <a:p>
                      <a:pPr algn="ctr">
                        <a:lnSpc>
                          <a:spcPct val="100000"/>
                        </a:lnSpc>
                        <a:spcBef>
                          <a:spcPts val="0"/>
                        </a:spcBef>
                        <a:spcAft>
                          <a:spcPts val="0"/>
                        </a:spcAft>
                      </a:pPr>
                      <a:r>
                        <a:rPr sz="1500" b="1">
                          <a:solidFill>
                            <a:srgbClr val="FFFFFF"/>
                          </a:solidFill>
                          <a:latin typeface="Arial"/>
                        </a:rPr>
                        <a:t>Đơn vị</a:t>
                      </a:r>
                    </a:p>
                  </a:txBody>
                  <a:tcPr marL="50292" marR="50292" marT="32004" marB="32004" anchor="ctr">
                    <a:solidFill>
                      <a:srgbClr val="12304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shear_850_500</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ivt_u</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ivt_v</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ivt_mag</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vimd_mmh</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mm/h</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ctx_tcwv</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kg/m²</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ctx_ivt_mag</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kg/m/s</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cold_surge_dp_hpa</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EDF2F7"/>
                    </a:solidFill>
                  </a:tcPr>
                </a:tc>
              </a:tr>
              <a:tr h="320040">
                <a:tc>
                  <a:txBody>
                    <a:bodyPr/>
                    <a:lstStyle/>
                    <a:p>
                      <a:pPr algn="ctr">
                        <a:lnSpc>
                          <a:spcPct val="100000"/>
                        </a:lnSpc>
                        <a:spcBef>
                          <a:spcPts val="0"/>
                        </a:spcBef>
                        <a:spcAft>
                          <a:spcPts val="0"/>
                        </a:spcAft>
                      </a:pPr>
                      <a:r>
                        <a:rPr sz="1500" b="0">
                          <a:solidFill>
                            <a:srgbClr val="123047"/>
                          </a:solidFill>
                          <a:latin typeface="Arial"/>
                        </a:rPr>
                        <a:t>M</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dp_tonkin_south_hpa</a:t>
                      </a:r>
                    </a:p>
                  </a:txBody>
                  <a:tcPr marL="50292" marR="50292" marT="32004" marB="32004" anchor="ctr">
                    <a:solidFill>
                      <a:srgbClr val="FFFFFF"/>
                    </a:solidFill>
                  </a:tcPr>
                </a:tc>
                <a:tc>
                  <a:txBody>
                    <a:bodyPr/>
                    <a:lstStyle/>
                    <a:p>
                      <a:pPr algn="ctr">
                        <a:lnSpc>
                          <a:spcPct val="100000"/>
                        </a:lnSpc>
                        <a:spcBef>
                          <a:spcPts val="0"/>
                        </a:spcBef>
                        <a:spcAft>
                          <a:spcPts val="0"/>
                        </a:spcAft>
                      </a:pPr>
                      <a:r>
                        <a:rPr sz="1500" b="0">
                          <a:solidFill>
                            <a:srgbClr val="123047"/>
                          </a:solidFill>
                          <a:latin typeface="Arial"/>
                        </a:rPr>
                        <a:t>hPa</a:t>
                      </a:r>
                    </a:p>
                  </a:txBody>
                  <a:tcPr marL="50292" marR="50292" marT="32004" marB="32004" anchor="ctr">
                    <a:solidFill>
                      <a:srgbClr val="FFFFFF"/>
                    </a:solidFill>
                  </a:tcPr>
                </a:tc>
              </a:tr>
              <a:tr h="320040">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sst_region_c</a:t>
                      </a:r>
                    </a:p>
                  </a:txBody>
                  <a:tcPr marL="50292" marR="50292" marT="32004" marB="32004" anchor="ctr">
                    <a:solidFill>
                      <a:srgbClr val="EDF2F7"/>
                    </a:solidFill>
                  </a:tcPr>
                </a:tc>
                <a:tc>
                  <a:txBody>
                    <a:bodyPr/>
                    <a:lstStyle/>
                    <a:p>
                      <a:pPr algn="ctr">
                        <a:lnSpc>
                          <a:spcPct val="100000"/>
                        </a:lnSpc>
                        <a:spcBef>
                          <a:spcPts val="0"/>
                        </a:spcBef>
                        <a:spcAft>
                          <a:spcPts val="0"/>
                        </a:spcAft>
                      </a:pPr>
                      <a:r>
                        <a:rPr sz="1500" b="0">
                          <a:solidFill>
                            <a:srgbClr val="123047"/>
                          </a:solidFill>
                          <a:latin typeface="Arial"/>
                        </a:rPr>
                        <a:t>°C</a:t>
                      </a:r>
                    </a:p>
                  </a:txBody>
                  <a:tcPr marL="50292" marR="50292" marT="32004" marB="32004" anchor="ctr">
                    <a:solidFill>
                      <a:srgbClr val="EDF2F7"/>
                    </a:solidFill>
                  </a:tcPr>
                </a:tc>
              </a:tr>
            </a:tbl>
          </a:graphicData>
        </a:graphic>
      </p:graphicFrame>
      <p:sp>
        <p:nvSpPr>
          <p:cNvPr id="8" name="Rectangle 7"/>
          <p:cNvSpPr/>
          <p:nvPr/>
        </p:nvSpPr>
        <p:spPr>
          <a:xfrm>
            <a:off x="502920" y="5779008"/>
            <a:ext cx="11201400" cy="365760"/>
          </a:xfrm>
          <a:prstGeom prst="rect">
            <a:avLst/>
          </a:prstGeom>
          <a:solidFill>
            <a:srgbClr val="EA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870448"/>
            <a:ext cx="10927080" cy="256032"/>
          </a:xfrm>
          <a:prstGeom prst="rect">
            <a:avLst/>
          </a:prstGeom>
          <a:noFill/>
        </p:spPr>
        <p:txBody>
          <a:bodyPr wrap="square" lIns="0" rIns="0" tIns="0" bIns="0" anchor="t">
            <a:spAutoFit/>
          </a:bodyPr>
          <a:lstStyle/>
          <a:p>
            <a:pPr algn="l">
              <a:lnSpc>
                <a:spcPct val="112000"/>
              </a:lnSpc>
              <a:spcBef>
                <a:spcPts val="0"/>
              </a:spcBef>
              <a:spcAft>
                <a:spcPts val="0"/>
              </a:spcAft>
            </a:pPr>
            <a:r>
              <a:rPr sz="1400" b="1">
                <a:solidFill>
                  <a:srgbClr val="087E8B"/>
                </a:solidFill>
                <a:latin typeface="Arial"/>
              </a:rPr>
              <a:t>Xem mô tả từng biến và giới hạn nguồn ở DANH_MUC_BIEN trong Excel.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40</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ứng dụng: LightGBM đã được dùng trong mưa</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Đường dẫn trên slide có thể bấm; hồ sơ đối chiếu và giới hạn ở literature.json</a:t>
            </a:r>
          </a:p>
        </p:txBody>
      </p:sp>
      <p:sp>
        <p:nvSpPr>
          <p:cNvPr id="6" name="TextBox 5"/>
          <p:cNvSpPr txBox="1"/>
          <p:nvPr/>
        </p:nvSpPr>
        <p:spPr>
          <a:xfrm>
            <a:off x="685800" y="1435608"/>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3"/>
              </a:rPr>
              <a:t>R1 · He, Zhang &amp; Chew (2022) · DOI 10.1016/j.knosys.2022.109125</a:t>
            </a:r>
          </a:p>
        </p:txBody>
      </p:sp>
      <p:sp>
        <p:nvSpPr>
          <p:cNvPr id="7" name="TextBox 6"/>
          <p:cNvSpPr txBox="1"/>
          <p:nvPr/>
        </p:nvSpPr>
        <p:spPr>
          <a:xfrm>
            <a:off x="685800" y="1837944"/>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3"/>
              </a:rPr>
              <a:t>Modeling and predicting rainfall time series using seasonal-trend decomposition and machine learning</a:t>
            </a:r>
          </a:p>
          <a:p>
            <a:pPr algn="l">
              <a:lnSpc>
                <a:spcPct val="112000"/>
              </a:lnSpc>
              <a:spcBef>
                <a:spcPts val="0"/>
              </a:spcBef>
              <a:spcAft>
                <a:spcPts val="0"/>
              </a:spcAft>
            </a:pPr>
            <a:r>
              <a:rPr sz="1800" b="0">
                <a:solidFill>
                  <a:srgbClr val="123047"/>
                </a:solidFill>
                <a:latin typeface="Arial"/>
                <a:hlinkClick r:id="rId3"/>
              </a:rPr>
              <a:t>Knowledge-Based Systems 251, 109125</a:t>
            </a:r>
          </a:p>
        </p:txBody>
      </p:sp>
      <p:sp>
        <p:nvSpPr>
          <p:cNvPr id="8" name="TextBox 7"/>
          <p:cNvSpPr txBox="1"/>
          <p:nvPr/>
        </p:nvSpPr>
        <p:spPr>
          <a:xfrm>
            <a:off x="685800" y="2825496"/>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4"/>
              </a:rPr>
              <a:t>R2 · Iwase &amp; Takenawa (2024) · DOI 10.2197/ipsjjip.32.873</a:t>
            </a:r>
          </a:p>
        </p:txBody>
      </p:sp>
      <p:sp>
        <p:nvSpPr>
          <p:cNvPr id="9" name="TextBox 8"/>
          <p:cNvSpPr txBox="1"/>
          <p:nvPr/>
        </p:nvSpPr>
        <p:spPr>
          <a:xfrm>
            <a:off x="685800" y="3227832"/>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4"/>
              </a:rPr>
              <a:t>Interpolation of Mountain Weather Forecasts by Machine Learning</a:t>
            </a:r>
          </a:p>
          <a:p>
            <a:pPr algn="l">
              <a:lnSpc>
                <a:spcPct val="112000"/>
              </a:lnSpc>
              <a:spcBef>
                <a:spcPts val="0"/>
              </a:spcBef>
              <a:spcAft>
                <a:spcPts val="0"/>
              </a:spcAft>
            </a:pPr>
            <a:r>
              <a:rPr sz="1800" b="0">
                <a:solidFill>
                  <a:srgbClr val="123047"/>
                </a:solidFill>
                <a:latin typeface="Arial"/>
                <a:hlinkClick r:id="rId4"/>
              </a:rPr>
              <a:t>Journal of Information Processing 32, 873–880</a:t>
            </a:r>
          </a:p>
        </p:txBody>
      </p:sp>
      <p:sp>
        <p:nvSpPr>
          <p:cNvPr id="10" name="TextBox 9"/>
          <p:cNvSpPr txBox="1"/>
          <p:nvPr/>
        </p:nvSpPr>
        <p:spPr>
          <a:xfrm>
            <a:off x="685800" y="4215384"/>
            <a:ext cx="10835640" cy="347472"/>
          </a:xfrm>
          <a:prstGeom prst="rect">
            <a:avLst/>
          </a:prstGeom>
          <a:noFill/>
        </p:spPr>
        <p:txBody>
          <a:bodyPr wrap="square" lIns="0" rIns="0" tIns="0" bIns="0" anchor="t">
            <a:spAutoFit/>
          </a:bodyPr>
          <a:lstStyle/>
          <a:p>
            <a:pPr algn="l">
              <a:lnSpc>
                <a:spcPct val="112000"/>
              </a:lnSpc>
              <a:spcBef>
                <a:spcPts val="0"/>
              </a:spcBef>
              <a:spcAft>
                <a:spcPts val="0"/>
              </a:spcAft>
            </a:pPr>
            <a:r>
              <a:rPr sz="1800" b="1">
                <a:solidFill>
                  <a:srgbClr val="087E8B"/>
                </a:solidFill>
                <a:latin typeface="Arial"/>
                <a:hlinkClick r:id="rId5"/>
              </a:rPr>
              <a:t>R3 · Qian &amp; Jia (2023) · DOI 10.1016/j.atmosres.2023.106961</a:t>
            </a:r>
          </a:p>
        </p:txBody>
      </p:sp>
      <p:sp>
        <p:nvSpPr>
          <p:cNvPr id="11" name="TextBox 10"/>
          <p:cNvSpPr txBox="1"/>
          <p:nvPr/>
        </p:nvSpPr>
        <p:spPr>
          <a:xfrm>
            <a:off x="685800" y="4617720"/>
            <a:ext cx="10835640" cy="795528"/>
          </a:xfrm>
          <a:prstGeom prst="rect">
            <a:avLst/>
          </a:prstGeom>
          <a:noFill/>
        </p:spPr>
        <p:txBody>
          <a:bodyPr wrap="square" lIns="0" rIns="0" tIns="0" bIns="0" anchor="t">
            <a:spAutoFit/>
          </a:bodyPr>
          <a:lstStyle/>
          <a:p>
            <a:pPr algn="l">
              <a:lnSpc>
                <a:spcPct val="112000"/>
              </a:lnSpc>
              <a:spcBef>
                <a:spcPts val="0"/>
              </a:spcBef>
              <a:spcAft>
                <a:spcPts val="0"/>
              </a:spcAft>
            </a:pPr>
            <a:r>
              <a:rPr sz="1800" b="0">
                <a:solidFill>
                  <a:srgbClr val="123047"/>
                </a:solidFill>
                <a:latin typeface="Arial"/>
                <a:hlinkClick r:id="rId5"/>
              </a:rPr>
              <a:t>Seasonal forecast of winter precipitation over China using machine learning models</a:t>
            </a:r>
          </a:p>
          <a:p>
            <a:pPr algn="l">
              <a:lnSpc>
                <a:spcPct val="112000"/>
              </a:lnSpc>
              <a:spcBef>
                <a:spcPts val="0"/>
              </a:spcBef>
              <a:spcAft>
                <a:spcPts val="0"/>
              </a:spcAft>
            </a:pPr>
            <a:r>
              <a:rPr sz="1800" b="0">
                <a:solidFill>
                  <a:srgbClr val="123047"/>
                </a:solidFill>
                <a:latin typeface="Arial"/>
                <a:hlinkClick r:id="rId5"/>
              </a:rPr>
              <a:t>Atmospheric Research 294, 106961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TÀI LIỆU THAM KHẢO</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41</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thuật toán và kiểm chứng dự báo</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Nguồn dự án: run.json, checkpoint_audit.json, scores_ensemble_pooled.csv, paired_bootstrap.csv</a:t>
            </a:r>
          </a:p>
        </p:txBody>
      </p:sp>
      <p:sp>
        <p:nvSpPr>
          <p:cNvPr id="6" name="TextBox 5"/>
          <p:cNvSpPr txBox="1"/>
          <p:nvPr/>
        </p:nvSpPr>
        <p:spPr>
          <a:xfrm>
            <a:off x="685800" y="139903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3"/>
              </a:rPr>
              <a:t>A1 · Ke et al. (2017)</a:t>
            </a:r>
          </a:p>
        </p:txBody>
      </p:sp>
      <p:sp>
        <p:nvSpPr>
          <p:cNvPr id="7" name="TextBox 6"/>
          <p:cNvSpPr txBox="1"/>
          <p:nvPr/>
        </p:nvSpPr>
        <p:spPr>
          <a:xfrm>
            <a:off x="685800" y="168249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3"/>
              </a:rPr>
              <a:t>LightGBM: A Highly Efficient Gradient Boosting Decision Tree</a:t>
            </a:r>
          </a:p>
        </p:txBody>
      </p:sp>
      <p:sp>
        <p:nvSpPr>
          <p:cNvPr id="8" name="TextBox 7"/>
          <p:cNvSpPr txBox="1"/>
          <p:nvPr/>
        </p:nvSpPr>
        <p:spPr>
          <a:xfrm>
            <a:off x="685800" y="2103120"/>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4"/>
              </a:rPr>
              <a:t>A2 · Lim et al. (2021)</a:t>
            </a:r>
          </a:p>
        </p:txBody>
      </p:sp>
      <p:sp>
        <p:nvSpPr>
          <p:cNvPr id="9" name="TextBox 8"/>
          <p:cNvSpPr txBox="1"/>
          <p:nvPr/>
        </p:nvSpPr>
        <p:spPr>
          <a:xfrm>
            <a:off x="685800" y="2386584"/>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4"/>
              </a:rPr>
              <a:t>Temporal Fusion Transformers for Interpretable Multi-horizon Time Series Forecasting</a:t>
            </a:r>
          </a:p>
        </p:txBody>
      </p:sp>
      <p:sp>
        <p:nvSpPr>
          <p:cNvPr id="10" name="TextBox 9"/>
          <p:cNvSpPr txBox="1"/>
          <p:nvPr/>
        </p:nvSpPr>
        <p:spPr>
          <a:xfrm>
            <a:off x="685800" y="2807208"/>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5"/>
              </a:rPr>
              <a:t>A3 · Zhou et al. (2021)</a:t>
            </a:r>
          </a:p>
        </p:txBody>
      </p:sp>
      <p:sp>
        <p:nvSpPr>
          <p:cNvPr id="11" name="TextBox 10"/>
          <p:cNvSpPr txBox="1"/>
          <p:nvPr/>
        </p:nvSpPr>
        <p:spPr>
          <a:xfrm>
            <a:off x="685800" y="3090672"/>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5"/>
              </a:rPr>
              <a:t>Informer: Beyond Efficient Transformer for Long Sequence Time-Series Forecasting</a:t>
            </a:r>
          </a:p>
        </p:txBody>
      </p:sp>
      <p:sp>
        <p:nvSpPr>
          <p:cNvPr id="12" name="TextBox 11"/>
          <p:cNvSpPr txBox="1"/>
          <p:nvPr/>
        </p:nvSpPr>
        <p:spPr>
          <a:xfrm>
            <a:off x="685800" y="3511296"/>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6"/>
              </a:rPr>
              <a:t>A4 · Tác giả Informer (2021)</a:t>
            </a:r>
          </a:p>
        </p:txBody>
      </p:sp>
      <p:sp>
        <p:nvSpPr>
          <p:cNvPr id="13" name="TextBox 12"/>
          <p:cNvSpPr txBox="1"/>
          <p:nvPr/>
        </p:nvSpPr>
        <p:spPr>
          <a:xfrm>
            <a:off x="685800" y="3794759"/>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6"/>
              </a:rPr>
              <a:t>Mã mô hình Informer chính thức</a:t>
            </a:r>
          </a:p>
        </p:txBody>
      </p:sp>
      <p:sp>
        <p:nvSpPr>
          <p:cNvPr id="14" name="TextBox 13"/>
          <p:cNvSpPr txBox="1"/>
          <p:nvPr/>
        </p:nvSpPr>
        <p:spPr>
          <a:xfrm>
            <a:off x="685800" y="4215384"/>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7"/>
              </a:rPr>
              <a:t>V1 · Pertti Nurmi (2007)</a:t>
            </a:r>
          </a:p>
        </p:txBody>
      </p:sp>
      <p:sp>
        <p:nvSpPr>
          <p:cNvPr id="15" name="TextBox 14"/>
          <p:cNvSpPr txBox="1"/>
          <p:nvPr/>
        </p:nvSpPr>
        <p:spPr>
          <a:xfrm>
            <a:off x="685800" y="4498848"/>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7"/>
              </a:rPr>
              <a:t>Verification of Categorical Forecasts</a:t>
            </a:r>
          </a:p>
        </p:txBody>
      </p:sp>
      <p:sp>
        <p:nvSpPr>
          <p:cNvPr id="16" name="TextBox 15"/>
          <p:cNvSpPr txBox="1"/>
          <p:nvPr/>
        </p:nvSpPr>
        <p:spPr>
          <a:xfrm>
            <a:off x="685800" y="4919472"/>
            <a:ext cx="10835640" cy="274320"/>
          </a:xfrm>
          <a:prstGeom prst="rect">
            <a:avLst/>
          </a:prstGeom>
          <a:noFill/>
        </p:spPr>
        <p:txBody>
          <a:bodyPr wrap="square" lIns="0" rIns="0" tIns="0" bIns="0" anchor="t">
            <a:spAutoFit/>
          </a:bodyPr>
          <a:lstStyle/>
          <a:p>
            <a:pPr algn="l">
              <a:lnSpc>
                <a:spcPct val="112000"/>
              </a:lnSpc>
              <a:spcBef>
                <a:spcPts val="0"/>
              </a:spcBef>
              <a:spcAft>
                <a:spcPts val="0"/>
              </a:spcAft>
            </a:pPr>
            <a:r>
              <a:rPr sz="1650" b="1">
                <a:solidFill>
                  <a:srgbClr val="087E8B"/>
                </a:solidFill>
                <a:latin typeface="Arial"/>
                <a:hlinkClick r:id="rId8"/>
              </a:rPr>
              <a:t>V2 · ECMWF (2026)</a:t>
            </a:r>
          </a:p>
        </p:txBody>
      </p:sp>
      <p:sp>
        <p:nvSpPr>
          <p:cNvPr id="17" name="TextBox 16"/>
          <p:cNvSpPr txBox="1"/>
          <p:nvPr/>
        </p:nvSpPr>
        <p:spPr>
          <a:xfrm>
            <a:off x="685800" y="5202936"/>
            <a:ext cx="10835640" cy="384048"/>
          </a:xfrm>
          <a:prstGeom prst="rect">
            <a:avLst/>
          </a:prstGeom>
          <a:noFill/>
        </p:spPr>
        <p:txBody>
          <a:bodyPr wrap="square" lIns="0" rIns="0" tIns="0" bIns="0" anchor="t">
            <a:spAutoFit/>
          </a:bodyPr>
          <a:lstStyle/>
          <a:p>
            <a:pPr algn="l">
              <a:lnSpc>
                <a:spcPct val="112000"/>
              </a:lnSpc>
              <a:spcBef>
                <a:spcPts val="0"/>
              </a:spcBef>
              <a:spcAft>
                <a:spcPts val="0"/>
              </a:spcAft>
            </a:pPr>
            <a:r>
              <a:rPr sz="1550" b="0">
                <a:solidFill>
                  <a:srgbClr val="123047"/>
                </a:solidFill>
                <a:latin typeface="Arial"/>
                <a:hlinkClick r:id="rId8"/>
              </a:rPr>
              <a:t>Forecast User Guide, Section 12.B: Statistical Concepts — Probabilistic Data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10058400" cy="201168"/>
          </a:xfrm>
          <a:prstGeom prst="rect">
            <a:avLst/>
          </a:prstGeom>
          <a:noFill/>
        </p:spPr>
        <p:txBody>
          <a:bodyPr wrap="square" lIns="0" rIns="0" tIns="0" bIns="0" anchor="t">
            <a:spAutoFit/>
          </a:bodyPr>
          <a:lstStyle/>
          <a:p>
            <a:pPr algn="l">
              <a:lnSpc>
                <a:spcPct val="112000"/>
              </a:lnSpc>
              <a:spcBef>
                <a:spcPts val="0"/>
              </a:spcBef>
              <a:spcAft>
                <a:spcPts val="0"/>
              </a:spcAft>
            </a:pPr>
            <a:r>
              <a:rPr sz="1100" b="1">
                <a:solidFill>
                  <a:srgbClr val="087E8B"/>
                </a:solidFill>
                <a:latin typeface="Arial"/>
              </a:rPr>
              <a:t>PHỤ LỤC · NGUỒN SƠ CẤP</a:t>
            </a:r>
          </a:p>
        </p:txBody>
      </p:sp>
      <p:sp>
        <p:nvSpPr>
          <p:cNvPr id="3" name="TextBox 2"/>
          <p:cNvSpPr txBox="1"/>
          <p:nvPr/>
        </p:nvSpPr>
        <p:spPr>
          <a:xfrm>
            <a:off x="11018520" y="164592"/>
            <a:ext cx="640080" cy="201168"/>
          </a:xfrm>
          <a:prstGeom prst="rect">
            <a:avLst/>
          </a:prstGeom>
          <a:noFill/>
        </p:spPr>
        <p:txBody>
          <a:bodyPr wrap="square" lIns="0" rIns="0" tIns="0" bIns="0" anchor="t">
            <a:spAutoFit/>
          </a:bodyPr>
          <a:lstStyle/>
          <a:p>
            <a:pPr algn="r">
              <a:lnSpc>
                <a:spcPct val="112000"/>
              </a:lnSpc>
              <a:spcBef>
                <a:spcPts val="0"/>
              </a:spcBef>
              <a:spcAft>
                <a:spcPts val="0"/>
              </a:spcAft>
            </a:pPr>
            <a:r>
              <a:rPr sz="1100" b="0">
                <a:solidFill>
                  <a:srgbClr val="536877"/>
                </a:solidFill>
                <a:latin typeface="Arial"/>
              </a:rPr>
              <a:t>42</a:t>
            </a:r>
          </a:p>
        </p:txBody>
      </p:sp>
      <p:sp>
        <p:nvSpPr>
          <p:cNvPr id="4" name="TextBox 3"/>
          <p:cNvSpPr txBox="1"/>
          <p:nvPr/>
        </p:nvSpPr>
        <p:spPr>
          <a:xfrm>
            <a:off x="502920" y="548640"/>
            <a:ext cx="11201400" cy="749808"/>
          </a:xfrm>
          <a:prstGeom prst="rect">
            <a:avLst/>
          </a:prstGeom>
          <a:noFill/>
        </p:spPr>
        <p:txBody>
          <a:bodyPr wrap="square" lIns="0" rIns="0" tIns="0" bIns="0" anchor="t">
            <a:spAutoFit/>
          </a:bodyPr>
          <a:lstStyle/>
          <a:p>
            <a:pPr algn="l">
              <a:lnSpc>
                <a:spcPct val="112000"/>
              </a:lnSpc>
              <a:spcBef>
                <a:spcPts val="0"/>
              </a:spcBef>
              <a:spcAft>
                <a:spcPts val="0"/>
              </a:spcAft>
            </a:pPr>
            <a:r>
              <a:rPr sz="2900" b="1">
                <a:solidFill>
                  <a:srgbClr val="123047"/>
                </a:solidFill>
                <a:latin typeface="Arial"/>
              </a:rPr>
              <a:t>Nguồn kiểm chứng nhận định POD khoảng 0,4</a:t>
            </a:r>
          </a:p>
        </p:txBody>
      </p:sp>
      <p:sp>
        <p:nvSpPr>
          <p:cNvPr id="5" name="TextBox 4"/>
          <p:cNvSpPr txBox="1"/>
          <p:nvPr/>
        </p:nvSpPr>
        <p:spPr>
          <a:xfrm>
            <a:off x="502920" y="6327648"/>
            <a:ext cx="11201400" cy="228600"/>
          </a:xfrm>
          <a:prstGeom prst="rect">
            <a:avLst/>
          </a:prstGeom>
          <a:noFill/>
        </p:spPr>
        <p:txBody>
          <a:bodyPr wrap="square" lIns="0" rIns="0" tIns="0" bIns="0" anchor="t">
            <a:spAutoFit/>
          </a:bodyPr>
          <a:lstStyle/>
          <a:p>
            <a:pPr algn="l">
              <a:lnSpc>
                <a:spcPct val="112000"/>
              </a:lnSpc>
              <a:spcBef>
                <a:spcPts val="0"/>
              </a:spcBef>
              <a:spcAft>
                <a:spcPts val="0"/>
              </a:spcAft>
            </a:pPr>
            <a:r>
              <a:rPr sz="1050" b="0">
                <a:solidFill>
                  <a:srgbClr val="536877"/>
                </a:solidFill>
                <a:latin typeface="Arial"/>
              </a:rPr>
              <a:t>Không dùng điểm paper khác nhãn/ngưỡng/không gian để xếp hạng trực tiếp dự án</a:t>
            </a:r>
          </a:p>
        </p:txBody>
      </p:sp>
      <p:sp>
        <p:nvSpPr>
          <p:cNvPr id="6" name="TextBox 5"/>
          <p:cNvSpPr txBox="1"/>
          <p:nvPr/>
        </p:nvSpPr>
        <p:spPr>
          <a:xfrm>
            <a:off x="685800" y="141732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3"/>
              </a:rPr>
              <a:t>P1 · 2025 · 10.3390/atmos16020224</a:t>
            </a:r>
          </a:p>
        </p:txBody>
      </p:sp>
      <p:sp>
        <p:nvSpPr>
          <p:cNvPr id="7" name="TextBox 6"/>
          <p:cNvSpPr txBox="1"/>
          <p:nvPr/>
        </p:nvSpPr>
        <p:spPr>
          <a:xfrm>
            <a:off x="685800" y="177393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3"/>
              </a:rPr>
              <a:t>Skill Validation of High-Impact Rainfall Forecasts over Vietnam Using the European Centre for Medium-Range Weather Forecasts (ECMWF) Integrated Forecasting System (IFS) and Dynamical Downscaling with the Weather Research and Forecasting Model</a:t>
            </a:r>
          </a:p>
        </p:txBody>
      </p:sp>
      <p:sp>
        <p:nvSpPr>
          <p:cNvPr id="8" name="TextBox 7"/>
          <p:cNvSpPr txBox="1"/>
          <p:nvPr/>
        </p:nvSpPr>
        <p:spPr>
          <a:xfrm>
            <a:off x="685800" y="251460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4"/>
              </a:rPr>
              <a:t>P2 · 2022 · 10.3390/rs14040928</a:t>
            </a:r>
          </a:p>
        </p:txBody>
      </p:sp>
      <p:sp>
        <p:nvSpPr>
          <p:cNvPr id="9" name="TextBox 8"/>
          <p:cNvSpPr txBox="1"/>
          <p:nvPr/>
        </p:nvSpPr>
        <p:spPr>
          <a:xfrm>
            <a:off x="685800" y="287121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4"/>
              </a:rPr>
              <a:t>Can GPM IMERG Capture Extreme Precipitation in North China Plain?</a:t>
            </a:r>
          </a:p>
        </p:txBody>
      </p:sp>
      <p:sp>
        <p:nvSpPr>
          <p:cNvPr id="10" name="TextBox 9"/>
          <p:cNvSpPr txBox="1"/>
          <p:nvPr/>
        </p:nvSpPr>
        <p:spPr>
          <a:xfrm>
            <a:off x="685800" y="3611880"/>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5"/>
              </a:rPr>
              <a:t>V3 ·  · Nguồn chính thức</a:t>
            </a:r>
          </a:p>
        </p:txBody>
      </p:sp>
      <p:sp>
        <p:nvSpPr>
          <p:cNvPr id="11" name="TextBox 10"/>
          <p:cNvSpPr txBox="1"/>
          <p:nvPr/>
        </p:nvSpPr>
        <p:spPr>
          <a:xfrm>
            <a:off x="685800" y="3968496"/>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5"/>
              </a:rPr>
              <a:t>JWGFVR Forecast Verification: Probability of Detection and False Alarm Ratio</a:t>
            </a:r>
          </a:p>
        </p:txBody>
      </p:sp>
      <p:sp>
        <p:nvSpPr>
          <p:cNvPr id="12" name="TextBox 11"/>
          <p:cNvSpPr txBox="1"/>
          <p:nvPr/>
        </p:nvSpPr>
        <p:spPr>
          <a:xfrm>
            <a:off x="685800" y="4709159"/>
            <a:ext cx="10835640" cy="338328"/>
          </a:xfrm>
          <a:prstGeom prst="rect">
            <a:avLst/>
          </a:prstGeom>
          <a:noFill/>
        </p:spPr>
        <p:txBody>
          <a:bodyPr wrap="square" lIns="0" rIns="0" tIns="0" bIns="0" anchor="t">
            <a:spAutoFit/>
          </a:bodyPr>
          <a:lstStyle/>
          <a:p>
            <a:pPr algn="l">
              <a:lnSpc>
                <a:spcPct val="112000"/>
              </a:lnSpc>
              <a:spcBef>
                <a:spcPts val="0"/>
              </a:spcBef>
              <a:spcAft>
                <a:spcPts val="0"/>
              </a:spcAft>
            </a:pPr>
            <a:r>
              <a:rPr sz="1700" b="1">
                <a:solidFill>
                  <a:srgbClr val="087E8B"/>
                </a:solidFill>
                <a:latin typeface="Arial"/>
                <a:hlinkClick r:id="rId6"/>
              </a:rPr>
              <a:t>A5 ·  · Nguồn chính thức</a:t>
            </a:r>
          </a:p>
        </p:txBody>
      </p:sp>
      <p:sp>
        <p:nvSpPr>
          <p:cNvPr id="13" name="TextBox 12"/>
          <p:cNvSpPr txBox="1"/>
          <p:nvPr/>
        </p:nvSpPr>
        <p:spPr>
          <a:xfrm>
            <a:off x="685800" y="5065775"/>
            <a:ext cx="10835640" cy="731520"/>
          </a:xfrm>
          <a:prstGeom prst="rect">
            <a:avLst/>
          </a:prstGeom>
          <a:noFill/>
        </p:spPr>
        <p:txBody>
          <a:bodyPr wrap="square" lIns="0" rIns="0" tIns="0" bIns="0" anchor="t">
            <a:spAutoFit/>
          </a:bodyPr>
          <a:lstStyle/>
          <a:p>
            <a:pPr algn="l">
              <a:lnSpc>
                <a:spcPct val="112000"/>
              </a:lnSpc>
              <a:spcBef>
                <a:spcPts val="0"/>
              </a:spcBef>
              <a:spcAft>
                <a:spcPts val="0"/>
              </a:spcAft>
            </a:pPr>
            <a:r>
              <a:rPr sz="1650" b="0">
                <a:solidFill>
                  <a:srgbClr val="123047"/>
                </a:solidFill>
                <a:latin typeface="Arial"/>
                <a:hlinkClick r:id="rId6"/>
              </a:rPr>
              <a:t>Informer official attention implementation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